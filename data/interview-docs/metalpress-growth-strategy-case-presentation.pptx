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Average"/>
      <p:regular r:id="rId7"/>
    </p:embeddedFont>
    <p:embeddedFont>
      <p:font typeface="Oswal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verage-regular.fntdata"/><Relationship Id="rId8" Type="http://schemas.openxmlformats.org/officeDocument/2006/relationships/font" Target="fonts/Oswa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F9C57"/>
                </a:solidFill>
              </a:rPr>
              <a:t>Executive Summary: </a:t>
            </a:r>
            <a:r>
              <a:rPr lang="en" sz="1800">
                <a:solidFill>
                  <a:srgbClr val="2F9C57"/>
                </a:solidFill>
              </a:rPr>
              <a:t>Investment in both Services investment and Geographic expansion</a:t>
            </a:r>
            <a:endParaRPr sz="1800">
              <a:solidFill>
                <a:srgbClr val="2F9C5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9C57"/>
              </a:solidFill>
            </a:endParaRPr>
          </a:p>
        </p:txBody>
      </p:sp>
      <p:grpSp>
        <p:nvGrpSpPr>
          <p:cNvPr id="60" name="Google Shape;60;p13"/>
          <p:cNvGrpSpPr/>
          <p:nvPr/>
        </p:nvGrpSpPr>
        <p:grpSpPr>
          <a:xfrm>
            <a:off x="131375" y="1294421"/>
            <a:ext cx="2632500" cy="1734165"/>
            <a:chOff x="3320450" y="1304875"/>
            <a:chExt cx="2632500" cy="34164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2896" y="4645100"/>
            <a:ext cx="1234954" cy="3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4294967295" type="body"/>
          </p:nvPr>
        </p:nvSpPr>
        <p:spPr>
          <a:xfrm>
            <a:off x="354275" y="1156031"/>
            <a:ext cx="2494500" cy="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80808"/>
                </a:solidFill>
              </a:rPr>
              <a:t>Metal Press</a:t>
            </a:r>
            <a:endParaRPr sz="1400">
              <a:solidFill>
                <a:srgbClr val="08080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8080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80808"/>
              </a:solidFill>
            </a:endParaRPr>
          </a:p>
        </p:txBody>
      </p:sp>
      <p:sp>
        <p:nvSpPr>
          <p:cNvPr id="65" name="Google Shape;65;p13"/>
          <p:cNvSpPr txBox="1"/>
          <p:nvPr>
            <p:ph idx="4294967295" type="body"/>
          </p:nvPr>
        </p:nvSpPr>
        <p:spPr>
          <a:xfrm>
            <a:off x="179250" y="1497727"/>
            <a:ext cx="2478600" cy="33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Total core addressable market in New England is $7.6B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MetalPress’s key value proposition to its customers is a suite of services that cover the entire metal component value chain.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MetalPress also offers a high level of vertical integration, high location density in its region, and reliable capacity and lead times. This allows customers to consolidate suppliers and improve production lead times.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MetalPress has high utilization rates in all of its key services, which demonstrates its efficiency and expertise in the metal component manufacturing industry.</a:t>
            </a:r>
            <a:endParaRPr sz="900">
              <a:solidFill>
                <a:srgbClr val="969696"/>
              </a:solidFill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2951262" y="3028571"/>
            <a:ext cx="2632500" cy="1734165"/>
            <a:chOff x="3320450" y="1304875"/>
            <a:chExt cx="2632500" cy="3416400"/>
          </a:xfrm>
        </p:grpSpPr>
        <p:sp>
          <p:nvSpPr>
            <p:cNvPr id="67" name="Google Shape;67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3"/>
          <p:cNvSpPr txBox="1"/>
          <p:nvPr>
            <p:ph idx="4294967295" type="body"/>
          </p:nvPr>
        </p:nvSpPr>
        <p:spPr>
          <a:xfrm>
            <a:off x="2738075" y="2944725"/>
            <a:ext cx="24945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</a:rPr>
              <a:t>Geographic expansion:</a:t>
            </a:r>
            <a:r>
              <a:rPr b="1" lang="en" sz="1000">
                <a:solidFill>
                  <a:srgbClr val="080808"/>
                </a:solidFill>
              </a:rPr>
              <a:t> </a:t>
            </a:r>
            <a:r>
              <a:rPr lang="en" sz="1000">
                <a:solidFill>
                  <a:srgbClr val="080808"/>
                </a:solidFill>
              </a:rPr>
              <a:t>Revenue increase: $541M annually</a:t>
            </a:r>
            <a:endParaRPr sz="1000">
              <a:solidFill>
                <a:srgbClr val="080808"/>
              </a:solidFill>
            </a:endParaRPr>
          </a:p>
        </p:txBody>
      </p:sp>
      <p:sp>
        <p:nvSpPr>
          <p:cNvPr id="70" name="Google Shape;70;p13"/>
          <p:cNvSpPr txBox="1"/>
          <p:nvPr>
            <p:ph idx="4294967295" type="body"/>
          </p:nvPr>
        </p:nvSpPr>
        <p:spPr>
          <a:xfrm>
            <a:off x="2838300" y="3344028"/>
            <a:ext cx="24786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Pros: 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Increased market share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Acquisition playbook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Faster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Compete with established players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Cons: 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Cost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Integration challenges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Market saturation</a:t>
            </a:r>
            <a:endParaRPr sz="900">
              <a:solidFill>
                <a:srgbClr val="969696"/>
              </a:solidFill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3027587" y="1156133"/>
            <a:ext cx="2632500" cy="1734165"/>
            <a:chOff x="3320450" y="1304875"/>
            <a:chExt cx="2632500" cy="3416400"/>
          </a:xfrm>
        </p:grpSpPr>
        <p:sp>
          <p:nvSpPr>
            <p:cNvPr id="72" name="Google Shape;72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3"/>
          <p:cNvSpPr txBox="1"/>
          <p:nvPr>
            <p:ph idx="4294967295" type="body"/>
          </p:nvPr>
        </p:nvSpPr>
        <p:spPr>
          <a:xfrm>
            <a:off x="2830375" y="1108275"/>
            <a:ext cx="24945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</a:rPr>
              <a:t>Services investment: </a:t>
            </a:r>
            <a:r>
              <a:rPr lang="en" sz="1000">
                <a:solidFill>
                  <a:srgbClr val="080808"/>
                </a:solidFill>
              </a:rPr>
              <a:t>Revenue Increase:</a:t>
            </a:r>
            <a:r>
              <a:rPr lang="en" sz="1000">
                <a:solidFill>
                  <a:srgbClr val="080808"/>
                </a:solidFill>
              </a:rPr>
              <a:t> $50M</a:t>
            </a:r>
            <a:endParaRPr sz="1000">
              <a:solidFill>
                <a:srgbClr val="080808"/>
              </a:solidFill>
            </a:endParaRPr>
          </a:p>
        </p:txBody>
      </p:sp>
      <p:sp>
        <p:nvSpPr>
          <p:cNvPr id="75" name="Google Shape;75;p13"/>
          <p:cNvSpPr txBox="1"/>
          <p:nvPr>
            <p:ph idx="4294967295" type="body"/>
          </p:nvPr>
        </p:nvSpPr>
        <p:spPr>
          <a:xfrm>
            <a:off x="2686300" y="1492950"/>
            <a:ext cx="2478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Pros: 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Increased efficiency and capacity, reduce costs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Remove bottleneck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Serve high precision and high volume customers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Cons: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Cost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Integration challenges</a:t>
            </a:r>
            <a:endParaRPr sz="900">
              <a:solidFill>
                <a:srgbClr val="969696"/>
              </a:solidFill>
            </a:endParaRPr>
          </a:p>
        </p:txBody>
      </p:sp>
      <p:grpSp>
        <p:nvGrpSpPr>
          <p:cNvPr id="76" name="Google Shape;76;p13"/>
          <p:cNvGrpSpPr/>
          <p:nvPr/>
        </p:nvGrpSpPr>
        <p:grpSpPr>
          <a:xfrm>
            <a:off x="5838800" y="3021439"/>
            <a:ext cx="2632500" cy="1530547"/>
            <a:chOff x="3320450" y="1304875"/>
            <a:chExt cx="2632500" cy="3416400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3"/>
          <p:cNvSpPr txBox="1"/>
          <p:nvPr>
            <p:ph idx="4294967295" type="body"/>
          </p:nvPr>
        </p:nvSpPr>
        <p:spPr>
          <a:xfrm>
            <a:off x="5771125" y="2770475"/>
            <a:ext cx="2494500" cy="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80808"/>
                </a:solidFill>
              </a:rPr>
              <a:t>Next Steps</a:t>
            </a:r>
            <a:endParaRPr sz="1400">
              <a:solidFill>
                <a:srgbClr val="080808"/>
              </a:solidFill>
            </a:endParaRPr>
          </a:p>
        </p:txBody>
      </p:sp>
      <p:sp>
        <p:nvSpPr>
          <p:cNvPr id="80" name="Google Shape;80;p13"/>
          <p:cNvSpPr txBox="1"/>
          <p:nvPr>
            <p:ph idx="4294967295" type="body"/>
          </p:nvPr>
        </p:nvSpPr>
        <p:spPr>
          <a:xfrm>
            <a:off x="5678850" y="3112175"/>
            <a:ext cx="30696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Perform </a:t>
            </a:r>
            <a:r>
              <a:rPr lang="en" sz="1000">
                <a:solidFill>
                  <a:srgbClr val="969696"/>
                </a:solidFill>
              </a:rPr>
              <a:t>financial analysis of the potential returns on investment on both options.</a:t>
            </a:r>
            <a:endParaRPr sz="1000">
              <a:solidFill>
                <a:srgbClr val="96969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Develop acquisition plan:</a:t>
            </a:r>
            <a:endParaRPr sz="1000">
              <a:solidFill>
                <a:srgbClr val="969696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○"/>
            </a:pPr>
            <a:r>
              <a:rPr lang="en" sz="1000">
                <a:solidFill>
                  <a:srgbClr val="969696"/>
                </a:solidFill>
              </a:rPr>
              <a:t>Potential targets</a:t>
            </a:r>
            <a:endParaRPr sz="1000">
              <a:solidFill>
                <a:srgbClr val="969696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○"/>
            </a:pPr>
            <a:r>
              <a:rPr lang="en" sz="1000">
                <a:solidFill>
                  <a:srgbClr val="969696"/>
                </a:solidFill>
              </a:rPr>
              <a:t>Timeline for the acquisitions</a:t>
            </a:r>
            <a:endParaRPr sz="1000">
              <a:solidFill>
                <a:srgbClr val="969696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○"/>
            </a:pPr>
            <a:r>
              <a:rPr lang="en" sz="1000">
                <a:solidFill>
                  <a:srgbClr val="969696"/>
                </a:solidFill>
              </a:rPr>
              <a:t>Operational and cultural integration</a:t>
            </a:r>
            <a:endParaRPr sz="1000">
              <a:solidFill>
                <a:srgbClr val="969696"/>
              </a:solidFill>
            </a:endParaRPr>
          </a:p>
        </p:txBody>
      </p:sp>
      <p:grpSp>
        <p:nvGrpSpPr>
          <p:cNvPr id="81" name="Google Shape;81;p13"/>
          <p:cNvGrpSpPr/>
          <p:nvPr/>
        </p:nvGrpSpPr>
        <p:grpSpPr>
          <a:xfrm>
            <a:off x="5762675" y="1156176"/>
            <a:ext cx="2632500" cy="1418640"/>
            <a:chOff x="3320450" y="1304861"/>
            <a:chExt cx="2632500" cy="2794800"/>
          </a:xfrm>
        </p:grpSpPr>
        <p:sp>
          <p:nvSpPr>
            <p:cNvPr id="82" name="Google Shape;82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320450" y="1304861"/>
              <a:ext cx="2628900" cy="2794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3"/>
          <p:cNvSpPr txBox="1"/>
          <p:nvPr>
            <p:ph idx="4294967295" type="body"/>
          </p:nvPr>
        </p:nvSpPr>
        <p:spPr>
          <a:xfrm>
            <a:off x="5831675" y="1156129"/>
            <a:ext cx="2494500" cy="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80808"/>
                </a:solidFill>
              </a:rPr>
              <a:t>Recommendation</a:t>
            </a:r>
            <a:endParaRPr sz="1400">
              <a:solidFill>
                <a:srgbClr val="080808"/>
              </a:solidFill>
            </a:endParaRPr>
          </a:p>
        </p:txBody>
      </p:sp>
      <p:sp>
        <p:nvSpPr>
          <p:cNvPr id="85" name="Google Shape;85;p13"/>
          <p:cNvSpPr txBox="1"/>
          <p:nvPr>
            <p:ph idx="4294967295" type="body"/>
          </p:nvPr>
        </p:nvSpPr>
        <p:spPr>
          <a:xfrm>
            <a:off x="5839000" y="1432949"/>
            <a:ext cx="24786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Based on the market dynamics and strategic considerations outlined above, MetalPress should pursue both</a:t>
            </a:r>
            <a:endParaRPr sz="1000">
              <a:solidFill>
                <a:srgbClr val="96969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Enhanced competitiveness</a:t>
            </a:r>
            <a:endParaRPr sz="1000">
              <a:solidFill>
                <a:srgbClr val="96969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Quick high value creation</a:t>
            </a:r>
            <a:endParaRPr sz="1000">
              <a:solidFill>
                <a:srgbClr val="969696"/>
              </a:solidFill>
            </a:endParaRPr>
          </a:p>
        </p:txBody>
      </p:sp>
      <p:cxnSp>
        <p:nvCxnSpPr>
          <p:cNvPr id="86" name="Google Shape;86;p13"/>
          <p:cNvCxnSpPr/>
          <p:nvPr/>
        </p:nvCxnSpPr>
        <p:spPr>
          <a:xfrm flipH="1" rot="10800000">
            <a:off x="390075" y="1016075"/>
            <a:ext cx="8364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3"/>
          <p:cNvCxnSpPr/>
          <p:nvPr/>
        </p:nvCxnSpPr>
        <p:spPr>
          <a:xfrm>
            <a:off x="2648875" y="1206575"/>
            <a:ext cx="9000" cy="3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 flipH="1">
            <a:off x="5497350" y="1197425"/>
            <a:ext cx="9000" cy="36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