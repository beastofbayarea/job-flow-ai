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5"/>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85ec273fa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85ec273fa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85ec273fa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85ec273fa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85ec273f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85ec273f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85ec273fa7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85ec273fa7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85ec273fa7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85ec273fa7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5ec273fa7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5ec273fa7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85ec273fa7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85ec273fa7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85ec273fa7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85ec273fa7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5cfedc887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5cfedc887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85ec273fa7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85ec273fa7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97d86e12e5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97d86e12e5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5cfedc8877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5cfedc887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5cfedc8877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5cfedc8877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5cfedc8877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5cfedc887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5cfedc8877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5cfedc887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5cfedc887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5cfedc887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653e26ef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653e26ef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9653e26ef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9653e26ef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9653e26ef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9653e26ef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5cfedc8877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5cfedc887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653e26ef8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653e26ef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9653e26ef8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9653e26ef8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5cfedc8877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5cfedc887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5cfedc8877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5cfedc8877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9653e26ef8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9653e26ef8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9653e26ef8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9653e26ef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9653e26ef8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9653e26ef8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9653e26ef8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9653e26ef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85ec273fa7_1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85ec273fa7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85ec273fa7_1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85ec273fa7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85ec273fa7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85ec273fa7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85ec273fa7_1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85ec273fa7_1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85ec273fa7_1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85ec273fa7_1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impactinterview.com/2016/06/circles-method-product-design-framework/"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www.volusion.com/blog/situation-analysis-the-5-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Online Grocery Delivery </a:t>
            </a:r>
            <a:endParaRPr sz="1520" b="1"/>
          </a:p>
          <a:p>
            <a:pPr marL="0" lvl="0" indent="0" algn="l" rtl="0">
              <a:lnSpc>
                <a:spcPct val="115000"/>
              </a:lnSpc>
              <a:spcBef>
                <a:spcPts val="0"/>
              </a:spcBef>
              <a:spcAft>
                <a:spcPts val="0"/>
              </a:spcAft>
              <a:buClr>
                <a:schemeClr val="dk1"/>
              </a:buClr>
              <a:buSzPct val="71223"/>
              <a:buFont typeface="Arial"/>
              <a:buNone/>
            </a:pPr>
            <a:r>
              <a:rPr lang="en" sz="1544"/>
              <a:t>Amazon Fresh, our daily grocery delivery service, is currently operating in cities such as Seattle, LA and SF. If you were leading Amazon Fresh, which city would you target next?</a:t>
            </a:r>
            <a:endParaRPr sz="1544"/>
          </a:p>
          <a:p>
            <a:pPr marL="0" lvl="0" indent="0" algn="l" rtl="0">
              <a:spcBef>
                <a:spcPts val="0"/>
              </a:spcBef>
              <a:spcAft>
                <a:spcPts val="0"/>
              </a:spcAft>
              <a:buSzPct val="65132"/>
              <a:buNone/>
            </a:pPr>
            <a:endParaRPr sz="1520"/>
          </a:p>
        </p:txBody>
      </p:sp>
      <p:pic>
        <p:nvPicPr>
          <p:cNvPr id="77" name="Google Shape;77;p16"/>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78" name="Google Shape;78;p16"/>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Start by determining the factors that influenced previous city selections. For instance,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Feasibility of deliveries within cities.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Locations of existing warehouses.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Density of Prime members in the area.</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Then, segment the decision into A cost-benefit analysis (if the interviewer is interested in delving into the specifics). You may look at cities that bear similarities to Seattle, LA or SF. Alternatively, you could focus on cities that present a contrasting profile, assuming Seattle, LA and SF each represent distinct urban profiles.</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cxnSp>
        <p:nvCxnSpPr>
          <p:cNvPr id="79" name="Google Shape;79;p16"/>
          <p:cNvCxnSpPr/>
          <p:nvPr/>
        </p:nvCxnSpPr>
        <p:spPr>
          <a:xfrm>
            <a:off x="578875" y="3301175"/>
            <a:ext cx="8113500" cy="12300"/>
          </a:xfrm>
          <a:prstGeom prst="straightConnector1">
            <a:avLst/>
          </a:prstGeom>
          <a:noFill/>
          <a:ln w="9525" cap="flat" cmpd="sng">
            <a:solidFill>
              <a:schemeClr val="dk2"/>
            </a:solidFill>
            <a:prstDash val="dash"/>
            <a:round/>
            <a:headEnd type="none" w="med" len="med"/>
            <a:tailEnd type="none" w="med" len="med"/>
          </a:ln>
        </p:spPr>
      </p:cxnSp>
      <p:sp>
        <p:nvSpPr>
          <p:cNvPr id="80" name="Google Shape;80;p16"/>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6"/>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p:cNvSpPr txBox="1"/>
          <p:nvPr/>
        </p:nvSpPr>
        <p:spPr>
          <a:xfrm>
            <a:off x="464100" y="34444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The interviewer may steer this case in various directions. Even when the discussion leans qualitative, you should actively request data or display a readiness for quantitative analysis.</a:t>
            </a: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Kindle App</a:t>
            </a:r>
            <a:endParaRPr sz="1520" b="1"/>
          </a:p>
          <a:p>
            <a:pPr marL="0" lvl="0" indent="0" algn="l" rtl="0">
              <a:spcBef>
                <a:spcPts val="0"/>
              </a:spcBef>
              <a:spcAft>
                <a:spcPts val="0"/>
              </a:spcAft>
              <a:buSzPct val="64101"/>
              <a:buNone/>
            </a:pPr>
            <a:r>
              <a:rPr lang="en" sz="1544"/>
              <a:t>Amazon’s leadership is considering providing the Kindle app on Kindle devices only and removing it from all other devices. Should they do this or not? Talk through the aspects that should be considered in the decision making process here.</a:t>
            </a:r>
            <a:endParaRPr sz="1544"/>
          </a:p>
          <a:p>
            <a:pPr marL="0" lvl="0" indent="0" algn="l" rtl="0">
              <a:lnSpc>
                <a:spcPct val="115000"/>
              </a:lnSpc>
              <a:spcBef>
                <a:spcPts val="0"/>
              </a:spcBef>
              <a:spcAft>
                <a:spcPts val="0"/>
              </a:spcAft>
              <a:buSzPct val="71223"/>
              <a:buNone/>
            </a:pPr>
            <a:endParaRPr sz="1544"/>
          </a:p>
          <a:p>
            <a:pPr marL="0" lvl="0" indent="0" algn="l" rtl="0">
              <a:spcBef>
                <a:spcPts val="0"/>
              </a:spcBef>
              <a:spcAft>
                <a:spcPts val="0"/>
              </a:spcAft>
              <a:buSzPct val="65132"/>
              <a:buNone/>
            </a:pPr>
            <a:endParaRPr sz="1520"/>
          </a:p>
        </p:txBody>
      </p:sp>
      <p:pic>
        <p:nvPicPr>
          <p:cNvPr id="88" name="Google Shape;88;p17"/>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89" name="Google Shape;89;p17"/>
          <p:cNvSpPr txBox="1"/>
          <p:nvPr/>
        </p:nvSpPr>
        <p:spPr>
          <a:xfrm>
            <a:off x="464100" y="10987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Start by clarifying the main objectives and summarize your underlying assumptions. Is the focus on elevating book sales, expanding the user base, or improving overall profitability? </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Chart the two potential directions (exclusive to Kindle or broadening to other devices). Consider structuring your discussion by weighing the strengths &amp; weaknesses, along with the potential gains &amp; pitfalls of each choice. Some are outlined below: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Amazon prioritizes growing its platform's user count over individual sales.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The profits derived from Kindle devices and its app might be nominal (verify with pertinent questions) compared to the revenue from eBooks across diverse devices.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Engaging users via the Kindle app can pave the way for promoting other Amazon services.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For a forward-looking strategy, nurturing robust alliances with leading hardware/platform vendors like Android and Apple could be advantageous for Amazon.</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300"/>
          </a:p>
        </p:txBody>
      </p:sp>
      <p:cxnSp>
        <p:nvCxnSpPr>
          <p:cNvPr id="90" name="Google Shape;90;p17"/>
          <p:cNvCxnSpPr/>
          <p:nvPr/>
        </p:nvCxnSpPr>
        <p:spPr>
          <a:xfrm>
            <a:off x="578875" y="3682175"/>
            <a:ext cx="8113500" cy="12300"/>
          </a:xfrm>
          <a:prstGeom prst="straightConnector1">
            <a:avLst/>
          </a:prstGeom>
          <a:noFill/>
          <a:ln w="9525" cap="flat" cmpd="sng">
            <a:solidFill>
              <a:schemeClr val="dk2"/>
            </a:solidFill>
            <a:prstDash val="dash"/>
            <a:round/>
            <a:headEnd type="none" w="med" len="med"/>
            <a:tailEnd type="none" w="med" len="med"/>
          </a:ln>
        </p:spPr>
      </p:cxnSp>
      <p:sp>
        <p:nvSpPr>
          <p:cNvPr id="91" name="Google Shape;91;p17"/>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17"/>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txBox="1"/>
          <p:nvPr/>
        </p:nvSpPr>
        <p:spPr>
          <a:xfrm>
            <a:off x="464100" y="37492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Amazon always looks at the platform play. Think about how this could help upsell on other offerings/products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Customer obsession is one of the leadership principles at Amazon. Always talk about the needs of the customer and evaluate whether a strategy solves for a customer problem</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72368"/>
              <a:buFont typeface="Arial"/>
              <a:buNone/>
            </a:pPr>
            <a:r>
              <a:rPr lang="en" sz="1520" b="1"/>
              <a:t>Cisco - Routers </a:t>
            </a:r>
            <a:br>
              <a:rPr lang="en" sz="1520" b="1"/>
            </a:br>
            <a:r>
              <a:rPr lang="en" sz="1544"/>
              <a:t>If you were a PM at Cisco and you had to sell Cisco routers to the University of Michigan, and UM is evaluating between Cisco and a competitor which is equally good in all ways, what would you do?</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99" name="Google Shape;99;p18"/>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00" name="Google Shape;100;p18"/>
          <p:cNvSpPr txBox="1"/>
          <p:nvPr/>
        </p:nvSpPr>
        <p:spPr>
          <a:xfrm>
            <a:off x="464100" y="1022550"/>
            <a:ext cx="8147700" cy="15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Products: Which items is the customer interested in? What is their anticipated duration of usage?</a:t>
            </a:r>
            <a:br>
              <a:rPr lang="en" sz="1100">
                <a:solidFill>
                  <a:schemeClr val="dk1"/>
                </a:solidFill>
              </a:rPr>
            </a:br>
            <a:r>
              <a:rPr lang="en" sz="1100">
                <a:solidFill>
                  <a:schemeClr val="dk1"/>
                </a:solidFill>
              </a:rPr>
              <a:t>Users: What are the users' priorities? Are they interested in sustained collaborations, product enhancements, bundled offerings, and so forth?</a:t>
            </a:r>
            <a:br>
              <a:rPr lang="en" sz="1100">
                <a:solidFill>
                  <a:schemeClr val="dk1"/>
                </a:solidFill>
              </a:rPr>
            </a:br>
            <a:r>
              <a:rPr lang="en" sz="1100">
                <a:solidFill>
                  <a:schemeClr val="dk1"/>
                </a:solidFill>
              </a:rPr>
              <a:t>Cost: Over an extended period, what will be the customer's expenses? Provide some preliminary estimates and discuss potential advantages you can offer them.</a:t>
            </a:r>
            <a:endParaRPr sz="1100">
              <a:solidFill>
                <a:schemeClr val="dk1"/>
              </a:solidFill>
            </a:endParaRPr>
          </a:p>
        </p:txBody>
      </p:sp>
      <p:cxnSp>
        <p:nvCxnSpPr>
          <p:cNvPr id="101" name="Google Shape;101;p18"/>
          <p:cNvCxnSpPr/>
          <p:nvPr/>
        </p:nvCxnSpPr>
        <p:spPr>
          <a:xfrm>
            <a:off x="578875" y="2462975"/>
            <a:ext cx="8113500" cy="12300"/>
          </a:xfrm>
          <a:prstGeom prst="straightConnector1">
            <a:avLst/>
          </a:prstGeom>
          <a:noFill/>
          <a:ln w="9525" cap="flat" cmpd="sng">
            <a:solidFill>
              <a:schemeClr val="dk2"/>
            </a:solidFill>
            <a:prstDash val="dash"/>
            <a:round/>
            <a:headEnd type="none" w="med" len="med"/>
            <a:tailEnd type="none" w="med" len="med"/>
          </a:ln>
        </p:spPr>
      </p:cxnSp>
      <p:sp>
        <p:nvSpPr>
          <p:cNvPr id="102" name="Google Shape;102;p18"/>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18"/>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p:nvPr/>
        </p:nvSpPr>
        <p:spPr>
          <a:xfrm>
            <a:off x="464100" y="2413775"/>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Understand UM's Specific Needs: Start by understanding the unique requirements of the University of Michigan. What are their specific pain points? What are their long-term and short-term goals for their network infrastructure?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Custom Solutions: Highlight how Cisco can provide custom solutions tailored specifically to UM's requirements. This can include integration with their current infrastructure, specialized support, or unique configurations.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Financial Flexibility: Offer flexible pricing or payment options. Consider bundling services or offering educational discounts to make the deal more appealing.</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​​Post-Sale Support: Emphasize Cisco's commitment to post-sale support. The quality of service after the sale can make a big difference. Highlight any dedicated support teams, response time guarantees, or training programs that Cisco offers specifically for academic institutions.</a:t>
            </a: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72368"/>
              <a:buFont typeface="Arial"/>
              <a:buNone/>
            </a:pPr>
            <a:r>
              <a:rPr lang="en" sz="1520" b="1"/>
              <a:t>New Product</a:t>
            </a:r>
            <a:endParaRPr sz="1520" b="1"/>
          </a:p>
          <a:p>
            <a:pPr marL="0" lvl="0" indent="0" algn="l" rtl="0">
              <a:lnSpc>
                <a:spcPct val="115000"/>
              </a:lnSpc>
              <a:spcBef>
                <a:spcPts val="0"/>
              </a:spcBef>
              <a:spcAft>
                <a:spcPts val="0"/>
              </a:spcAft>
              <a:buClr>
                <a:schemeClr val="dk1"/>
              </a:buClr>
              <a:buSzPct val="71223"/>
              <a:buFont typeface="Arial"/>
              <a:buNone/>
            </a:pPr>
            <a:r>
              <a:rPr lang="en" sz="1544"/>
              <a:t>You're gearing up to introduce a new product with restricted resources at hand. While your team is keen on integrating five features, you can only realistically develop and validate two before the rollout. How would you determine which features to prioritize?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10" name="Google Shape;110;p19"/>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11" name="Google Shape;111;p19"/>
          <p:cNvSpPr txBox="1"/>
          <p:nvPr/>
        </p:nvSpPr>
        <p:spPr>
          <a:xfrm>
            <a:off x="464100" y="131817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Problem: What issue does the product aim to address?</a:t>
            </a: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User: Which audience is the product designed for, and what are their anticipated interactions?</a:t>
            </a: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Prioritization: On what criteria do you determine the order of feature integration? (Consider plotting a 2x2 matrix contrasting impact with either the ease or cost of development.)</a:t>
            </a: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Implementation: What approach will you adopt to deploy, assess, and track these features, ensuring that further refinements might be made in the future if necessary?</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cxnSp>
        <p:nvCxnSpPr>
          <p:cNvPr id="112" name="Google Shape;112;p19"/>
          <p:cNvCxnSpPr/>
          <p:nvPr/>
        </p:nvCxnSpPr>
        <p:spPr>
          <a:xfrm>
            <a:off x="578875" y="3301175"/>
            <a:ext cx="8113500" cy="12300"/>
          </a:xfrm>
          <a:prstGeom prst="straightConnector1">
            <a:avLst/>
          </a:prstGeom>
          <a:noFill/>
          <a:ln w="9525" cap="flat" cmpd="sng">
            <a:solidFill>
              <a:schemeClr val="dk2"/>
            </a:solidFill>
            <a:prstDash val="dash"/>
            <a:round/>
            <a:headEnd type="none" w="med" len="med"/>
            <a:tailEnd type="none" w="med" len="med"/>
          </a:ln>
        </p:spPr>
      </p:cxnSp>
      <p:sp>
        <p:nvSpPr>
          <p:cNvPr id="113" name="Google Shape;113;p19"/>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19"/>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9"/>
          <p:cNvSpPr txBox="1"/>
          <p:nvPr/>
        </p:nvSpPr>
        <p:spPr>
          <a:xfrm>
            <a:off x="464100" y="35968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0" lvl="0" indent="0" algn="l" rtl="0">
              <a:spcBef>
                <a:spcPts val="0"/>
              </a:spcBef>
              <a:spcAft>
                <a:spcPts val="0"/>
              </a:spcAft>
              <a:buClr>
                <a:schemeClr val="dk1"/>
              </a:buClr>
              <a:buSzPts val="1100"/>
              <a:buFont typeface="Arial"/>
              <a:buNone/>
            </a:pPr>
            <a:r>
              <a:rPr lang="en" sz="1100">
                <a:solidFill>
                  <a:schemeClr val="dk1"/>
                </a:solidFill>
              </a:rPr>
              <a:t>For product feature trade-off questions it’s important to think of the problem you’re solving for, target user segments, what the impact of each feature is going to be, engineering effort estimates and the Level 1&amp;2 metrics for tracking performance.</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72368"/>
              <a:buFont typeface="Arial"/>
              <a:buNone/>
            </a:pPr>
            <a:r>
              <a:rPr lang="en" sz="1520" b="1"/>
              <a:t>Spotify Podcast (1/3) </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improve Spotify as a podcast app?</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21" name="Google Shape;121;p20"/>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22" name="Google Shape;122;p20"/>
          <p:cNvSpPr txBox="1"/>
          <p:nvPr/>
        </p:nvSpPr>
        <p:spPr>
          <a:xfrm>
            <a:off x="464100" y="75517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i="1">
                <a:solidFill>
                  <a:schemeClr val="dk1"/>
                </a:solidFill>
              </a:rPr>
              <a:t>Define the product </a:t>
            </a:r>
            <a:endParaRPr sz="1100" i="1">
              <a:solidFill>
                <a:schemeClr val="dk1"/>
              </a:solidFill>
            </a:endParaRPr>
          </a:p>
          <a:p>
            <a:pPr marL="0" lvl="0" indent="0" algn="l" rtl="0">
              <a:spcBef>
                <a:spcPts val="0"/>
              </a:spcBef>
              <a:spcAft>
                <a:spcPts val="0"/>
              </a:spcAft>
              <a:buNone/>
            </a:pPr>
            <a:r>
              <a:rPr lang="en" sz="1100">
                <a:solidFill>
                  <a:schemeClr val="dk1"/>
                </a:solidFill>
              </a:rPr>
              <a:t>A digital music, podcast, and video streaming service that gives you access to millions of songs and other content from artists all over the world. </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Clarifying questions &amp; Assumptions </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User type - whom are we improving the app for? (Consumer vs Creator)</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Why are we doing this?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What’s the business model involved for podcasts?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What are the current features in the app?</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Do we want to limit ourselves to audio podcasts or should I consider video podcasts as well?</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Target customer segments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Content categories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Constraints - time/budget/engineering constraints, App type (web app vs mobile native)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Goals - what are the goals for improving the app?</a:t>
            </a:r>
            <a:endParaRPr sz="1100">
              <a:solidFill>
                <a:schemeClr val="dk1"/>
              </a:solidFill>
            </a:endParaRPr>
          </a:p>
          <a:p>
            <a:pPr marL="914400" lvl="0" indent="-298450" algn="l" rtl="0">
              <a:lnSpc>
                <a:spcPct val="115000"/>
              </a:lnSpc>
              <a:spcBef>
                <a:spcPts val="0"/>
              </a:spcBef>
              <a:spcAft>
                <a:spcPts val="0"/>
              </a:spcAft>
              <a:buClr>
                <a:schemeClr val="dk1"/>
              </a:buClr>
              <a:buSzPts val="1100"/>
              <a:buChar char="○"/>
            </a:pPr>
            <a:r>
              <a:rPr lang="en" sz="1100">
                <a:solidFill>
                  <a:schemeClr val="dk1"/>
                </a:solidFill>
              </a:rPr>
              <a:t>Define the user journey to identify which phase to prioritize (Awareness -&gt; Acquisition -&gt; Activation -&gt; Engagement -&gt; Retention -&gt; Referral -&gt; Revenue)</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123" name="Google Shape;123;p20"/>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20"/>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72368"/>
              <a:buFont typeface="Arial"/>
              <a:buNone/>
            </a:pPr>
            <a:r>
              <a:rPr lang="en" sz="1520" b="1"/>
              <a:t>Spotify Podcast (2/3) </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improve Spotify as a podcast app?</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30" name="Google Shape;130;p21"/>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31" name="Google Shape;131;p21"/>
          <p:cNvSpPr txBox="1"/>
          <p:nvPr/>
        </p:nvSpPr>
        <p:spPr>
          <a:xfrm>
            <a:off x="464100" y="83137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a:t>
            </a:r>
            <a:br>
              <a:rPr lang="en" sz="1300" u="sng"/>
            </a:br>
            <a:endParaRPr sz="1100">
              <a:solidFill>
                <a:schemeClr val="dk1"/>
              </a:solidFill>
            </a:endParaRPr>
          </a:p>
          <a:p>
            <a:pPr marL="0" lvl="0" indent="0" algn="l" rtl="0">
              <a:spcBef>
                <a:spcPts val="0"/>
              </a:spcBef>
              <a:spcAft>
                <a:spcPts val="0"/>
              </a:spcAft>
              <a:buClr>
                <a:schemeClr val="dk1"/>
              </a:buClr>
              <a:buSzPts val="1100"/>
              <a:buFont typeface="Arial"/>
              <a:buNone/>
            </a:pPr>
            <a:r>
              <a:rPr lang="en" sz="1100">
                <a:solidFill>
                  <a:schemeClr val="dk1"/>
                </a:solidFill>
              </a:rPr>
              <a:t>User groups and prioritization</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There are primarily two categories of users: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Podcast consumers - Users who listen to their favourite podcasts and discover new ones.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Podcast creators - Users who create their podcast, host it on a product and then publish it on Spotify.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Provide a rationale for focusing on Consumers</a:t>
            </a:r>
            <a:endParaRPr sz="1100">
              <a:solidFill>
                <a:schemeClr val="dk1"/>
              </a:solidFill>
            </a:endParaRPr>
          </a:p>
          <a:p>
            <a:pPr marL="914400" lvl="0" indent="0" algn="l" rtl="0">
              <a:lnSpc>
                <a:spcPct val="115000"/>
              </a:lnSpc>
              <a:spcBef>
                <a:spcPts val="0"/>
              </a:spcBef>
              <a:spcAft>
                <a:spcPts val="0"/>
              </a:spcAft>
              <a:buNone/>
            </a:pPr>
            <a:r>
              <a:rPr lang="en" sz="1100">
                <a:solidFill>
                  <a:schemeClr val="dk1"/>
                </a:solidFill>
              </a:rPr>
              <a:t>Deep dive into different segments within consumers (power users, occasional, casual)</a:t>
            </a:r>
            <a:endParaRPr sz="1100">
              <a:solidFill>
                <a:schemeClr val="dk1"/>
              </a:solidFill>
            </a:endParaRPr>
          </a:p>
          <a:p>
            <a:pPr marL="914400" lvl="0" indent="0" algn="l" rtl="0">
              <a:lnSpc>
                <a:spcPct val="115000"/>
              </a:lnSpc>
              <a:spcBef>
                <a:spcPts val="0"/>
              </a:spcBef>
              <a:spcAft>
                <a:spcPts val="0"/>
              </a:spcAft>
              <a:buNone/>
            </a:pPr>
            <a:r>
              <a:rPr lang="en" sz="1100">
                <a:solidFill>
                  <a:schemeClr val="dk1"/>
                </a:solidFill>
              </a:rPr>
              <a:t>Provide a rationale for prioritization of user segment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Identify Pain Point categories for this user segment (For example, content discovery, engagement and social)</a:t>
            </a:r>
            <a:endParaRPr sz="1100">
              <a:solidFill>
                <a:schemeClr val="dk1"/>
              </a:solidFill>
            </a:endParaRPr>
          </a:p>
          <a:p>
            <a:pPr marL="914400" lvl="0" indent="0" algn="l" rtl="0">
              <a:lnSpc>
                <a:spcPct val="115000"/>
              </a:lnSpc>
              <a:spcBef>
                <a:spcPts val="0"/>
              </a:spcBef>
              <a:spcAft>
                <a:spcPts val="0"/>
              </a:spcAft>
              <a:buNone/>
            </a:pPr>
            <a:r>
              <a:rPr lang="en" sz="1100">
                <a:solidFill>
                  <a:schemeClr val="dk1"/>
                </a:solidFill>
              </a:rPr>
              <a:t>Prioritize which category to focus on (example, Discovery and Engagement)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Pain Points (example)</a:t>
            </a:r>
            <a:endParaRPr sz="1100">
              <a:solidFill>
                <a:schemeClr val="dk1"/>
              </a:solidFill>
            </a:endParaRPr>
          </a:p>
          <a:p>
            <a:pPr marL="914400" lvl="0" indent="0" algn="l" rtl="0">
              <a:lnSpc>
                <a:spcPct val="115000"/>
              </a:lnSpc>
              <a:spcBef>
                <a:spcPts val="0"/>
              </a:spcBef>
              <a:spcAft>
                <a:spcPts val="0"/>
              </a:spcAft>
              <a:buNone/>
            </a:pPr>
            <a:r>
              <a:rPr lang="en" sz="1100">
                <a:solidFill>
                  <a:schemeClr val="dk1"/>
                </a:solidFill>
              </a:rPr>
              <a:t>Discovery - podcast discovery is a time consuming process (Podcasts require a bigger time commitment compared to songs) OR The user finds it hard to decide what to listen</a:t>
            </a:r>
            <a:endParaRPr sz="1100">
              <a:solidFill>
                <a:schemeClr val="dk1"/>
              </a:solidFill>
            </a:endParaRPr>
          </a:p>
          <a:p>
            <a:pPr marL="914400" lvl="0" indent="0" algn="l" rtl="0">
              <a:lnSpc>
                <a:spcPct val="115000"/>
              </a:lnSpc>
              <a:spcBef>
                <a:spcPts val="0"/>
              </a:spcBef>
              <a:spcAft>
                <a:spcPts val="0"/>
              </a:spcAft>
              <a:buNone/>
            </a:pPr>
            <a:r>
              <a:rPr lang="en" sz="1100">
                <a:solidFill>
                  <a:schemeClr val="dk1"/>
                </a:solidFill>
              </a:rPr>
              <a:t>Engagement - limited information on future episodes of a podcast (guests, topics, etc.)</a:t>
            </a:r>
            <a:endParaRPr sz="1100">
              <a:solidFill>
                <a:schemeClr val="dk1"/>
              </a:solidFill>
            </a:endParaRPr>
          </a:p>
          <a:p>
            <a:pPr marL="0" lvl="0" indent="0" algn="l" rtl="0">
              <a:lnSpc>
                <a:spcPct val="115000"/>
              </a:lnSpc>
              <a:spcBef>
                <a:spcPts val="0"/>
              </a:spcBef>
              <a:spcAft>
                <a:spcPts val="0"/>
              </a:spcAft>
              <a:buNone/>
            </a:pPr>
            <a:br>
              <a:rPr lang="en" sz="1100">
                <a:solidFill>
                  <a:schemeClr val="dk1"/>
                </a:solidFill>
              </a:rPr>
            </a:br>
            <a:endParaRPr sz="1300"/>
          </a:p>
        </p:txBody>
      </p:sp>
      <p:sp>
        <p:nvSpPr>
          <p:cNvPr id="132" name="Google Shape;132;p21"/>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21"/>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72368"/>
              <a:buFont typeface="Arial"/>
              <a:buNone/>
            </a:pPr>
            <a:r>
              <a:rPr lang="en" sz="1520" b="1"/>
              <a:t>Spotify Podcast (3/3) </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improve Spotify as a podcast app?</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39" name="Google Shape;139;p22"/>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40" name="Google Shape;140;p22"/>
          <p:cNvSpPr txBox="1"/>
          <p:nvPr/>
        </p:nvSpPr>
        <p:spPr>
          <a:xfrm>
            <a:off x="464100" y="83137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a:t>
            </a:r>
            <a:br>
              <a:rPr lang="en" sz="1300" u="sng"/>
            </a:br>
            <a:br>
              <a:rPr lang="en" sz="1300" u="sng"/>
            </a:br>
            <a:r>
              <a:rPr lang="en" sz="1100">
                <a:solidFill>
                  <a:schemeClr val="dk1"/>
                </a:solidFill>
              </a:rPr>
              <a:t>Ideas and solutioning (examples)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Discovery - A way to discover the content based on short audio snippets of the most interesting parts of the podcast </a:t>
            </a:r>
            <a:endParaRPr sz="1100">
              <a:solidFill>
                <a:schemeClr val="dk1"/>
              </a:solidFill>
            </a:endParaRPr>
          </a:p>
          <a:p>
            <a:pPr marL="457200" lvl="0" indent="0" algn="l" rtl="0">
              <a:lnSpc>
                <a:spcPct val="115000"/>
              </a:lnSpc>
              <a:spcBef>
                <a:spcPts val="0"/>
              </a:spcBef>
              <a:spcAft>
                <a:spcPts val="0"/>
              </a:spcAft>
              <a:buNone/>
            </a:pPr>
            <a:r>
              <a:rPr lang="en" sz="1100">
                <a:solidFill>
                  <a:schemeClr val="dk1"/>
                </a:solidFill>
              </a:rPr>
              <a:t>Engagement - Introducing a section in the podcast info page talks about the upcoming episodes, featured guests, topics, etc.</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Define the features to be introduced to solve for user pain points</a:t>
            </a:r>
            <a:br>
              <a:rPr lang="en" sz="1100">
                <a:solidFill>
                  <a:schemeClr val="dk1"/>
                </a:solidFill>
              </a:rPr>
            </a:b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Define success metrics for these features to track performance</a:t>
            </a:r>
            <a:br>
              <a:rPr lang="en" sz="1100">
                <a:solidFill>
                  <a:schemeClr val="dk1"/>
                </a:solidFill>
              </a:rPr>
            </a:b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Prioritize features based on trade-offs (you could use the RICE framework for this)</a:t>
            </a:r>
            <a:br>
              <a:rPr lang="en" sz="1100">
                <a:solidFill>
                  <a:schemeClr val="dk1"/>
                </a:solidFill>
              </a:rPr>
            </a:b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Potential risks and risk mitigation strategy</a:t>
            </a:r>
            <a:br>
              <a:rPr lang="en" sz="1100">
                <a:solidFill>
                  <a:schemeClr val="dk1"/>
                </a:solidFill>
              </a:rPr>
            </a:b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Summarize recommendations</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141" name="Google Shape;141;p22"/>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22"/>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Product Improvement/Prioritization (1/2)</a:t>
            </a:r>
            <a:endParaRPr sz="1520" b="1"/>
          </a:p>
          <a:p>
            <a:pPr marL="0" lvl="0" indent="0" algn="l" rtl="0">
              <a:lnSpc>
                <a:spcPct val="115000"/>
              </a:lnSpc>
              <a:spcBef>
                <a:spcPts val="0"/>
              </a:spcBef>
              <a:spcAft>
                <a:spcPts val="0"/>
              </a:spcAft>
              <a:buClr>
                <a:schemeClr val="dk1"/>
              </a:buClr>
              <a:buSzPct val="71223"/>
              <a:buFont typeface="Arial"/>
              <a:buNone/>
            </a:pPr>
            <a:r>
              <a:rPr lang="en" sz="1544"/>
              <a:t>Pick an Intuit product. What would you improve? How will you prioritize what to work on next?</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48" name="Google Shape;148;p23"/>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49" name="Google Shape;149;p23"/>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endParaRPr sz="1300" u="sng"/>
          </a:p>
          <a:p>
            <a:pPr marL="0" lvl="0" indent="0" algn="l" rtl="0">
              <a:spcBef>
                <a:spcPts val="0"/>
              </a:spcBef>
              <a:spcAft>
                <a:spcPts val="0"/>
              </a:spcAft>
              <a:buNone/>
            </a:pPr>
            <a:r>
              <a:rPr lang="en" sz="1100">
                <a:solidFill>
                  <a:schemeClr val="dk1"/>
                </a:solidFill>
              </a:rPr>
              <a:t>Pick a product</a:t>
            </a:r>
            <a:endParaRPr sz="1100">
              <a:solidFill>
                <a:schemeClr val="dk1"/>
              </a:solidFill>
            </a:endParaRPr>
          </a:p>
          <a:p>
            <a:pPr marL="0" lvl="0" indent="0" algn="l" rtl="0">
              <a:spcBef>
                <a:spcPts val="0"/>
              </a:spcBef>
              <a:spcAft>
                <a:spcPts val="0"/>
              </a:spcAft>
              <a:buNone/>
            </a:pPr>
            <a:r>
              <a:rPr lang="en" sz="1100">
                <a:solidFill>
                  <a:schemeClr val="dk1"/>
                </a:solidFill>
              </a:rPr>
              <a:t>Identify pain points</a:t>
            </a:r>
            <a:endParaRPr sz="1100">
              <a:solidFill>
                <a:schemeClr val="dk1"/>
              </a:solidFill>
            </a:endParaRPr>
          </a:p>
          <a:p>
            <a:pPr marL="0" lvl="0" indent="0" algn="l" rtl="0">
              <a:spcBef>
                <a:spcPts val="0"/>
              </a:spcBef>
              <a:spcAft>
                <a:spcPts val="0"/>
              </a:spcAft>
              <a:buNone/>
            </a:pPr>
            <a:r>
              <a:rPr lang="en" sz="1100">
                <a:solidFill>
                  <a:schemeClr val="dk1"/>
                </a:solidFill>
              </a:rPr>
              <a:t>Define the objective</a:t>
            </a:r>
            <a:endParaRPr sz="1100">
              <a:solidFill>
                <a:schemeClr val="dk1"/>
              </a:solidFill>
            </a:endParaRPr>
          </a:p>
          <a:p>
            <a:pPr marL="0" lvl="0" indent="0" algn="l" rtl="0">
              <a:spcBef>
                <a:spcPts val="0"/>
              </a:spcBef>
              <a:spcAft>
                <a:spcPts val="0"/>
              </a:spcAft>
              <a:buNone/>
            </a:pPr>
            <a:r>
              <a:rPr lang="en" sz="1100">
                <a:solidFill>
                  <a:schemeClr val="dk1"/>
                </a:solidFill>
              </a:rPr>
              <a:t>Current Product overview</a:t>
            </a:r>
            <a:endParaRPr sz="1100">
              <a:solidFill>
                <a:schemeClr val="dk1"/>
              </a:solidFill>
            </a:endParaRPr>
          </a:p>
          <a:p>
            <a:pPr marL="0" lvl="0" indent="0" algn="l" rtl="0">
              <a:spcBef>
                <a:spcPts val="0"/>
              </a:spcBef>
              <a:spcAft>
                <a:spcPts val="0"/>
              </a:spcAft>
              <a:buNone/>
            </a:pPr>
            <a:r>
              <a:rPr lang="en" sz="1100">
                <a:solidFill>
                  <a:schemeClr val="dk1"/>
                </a:solidFill>
              </a:rPr>
              <a:t>Generate ideas for improvement</a:t>
            </a:r>
            <a:endParaRPr sz="1100">
              <a:solidFill>
                <a:schemeClr val="dk1"/>
              </a:solidFill>
            </a:endParaRPr>
          </a:p>
          <a:p>
            <a:pPr marL="0" lvl="0" indent="0" algn="l" rtl="0">
              <a:spcBef>
                <a:spcPts val="0"/>
              </a:spcBef>
              <a:spcAft>
                <a:spcPts val="0"/>
              </a:spcAft>
              <a:buNone/>
            </a:pPr>
            <a:r>
              <a:rPr lang="en" sz="1100">
                <a:solidFill>
                  <a:schemeClr val="dk1"/>
                </a:solidFill>
              </a:rPr>
              <a:t>Evaluate and Prioritize improvements (Impact vs feasibility and cost-benefit analysis)</a:t>
            </a:r>
            <a:endParaRPr sz="1100">
              <a:solidFill>
                <a:schemeClr val="dk1"/>
              </a:solidFill>
            </a:endParaRPr>
          </a:p>
          <a:p>
            <a:pPr marL="0" lvl="0" indent="0" algn="l" rtl="0">
              <a:spcBef>
                <a:spcPts val="0"/>
              </a:spcBef>
              <a:spcAft>
                <a:spcPts val="0"/>
              </a:spcAft>
              <a:buNone/>
            </a:pPr>
            <a:r>
              <a:rPr lang="en" sz="1100">
                <a:solidFill>
                  <a:schemeClr val="dk1"/>
                </a:solidFill>
              </a:rPr>
              <a:t>How to measure success (metrics tracked)</a:t>
            </a:r>
            <a:endParaRPr sz="1100">
              <a:solidFill>
                <a:schemeClr val="dk1"/>
              </a:solidFill>
            </a:endParaRPr>
          </a:p>
          <a:p>
            <a:pPr marL="0" lvl="0" indent="0" algn="l" rtl="0">
              <a:spcBef>
                <a:spcPts val="0"/>
              </a:spcBef>
              <a:spcAft>
                <a:spcPts val="0"/>
              </a:spcAft>
              <a:buNone/>
            </a:pPr>
            <a:r>
              <a:rPr lang="en" sz="1100">
                <a:solidFill>
                  <a:schemeClr val="dk1"/>
                </a:solidFill>
              </a:rPr>
              <a:t>Implementation (Define Scope, Timelines, Resources)</a:t>
            </a:r>
            <a:endParaRPr sz="1100">
              <a:solidFill>
                <a:schemeClr val="dk1"/>
              </a:solidFill>
            </a:endParaRPr>
          </a:p>
          <a:p>
            <a:pPr marL="0" lvl="0" indent="0" algn="l" rtl="0">
              <a:spcBef>
                <a:spcPts val="0"/>
              </a:spcBef>
              <a:spcAft>
                <a:spcPts val="0"/>
              </a:spcAft>
              <a:buNone/>
            </a:pPr>
            <a:r>
              <a:rPr lang="en" sz="1100">
                <a:solidFill>
                  <a:schemeClr val="dk1"/>
                </a:solidFill>
              </a:rPr>
              <a:t>Risks and Risk Mitigation</a:t>
            </a:r>
            <a:endParaRPr sz="1100">
              <a:solidFill>
                <a:schemeClr val="dk1"/>
              </a:solidFill>
            </a:endParaRPr>
          </a:p>
          <a:p>
            <a:pPr marL="0" lvl="0" indent="0" algn="l" rtl="0">
              <a:spcBef>
                <a:spcPts val="0"/>
              </a:spcBef>
              <a:spcAft>
                <a:spcPts val="0"/>
              </a:spcAft>
              <a:buNone/>
            </a:pPr>
            <a:r>
              <a:rPr lang="en" sz="1100">
                <a:solidFill>
                  <a:schemeClr val="dk1"/>
                </a:solidFill>
              </a:rPr>
              <a:t>Next Steps</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300"/>
          </a:p>
        </p:txBody>
      </p:sp>
      <p:cxnSp>
        <p:nvCxnSpPr>
          <p:cNvPr id="150" name="Google Shape;150;p23"/>
          <p:cNvCxnSpPr/>
          <p:nvPr/>
        </p:nvCxnSpPr>
        <p:spPr>
          <a:xfrm>
            <a:off x="578875" y="3453575"/>
            <a:ext cx="8113500" cy="12300"/>
          </a:xfrm>
          <a:prstGeom prst="straightConnector1">
            <a:avLst/>
          </a:prstGeom>
          <a:noFill/>
          <a:ln w="9525" cap="flat" cmpd="sng">
            <a:solidFill>
              <a:schemeClr val="dk2"/>
            </a:solidFill>
            <a:prstDash val="dash"/>
            <a:round/>
            <a:headEnd type="none" w="med" len="med"/>
            <a:tailEnd type="none" w="med" len="med"/>
          </a:ln>
        </p:spPr>
      </p:cxnSp>
      <p:sp>
        <p:nvSpPr>
          <p:cNvPr id="151" name="Google Shape;151;p23"/>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23"/>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3"/>
          <p:cNvSpPr txBox="1"/>
          <p:nvPr/>
        </p:nvSpPr>
        <p:spPr>
          <a:xfrm>
            <a:off x="464100" y="34444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Select a product that you use regularly or are well-acquainted with, for example, tax preparation software.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Identify potential enhancements focusing on both functionality (features) and design (usability).</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Use a 2x2 matrix to categorize the proposed improvements by comparing their cost and benefits, which will help in prioritizing the features.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Product Improvement/Prioritization (2/2)</a:t>
            </a:r>
            <a:endParaRPr sz="1520" b="1"/>
          </a:p>
          <a:p>
            <a:pPr marL="0" lvl="0" indent="0" algn="l" rtl="0">
              <a:lnSpc>
                <a:spcPct val="115000"/>
              </a:lnSpc>
              <a:spcBef>
                <a:spcPts val="0"/>
              </a:spcBef>
              <a:spcAft>
                <a:spcPts val="0"/>
              </a:spcAft>
              <a:buClr>
                <a:schemeClr val="dk1"/>
              </a:buClr>
              <a:buSzPct val="71223"/>
              <a:buFont typeface="Arial"/>
              <a:buNone/>
            </a:pPr>
            <a:r>
              <a:rPr lang="en" sz="1544"/>
              <a:t>Pick an Intuit product. What would you improve? How will you prioritize what to work on next?</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59" name="Google Shape;159;p24"/>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60" name="Google Shape;160;p24"/>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 (contd)</a:t>
            </a:r>
            <a:br>
              <a:rPr lang="en" sz="1300" u="sng"/>
            </a:br>
            <a:endParaRPr sz="1300" u="sng"/>
          </a:p>
          <a:p>
            <a:pPr marL="457200" lvl="0" indent="-298450" algn="l" rtl="0">
              <a:spcBef>
                <a:spcPts val="0"/>
              </a:spcBef>
              <a:spcAft>
                <a:spcPts val="0"/>
              </a:spcAft>
              <a:buSzPts val="1100"/>
              <a:buChar char="●"/>
            </a:pPr>
            <a:r>
              <a:rPr lang="en" sz="1100"/>
              <a:t>Express your enthusiasm for adopting the customer's perspective when identifying potential enhancements. These improvements should be aimed at addressing particular challenges faced by the customers.</a:t>
            </a:r>
            <a:endParaRPr sz="1100"/>
          </a:p>
          <a:p>
            <a:pPr marL="457200" lvl="0" indent="-298450" algn="l" rtl="0">
              <a:spcBef>
                <a:spcPts val="0"/>
              </a:spcBef>
              <a:spcAft>
                <a:spcPts val="0"/>
              </a:spcAft>
              <a:buSzPts val="1100"/>
              <a:buChar char="●"/>
            </a:pPr>
            <a:r>
              <a:rPr lang="en" sz="1100"/>
              <a:t>Intuit evaluates your capability to adopt a practical mindset while conceptualizing new functionalities for a product. Conducting a 'cost versus benefit' analysis to prioritize these enhancements is essential to showcase this capability.</a:t>
            </a:r>
            <a:endParaRPr sz="1100"/>
          </a:p>
          <a:p>
            <a:pPr marL="457200" lvl="0" indent="-298450" algn="l" rtl="0">
              <a:spcBef>
                <a:spcPts val="0"/>
              </a:spcBef>
              <a:spcAft>
                <a:spcPts val="0"/>
              </a:spcAft>
              <a:buSzPts val="1100"/>
              <a:buChar char="●"/>
            </a:pPr>
            <a:r>
              <a:rPr lang="en" sz="1100"/>
              <a:t>Intuit organizes an exercise named 'a day in the life of a customer,' where they observe how their users interact with their products. Highlight your eagerness to gain deeper insights into your customers' needs and behaviors when sharing your analysis.</a:t>
            </a:r>
            <a:endParaRPr sz="1100"/>
          </a:p>
          <a:p>
            <a:pPr marL="0" lvl="0" indent="0" algn="l" rtl="0">
              <a:spcBef>
                <a:spcPts val="0"/>
              </a:spcBef>
              <a:spcAft>
                <a:spcPts val="0"/>
              </a:spcAft>
              <a:buClr>
                <a:schemeClr val="dk1"/>
              </a:buClr>
              <a:buSzPts val="1100"/>
              <a:buFont typeface="Arial"/>
              <a:buNone/>
            </a:pPr>
            <a:endParaRPr sz="1300" u="sng"/>
          </a:p>
          <a:p>
            <a:pPr marL="0" lvl="0" indent="0" algn="l" rtl="0">
              <a:spcBef>
                <a:spcPts val="0"/>
              </a:spcBef>
              <a:spcAft>
                <a:spcPts val="0"/>
              </a:spcAft>
              <a:buNone/>
            </a:pPr>
            <a:endParaRPr sz="1300" u="sng"/>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300"/>
          </a:p>
        </p:txBody>
      </p:sp>
      <p:sp>
        <p:nvSpPr>
          <p:cNvPr id="161" name="Google Shape;161;p24"/>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24"/>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title"/>
          </p:nvPr>
        </p:nvSpPr>
        <p:spPr>
          <a:xfrm>
            <a:off x="498150" y="218088"/>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Quickbooks (1/4)</a:t>
            </a:r>
            <a:endParaRPr sz="1520" b="1"/>
          </a:p>
          <a:p>
            <a:pPr marL="0" lvl="0" indent="0" algn="l" rtl="0">
              <a:spcBef>
                <a:spcPts val="0"/>
              </a:spcBef>
              <a:spcAft>
                <a:spcPts val="0"/>
              </a:spcAft>
              <a:buSzPct val="65132"/>
              <a:buNone/>
            </a:pPr>
            <a:endParaRPr sz="1520" b="1"/>
          </a:p>
          <a:p>
            <a:pPr marL="0" lvl="0" indent="0" algn="l" rtl="0">
              <a:lnSpc>
                <a:spcPct val="115000"/>
              </a:lnSpc>
              <a:spcBef>
                <a:spcPts val="0"/>
              </a:spcBef>
              <a:spcAft>
                <a:spcPts val="0"/>
              </a:spcAft>
              <a:buClr>
                <a:schemeClr val="dk1"/>
              </a:buClr>
              <a:buSzPct val="71223"/>
              <a:buFont typeface="Arial"/>
              <a:buNone/>
            </a:pPr>
            <a:r>
              <a:rPr lang="en" sz="1544"/>
              <a:t>QuickBooks Payments enables users to process payments online through various methods like credit cards, debit cards, bank transfers, or Apple Pay. When customers sign up for QuickBooks, they have the option to activate this feature without any additional monthly charges. Instead, a transaction fee comprising a percentage and a flat fee is applied to each transaction.</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r>
              <a:rPr lang="en" sz="1544"/>
              <a:t>The COVID-19 pandemic has expedited the shift towards online payments. As small and medium-sized businesses (SMBs) experience decreased foot traffic, temporary closures, and the need to implement social distancing measures, there has been a significant reduction in the use of cash and other offline payment methods, such as checks. Conversely, online payments are on the rise.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r>
              <a:rPr lang="en" sz="1544"/>
              <a:t>How do you recommend Quickbooks grow its payment practice?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68" name="Google Shape;168;p25"/>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69" name="Google Shape;169;p25"/>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25"/>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Quickbooks (2/4)</a:t>
            </a:r>
            <a:endParaRPr sz="1520" b="1"/>
          </a:p>
          <a:p>
            <a:pPr marL="0" lvl="0" indent="0" algn="l" rtl="0">
              <a:lnSpc>
                <a:spcPct val="115000"/>
              </a:lnSpc>
              <a:spcBef>
                <a:spcPts val="0"/>
              </a:spcBef>
              <a:spcAft>
                <a:spcPts val="0"/>
              </a:spcAft>
              <a:buClr>
                <a:schemeClr val="dk1"/>
              </a:buClr>
              <a:buSzPct val="71223"/>
              <a:buFont typeface="Arial"/>
              <a:buNone/>
            </a:pPr>
            <a:r>
              <a:rPr lang="en" sz="1544"/>
              <a:t>How do you recommend Quickbooks grow its payment practice?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176" name="Google Shape;176;p26"/>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77" name="Google Shape;177;p26"/>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Identify and describe the possible target customer segments and the reasons for choosing them. Assess a few of these segments by listing the advantages and disadvantages of each. If possible, provide an estimate of the market size for each segment.</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Analyze the competitors and weigh their strengths and weaknesses in comparison to QuickBooks. Do not forget that this is a take-home case, so thorough research is essential!</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Outline the channels, messaging, and tactics that will be used, utilizing the Four Ps framework (Product, Price, Place, Promotion).</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Determine the Key Performance Indicators (KPIs) that will be used to measure success. Organize these metrics according to the business goals they relate to, such as acquisition, retention, engagement, or monetization.</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Identify potential areas for future growth, including opportunities to develop new capabilities or services.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178" name="Google Shape;178;p26"/>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26"/>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7"/>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85" name="Google Shape;185;p27"/>
          <p:cNvSpPr txBox="1"/>
          <p:nvPr/>
        </p:nvSpPr>
        <p:spPr>
          <a:xfrm>
            <a:off x="464100" y="8926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Recommendations</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Enhance User Experience: Make the payment process as seamless as possible. Minimize the number of steps required to complete a transaction, optimize for mobile devices, and offer a variety of payment options.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Competitive Pricing: Keep transaction fees competitive to attract more businesses. Consider offering tiered pricing plans based on transaction volume, which can be particularly appealing to SMBs.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Security: Ensure the highest level of security for online transactions. This will build trust and confidence among existing and potential customers.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Integrate Additional Services: Offer additional services such as invoicing, payment reminders, and recurring payments to create a comprehensive payment solution for businesses.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Expand Globally: If not already available worldwide, expand the service to international markets to tap into a larger customer base.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Partnerships: Collaborate with other online platforms, e-commerce sites, and point-of-sale systems to integrate QuickBooks Payments as a payment option.</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Marketing and Education: Run targeted marketing campaigns to increase awareness of QuickBooks Payments. Additionally, educate SMBs on the benefits of online payments and how QuickBooks Payments can help streamline their operations.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Feedback Loop: Continuously gather feedback from users to understand their needs and challenges better. This will help in making necessary improvements and additions to the service.</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186" name="Google Shape;186;p27"/>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27"/>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7"/>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Quickbooks (3/4)</a:t>
            </a:r>
            <a:endParaRPr sz="1520" b="1"/>
          </a:p>
          <a:p>
            <a:pPr marL="0" lvl="0" indent="0" algn="l" rtl="0">
              <a:lnSpc>
                <a:spcPct val="115000"/>
              </a:lnSpc>
              <a:spcBef>
                <a:spcPts val="0"/>
              </a:spcBef>
              <a:spcAft>
                <a:spcPts val="0"/>
              </a:spcAft>
              <a:buClr>
                <a:schemeClr val="dk1"/>
              </a:buClr>
              <a:buSzPct val="71223"/>
              <a:buFont typeface="Arial"/>
              <a:buNone/>
            </a:pPr>
            <a:r>
              <a:rPr lang="en" sz="1544"/>
              <a:t>How do you recommend Quickbooks grow its payment practice?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8"/>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194" name="Google Shape;194;p28"/>
          <p:cNvSpPr txBox="1"/>
          <p:nvPr/>
        </p:nvSpPr>
        <p:spPr>
          <a:xfrm>
            <a:off x="498150" y="104012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This case challenges your ability to carry out competitor analysis and pinpoint a market segment where Intuit has a distinct advantage and a higher chance of success.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The case is deliberately ambiguous and does not have a single correct answer. You are required to propose a recommendation and justify it, explaining why it is a more favorable option compared to other ideas that the interviewers might have.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Effective and straightforward communication is crucial. Intuit expects you to simplify a complicated industry into terms that can be understood by the average person.</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It is essential to devise thoughtful and pertinent KPIs to gauge success, as Intuit puts a strong emphasis on making decisions based on data.</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Whenever possible, Intuit would like you to demonstrate your knowledge of Software as a Service (SaaS).</a:t>
            </a:r>
            <a:endParaRPr sz="1100">
              <a:solidFill>
                <a:schemeClr val="dk1"/>
              </a:solidFill>
            </a:endParaRPr>
          </a:p>
          <a:p>
            <a:pPr marL="45720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195" name="Google Shape;195;p28"/>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8"/>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8"/>
          <p:cNvSpPr txBox="1">
            <a:spLocks noGrp="1"/>
          </p:cNvSpPr>
          <p:nvPr>
            <p:ph type="title"/>
          </p:nvPr>
        </p:nvSpPr>
        <p:spPr>
          <a:xfrm>
            <a:off x="446900" y="182888"/>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Intuit - Quickbooks (4/4)</a:t>
            </a:r>
            <a:endParaRPr sz="1520" b="1"/>
          </a:p>
          <a:p>
            <a:pPr marL="0" lvl="0" indent="0" algn="l" rtl="0">
              <a:lnSpc>
                <a:spcPct val="115000"/>
              </a:lnSpc>
              <a:spcBef>
                <a:spcPts val="0"/>
              </a:spcBef>
              <a:spcAft>
                <a:spcPts val="0"/>
              </a:spcAft>
              <a:buClr>
                <a:schemeClr val="dk1"/>
              </a:buClr>
              <a:buSzPct val="71223"/>
              <a:buFont typeface="Arial"/>
              <a:buNone/>
            </a:pPr>
            <a:r>
              <a:rPr lang="en" sz="1544"/>
              <a:t>How do you recommend Quickbooks grow its payment practice?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Linkedin - New Feature (1/2)</a:t>
            </a:r>
            <a:endParaRPr sz="1520" b="1"/>
          </a:p>
          <a:p>
            <a:pPr marL="0" lvl="0" indent="0" algn="l" rtl="0">
              <a:lnSpc>
                <a:spcPct val="115000"/>
              </a:lnSpc>
              <a:spcBef>
                <a:spcPts val="0"/>
              </a:spcBef>
              <a:spcAft>
                <a:spcPts val="0"/>
              </a:spcAft>
              <a:buClr>
                <a:schemeClr val="dk1"/>
              </a:buClr>
              <a:buSzPct val="71223"/>
              <a:buFont typeface="Arial"/>
              <a:buNone/>
            </a:pPr>
            <a:r>
              <a:rPr lang="en" sz="1544"/>
              <a:t>LinkedIn is testing a change that involves asking new users to upload their profile picture during the registration process instead of after completing it. What are the key metrics to consider when evaluating the impact of this new feature?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03" name="Google Shape;203;p29"/>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04" name="Google Shape;204;p29"/>
          <p:cNvSpPr txBox="1"/>
          <p:nvPr/>
        </p:nvSpPr>
        <p:spPr>
          <a:xfrm>
            <a:off x="464100" y="115290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Commonly used metrics can be categorized as below:</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Acquisition</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 of unique visitors – daily, monthly, annual</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Cost of customer acquisition (CAC)</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Activation</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 of registrations/ transactions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Engagement</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 of pages visited, time spent on site, site-specific usage metrics (e.g. profile completion, likes, photo uploads, etc.)</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Retention</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Repeat usage metrics - weekly, monthly, annual</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Churn Rate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Monetization</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Conversion rate (total signups to paid), ARPU, LTV</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05" name="Google Shape;205;p29"/>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9"/>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30"/>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12" name="Google Shape;212;p30"/>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30"/>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p:cNvSpPr txBox="1"/>
          <p:nvPr/>
        </p:nvSpPr>
        <p:spPr>
          <a:xfrm>
            <a:off x="498150" y="1250575"/>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Having a foundational knowledge of A/B testing is crucial. It plays a significant role for many Product Managers in the process of conceptualizing new features, forming hypotheses on potential improvements in product performance, and making informed decisions on whether to launch or not launch a feature.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Initiate your assessment by identifying all the relevant metrics. Subsequently, analyze how each of these metrics can or cannot be utilized to evaluate the success of the newly introduced feature.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In the AARM framework, some categories can be consolidated into fewer groups, depending on the specific technology segment being considered.</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15" name="Google Shape;215;p30"/>
          <p:cNvSpPr txBox="1">
            <a:spLocks noGrp="1"/>
          </p:cNvSpPr>
          <p:nvPr>
            <p:ph type="title"/>
          </p:nvPr>
        </p:nvSpPr>
        <p:spPr>
          <a:xfrm>
            <a:off x="464100" y="156825"/>
            <a:ext cx="8147700" cy="1093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Linkedin - New Feature (2/2)</a:t>
            </a:r>
            <a:endParaRPr sz="1520" b="1"/>
          </a:p>
          <a:p>
            <a:pPr marL="0" lvl="0" indent="0" algn="l" rtl="0">
              <a:lnSpc>
                <a:spcPct val="115000"/>
              </a:lnSpc>
              <a:spcBef>
                <a:spcPts val="0"/>
              </a:spcBef>
              <a:spcAft>
                <a:spcPts val="0"/>
              </a:spcAft>
              <a:buClr>
                <a:schemeClr val="dk1"/>
              </a:buClr>
              <a:buSzPct val="71223"/>
              <a:buFont typeface="Arial"/>
              <a:buNone/>
            </a:pPr>
            <a:r>
              <a:rPr lang="en" sz="1544"/>
              <a:t>LinkedIn is testing a change that involves asking new users to upload their profile picture during the registration process instead of after completing it. What are the key metrics to consider when evaluating the impact of this new feature?</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None/>
            </a:pPr>
            <a:endParaRPr sz="152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Prime Pricing (1/4)</a:t>
            </a:r>
            <a:endParaRPr sz="1520" b="1"/>
          </a:p>
          <a:p>
            <a:pPr marL="0" lvl="0" indent="0" algn="l" rtl="0">
              <a:lnSpc>
                <a:spcPct val="115000"/>
              </a:lnSpc>
              <a:spcBef>
                <a:spcPts val="0"/>
              </a:spcBef>
              <a:spcAft>
                <a:spcPts val="0"/>
              </a:spcAft>
              <a:buClr>
                <a:schemeClr val="dk1"/>
              </a:buClr>
              <a:buSzPct val="71223"/>
              <a:buFont typeface="Arial"/>
              <a:buNone/>
            </a:pPr>
            <a:r>
              <a:rPr lang="en" sz="1544"/>
              <a:t>The price of Amazon Prime is $79. Your boss wants you to explore if it makes sense to raise the price to $99. How would you approach this?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21" name="Google Shape;221;p31"/>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22" name="Google Shape;222;p31"/>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i="1"/>
              <a:t>Data available after initial structuring :</a:t>
            </a:r>
            <a:endParaRPr sz="1100" i="1"/>
          </a:p>
          <a:p>
            <a:pPr marL="457200" lvl="0" indent="-298450" algn="l" rtl="0">
              <a:spcBef>
                <a:spcPts val="0"/>
              </a:spcBef>
              <a:spcAft>
                <a:spcPts val="0"/>
              </a:spcAft>
              <a:buSzPts val="1100"/>
              <a:buChar char="●"/>
            </a:pPr>
            <a:r>
              <a:rPr lang="en" sz="1100" i="1"/>
              <a:t>Non prime user spends $100 on Amazon while a Prime user spends 150% more</a:t>
            </a:r>
            <a:endParaRPr sz="1100" i="1"/>
          </a:p>
          <a:p>
            <a:pPr marL="457200" lvl="0" indent="-298450" algn="l" rtl="0">
              <a:spcBef>
                <a:spcPts val="0"/>
              </a:spcBef>
              <a:spcAft>
                <a:spcPts val="0"/>
              </a:spcAft>
              <a:buSzPts val="1100"/>
              <a:buChar char="●"/>
            </a:pPr>
            <a:r>
              <a:rPr lang="en" sz="1100" i="1"/>
              <a:t>We have 10 million prime members</a:t>
            </a:r>
            <a:endParaRPr sz="1100" i="1"/>
          </a:p>
          <a:p>
            <a:pPr marL="457200" lvl="0" indent="-298450" algn="l" rtl="0">
              <a:spcBef>
                <a:spcPts val="0"/>
              </a:spcBef>
              <a:spcAft>
                <a:spcPts val="0"/>
              </a:spcAft>
              <a:buSzPts val="1100"/>
              <a:buChar char="●"/>
            </a:pPr>
            <a:r>
              <a:rPr lang="en" sz="1100" i="1"/>
              <a:t>Expected to lose 25% of our members in the process</a:t>
            </a:r>
            <a:endParaRPr sz="1100" i="1"/>
          </a:p>
          <a:p>
            <a:pPr marL="0" lvl="0" indent="0" algn="l" rtl="0">
              <a:spcBef>
                <a:spcPts val="0"/>
              </a:spcBef>
              <a:spcAft>
                <a:spcPts val="0"/>
              </a:spcAft>
              <a:buClr>
                <a:schemeClr val="dk1"/>
              </a:buClr>
              <a:buSzPts val="1100"/>
              <a:buFont typeface="Arial"/>
              <a:buNone/>
            </a:pPr>
            <a:endParaRPr sz="1300" u="sng"/>
          </a:p>
          <a:p>
            <a:pPr marL="0" lvl="0" indent="0" algn="l" rtl="0">
              <a:spcBef>
                <a:spcPts val="0"/>
              </a:spcBef>
              <a:spcAft>
                <a:spcPts val="0"/>
              </a:spcAft>
              <a:buNone/>
            </a:pPr>
            <a:r>
              <a:rPr lang="en" sz="1300" u="sng"/>
              <a:t>Suggested Approach</a:t>
            </a:r>
            <a:br>
              <a:rPr lang="en" sz="1300" u="sng"/>
            </a:br>
            <a:endParaRPr sz="1300" u="sng"/>
          </a:p>
          <a:p>
            <a:pPr marL="457200" lvl="0" indent="-298450" algn="l" rtl="0">
              <a:spcBef>
                <a:spcPts val="0"/>
              </a:spcBef>
              <a:spcAft>
                <a:spcPts val="0"/>
              </a:spcAft>
              <a:buSzPts val="1100"/>
              <a:buChar char="●"/>
            </a:pPr>
            <a:r>
              <a:rPr lang="en" sz="1100"/>
              <a:t>Initially, formulate the issue as a decision-making problem. The decision could be based on strategic considerations or a cost-benefit analysis.</a:t>
            </a:r>
            <a:endParaRPr sz="1100"/>
          </a:p>
          <a:p>
            <a:pPr marL="457200" lvl="0" indent="-298450" algn="l" rtl="0">
              <a:spcBef>
                <a:spcPts val="0"/>
              </a:spcBef>
              <a:spcAft>
                <a:spcPts val="0"/>
              </a:spcAft>
              <a:buClr>
                <a:srgbClr val="38761D"/>
              </a:buClr>
              <a:buSzPts val="1100"/>
              <a:buChar char="●"/>
            </a:pPr>
            <a:r>
              <a:rPr lang="en" sz="1100">
                <a:solidFill>
                  <a:srgbClr val="38761D"/>
                </a:solidFill>
              </a:rPr>
              <a:t>Note for the interviewer: Instruct the interviewee to disregard strategic considerations and concentrate solely on the cost-benefit analysis.</a:t>
            </a:r>
            <a:endParaRPr sz="1100">
              <a:solidFill>
                <a:srgbClr val="38761D"/>
              </a:solidFill>
            </a:endParaRPr>
          </a:p>
          <a:p>
            <a:pPr marL="457200" lvl="0" indent="-298450" algn="l" rtl="0">
              <a:spcBef>
                <a:spcPts val="0"/>
              </a:spcBef>
              <a:spcAft>
                <a:spcPts val="0"/>
              </a:spcAft>
              <a:buClr>
                <a:schemeClr val="dk1"/>
              </a:buClr>
              <a:buSzPts val="1100"/>
              <a:buChar char="●"/>
            </a:pPr>
            <a:r>
              <a:rPr lang="en" sz="1100"/>
              <a:t>Pose questions to gather additional information that could be beneficial for your cost-benefit analysis.</a:t>
            </a:r>
            <a:endParaRPr sz="1100"/>
          </a:p>
          <a:p>
            <a:pPr marL="457200" lvl="0" indent="-298450" algn="l" rtl="0">
              <a:spcBef>
                <a:spcPts val="0"/>
              </a:spcBef>
              <a:spcAft>
                <a:spcPts val="0"/>
              </a:spcAft>
              <a:buClr>
                <a:schemeClr val="dk1"/>
              </a:buClr>
              <a:buSzPts val="1100"/>
              <a:buChar char="●"/>
            </a:pPr>
            <a:r>
              <a:rPr lang="en" sz="1100"/>
              <a:t>Cost-Benefit Analysis:</a:t>
            </a:r>
            <a:endParaRPr sz="1100"/>
          </a:p>
          <a:p>
            <a:pPr marL="914400" lvl="1" indent="-298450" algn="l" rtl="0">
              <a:spcBef>
                <a:spcPts val="0"/>
              </a:spcBef>
              <a:spcAft>
                <a:spcPts val="0"/>
              </a:spcAft>
              <a:buClr>
                <a:schemeClr val="dk1"/>
              </a:buClr>
              <a:buSzPts val="1100"/>
              <a:buChar char="○"/>
            </a:pPr>
            <a:r>
              <a:rPr lang="en" sz="1100"/>
              <a:t>Benefits: Additional revenue generated from increasing charges for existing members.</a:t>
            </a:r>
            <a:endParaRPr sz="1100"/>
          </a:p>
          <a:p>
            <a:pPr marL="914400" lvl="1" indent="-298450" algn="l" rtl="0">
              <a:spcBef>
                <a:spcPts val="0"/>
              </a:spcBef>
              <a:spcAft>
                <a:spcPts val="0"/>
              </a:spcAft>
              <a:buClr>
                <a:schemeClr val="dk1"/>
              </a:buClr>
              <a:buSzPts val="1100"/>
              <a:buChar char="○"/>
            </a:pPr>
            <a:r>
              <a:rPr lang="en" sz="1100"/>
              <a:t>Costs:</a:t>
            </a:r>
            <a:endParaRPr sz="1100"/>
          </a:p>
          <a:p>
            <a:pPr marL="1371600" lvl="2" indent="-298450" algn="l" rtl="0">
              <a:spcBef>
                <a:spcPts val="0"/>
              </a:spcBef>
              <a:spcAft>
                <a:spcPts val="0"/>
              </a:spcAft>
              <a:buClr>
                <a:schemeClr val="dk1"/>
              </a:buClr>
              <a:buSzPts val="1100"/>
              <a:buChar char="■"/>
            </a:pPr>
            <a:r>
              <a:rPr lang="en" sz="1100"/>
              <a:t>Revenue loss due to Prime members canceling their subscriptions.</a:t>
            </a:r>
            <a:endParaRPr sz="1100"/>
          </a:p>
          <a:p>
            <a:pPr marL="1371600" lvl="2" indent="-298450" algn="l" rtl="0">
              <a:spcBef>
                <a:spcPts val="0"/>
              </a:spcBef>
              <a:spcAft>
                <a:spcPts val="0"/>
              </a:spcAft>
              <a:buClr>
                <a:schemeClr val="dk1"/>
              </a:buClr>
              <a:buSzPts val="1100"/>
              <a:buChar char="■"/>
            </a:pPr>
            <a:r>
              <a:rPr lang="en" sz="1100"/>
              <a:t>Costs associated with the lost Prime members who then begin to act as non-Prime users.</a:t>
            </a:r>
            <a:endParaRPr sz="1100"/>
          </a:p>
          <a:p>
            <a:pPr marL="1371600" lvl="2" indent="-298450" algn="l" rtl="0">
              <a:spcBef>
                <a:spcPts val="0"/>
              </a:spcBef>
              <a:spcAft>
                <a:spcPts val="0"/>
              </a:spcAft>
              <a:buClr>
                <a:schemeClr val="dk1"/>
              </a:buClr>
              <a:buSzPts val="1100"/>
              <a:buChar char="■"/>
            </a:pPr>
            <a:r>
              <a:rPr lang="en" sz="1100"/>
              <a:t>Other potential costs, such as damage to the company's reputation.</a:t>
            </a:r>
            <a:endParaRPr sz="1100"/>
          </a:p>
          <a:p>
            <a:pPr marL="0" lvl="0" indent="0" algn="l" rtl="0">
              <a:spcBef>
                <a:spcPts val="0"/>
              </a:spcBef>
              <a:spcAft>
                <a:spcPts val="0"/>
              </a:spcAft>
              <a:buClr>
                <a:schemeClr val="dk1"/>
              </a:buClr>
              <a:buSzPts val="1100"/>
              <a:buFont typeface="Arial"/>
              <a:buNone/>
            </a:pPr>
            <a:endParaRPr sz="1300"/>
          </a:p>
          <a:p>
            <a:pPr marL="0" lvl="0" indent="0" algn="l" rtl="0">
              <a:spcBef>
                <a:spcPts val="0"/>
              </a:spcBef>
              <a:spcAft>
                <a:spcPts val="0"/>
              </a:spcAft>
              <a:buNone/>
            </a:pPr>
            <a:endParaRPr sz="1300"/>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23" name="Google Shape;223;p31"/>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31"/>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Prime Pricing (2/4)</a:t>
            </a:r>
            <a:endParaRPr sz="1520" b="1"/>
          </a:p>
          <a:p>
            <a:pPr marL="0" lvl="0" indent="0" algn="l" rtl="0">
              <a:lnSpc>
                <a:spcPct val="115000"/>
              </a:lnSpc>
              <a:spcBef>
                <a:spcPts val="0"/>
              </a:spcBef>
              <a:spcAft>
                <a:spcPts val="0"/>
              </a:spcAft>
              <a:buClr>
                <a:schemeClr val="dk1"/>
              </a:buClr>
              <a:buSzPct val="71223"/>
              <a:buFont typeface="Arial"/>
              <a:buNone/>
            </a:pPr>
            <a:r>
              <a:rPr lang="en" sz="1544"/>
              <a:t>The price of Amazon Prime is $79. Your boss wants you to explore if it makes sense to raise the price to $99. How would you approach this?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30" name="Google Shape;230;p32"/>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31" name="Google Shape;231;p32"/>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 </a:t>
            </a:r>
            <a:endParaRPr sz="1300" u="sng"/>
          </a:p>
          <a:p>
            <a:pPr marL="0" lvl="0" indent="0" algn="l" rtl="0">
              <a:spcBef>
                <a:spcPts val="0"/>
              </a:spcBef>
              <a:spcAft>
                <a:spcPts val="0"/>
              </a:spcAft>
              <a:buNone/>
            </a:pPr>
            <a:endParaRPr sz="1300" u="sng"/>
          </a:p>
          <a:p>
            <a:pPr marL="0" lvl="0" indent="0" algn="l" rtl="0">
              <a:spcBef>
                <a:spcPts val="0"/>
              </a:spcBef>
              <a:spcAft>
                <a:spcPts val="0"/>
              </a:spcAft>
              <a:buClr>
                <a:schemeClr val="dk1"/>
              </a:buClr>
              <a:buSzPts val="1100"/>
              <a:buFont typeface="Arial"/>
              <a:buNone/>
            </a:pPr>
            <a:r>
              <a:rPr lang="en" sz="1300" b="1" i="1"/>
              <a:t>Steps - </a:t>
            </a:r>
            <a:endParaRPr sz="1300" b="1" i="1"/>
          </a:p>
          <a:p>
            <a:pPr marL="0" lvl="0" indent="0" algn="l" rtl="0">
              <a:spcBef>
                <a:spcPts val="0"/>
              </a:spcBef>
              <a:spcAft>
                <a:spcPts val="0"/>
              </a:spcAft>
              <a:buNone/>
            </a:pPr>
            <a:r>
              <a:rPr lang="en" sz="1300"/>
              <a:t>1. </a:t>
            </a:r>
            <a:r>
              <a:rPr lang="en" sz="1100"/>
              <a:t>Understand the Current Situation:</a:t>
            </a:r>
            <a:endParaRPr sz="1100"/>
          </a:p>
          <a:p>
            <a:pPr marL="457200" lvl="0" indent="-298450" algn="l" rtl="0">
              <a:spcBef>
                <a:spcPts val="0"/>
              </a:spcBef>
              <a:spcAft>
                <a:spcPts val="0"/>
              </a:spcAft>
              <a:buSzPts val="1100"/>
              <a:buChar char="●"/>
            </a:pPr>
            <a:r>
              <a:rPr lang="en" sz="1100" i="1"/>
              <a:t>Currently, Amazon Prime is priced at $79.</a:t>
            </a:r>
            <a:endParaRPr sz="1100" i="1"/>
          </a:p>
          <a:p>
            <a:pPr marL="457200" lvl="0" indent="-298450" algn="l" rtl="0">
              <a:spcBef>
                <a:spcPts val="0"/>
              </a:spcBef>
              <a:spcAft>
                <a:spcPts val="0"/>
              </a:spcAft>
              <a:buSzPts val="1100"/>
              <a:buChar char="●"/>
            </a:pPr>
            <a:r>
              <a:rPr lang="en" sz="1100" i="1"/>
              <a:t>Non-prime users spend $100 on Amazon, while Prime users spend 150% more, which means a Prime user, on average, spends $250.</a:t>
            </a:r>
            <a:endParaRPr sz="1100" i="1"/>
          </a:p>
          <a:p>
            <a:pPr marL="457200" lvl="0" indent="-298450" algn="l" rtl="0">
              <a:spcBef>
                <a:spcPts val="0"/>
              </a:spcBef>
              <a:spcAft>
                <a:spcPts val="0"/>
              </a:spcAft>
              <a:buSzPts val="1100"/>
              <a:buChar char="●"/>
            </a:pPr>
            <a:r>
              <a:rPr lang="en" sz="1100" i="1"/>
              <a:t>There are 10 million Prime members.</a:t>
            </a:r>
            <a:endParaRPr sz="1100" i="1"/>
          </a:p>
          <a:p>
            <a:pPr marL="457200" lvl="0" indent="-298450" algn="l" rtl="0">
              <a:spcBef>
                <a:spcPts val="0"/>
              </a:spcBef>
              <a:spcAft>
                <a:spcPts val="0"/>
              </a:spcAft>
              <a:buSzPts val="1100"/>
              <a:buChar char="●"/>
            </a:pPr>
            <a:r>
              <a:rPr lang="en" sz="1100" i="1"/>
              <a:t>It is expected that 25% of Prime members (2.5 million) will cancel their membership if the price is increased to $99.</a:t>
            </a:r>
            <a:endParaRPr sz="1100" i="1"/>
          </a:p>
          <a:p>
            <a:pPr marL="0" lvl="0" indent="0" algn="l" rtl="0">
              <a:spcBef>
                <a:spcPts val="0"/>
              </a:spcBef>
              <a:spcAft>
                <a:spcPts val="0"/>
              </a:spcAft>
              <a:buClr>
                <a:schemeClr val="dk1"/>
              </a:buClr>
              <a:buSzPts val="1100"/>
              <a:buFont typeface="Arial"/>
              <a:buNone/>
            </a:pPr>
            <a:endParaRPr sz="1100"/>
          </a:p>
          <a:p>
            <a:pPr marL="0" lvl="0" indent="0" algn="l" rtl="0">
              <a:spcBef>
                <a:spcPts val="0"/>
              </a:spcBef>
              <a:spcAft>
                <a:spcPts val="0"/>
              </a:spcAft>
              <a:buNone/>
            </a:pPr>
            <a:r>
              <a:rPr lang="en" sz="1100"/>
              <a:t>2. Calculate Current Revenue:</a:t>
            </a:r>
            <a:endParaRPr sz="1100"/>
          </a:p>
          <a:p>
            <a:pPr marL="457200" lvl="0" indent="-298450" algn="l" rtl="0">
              <a:spcBef>
                <a:spcPts val="0"/>
              </a:spcBef>
              <a:spcAft>
                <a:spcPts val="0"/>
              </a:spcAft>
              <a:buSzPts val="1100"/>
              <a:buChar char="●"/>
            </a:pPr>
            <a:r>
              <a:rPr lang="en" sz="1100" i="1"/>
              <a:t>From Prime memberships: 10 million members * $79 = $790 million.</a:t>
            </a:r>
            <a:endParaRPr sz="1100" i="1"/>
          </a:p>
          <a:p>
            <a:pPr marL="457200" lvl="0" indent="-298450" algn="l" rtl="0">
              <a:spcBef>
                <a:spcPts val="0"/>
              </a:spcBef>
              <a:spcAft>
                <a:spcPts val="0"/>
              </a:spcAft>
              <a:buSzPts val="1100"/>
              <a:buChar char="●"/>
            </a:pPr>
            <a:r>
              <a:rPr lang="en" sz="1100" i="1"/>
              <a:t>From purchases made by Prime members: 10 million members * $250 = $2.5 billion</a:t>
            </a:r>
            <a:r>
              <a:rPr lang="en" sz="1100"/>
              <a:t>.</a:t>
            </a:r>
            <a:endParaRPr sz="1100"/>
          </a:p>
          <a:p>
            <a:pPr marL="0" lvl="0" indent="0" algn="l" rtl="0">
              <a:spcBef>
                <a:spcPts val="0"/>
              </a:spcBef>
              <a:spcAft>
                <a:spcPts val="0"/>
              </a:spcAft>
              <a:buNone/>
            </a:pPr>
            <a:endParaRPr sz="1100"/>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32" name="Google Shape;232;p32"/>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32"/>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3"/>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Prime Pricing (3/4)</a:t>
            </a:r>
            <a:endParaRPr sz="1520" b="1"/>
          </a:p>
          <a:p>
            <a:pPr marL="0" lvl="0" indent="0" algn="l" rtl="0">
              <a:lnSpc>
                <a:spcPct val="115000"/>
              </a:lnSpc>
              <a:spcBef>
                <a:spcPts val="0"/>
              </a:spcBef>
              <a:spcAft>
                <a:spcPts val="0"/>
              </a:spcAft>
              <a:buClr>
                <a:schemeClr val="dk1"/>
              </a:buClr>
              <a:buSzPct val="71223"/>
              <a:buFont typeface="Arial"/>
              <a:buNone/>
            </a:pPr>
            <a:r>
              <a:rPr lang="en" sz="1544"/>
              <a:t>The price of Amazon Prime is $79. Your boss wants you to explore if it makes sense to raise the price to $99. How would you approach this?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39" name="Google Shape;239;p33"/>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40" name="Google Shape;240;p33"/>
          <p:cNvSpPr txBox="1"/>
          <p:nvPr/>
        </p:nvSpPr>
        <p:spPr>
          <a:xfrm>
            <a:off x="464100" y="101332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 </a:t>
            </a:r>
            <a:br>
              <a:rPr lang="en" sz="1300" u="sng"/>
            </a:br>
            <a:endParaRPr sz="1300"/>
          </a:p>
          <a:p>
            <a:pPr marL="0" lvl="0" indent="0" algn="l" rtl="0">
              <a:spcBef>
                <a:spcPts val="0"/>
              </a:spcBef>
              <a:spcAft>
                <a:spcPts val="0"/>
              </a:spcAft>
              <a:buNone/>
            </a:pPr>
            <a:r>
              <a:rPr lang="en" sz="1300"/>
              <a:t>3. </a:t>
            </a:r>
            <a:r>
              <a:rPr lang="en" sz="1100"/>
              <a:t>Estimate New Revenue:</a:t>
            </a:r>
            <a:endParaRPr sz="1100"/>
          </a:p>
          <a:p>
            <a:pPr marL="457200" lvl="0" indent="-298450" algn="l" rtl="0">
              <a:spcBef>
                <a:spcPts val="0"/>
              </a:spcBef>
              <a:spcAft>
                <a:spcPts val="0"/>
              </a:spcAft>
              <a:buSzPts val="1100"/>
              <a:buChar char="●"/>
            </a:pPr>
            <a:r>
              <a:rPr lang="en" sz="1100" i="1"/>
              <a:t>If the price is increased to $99, it is expected that only 7.5 million members will remain.</a:t>
            </a:r>
            <a:endParaRPr sz="1100" i="1"/>
          </a:p>
          <a:p>
            <a:pPr marL="457200" lvl="0" indent="-298450" algn="l" rtl="0">
              <a:spcBef>
                <a:spcPts val="0"/>
              </a:spcBef>
              <a:spcAft>
                <a:spcPts val="0"/>
              </a:spcAft>
              <a:buSzPts val="1100"/>
              <a:buChar char="●"/>
            </a:pPr>
            <a:r>
              <a:rPr lang="en" sz="1100" i="1"/>
              <a:t>From new Prime memberships: 7.5 million members * $99 = $742.5 million.</a:t>
            </a:r>
            <a:endParaRPr sz="1100" i="1"/>
          </a:p>
          <a:p>
            <a:pPr marL="457200" lvl="0" indent="-298450" algn="l" rtl="0">
              <a:spcBef>
                <a:spcPts val="0"/>
              </a:spcBef>
              <a:spcAft>
                <a:spcPts val="0"/>
              </a:spcAft>
              <a:buSzPts val="1100"/>
              <a:buChar char="●"/>
            </a:pPr>
            <a:r>
              <a:rPr lang="en" sz="1100" i="1"/>
              <a:t>From purchases made by remaining Prime members: 7.5 million members * $250 = $1.875 billion.</a:t>
            </a:r>
            <a:endParaRPr sz="1100" i="1"/>
          </a:p>
          <a:p>
            <a:pPr marL="457200" lvl="0" indent="-298450" algn="l" rtl="0">
              <a:spcBef>
                <a:spcPts val="0"/>
              </a:spcBef>
              <a:spcAft>
                <a:spcPts val="0"/>
              </a:spcAft>
              <a:buSzPts val="1100"/>
              <a:buChar char="●"/>
            </a:pPr>
            <a:r>
              <a:rPr lang="en" sz="1100" i="1"/>
              <a:t>Do the same for the 2.5 million members who canceled their membership ( consider the average spend as $100)</a:t>
            </a:r>
            <a:br>
              <a:rPr lang="en" sz="1100" i="1"/>
            </a:br>
            <a:endParaRPr sz="1100" i="1"/>
          </a:p>
          <a:p>
            <a:pPr marL="0" lvl="0" indent="0" algn="l" rtl="0">
              <a:spcBef>
                <a:spcPts val="0"/>
              </a:spcBef>
              <a:spcAft>
                <a:spcPts val="0"/>
              </a:spcAft>
              <a:buNone/>
            </a:pPr>
            <a:r>
              <a:rPr lang="en" sz="1100"/>
              <a:t>4. Calculate Lost Revenue (if any)</a:t>
            </a:r>
            <a:br>
              <a:rPr lang="en" sz="1100"/>
            </a:br>
            <a:endParaRPr sz="1100"/>
          </a:p>
          <a:p>
            <a:pPr marL="0" lvl="0" indent="0" algn="l" rtl="0">
              <a:spcBef>
                <a:spcPts val="0"/>
              </a:spcBef>
              <a:spcAft>
                <a:spcPts val="0"/>
              </a:spcAft>
              <a:buNone/>
            </a:pPr>
            <a:r>
              <a:rPr lang="en" sz="1100"/>
              <a:t>5. Evaluate Net Impact:</a:t>
            </a:r>
            <a:endParaRPr sz="1100"/>
          </a:p>
          <a:p>
            <a:pPr marL="457200" lvl="0" indent="-298450" algn="l" rtl="0">
              <a:spcBef>
                <a:spcPts val="0"/>
              </a:spcBef>
              <a:spcAft>
                <a:spcPts val="0"/>
              </a:spcAft>
              <a:buSzPts val="1100"/>
              <a:buChar char="●"/>
            </a:pPr>
            <a:r>
              <a:rPr lang="en" sz="1100" i="1"/>
              <a:t>Compare the current revenue with the new estimated revenue minus the lost revenue. If the net impact is positive, it makes sense to increase the price. </a:t>
            </a:r>
            <a:endParaRPr sz="1100" i="1"/>
          </a:p>
          <a:p>
            <a:pPr marL="457200" lvl="0" indent="-298450" algn="l" rtl="0">
              <a:spcBef>
                <a:spcPts val="0"/>
              </a:spcBef>
              <a:spcAft>
                <a:spcPts val="0"/>
              </a:spcAft>
              <a:buSzPts val="1100"/>
              <a:buChar char="●"/>
            </a:pPr>
            <a:r>
              <a:rPr lang="en" sz="1100" i="1"/>
              <a:t>If the net impact is negative, it is not advisable to increase the price.</a:t>
            </a:r>
            <a:endParaRPr sz="1100" i="1"/>
          </a:p>
          <a:p>
            <a:pPr marL="0" lvl="0" indent="0" algn="l" rtl="0">
              <a:spcBef>
                <a:spcPts val="0"/>
              </a:spcBef>
              <a:spcAft>
                <a:spcPts val="0"/>
              </a:spcAft>
              <a:buNone/>
            </a:pPr>
            <a:endParaRPr sz="1300" i="1"/>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41" name="Google Shape;241;p33"/>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33"/>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Amazon - Prime Pricing (4/4)</a:t>
            </a:r>
            <a:endParaRPr sz="1520" b="1"/>
          </a:p>
          <a:p>
            <a:pPr marL="0" lvl="0" indent="0" algn="l" rtl="0">
              <a:lnSpc>
                <a:spcPct val="115000"/>
              </a:lnSpc>
              <a:spcBef>
                <a:spcPts val="0"/>
              </a:spcBef>
              <a:spcAft>
                <a:spcPts val="0"/>
              </a:spcAft>
              <a:buClr>
                <a:schemeClr val="dk1"/>
              </a:buClr>
              <a:buSzPct val="71223"/>
              <a:buFont typeface="Arial"/>
              <a:buNone/>
            </a:pPr>
            <a:r>
              <a:rPr lang="en" sz="1544"/>
              <a:t>The price of Amazon Prime is $79. Your boss wants you to explore if it makes sense to raise the price to $99. How would you approach this?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48" name="Google Shape;248;p34"/>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49" name="Google Shape;249;p34"/>
          <p:cNvSpPr txBox="1"/>
          <p:nvPr/>
        </p:nvSpPr>
        <p:spPr>
          <a:xfrm>
            <a:off x="464100" y="860925"/>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 </a:t>
            </a:r>
            <a:br>
              <a:rPr lang="en" sz="1300" u="sng"/>
            </a:br>
            <a:endParaRPr sz="1300"/>
          </a:p>
          <a:p>
            <a:pPr marL="0" lvl="0" indent="0" algn="l" rtl="0">
              <a:spcBef>
                <a:spcPts val="0"/>
              </a:spcBef>
              <a:spcAft>
                <a:spcPts val="0"/>
              </a:spcAft>
              <a:buNone/>
            </a:pPr>
            <a:r>
              <a:rPr lang="en" sz="1300"/>
              <a:t>6. </a:t>
            </a:r>
            <a:r>
              <a:rPr lang="en" sz="1100"/>
              <a:t>Consider Other Factors:</a:t>
            </a:r>
            <a:endParaRPr sz="1100" i="1"/>
          </a:p>
          <a:p>
            <a:pPr marL="457200" lvl="0" indent="-298450" algn="l" rtl="0">
              <a:spcBef>
                <a:spcPts val="0"/>
              </a:spcBef>
              <a:spcAft>
                <a:spcPts val="0"/>
              </a:spcAft>
              <a:buSzPts val="1100"/>
              <a:buChar char="●"/>
            </a:pPr>
            <a:r>
              <a:rPr lang="en" sz="1100" i="1"/>
              <a:t>Customer Satisfaction: How would the price increase affect customer satisfaction and loyalty?</a:t>
            </a:r>
            <a:endParaRPr sz="1100" i="1"/>
          </a:p>
          <a:p>
            <a:pPr marL="457200" lvl="0" indent="-298450" algn="l" rtl="0">
              <a:spcBef>
                <a:spcPts val="0"/>
              </a:spcBef>
              <a:spcAft>
                <a:spcPts val="0"/>
              </a:spcAft>
              <a:buSzPts val="1100"/>
              <a:buChar char="●"/>
            </a:pPr>
            <a:r>
              <a:rPr lang="en" sz="1100" i="1"/>
              <a:t>Competitive Position: How does the price of Amazon Prime compare to competitors' offerings?</a:t>
            </a:r>
            <a:endParaRPr sz="1100" i="1"/>
          </a:p>
          <a:p>
            <a:pPr marL="457200" lvl="0" indent="-298450" algn="l" rtl="0">
              <a:spcBef>
                <a:spcPts val="0"/>
              </a:spcBef>
              <a:spcAft>
                <a:spcPts val="0"/>
              </a:spcAft>
              <a:buSzPts val="1100"/>
              <a:buChar char="●"/>
            </a:pPr>
            <a:r>
              <a:rPr lang="en" sz="1100" i="1"/>
              <a:t>Long-term Impact: What is the long-term impact of losing 2.5 million Prime members? Would they transition to non-prime members and still make purchases on Amazon or would they move to a competitor?</a:t>
            </a:r>
            <a:endParaRPr sz="1100" i="1"/>
          </a:p>
          <a:p>
            <a:pPr marL="457200" lvl="0" indent="-298450" algn="l" rtl="0">
              <a:spcBef>
                <a:spcPts val="0"/>
              </a:spcBef>
              <a:spcAft>
                <a:spcPts val="0"/>
              </a:spcAft>
              <a:buSzPts val="1100"/>
              <a:buChar char="●"/>
            </a:pPr>
            <a:r>
              <a:rPr lang="en" sz="1100" i="1"/>
              <a:t>Reputation: How would the price increase affect Amazon’s reputation?</a:t>
            </a:r>
            <a:endParaRPr sz="1100" i="1"/>
          </a:p>
          <a:p>
            <a:pPr marL="0" lvl="0" indent="0" algn="l" rtl="0">
              <a:spcBef>
                <a:spcPts val="0"/>
              </a:spcBef>
              <a:spcAft>
                <a:spcPts val="0"/>
              </a:spcAft>
              <a:buNone/>
            </a:pPr>
            <a:endParaRPr sz="1100"/>
          </a:p>
          <a:p>
            <a:pPr marL="0" lvl="0" indent="0" algn="l" rtl="0">
              <a:spcBef>
                <a:spcPts val="0"/>
              </a:spcBef>
              <a:spcAft>
                <a:spcPts val="0"/>
              </a:spcAft>
              <a:buNone/>
            </a:pPr>
            <a:r>
              <a:rPr lang="en" sz="1100"/>
              <a:t>7. Formulate a Recommendation:</a:t>
            </a:r>
            <a:endParaRPr sz="1100"/>
          </a:p>
          <a:p>
            <a:pPr marL="0" lvl="0" indent="0" algn="l" rtl="0">
              <a:spcBef>
                <a:spcPts val="0"/>
              </a:spcBef>
              <a:spcAft>
                <a:spcPts val="0"/>
              </a:spcAft>
              <a:buNone/>
            </a:pPr>
            <a:r>
              <a:rPr lang="en" sz="1100" i="1"/>
              <a:t>Based on the analysis and other considerations, formulate a recommendation on whether or not to increase the price of Amazon Prime to $99.</a:t>
            </a:r>
            <a:endParaRPr sz="1100" i="1"/>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spcBef>
                <a:spcPts val="0"/>
              </a:spcBef>
              <a:spcAft>
                <a:spcPts val="0"/>
              </a:spcAft>
              <a:buNone/>
            </a:pPr>
            <a:endParaRPr sz="1300"/>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50" name="Google Shape;250;p34"/>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34"/>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txBox="1"/>
          <p:nvPr/>
        </p:nvSpPr>
        <p:spPr>
          <a:xfrm>
            <a:off x="464100" y="32158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This scenario examines three essential skills: the capacity to organize, the proficiency in rapidly performing numerical calculations, and the capability to synthesize information.</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Allocate sufficient time to organize your thoughts at the beginning - this will significantly influence the quality of the subsequent discussion.</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Avoid rushing through the process of crunching numbers - this approach will help in preventing errors of magnitude.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Ideally, the synthesis should comprise your recommendation, the reasons supporting your suggestion, and any potential reservations or limitations.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p:txBody>
      </p:sp>
      <p:cxnSp>
        <p:nvCxnSpPr>
          <p:cNvPr id="253" name="Google Shape;253;p34"/>
          <p:cNvCxnSpPr/>
          <p:nvPr/>
        </p:nvCxnSpPr>
        <p:spPr>
          <a:xfrm>
            <a:off x="578875" y="3148775"/>
            <a:ext cx="8113500" cy="12300"/>
          </a:xfrm>
          <a:prstGeom prst="straightConnector1">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Surface Tablet - New Segment (1/3)</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market the Surface Tablet to 80-year old senior citizens? </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59" name="Google Shape;259;p35"/>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60" name="Google Shape;260;p35"/>
          <p:cNvSpPr txBox="1"/>
          <p:nvPr/>
        </p:nvSpPr>
        <p:spPr>
          <a:xfrm>
            <a:off x="464100" y="8701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Determine the pain points and requirements of the customer segment (spend ~40% time here)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Understand the competing products and the company’s product differentiation (spend ~20% time here)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Develop a positioning and promotion plan (spend ~40% time here)</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The Marketing 5Cs framework is useful here:</a:t>
            </a: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5Cs: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Company: product line, image in the market, culture and goals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Collaborators: suppliers (software/ API providers, hardware vendors), distributors (app developers, system integrators and value-added resellers), alliances (technology standard, product, branding or sales alliances)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Customers: market size and growth, segments, benefits sought by customers, purchase decision-makers, customer information sources, sales channels, buying process, frequency of purchase, trends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Competitors: actual and potential, products, positioning, market shares, strengths, weaknesses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Climate/Context: regulatory, business cycle, socio-cultural factors, technology environment </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61" name="Google Shape;261;p35"/>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35"/>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6"/>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Surface Tablet - New Segment (2/3)</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market the Surface Tablet to 80-year old senior citizens? </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68" name="Google Shape;268;p36"/>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69" name="Google Shape;269;p36"/>
          <p:cNvSpPr txBox="1"/>
          <p:nvPr/>
        </p:nvSpPr>
        <p:spPr>
          <a:xfrm>
            <a:off x="464100" y="8701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 </a:t>
            </a:r>
            <a:br>
              <a:rPr lang="en" sz="1300" u="sng"/>
            </a:br>
            <a:endParaRPr sz="1300" u="sng"/>
          </a:p>
          <a:p>
            <a:pPr marL="0" lvl="0" indent="0" algn="l" rtl="0">
              <a:spcBef>
                <a:spcPts val="0"/>
              </a:spcBef>
              <a:spcAft>
                <a:spcPts val="0"/>
              </a:spcAft>
              <a:buClr>
                <a:schemeClr val="dk1"/>
              </a:buClr>
              <a:buSzPts val="1100"/>
              <a:buFont typeface="Arial"/>
              <a:buNone/>
            </a:pPr>
            <a:r>
              <a:rPr lang="en" sz="1100">
                <a:solidFill>
                  <a:schemeClr val="dk1"/>
                </a:solidFill>
              </a:rPr>
              <a:t>Illustrative Recommendations: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Address Technological Challenges: Senior citizens often find it challenging to adapt to new technologies. Therefore, it's essential to make the technology as user-friendly as possible. Highlight the ease of use of the Surface Tablet and provide adequate support and guidance on how to use it.</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Highlight Relevant Features: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Ease of Use: Emphasize the intuitive interface of the Surface Tablet.</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Adjustable Font Size: Highlight the ability to increase text size for better readability.</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Voice Assistance: Showcase the voice assistance features that can make it easier to use the tablet without having to navigate manually.</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Video Calling: Promote the video calling feature as a way to stay connected with family and friends.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Create Informative and Engaging Content: Develop content that educates senior citizens about the benefits of using a Surface Tablet. This could include video tutorials, user guides with large text and images, and testimonials from other senior citizens who have had a positive experience with the tablet.</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70" name="Google Shape;270;p36"/>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36"/>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7"/>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Surface Tablet - New Segment (3/3)</a:t>
            </a:r>
            <a:endParaRPr sz="1520" b="1"/>
          </a:p>
          <a:p>
            <a:pPr marL="0" lvl="0" indent="0" algn="l" rtl="0">
              <a:lnSpc>
                <a:spcPct val="115000"/>
              </a:lnSpc>
              <a:spcBef>
                <a:spcPts val="0"/>
              </a:spcBef>
              <a:spcAft>
                <a:spcPts val="0"/>
              </a:spcAft>
              <a:buClr>
                <a:schemeClr val="dk1"/>
              </a:buClr>
              <a:buSzPct val="71223"/>
              <a:buFont typeface="Arial"/>
              <a:buNone/>
            </a:pPr>
            <a:r>
              <a:rPr lang="en" sz="1544"/>
              <a:t>How would you market the Surface Tablet to 80-year old senior citizens? </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77" name="Google Shape;277;p37"/>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78" name="Google Shape;278;p37"/>
          <p:cNvSpPr txBox="1"/>
          <p:nvPr/>
        </p:nvSpPr>
        <p:spPr>
          <a:xfrm>
            <a:off x="464100" y="8701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a:t>
            </a:r>
            <a:br>
              <a:rPr lang="en" sz="1300" u="sng"/>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Leverage Traditional Media: Senior citizens are more likely to consume traditional media such as TV, radio, and newspapers. Use these channels for advertising.</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Offer Personalized Support: Provide personalized customer support to help them set up and use the tablet. This could include a dedicated helpline or even in-person support.</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Partner with Senior Organizations: Collaborate with organizations, clubs, or communities that cater to senior citizens to increase visibility and credibility.</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Highlight Health and Safety Features: Promote features that can help monitor their health, remind them to take medications, or quickly contact emergency services.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Offer Special Discounts: Provide special discounts for senior citizens to make the tablet more affordable.</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Provide Hands-On Experience: Organize events or collaborate with retail stores where senior citizens can get hands-on experience with the Surface Tablet and receive assistance and answers to their questions.</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279" name="Google Shape;279;p37"/>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37"/>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7"/>
          <p:cNvSpPr txBox="1"/>
          <p:nvPr/>
        </p:nvSpPr>
        <p:spPr>
          <a:xfrm>
            <a:off x="464100" y="40540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br>
              <a:rPr lang="en" sz="1300" u="sng"/>
            </a:br>
            <a:r>
              <a:rPr lang="en" sz="1100">
                <a:solidFill>
                  <a:schemeClr val="dk1"/>
                </a:solidFill>
              </a:rPr>
              <a:t>Remember, the key to marketing to senior citizens is to address their unique needs and challenges, provide adequate support, and make the technology as user-friendly and accessible as possible.</a:t>
            </a:r>
            <a:endParaRPr sz="1100">
              <a:solidFill>
                <a:schemeClr val="dk1"/>
              </a:solidFill>
            </a:endParaRPr>
          </a:p>
          <a:p>
            <a:pPr marL="0" lvl="0" indent="0" algn="l" rtl="0">
              <a:spcBef>
                <a:spcPts val="0"/>
              </a:spcBef>
              <a:spcAft>
                <a:spcPts val="0"/>
              </a:spcAft>
              <a:buNone/>
            </a:pPr>
            <a:endParaRPr sz="1300" u="sng"/>
          </a:p>
          <a:p>
            <a:pPr marL="0" lvl="0" indent="0" algn="l" rtl="0">
              <a:spcBef>
                <a:spcPts val="0"/>
              </a:spcBef>
              <a:spcAft>
                <a:spcPts val="0"/>
              </a:spcAft>
              <a:buNone/>
            </a:pPr>
            <a:endParaRPr sz="1100">
              <a:solidFill>
                <a:schemeClr val="dk1"/>
              </a:solidFill>
            </a:endParaRPr>
          </a:p>
        </p:txBody>
      </p:sp>
      <p:cxnSp>
        <p:nvCxnSpPr>
          <p:cNvPr id="282" name="Google Shape;282;p37"/>
          <p:cNvCxnSpPr/>
          <p:nvPr/>
        </p:nvCxnSpPr>
        <p:spPr>
          <a:xfrm>
            <a:off x="578875" y="4063175"/>
            <a:ext cx="8113500" cy="12300"/>
          </a:xfrm>
          <a:prstGeom prst="straightConnector1">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8"/>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Least Favourite Product - SaaS</a:t>
            </a:r>
            <a:endParaRPr sz="1520" b="1"/>
          </a:p>
          <a:p>
            <a:pPr marL="0" lvl="0" indent="0" algn="l" rtl="0">
              <a:lnSpc>
                <a:spcPct val="115000"/>
              </a:lnSpc>
              <a:spcBef>
                <a:spcPts val="0"/>
              </a:spcBef>
              <a:spcAft>
                <a:spcPts val="0"/>
              </a:spcAft>
              <a:buClr>
                <a:schemeClr val="dk1"/>
              </a:buClr>
              <a:buSzPct val="71223"/>
              <a:buFont typeface="Arial"/>
              <a:buNone/>
            </a:pPr>
            <a:r>
              <a:rPr lang="en" sz="1544"/>
              <a:t>What is your least favorite SaaS product? What could they do to improve it? Why do you think they haven’t done that? How would you monetize this in the future? What are the concerns?</a:t>
            </a:r>
            <a:endParaRPr sz="1544"/>
          </a:p>
          <a:p>
            <a:pPr marL="0" lvl="0" indent="0" algn="l" rtl="0">
              <a:spcBef>
                <a:spcPts val="0"/>
              </a:spcBef>
              <a:spcAft>
                <a:spcPts val="0"/>
              </a:spcAft>
              <a:buSzPct val="65132"/>
              <a:buNone/>
            </a:pPr>
            <a:endParaRPr sz="1520"/>
          </a:p>
        </p:txBody>
      </p:sp>
      <p:pic>
        <p:nvPicPr>
          <p:cNvPr id="288" name="Google Shape;288;p38"/>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289" name="Google Shape;289;p38"/>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Use the CIRCLES framework to structure your thought process and address the following questions: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Who are the key user profiles/personas for the product? Recognizing the intended users of the product is important as it will influence all subsequent decisions.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What are the organization's objectives and why haven't they been achieved? It's important to illustrate your comprehension of the company's intended product positioning and the reasons why the current approach is ineffective.</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What are your proposed recommendations and unique value proposition? Ideate and advance with a proposal that caters to your identified user profiles while remaining consistent with the organization's goals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cxnSp>
        <p:nvCxnSpPr>
          <p:cNvPr id="290" name="Google Shape;290;p38"/>
          <p:cNvCxnSpPr/>
          <p:nvPr/>
        </p:nvCxnSpPr>
        <p:spPr>
          <a:xfrm>
            <a:off x="578875" y="2996375"/>
            <a:ext cx="8113500" cy="12300"/>
          </a:xfrm>
          <a:prstGeom prst="straightConnector1">
            <a:avLst/>
          </a:prstGeom>
          <a:noFill/>
          <a:ln w="9525" cap="flat" cmpd="sng">
            <a:solidFill>
              <a:schemeClr val="dk2"/>
            </a:solidFill>
            <a:prstDash val="dash"/>
            <a:round/>
            <a:headEnd type="none" w="med" len="med"/>
            <a:tailEnd type="none" w="med" len="med"/>
          </a:ln>
        </p:spPr>
      </p:cxnSp>
      <p:sp>
        <p:nvSpPr>
          <p:cNvPr id="291" name="Google Shape;291;p38"/>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38"/>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8"/>
          <p:cNvSpPr txBox="1"/>
          <p:nvPr/>
        </p:nvSpPr>
        <p:spPr>
          <a:xfrm>
            <a:off x="464100" y="30634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This case tests your typical Product Management skill set. Understanding company goals, personas, use-cases, making a recommendation, and delivering a strong value proposition, and whether you’re suitable for a SaaS B2B role.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While using standard PM frameworks like CIRCLES is helpful in structuring your thought process, don’t let it hamper your creativity. Feel free to tweak the framework to meet the needs of the case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For Saas companies, it is important to have a PoV on your favorite and least favorite SaaS products </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9"/>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Favourite Product </a:t>
            </a:r>
            <a:endParaRPr sz="1520" b="1"/>
          </a:p>
          <a:p>
            <a:pPr marL="0" lvl="0" indent="0" algn="l" rtl="0">
              <a:lnSpc>
                <a:spcPct val="115000"/>
              </a:lnSpc>
              <a:spcBef>
                <a:spcPts val="0"/>
              </a:spcBef>
              <a:spcAft>
                <a:spcPts val="0"/>
              </a:spcAft>
              <a:buClr>
                <a:schemeClr val="dk1"/>
              </a:buClr>
              <a:buSzPct val="71223"/>
              <a:buFont typeface="Arial"/>
              <a:buNone/>
            </a:pPr>
            <a:r>
              <a:rPr lang="en" sz="1544"/>
              <a:t>What is your favorite product? What is one thing you would add and one thing you would remove from it?</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299" name="Google Shape;299;p39"/>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00" name="Google Shape;300;p39"/>
          <p:cNvSpPr txBox="1"/>
          <p:nvPr/>
        </p:nvSpPr>
        <p:spPr>
          <a:xfrm>
            <a:off x="464100" y="10225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a:solidFill>
                  <a:schemeClr val="dk1"/>
                </a:solidFill>
              </a:rPr>
              <a:t>This is a typical PM interview question. You could use the following framework</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Choose a product and briefly explain what it is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Who are the users?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What are their pain points?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How did competitors solve it in the past?</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How does this product address these pain points differently and better?</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How would you improve it/make it better?</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Summarize</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01" name="Google Shape;301;p39"/>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9"/>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3" name="Google Shape;303;p39"/>
          <p:cNvCxnSpPr/>
          <p:nvPr/>
        </p:nvCxnSpPr>
        <p:spPr>
          <a:xfrm>
            <a:off x="578875" y="3224975"/>
            <a:ext cx="8113500" cy="12300"/>
          </a:xfrm>
          <a:prstGeom prst="straightConnector1">
            <a:avLst/>
          </a:prstGeom>
          <a:noFill/>
          <a:ln w="9525" cap="flat" cmpd="sng">
            <a:solidFill>
              <a:schemeClr val="dk2"/>
            </a:solidFill>
            <a:prstDash val="dash"/>
            <a:round/>
            <a:headEnd type="none" w="med" len="med"/>
            <a:tailEnd type="none" w="med" len="med"/>
          </a:ln>
        </p:spPr>
      </p:cxnSp>
      <p:sp>
        <p:nvSpPr>
          <p:cNvPr id="304" name="Google Shape;304;p39"/>
          <p:cNvSpPr txBox="1"/>
          <p:nvPr/>
        </p:nvSpPr>
        <p:spPr>
          <a:xfrm>
            <a:off x="464100" y="32920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Refer to Exponent for more examples of such cases! </a:t>
            </a: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0"/>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Google - Market Entry (1/3)</a:t>
            </a:r>
            <a:endParaRPr sz="1520" b="1"/>
          </a:p>
          <a:p>
            <a:pPr marL="0" lvl="0" indent="0" algn="l" rtl="0">
              <a:lnSpc>
                <a:spcPct val="115000"/>
              </a:lnSpc>
              <a:spcBef>
                <a:spcPts val="0"/>
              </a:spcBef>
              <a:spcAft>
                <a:spcPts val="0"/>
              </a:spcAft>
              <a:buClr>
                <a:schemeClr val="dk1"/>
              </a:buClr>
              <a:buSzPct val="71223"/>
              <a:buFont typeface="Arial"/>
              <a:buNone/>
            </a:pPr>
            <a:r>
              <a:rPr lang="en" sz="1544"/>
              <a:t>Should Google develop a Stubhub competitor? That is, sell sports, concert, and theater tickets?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310" name="Google Shape;310;p40"/>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11" name="Google Shape;311;p40"/>
          <p:cNvSpPr txBox="1"/>
          <p:nvPr/>
        </p:nvSpPr>
        <p:spPr>
          <a:xfrm>
            <a:off x="464100" y="8701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br>
              <a:rPr lang="en" sz="1300" u="sng"/>
            </a:br>
            <a:r>
              <a:rPr lang="en" sz="1100" i="1">
                <a:solidFill>
                  <a:schemeClr val="dk1"/>
                </a:solidFill>
              </a:rPr>
              <a:t>New Market Entry Checklist</a:t>
            </a:r>
            <a:endParaRPr sz="1100" i="1">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Market Characteristics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Size and growth</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Profit margins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Market trends, including customer preferences and regulatory changes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Competitive Environment</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Competitors – current and potential entrants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Competitors’ resources, including financial, employees, partners and any other key assets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Company Fit</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Lateral expertise</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Economies of scale</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Access to distribution channels and any other strategic resources</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r>
              <a:rPr lang="en" sz="1100">
                <a:solidFill>
                  <a:schemeClr val="dk1"/>
                </a:solidFill>
              </a:rPr>
              <a:t>.</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12" name="Google Shape;312;p40"/>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40"/>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1"/>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Google - Market Entry (2/3)</a:t>
            </a:r>
            <a:endParaRPr sz="1520" b="1"/>
          </a:p>
          <a:p>
            <a:pPr marL="0" lvl="0" indent="0" algn="l" rtl="0">
              <a:lnSpc>
                <a:spcPct val="115000"/>
              </a:lnSpc>
              <a:spcBef>
                <a:spcPts val="0"/>
              </a:spcBef>
              <a:spcAft>
                <a:spcPts val="0"/>
              </a:spcAft>
              <a:buClr>
                <a:schemeClr val="dk1"/>
              </a:buClr>
              <a:buSzPct val="71223"/>
              <a:buFont typeface="Arial"/>
              <a:buNone/>
            </a:pPr>
            <a:r>
              <a:rPr lang="en" sz="1544"/>
              <a:t>Should Google develop a Stubhub competitor? That is, sell sports, concert, and theater tickets?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319" name="Google Shape;319;p41"/>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20" name="Google Shape;320;p41"/>
          <p:cNvSpPr txBox="1"/>
          <p:nvPr/>
        </p:nvSpPr>
        <p:spPr>
          <a:xfrm>
            <a:off x="464100" y="7177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a:t>
            </a:r>
            <a:br>
              <a:rPr lang="en" sz="1300" u="sng"/>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Market Analysis: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Customer Needs: Are there unmet needs or pain points that customers experience with existing solutions like StubHub?</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Market Size: Is the market for sports, concert, and theater tickets large enough to justify the investment?</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Competitive Analysis: Who are the existing competitors besides StubHub? What are their strengths and weaknesses?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Regulatory Environment: Are there any regulatory hurdles that need to be overcome?</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Strategic Alignment:</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Does this initiative align with Google's overall strategic objectives?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How does this initiative leverage Google's existing strengths and capabilities?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Product Definition:</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Value Proposition: What unique value can Google provide to customers that is different from existing offerings?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Feature Set: What are the minimum features that need to be developed for the MVP (Minimum Viable Product)?</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Business Model:</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Revenue Model: How will Google make money from this initiative? Ticket sales, service fees, advertising?</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Cost Structure: What are the estimated development, marketing, and operational costs?</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21" name="Google Shape;321;p41"/>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41"/>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Google - Market Entry (3/3)</a:t>
            </a:r>
            <a:endParaRPr sz="1520" b="1"/>
          </a:p>
          <a:p>
            <a:pPr marL="0" lvl="0" indent="0" algn="l" rtl="0">
              <a:lnSpc>
                <a:spcPct val="115000"/>
              </a:lnSpc>
              <a:spcBef>
                <a:spcPts val="0"/>
              </a:spcBef>
              <a:spcAft>
                <a:spcPts val="0"/>
              </a:spcAft>
              <a:buClr>
                <a:schemeClr val="dk1"/>
              </a:buClr>
              <a:buSzPct val="71223"/>
              <a:buFont typeface="Arial"/>
              <a:buNone/>
            </a:pPr>
            <a:r>
              <a:rPr lang="en" sz="1544"/>
              <a:t>Should Google develop a Stubhub competitor? That is, sell sports, concert, and theater tickets?</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328" name="Google Shape;328;p42"/>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29" name="Google Shape;329;p42"/>
          <p:cNvSpPr txBox="1"/>
          <p:nvPr/>
        </p:nvSpPr>
        <p:spPr>
          <a:xfrm>
            <a:off x="464100" y="7177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 (contd)</a:t>
            </a:r>
            <a:br>
              <a:rPr lang="en" sz="1300" u="sng"/>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Technical Feasibility:</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Does Google have the technical capabilities required to develop and maintain this product?</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What are the technical challenges and how can they be addressed?</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Go-to-Market Strategy:</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Marketing: How will Google attract customers to its platform?</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Distribution: How will tickets be distributed to customers?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Partnerships: Are there potential partnerships that can help in reaching more customers or providing a better service?</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Risks and Mitigation Strategies: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What are the potential risks associated with this initiative? (e.g., competition, regulatory, technical)</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What are the strategies to mitigate these risks?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Performance Metrics:</a:t>
            </a:r>
            <a:endParaRPr sz="1100">
              <a:solidFill>
                <a:schemeClr val="dk1"/>
              </a:solidFill>
            </a:endParaRPr>
          </a:p>
          <a:p>
            <a:pPr marL="914400" lvl="1" indent="-298450" algn="l" rtl="0">
              <a:spcBef>
                <a:spcPts val="0"/>
              </a:spcBef>
              <a:spcAft>
                <a:spcPts val="0"/>
              </a:spcAft>
              <a:buClr>
                <a:schemeClr val="dk1"/>
              </a:buClr>
              <a:buSzPts val="1100"/>
              <a:buAutoNum type="alphaLcPeriod"/>
            </a:pPr>
            <a:r>
              <a:rPr lang="en" sz="1100">
                <a:solidFill>
                  <a:schemeClr val="dk1"/>
                </a:solidFill>
              </a:rPr>
              <a:t>What are the key performance indicators (KPIs) that will be used to measure the success of this initiative?</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30" name="Google Shape;330;p42"/>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p42"/>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3"/>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65132"/>
              <a:buNone/>
            </a:pPr>
            <a:r>
              <a:rPr lang="en" sz="1520" b="1"/>
              <a:t>AWS - Storage</a:t>
            </a:r>
            <a:endParaRPr sz="1520" b="1"/>
          </a:p>
          <a:p>
            <a:pPr marL="0" lvl="0" indent="0" algn="l" rtl="0">
              <a:lnSpc>
                <a:spcPct val="115000"/>
              </a:lnSpc>
              <a:spcBef>
                <a:spcPts val="0"/>
              </a:spcBef>
              <a:spcAft>
                <a:spcPts val="0"/>
              </a:spcAft>
              <a:buClr>
                <a:schemeClr val="dk1"/>
              </a:buClr>
              <a:buSzPct val="71223"/>
              <a:buFont typeface="Arial"/>
              <a:buNone/>
            </a:pPr>
            <a:r>
              <a:rPr lang="en" sz="1544"/>
              <a:t>We are considering reducing the GB/month cost by 1 cent for AWS storage. How would you approach the decision?</a:t>
            </a: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lnSpc>
                <a:spcPct val="115000"/>
              </a:lnSpc>
              <a:spcBef>
                <a:spcPts val="0"/>
              </a:spcBef>
              <a:spcAft>
                <a:spcPts val="0"/>
              </a:spcAft>
              <a:buClr>
                <a:schemeClr val="dk1"/>
              </a:buClr>
              <a:buSzPct val="71223"/>
              <a:buFont typeface="Arial"/>
              <a:buNone/>
            </a:pPr>
            <a:endParaRPr sz="1544"/>
          </a:p>
          <a:p>
            <a:pPr marL="0" lvl="0" indent="0" algn="l" rtl="0">
              <a:spcBef>
                <a:spcPts val="0"/>
              </a:spcBef>
              <a:spcAft>
                <a:spcPts val="0"/>
              </a:spcAft>
              <a:buSzPct val="65132"/>
              <a:buNone/>
            </a:pPr>
            <a:endParaRPr sz="1520"/>
          </a:p>
        </p:txBody>
      </p:sp>
      <p:pic>
        <p:nvPicPr>
          <p:cNvPr id="337" name="Google Shape;337;p43"/>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38" name="Google Shape;338;p43"/>
          <p:cNvSpPr txBox="1"/>
          <p:nvPr/>
        </p:nvSpPr>
        <p:spPr>
          <a:xfrm>
            <a:off x="464100" y="870150"/>
            <a:ext cx="8147700" cy="21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Suggested Approach</a:t>
            </a:r>
            <a:br>
              <a:rPr lang="en" sz="1300" u="sng"/>
            </a:br>
            <a:endParaRPr sz="1300" u="sng"/>
          </a:p>
          <a:p>
            <a:pPr marL="457200" lvl="0" indent="-298450" algn="l" rtl="0">
              <a:spcBef>
                <a:spcPts val="0"/>
              </a:spcBef>
              <a:spcAft>
                <a:spcPts val="0"/>
              </a:spcAft>
              <a:buClr>
                <a:schemeClr val="dk1"/>
              </a:buClr>
              <a:buSzPts val="1100"/>
              <a:buChar char="●"/>
            </a:pPr>
            <a:r>
              <a:rPr lang="en" sz="1100">
                <a:solidFill>
                  <a:schemeClr val="dk1"/>
                </a:solidFill>
              </a:rPr>
              <a:t>Begin by determining the cause for the request for a price reduction. Is the customer seeking a more favorable deal? Are our rivals also slashing their prices?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If the customer is seeking a discount, consider other options besides lowering the price, such as enhancing customer support. Evaluate the importance of this customer in terms of revenue generation, referral potential, and anticipated growth.</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To ascertain whether reducing the price is the correct decision, visualize the Supply and Demand curve. Discuss strategies for maximizing profits. Additionally, outline several pricing strategy approaches (e.g., value-based vs. cost-based) and select the most suitable one based on the available data.</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Marginal costs for cloud services are near-zero </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Be aware of market trends, cloud services are getting cheaper every day </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Consider your competitors response to your price cut </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Consider alternatives to a listed price cut</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cxnSp>
        <p:nvCxnSpPr>
          <p:cNvPr id="339" name="Google Shape;339;p43"/>
          <p:cNvCxnSpPr/>
          <p:nvPr/>
        </p:nvCxnSpPr>
        <p:spPr>
          <a:xfrm>
            <a:off x="578875" y="3529775"/>
            <a:ext cx="8113500" cy="12300"/>
          </a:xfrm>
          <a:prstGeom prst="straightConnector1">
            <a:avLst/>
          </a:prstGeom>
          <a:noFill/>
          <a:ln w="9525" cap="flat" cmpd="sng">
            <a:solidFill>
              <a:schemeClr val="dk2"/>
            </a:solidFill>
            <a:prstDash val="dash"/>
            <a:round/>
            <a:headEnd type="none" w="med" len="med"/>
            <a:tailEnd type="none" w="med" len="med"/>
          </a:ln>
        </p:spPr>
      </p:cxnSp>
      <p:sp>
        <p:nvSpPr>
          <p:cNvPr id="340" name="Google Shape;340;p43"/>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43"/>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3"/>
          <p:cNvSpPr txBox="1"/>
          <p:nvPr/>
        </p:nvSpPr>
        <p:spPr>
          <a:xfrm>
            <a:off x="464100" y="3596800"/>
            <a:ext cx="8147700" cy="118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u="sng"/>
              <a:t>Key Considerations</a:t>
            </a:r>
            <a:br>
              <a:rPr lang="en" sz="1300" u="sng"/>
            </a:br>
            <a:endParaRPr sz="1300" u="sng"/>
          </a:p>
          <a:p>
            <a:pPr marL="457200" lvl="0" indent="-298450" algn="l" rtl="0">
              <a:lnSpc>
                <a:spcPct val="115000"/>
              </a:lnSpc>
              <a:spcBef>
                <a:spcPts val="0"/>
              </a:spcBef>
              <a:spcAft>
                <a:spcPts val="0"/>
              </a:spcAft>
              <a:buClr>
                <a:schemeClr val="dk1"/>
              </a:buClr>
              <a:buSzPts val="1100"/>
              <a:buChar char="●"/>
            </a:pPr>
            <a:r>
              <a:rPr lang="en" sz="1100">
                <a:solidFill>
                  <a:schemeClr val="dk1"/>
                </a:solidFill>
              </a:rPr>
              <a:t>Don’t assume that the customer needs to be kept. Remember that there will be switching costs associated with them using another provider, so the real question here is to determine how valuable this customer is. </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44"/>
          <p:cNvPicPr preferRelativeResize="0"/>
          <p:nvPr/>
        </p:nvPicPr>
        <p:blipFill rotWithShape="1">
          <a:blip r:embed="rId3">
            <a:alphaModFix/>
          </a:blip>
          <a:srcRect t="776" b="7967"/>
          <a:stretch/>
        </p:blipFill>
        <p:spPr>
          <a:xfrm>
            <a:off x="0" y="4510800"/>
            <a:ext cx="743416" cy="632701"/>
          </a:xfrm>
          <a:prstGeom prst="rect">
            <a:avLst/>
          </a:prstGeom>
          <a:noFill/>
          <a:ln>
            <a:noFill/>
          </a:ln>
        </p:spPr>
      </p:pic>
      <p:sp>
        <p:nvSpPr>
          <p:cNvPr id="348" name="Google Shape;348;p44"/>
          <p:cNvSpPr txBox="1"/>
          <p:nvPr/>
        </p:nvSpPr>
        <p:spPr>
          <a:xfrm>
            <a:off x="502925" y="1885950"/>
            <a:ext cx="8351400" cy="137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t>Practice Case Questions</a:t>
            </a:r>
            <a:endParaRPr sz="33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5"/>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1520" b="1"/>
              <a:t>Case Questions (1/2)</a:t>
            </a:r>
            <a:endParaRPr sz="1520"/>
          </a:p>
        </p:txBody>
      </p:sp>
      <p:pic>
        <p:nvPicPr>
          <p:cNvPr id="354" name="Google Shape;354;p45"/>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55" name="Google Shape;355;p45"/>
          <p:cNvSpPr txBox="1"/>
          <p:nvPr/>
        </p:nvSpPr>
        <p:spPr>
          <a:xfrm>
            <a:off x="464100" y="581875"/>
            <a:ext cx="8147700" cy="38523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sz="1100">
                <a:solidFill>
                  <a:schemeClr val="dk1"/>
                </a:solidFill>
              </a:rPr>
              <a:t>What's a new product that Zillow could develop for college students?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What new city would you look to launch a new driverless ride hailing service and why?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You are developing a new marketing feature on the e-commerce site for lamps. How would you use this feature to differentiate Wayfair’s lamps from lamps sold in a brick &amp; mortar store?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You are a PMM of a portfolio of 4-5 software products at VMware. Their flagship product has seen decreasing sales for the last 2 quarters and funnel data seems like it will get even worse. Market share is being eaten away although industry wide sales are increasing. Competitors in SMB are taking in investment dollars to improve their product and drive digital marketing. What do you think is going on and how would you respond?</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Imagine you are responsible for Nike.com and one day there is a 10% drop in visits - how would go about looking into it?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How would you design an Uber service for kids?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You are a PM at a museum, design a mobile app for it.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You are a PM in yet to be defined Google Kitchen division - which kitchen appliance would you want Google to make, why, what metrics will you track?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What is one product that Google should make right now (forget the feasibility) - what are downsides/ which market will you launch it first for/ what use case?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Imagine you are a PM for Spotify and the "Song Radio" feature doesn't exist. When a user reaches the end of a playlist, how do you choose what to play next?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Meta is considering entering the fitness space. What factors should the company take into consideration? What type of product should Facebook focus on? ○ What are the primary considerations? ○ What are Facebook’s priorities? ○ What are Facebook’s unique strengths? ○ What type of product should Facebook launch? Walk me through the pros and cons of your options. ○ Who are the primary competitors in the space?</a:t>
            </a:r>
            <a:endParaRPr sz="1100">
              <a:solidFill>
                <a:schemeClr val="dk1"/>
              </a:solidFill>
            </a:endParaRPr>
          </a:p>
          <a:p>
            <a:pPr marL="0" lvl="0" indent="0" algn="l" rtl="0">
              <a:lnSpc>
                <a:spcPct val="115000"/>
              </a:lnSpc>
              <a:spcBef>
                <a:spcPts val="0"/>
              </a:spcBef>
              <a:spcAft>
                <a:spcPts val="0"/>
              </a:spcAft>
              <a:buNone/>
            </a:pPr>
            <a:endParaRPr sz="1300" u="sng"/>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56" name="Google Shape;356;p45"/>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45"/>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6"/>
          <p:cNvSpPr txBox="1">
            <a:spLocks noGrp="1"/>
          </p:cNvSpPr>
          <p:nvPr>
            <p:ph type="title"/>
          </p:nvPr>
        </p:nvSpPr>
        <p:spPr>
          <a:xfrm>
            <a:off x="464100" y="156825"/>
            <a:ext cx="814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1520" b="1"/>
              <a:t>Case Questions (2/2) </a:t>
            </a:r>
            <a:endParaRPr sz="1520"/>
          </a:p>
        </p:txBody>
      </p:sp>
      <p:pic>
        <p:nvPicPr>
          <p:cNvPr id="363" name="Google Shape;363;p46"/>
          <p:cNvPicPr preferRelativeResize="0"/>
          <p:nvPr/>
        </p:nvPicPr>
        <p:blipFill rotWithShape="1">
          <a:blip r:embed="rId3">
            <a:alphaModFix/>
          </a:blip>
          <a:srcRect t="776" b="7967"/>
          <a:stretch/>
        </p:blipFill>
        <p:spPr>
          <a:xfrm>
            <a:off x="8691123" y="0"/>
            <a:ext cx="452878" cy="385425"/>
          </a:xfrm>
          <a:prstGeom prst="rect">
            <a:avLst/>
          </a:prstGeom>
          <a:noFill/>
          <a:ln>
            <a:noFill/>
          </a:ln>
        </p:spPr>
      </p:pic>
      <p:sp>
        <p:nvSpPr>
          <p:cNvPr id="364" name="Google Shape;364;p46"/>
          <p:cNvSpPr txBox="1"/>
          <p:nvPr/>
        </p:nvSpPr>
        <p:spPr>
          <a:xfrm>
            <a:off x="464100" y="581875"/>
            <a:ext cx="8147700" cy="38523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sz="1100">
                <a:solidFill>
                  <a:schemeClr val="dk1"/>
                </a:solidFill>
              </a:rPr>
              <a:t>Let's say we're launching a new Instagram gift card feature for businesses where they can link to their gift card purchasing system from their profile… ○ Who is the target market? ○ How would you position it? ○ What are some risks? ○ How would you measure success?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Cisco’s networking business in a certain foreign country has been underperforming due to a new startup competitor in the market. This startup offered a cheaper price (but lower quality product) and stole Cisco's share in small &amp; medium businesses. How do you respond?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AppleCare - You're in a meeting with Apple Pay to implement a new feature for changing the monthly balance to bi-monthly balance. What questions would you ask?</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What Apple products do you own? (iPhone) For the iPhone, what's one thing you'd like to change as a user? Now imagining yourself as a Product Manager, what would you think about in figuring out if that's a good idea?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If you had a dream feature for the Apple Watch, what would you add?</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How would you select 1,000 items to promote in a seasonal gift guide from a list of 5,000 possible products? // How would you decide what products to feature for Cyber Monday?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 If Amazon were to launch the Amazon Drones service in Chicago, how many drones should they use? </a:t>
            </a:r>
            <a:endParaRPr sz="1100">
              <a:solidFill>
                <a:schemeClr val="dk1"/>
              </a:solidFill>
            </a:endParaRPr>
          </a:p>
          <a:p>
            <a:pPr marL="0" lvl="0" indent="0" algn="l" rtl="0">
              <a:lnSpc>
                <a:spcPct val="115000"/>
              </a:lnSpc>
              <a:spcBef>
                <a:spcPts val="0"/>
              </a:spcBef>
              <a:spcAft>
                <a:spcPts val="0"/>
              </a:spcAft>
              <a:buNone/>
            </a:pPr>
            <a:endParaRPr sz="1300" u="sng"/>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300"/>
          </a:p>
        </p:txBody>
      </p:sp>
      <p:sp>
        <p:nvSpPr>
          <p:cNvPr id="365" name="Google Shape;365;p46"/>
          <p:cNvSpPr txBox="1"/>
          <p:nvPr/>
        </p:nvSpPr>
        <p:spPr>
          <a:xfrm>
            <a:off x="387150" y="3723975"/>
            <a:ext cx="83100" cy="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46"/>
          <p:cNvSpPr/>
          <p:nvPr/>
        </p:nvSpPr>
        <p:spPr>
          <a:xfrm>
            <a:off x="0" y="0"/>
            <a:ext cx="350400" cy="5143500"/>
          </a:xfrm>
          <a:prstGeom prst="rect">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371" name="Google Shape;371;p47"/>
          <p:cNvPicPr preferRelativeResize="0"/>
          <p:nvPr/>
        </p:nvPicPr>
        <p:blipFill rotWithShape="1">
          <a:blip r:embed="rId3">
            <a:alphaModFix/>
          </a:blip>
          <a:srcRect t="776" b="7967"/>
          <a:stretch/>
        </p:blipFill>
        <p:spPr>
          <a:xfrm>
            <a:off x="0" y="4510800"/>
            <a:ext cx="743416" cy="632701"/>
          </a:xfrm>
          <a:prstGeom prst="rect">
            <a:avLst/>
          </a:prstGeom>
          <a:noFill/>
          <a:ln>
            <a:noFill/>
          </a:ln>
        </p:spPr>
      </p:pic>
      <p:sp>
        <p:nvSpPr>
          <p:cNvPr id="372" name="Google Shape;372;p47"/>
          <p:cNvSpPr txBox="1"/>
          <p:nvPr/>
        </p:nvSpPr>
        <p:spPr>
          <a:xfrm>
            <a:off x="502925" y="1885950"/>
            <a:ext cx="8351400" cy="137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t>Frameworks</a:t>
            </a:r>
            <a:endParaRPr sz="33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8"/>
          <p:cNvSpPr txBox="1">
            <a:spLocks noGrp="1"/>
          </p:cNvSpPr>
          <p:nvPr>
            <p:ph type="body" idx="1"/>
          </p:nvPr>
        </p:nvSpPr>
        <p:spPr>
          <a:xfrm>
            <a:off x="304793" y="403325"/>
            <a:ext cx="8520600" cy="41205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AutoNum type="arabicPeriod"/>
            </a:pPr>
            <a:r>
              <a:rPr lang="en" u="sng">
                <a:solidFill>
                  <a:schemeClr val="hlink"/>
                </a:solidFill>
                <a:hlinkClick r:id="rId3"/>
              </a:rPr>
              <a:t>Circles</a:t>
            </a:r>
            <a:r>
              <a:rPr lang="en"/>
              <a:t> </a:t>
            </a:r>
            <a:endParaRPr/>
          </a:p>
          <a:p>
            <a:pPr marL="457200" lvl="0" indent="-342900" algn="l" rtl="0">
              <a:spcBef>
                <a:spcPts val="0"/>
              </a:spcBef>
              <a:spcAft>
                <a:spcPts val="0"/>
              </a:spcAft>
              <a:buSzPts val="1800"/>
              <a:buAutoNum type="arabicPeriod"/>
            </a:pPr>
            <a:r>
              <a:rPr lang="en"/>
              <a:t>RICE</a:t>
            </a:r>
            <a:endParaRPr/>
          </a:p>
          <a:p>
            <a:pPr marL="457200" lvl="0" indent="-342900" algn="l" rtl="0">
              <a:spcBef>
                <a:spcPts val="0"/>
              </a:spcBef>
              <a:spcAft>
                <a:spcPts val="0"/>
              </a:spcAft>
              <a:buSzPts val="1800"/>
              <a:buAutoNum type="arabicPeriod"/>
            </a:pPr>
            <a:r>
              <a:rPr lang="en"/>
              <a:t>Profitability</a:t>
            </a:r>
            <a:endParaRPr/>
          </a:p>
          <a:p>
            <a:pPr marL="457200" lvl="0" indent="-342900" algn="l" rtl="0">
              <a:spcBef>
                <a:spcPts val="0"/>
              </a:spcBef>
              <a:spcAft>
                <a:spcPts val="0"/>
              </a:spcAft>
              <a:buSzPts val="1800"/>
              <a:buAutoNum type="arabicPeriod"/>
            </a:pPr>
            <a:r>
              <a:rPr lang="en"/>
              <a:t>Decision Matrix</a:t>
            </a:r>
            <a:endParaRPr/>
          </a:p>
          <a:p>
            <a:pPr marL="457200" lvl="0" indent="-342900" algn="l" rtl="0">
              <a:spcBef>
                <a:spcPts val="0"/>
              </a:spcBef>
              <a:spcAft>
                <a:spcPts val="0"/>
              </a:spcAft>
              <a:buSzPts val="1800"/>
              <a:buAutoNum type="arabicPeriod"/>
            </a:pPr>
            <a:r>
              <a:rPr lang="en"/>
              <a:t>Market Sizing</a:t>
            </a:r>
            <a:endParaRPr/>
          </a:p>
          <a:p>
            <a:pPr marL="457200" lvl="0" indent="-342900" algn="l" rtl="0">
              <a:spcBef>
                <a:spcPts val="0"/>
              </a:spcBef>
              <a:spcAft>
                <a:spcPts val="0"/>
              </a:spcAft>
              <a:buSzPts val="1800"/>
              <a:buAutoNum type="arabicPeriod"/>
            </a:pPr>
            <a:r>
              <a:rPr lang="en"/>
              <a:t>Marketing Plan/GTM (</a:t>
            </a:r>
            <a:r>
              <a:rPr lang="en" u="sng">
                <a:solidFill>
                  <a:schemeClr val="hlink"/>
                </a:solidFill>
                <a:hlinkClick r:id="rId4"/>
              </a:rPr>
              <a:t>5Cs,</a:t>
            </a:r>
            <a:r>
              <a:rPr lang="en"/>
              <a:t> STP, 4Ps)</a:t>
            </a:r>
            <a:endParaRPr/>
          </a:p>
          <a:p>
            <a:pPr marL="457200" lvl="0" indent="-342900" algn="l" rtl="0">
              <a:spcBef>
                <a:spcPts val="0"/>
              </a:spcBef>
              <a:spcAft>
                <a:spcPts val="0"/>
              </a:spcAft>
              <a:buSzPts val="1800"/>
              <a:buAutoNum type="arabicPeriod"/>
            </a:pPr>
            <a:r>
              <a:rPr lang="en"/>
              <a:t>PMF (Product Market Fit)</a:t>
            </a:r>
            <a:endParaRPr/>
          </a:p>
          <a:p>
            <a:pPr marL="457200" lvl="0" indent="-342900" algn="l" rtl="0">
              <a:spcBef>
                <a:spcPts val="0"/>
              </a:spcBef>
              <a:spcAft>
                <a:spcPts val="0"/>
              </a:spcAft>
              <a:buSzPts val="1800"/>
              <a:buAutoNum type="arabicPeriod"/>
            </a:pPr>
            <a:r>
              <a:rPr lang="en"/>
              <a:t>Product Metrics</a:t>
            </a:r>
            <a:endParaRPr/>
          </a:p>
          <a:p>
            <a:pPr marL="457200" lvl="0" indent="-342900" algn="l" rtl="0">
              <a:spcBef>
                <a:spcPts val="0"/>
              </a:spcBef>
              <a:spcAft>
                <a:spcPts val="0"/>
              </a:spcAft>
              <a:buSzPts val="1800"/>
              <a:buAutoNum type="arabicPeriod"/>
            </a:pPr>
            <a:r>
              <a:rPr lang="en"/>
              <a:t>Customer Journey</a:t>
            </a:r>
            <a:endParaRPr/>
          </a:p>
          <a:p>
            <a:pPr marL="457200" lvl="0" indent="-342900" algn="l" rtl="0">
              <a:spcBef>
                <a:spcPts val="0"/>
              </a:spcBef>
              <a:spcAft>
                <a:spcPts val="0"/>
              </a:spcAft>
              <a:buSzPts val="1800"/>
              <a:buAutoNum type="arabicPeriod"/>
            </a:pPr>
            <a:r>
              <a:rPr lang="en"/>
              <a:t>PDLC/SDLC (Product development lifecycle)</a:t>
            </a:r>
            <a:endParaRPr/>
          </a:p>
          <a:p>
            <a:pPr marL="457200" lvl="0" indent="-342900" algn="l" rtl="0">
              <a:spcBef>
                <a:spcPts val="0"/>
              </a:spcBef>
              <a:spcAft>
                <a:spcPts val="0"/>
              </a:spcAft>
              <a:buSzPts val="1800"/>
              <a:buAutoNum type="arabicPeriod"/>
            </a:pPr>
            <a:r>
              <a:rPr lang="en"/>
              <a:t>Evaluating Trade-offs</a:t>
            </a:r>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5825</Words>
  <Application>Microsoft Office PowerPoint</Application>
  <PresentationFormat>On-screen Show (16:9)</PresentationFormat>
  <Paragraphs>443</Paragraphs>
  <Slides>33</Slides>
  <Notes>33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33</vt:i4>
      </vt:variant>
    </vt:vector>
  </HeadingPairs>
  <TitlesOfParts>
    <vt:vector size="35" baseType="lpstr">
      <vt:lpstr>Arial</vt:lpstr>
      <vt:lpstr>Simple Light</vt:lpstr>
      <vt:lpstr>Amazon - Online Grocery Delivery  Amazon Fresh, our daily grocery delivery service, is currently operating in cities such as Seattle, LA and SF. If you were leading Amazon Fresh, which city would you target next? </vt:lpstr>
      <vt:lpstr>Amazon - Kindle App Amazon’s leadership is considering providing the Kindle app on Kindle devices only and removing it from all other devices. Should they do this or not? Talk through the aspects that should be considered in the decision making process here.  </vt:lpstr>
      <vt:lpstr>Cisco - Routers  If you were a PM at Cisco and you had to sell Cisco routers to the University of Michigan, and UM is evaluating between Cisco and a competitor which is equally good in all ways, what would you do?  </vt:lpstr>
      <vt:lpstr>New Product You're gearing up to introduce a new product with restricted resources at hand. While your team is keen on integrating five features, you can only realistically develop and validate two before the rollout. How would you determine which features to prioritize?  </vt:lpstr>
      <vt:lpstr>Spotify Podcast (1/3)  How would you improve Spotify as a podcast app?  </vt:lpstr>
      <vt:lpstr>Spotify Podcast (2/3)  How would you improve Spotify as a podcast app?  </vt:lpstr>
      <vt:lpstr>Spotify Podcast (3/3)  How would you improve Spotify as a podcast app?  </vt:lpstr>
      <vt:lpstr>Intuit - Product Improvement/Prioritization (1/2) Pick an Intuit product. What would you improve? How will you prioritize what to work on next?   </vt:lpstr>
      <vt:lpstr>Intuit - Product Improvement/Prioritization (2/2) Pick an Intuit product. What would you improve? How will you prioritize what to work on next?   </vt:lpstr>
      <vt:lpstr>Intuit - Quickbooks (1/4)  QuickBooks Payments enables users to process payments online through various methods like credit cards, debit cards, bank transfers, or Apple Pay. When customers sign up for QuickBooks, they have the option to activate this feature without any additional monthly charges. Instead, a transaction fee comprising a percentage and a flat fee is applied to each transaction.  The COVID-19 pandemic has expedited the shift towards online payments. As small and medium-sized businesses (SMBs) experience decreased foot traffic, temporary closures, and the need to implement social distancing measures, there has been a significant reduction in the use of cash and other offline payment methods, such as checks. Conversely, online payments are on the rise.  How do you recommend Quickbooks grow its payment practice?   </vt:lpstr>
      <vt:lpstr>Intuit - Quickbooks (2/4) How do you recommend Quickbooks grow its payment practice?  </vt:lpstr>
      <vt:lpstr>Intuit - Quickbooks (3/4) How do you recommend Quickbooks grow its payment practice?  </vt:lpstr>
      <vt:lpstr>Intuit - Quickbooks (4/4) How do you recommend Quickbooks grow its payment practice?  </vt:lpstr>
      <vt:lpstr>Linkedin - New Feature (1/2) LinkedIn is testing a change that involves asking new users to upload their profile picture during the registration process instead of after completing it. What are the key metrics to consider when evaluating the impact of this new feature?   </vt:lpstr>
      <vt:lpstr>Linkedin - New Feature (2/2) LinkedIn is testing a change that involves asking new users to upload their profile picture during the registration process instead of after completing it. What are the key metrics to consider when evaluating the impact of this new feature?   </vt:lpstr>
      <vt:lpstr>Amazon - Prime Pricing (1/4) The price of Amazon Prime is $79. Your boss wants you to explore if it makes sense to raise the price to $99. How would you approach this?   </vt:lpstr>
      <vt:lpstr>Amazon - Prime Pricing (2/4) The price of Amazon Prime is $79. Your boss wants you to explore if it makes sense to raise the price to $99. How would you approach this?   </vt:lpstr>
      <vt:lpstr>Amazon - Prime Pricing (3/4) The price of Amazon Prime is $79. Your boss wants you to explore if it makes sense to raise the price to $99. How would you approach this?   </vt:lpstr>
      <vt:lpstr>Amazon - Prime Pricing (4/4) The price of Amazon Prime is $79. Your boss wants you to explore if it makes sense to raise the price to $99. How would you approach this?   </vt:lpstr>
      <vt:lpstr>Surface Tablet - New Segment (1/3) How would you market the Surface Tablet to 80-year old senior citizens?    </vt:lpstr>
      <vt:lpstr>Surface Tablet - New Segment (2/3) How would you market the Surface Tablet to 80-year old senior citizens?    </vt:lpstr>
      <vt:lpstr>Surface Tablet - New Segment (3/3) How would you market the Surface Tablet to 80-year old senior citizens?    </vt:lpstr>
      <vt:lpstr>Least Favourite Product - SaaS What is your least favorite SaaS product? What could they do to improve it? Why do you think they haven’t done that? How would you monetize this in the future? What are the concerns? </vt:lpstr>
      <vt:lpstr>Favourite Product  What is your favorite product? What is one thing you would add and one thing you would remove from it?   </vt:lpstr>
      <vt:lpstr>Google - Market Entry (1/3) Should Google develop a Stubhub competitor? That is, sell sports, concert, and theater tickets?   </vt:lpstr>
      <vt:lpstr>Google - Market Entry (2/3) Should Google develop a Stubhub competitor? That is, sell sports, concert, and theater tickets?   </vt:lpstr>
      <vt:lpstr>Google - Market Entry (3/3) Should Google develop a Stubhub competitor? That is, sell sports, concert, and theater tickets?   </vt:lpstr>
      <vt:lpstr>AWS - Storage We are considering reducing the GB/month cost by 1 cent for AWS storage. How would you approach the decision?   </vt:lpstr>
      <vt:lpstr>PowerPoint Presentation</vt:lpstr>
      <vt:lpstr>Case Questions (1/2)</vt:lpstr>
      <vt:lpstr>Case Questions (2/2)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Shivam Singh</cp:lastModifiedBy>
  <cp:revision>1</cp:revision>
  <dcterms:modified xsi:type="dcterms:W3CDTF">2026-08-13T00:39:46Z</dcterms:modified>
</cp:coreProperties>
</file>