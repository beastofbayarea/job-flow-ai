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 id="2147483670" r:id="rId6"/>
    <p:sldMasterId id="214748367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y="6858000" cx="12192000"/>
  <p:notesSz cx="6858000" cy="9144000"/>
  <p:embeddedFontLst>
    <p:embeddedFont>
      <p:font typeface="Roboto"/>
      <p:regular r:id="rId52"/>
      <p:bold r:id="rId53"/>
      <p:italic r:id="rId54"/>
      <p:boldItalic r:id="rId55"/>
    </p:embeddedFont>
    <p:embeddedFont>
      <p:font typeface="Open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0" roundtripDataSignature="AMtx7miBd39katx6RETYHEHWbvoxVlo0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5295AD-7D7E-41B6-A489-87AF737CDC33}">
  <a:tblStyle styleId="{6D5295AD-7D7E-41B6-A489-87AF737CDC33}"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customschemas.google.com/relationships/presentationmetadata" Target="meta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3.xml"/><Relationship Id="rId55" Type="http://schemas.openxmlformats.org/officeDocument/2006/relationships/font" Target="fonts/Roboto-boldItalic.fntdata"/><Relationship Id="rId10" Type="http://schemas.openxmlformats.org/officeDocument/2006/relationships/slide" Target="slides/slide2.xml"/><Relationship Id="rId54" Type="http://schemas.openxmlformats.org/officeDocument/2006/relationships/font" Target="fonts/Roboto-italic.fntdata"/><Relationship Id="rId13" Type="http://schemas.openxmlformats.org/officeDocument/2006/relationships/slide" Target="slides/slide5.xml"/><Relationship Id="rId57" Type="http://schemas.openxmlformats.org/officeDocument/2006/relationships/font" Target="fonts/OpenSans-bold.fntdata"/><Relationship Id="rId12" Type="http://schemas.openxmlformats.org/officeDocument/2006/relationships/slide" Target="slides/slide4.xml"/><Relationship Id="rId56" Type="http://schemas.openxmlformats.org/officeDocument/2006/relationships/font" Target="fonts/OpenSans-regular.fntdata"/><Relationship Id="rId15" Type="http://schemas.openxmlformats.org/officeDocument/2006/relationships/slide" Target="slides/slide7.xml"/><Relationship Id="rId59" Type="http://schemas.openxmlformats.org/officeDocument/2006/relationships/font" Target="fonts/OpenSans-boldItalic.fntdata"/><Relationship Id="rId14" Type="http://schemas.openxmlformats.org/officeDocument/2006/relationships/slide" Target="slides/slide6.xml"/><Relationship Id="rId58" Type="http://schemas.openxmlformats.org/officeDocument/2006/relationships/font" Target="fonts/OpenSans-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68" name="Google Shape;16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76" name="Google Shape;176;p2: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p:txBody>
      </p:sp>
      <p:sp>
        <p:nvSpPr>
          <p:cNvPr id="187" name="Google Shape;187;p3: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5fb597e68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15fb597e68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p:txBody>
      </p:sp>
      <p:sp>
        <p:nvSpPr>
          <p:cNvPr id="195" name="Google Shape;195;g15fb597e686_0_0: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5fbe0d68b0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5fbe0d68b0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15fbe0d68b0_1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28" name="Google Shape;22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60" name="Google Shape;26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68" name="Google Shape;2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82" name="Google Shape;2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96" name="Google Shape;29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02" name="Google Shape;30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This is one that is done together as a group</a:t>
            </a:r>
            <a:endParaRPr/>
          </a:p>
        </p:txBody>
      </p:sp>
      <p:sp>
        <p:nvSpPr>
          <p:cNvPr id="310" name="Google Shape;31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19" name="Google Shape;31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43" name="Google Shape;34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59" name="Google Shape;35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76" name="Google Shape;37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84" name="Google Shape;38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Case questions are many times based on real-life. If you ask more specific questions, they may be able to provide you with a bit more detail to guide your response</a:t>
            </a:r>
            <a:endParaRPr/>
          </a:p>
        </p:txBody>
      </p:sp>
      <p:sp>
        <p:nvSpPr>
          <p:cNvPr id="390" name="Google Shape;39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00" name="Google Shape;40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06" name="Google Shape;40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5f80c3f3e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One person from MMC Ed will give an example of how to answer this type of question</a:t>
            </a:r>
            <a:endParaRPr/>
          </a:p>
        </p:txBody>
      </p:sp>
      <p:sp>
        <p:nvSpPr>
          <p:cNvPr id="422" name="Google Shape;422;g15f80c3f3e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One person from MMC Ed will give an example of how to answer this type of question</a:t>
            </a:r>
            <a:endParaRPr/>
          </a:p>
        </p:txBody>
      </p:sp>
      <p:sp>
        <p:nvSpPr>
          <p:cNvPr id="432" name="Google Shape;43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One person from MMC Ed will give an example of how to answer this type of question</a:t>
            </a:r>
            <a:endParaRPr/>
          </a:p>
        </p:txBody>
      </p:sp>
      <p:sp>
        <p:nvSpPr>
          <p:cNvPr id="442" name="Google Shape;44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52" name="Google Shape;45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5fb597e686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68" name="Google Shape;468;g15fb597e686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74" name="Google Shape;47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84" name="Google Shape;48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94" name="Google Shape;494;p31: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02" name="Google Shape;502;p32: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15" name="Google Shape;515;p33: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28" name="Google Shape;528;p34: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36" name="Google Shape;53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42" name="Google Shape;54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50" name="Google Shape;55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Arial"/>
              <a:ea typeface="Arial"/>
              <a:cs typeface="Arial"/>
              <a:sym typeface="Arial"/>
            </a:endParaRPr>
          </a:p>
        </p:txBody>
      </p:sp>
      <p:sp>
        <p:nvSpPr>
          <p:cNvPr id="561" name="Google Shape;561;p38: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5fb597e686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68" name="Google Shape;568;g15fb597e686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74" name="Google Shape;574;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4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80" name="Google Shape;58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97" name="Google Shape;59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3"/>
          <p:cNvSpPr txBox="1"/>
          <p:nvPr>
            <p:ph type="ctrTitle"/>
          </p:nvPr>
        </p:nvSpPr>
        <p:spPr>
          <a:xfrm>
            <a:off x="948751" y="1721556"/>
            <a:ext cx="7944384" cy="1333637"/>
          </a:xfrm>
          <a:prstGeom prst="rect">
            <a:avLst/>
          </a:prstGeom>
          <a:noFill/>
          <a:ln>
            <a:noFill/>
          </a:ln>
        </p:spPr>
        <p:txBody>
          <a:bodyPr anchorCtr="0" anchor="b" bIns="45700" lIns="91425" spcFirstLastPara="1" rIns="91425" wrap="square" tIns="45700">
            <a:noAutofit/>
          </a:bodyPr>
          <a:lstStyle>
            <a:lvl1pPr lvl="0" marR="0" algn="l">
              <a:lnSpc>
                <a:spcPct val="70000"/>
              </a:lnSpc>
              <a:spcBef>
                <a:spcPts val="0"/>
              </a:spcBef>
              <a:spcAft>
                <a:spcPts val="0"/>
              </a:spcAft>
              <a:buClr>
                <a:schemeClr val="lt1"/>
              </a:buClr>
              <a:buSzPts val="5000"/>
              <a:buFont typeface="Arial"/>
              <a:buNone/>
              <a:defRPr b="0" i="0" sz="50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9" name="Google Shape;19;p43"/>
          <p:cNvSpPr txBox="1"/>
          <p:nvPr>
            <p:ph idx="1" type="subTitle"/>
          </p:nvPr>
        </p:nvSpPr>
        <p:spPr>
          <a:xfrm>
            <a:off x="948751" y="3704007"/>
            <a:ext cx="7944384" cy="635127"/>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320"/>
              </a:spcBef>
              <a:spcAft>
                <a:spcPts val="0"/>
              </a:spcAft>
              <a:buClr>
                <a:schemeClr val="accent3"/>
              </a:buClr>
              <a:buSzPts val="1600"/>
              <a:buFont typeface="Noto Sans Symbols"/>
              <a:buNone/>
              <a:defRPr b="1" i="0" sz="1600" u="none" cap="none" strike="noStrike">
                <a:solidFill>
                  <a:schemeClr val="accent3"/>
                </a:solidFill>
                <a:latin typeface="Arial"/>
                <a:ea typeface="Arial"/>
                <a:cs typeface="Arial"/>
                <a:sym typeface="Arial"/>
              </a:defRPr>
            </a:lvl1pPr>
            <a:lvl2pPr lvl="1" marR="0" algn="ctr">
              <a:lnSpc>
                <a:spcPct val="100000"/>
              </a:lnSpc>
              <a:spcBef>
                <a:spcPts val="480"/>
              </a:spcBef>
              <a:spcAft>
                <a:spcPts val="0"/>
              </a:spcAft>
              <a:buClr>
                <a:srgbClr val="929292"/>
              </a:buClr>
              <a:buSzPts val="2400"/>
              <a:buFont typeface="Arial"/>
              <a:buNone/>
              <a:defRPr b="0" i="0" sz="2400" u="none" cap="none" strike="noStrike">
                <a:solidFill>
                  <a:srgbClr val="929292"/>
                </a:solidFill>
                <a:latin typeface="Arial"/>
                <a:ea typeface="Arial"/>
                <a:cs typeface="Arial"/>
                <a:sym typeface="Arial"/>
              </a:defRPr>
            </a:lvl2pPr>
            <a:lvl3pPr lvl="2" marR="0" algn="ctr">
              <a:lnSpc>
                <a:spcPct val="100000"/>
              </a:lnSpc>
              <a:spcBef>
                <a:spcPts val="480"/>
              </a:spcBef>
              <a:spcAft>
                <a:spcPts val="0"/>
              </a:spcAft>
              <a:buClr>
                <a:srgbClr val="929292"/>
              </a:buClr>
              <a:buSzPts val="2400"/>
              <a:buFont typeface="Noto Sans Symbols"/>
              <a:buNone/>
              <a:defRPr b="0" i="0" sz="2400" u="none" cap="none" strike="noStrike">
                <a:solidFill>
                  <a:srgbClr val="929292"/>
                </a:solidFill>
                <a:latin typeface="Arial"/>
                <a:ea typeface="Arial"/>
                <a:cs typeface="Arial"/>
                <a:sym typeface="Arial"/>
              </a:defRPr>
            </a:lvl3pPr>
            <a:lvl4pPr lvl="3"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Arial"/>
                <a:ea typeface="Arial"/>
                <a:cs typeface="Arial"/>
                <a:sym typeface="Arial"/>
              </a:defRPr>
            </a:lvl4pPr>
            <a:lvl5pPr lvl="4"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Arial"/>
                <a:ea typeface="Arial"/>
                <a:cs typeface="Arial"/>
                <a:sym typeface="Arial"/>
              </a:defRPr>
            </a:lvl5pPr>
            <a:lvl6pPr lvl="5"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6pPr>
            <a:lvl7pPr lvl="6"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7pPr>
            <a:lvl8pPr lvl="7"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8pPr>
            <a:lvl9pPr lvl="8"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9pPr>
          </a:lstStyle>
          <a:p/>
        </p:txBody>
      </p:sp>
      <p:sp>
        <p:nvSpPr>
          <p:cNvPr id="20" name="Google Shape;20;p43"/>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21" name="Shape 21"/>
        <p:cNvGrpSpPr/>
        <p:nvPr/>
      </p:nvGrpSpPr>
      <p:grpSpPr>
        <a:xfrm>
          <a:off x="0" y="0"/>
          <a:ext cx="0" cy="0"/>
          <a:chOff x="0" y="0"/>
          <a:chExt cx="0" cy="0"/>
        </a:xfrm>
      </p:grpSpPr>
      <p:sp>
        <p:nvSpPr>
          <p:cNvPr id="22" name="Google Shape;22;p46"/>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7"/>
          <p:cNvSpPr/>
          <p:nvPr/>
        </p:nvSpPr>
        <p:spPr>
          <a:xfrm>
            <a:off x="1448741" y="0"/>
            <a:ext cx="9144000" cy="6858000"/>
          </a:xfrm>
          <a:prstGeom prst="ellipse">
            <a:avLst/>
          </a:prstGeom>
          <a:gradFill>
            <a:gsLst>
              <a:gs pos="0">
                <a:srgbClr val="FFFFFF"/>
              </a:gs>
              <a:gs pos="100000">
                <a:srgbClr val="FFFFFF">
                  <a:alpha val="0"/>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 name="Google Shape;25;p47"/>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47"/>
          <p:cNvSpPr txBox="1"/>
          <p:nvPr>
            <p:ph idx="1" type="body"/>
          </p:nvPr>
        </p:nvSpPr>
        <p:spPr>
          <a:xfrm>
            <a:off x="920899" y="1512712"/>
            <a:ext cx="10357500" cy="42747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7" name="Google Shape;27;p47"/>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type="titleOnly">
  <p:cSld name="TITLE_ONLY">
    <p:bg>
      <p:bgPr>
        <a:solidFill>
          <a:srgbClr val="F2F2F2"/>
        </a:solidFill>
      </p:bgPr>
    </p:bg>
    <p:spTree>
      <p:nvGrpSpPr>
        <p:cNvPr id="28" name="Shape 28"/>
        <p:cNvGrpSpPr/>
        <p:nvPr/>
      </p:nvGrpSpPr>
      <p:grpSpPr>
        <a:xfrm>
          <a:off x="0" y="0"/>
          <a:ext cx="0" cy="0"/>
          <a:chOff x="0" y="0"/>
          <a:chExt cx="0" cy="0"/>
        </a:xfrm>
      </p:grpSpPr>
      <p:sp>
        <p:nvSpPr>
          <p:cNvPr id="29" name="Google Shape;29;p50"/>
          <p:cNvSpPr/>
          <p:nvPr/>
        </p:nvSpPr>
        <p:spPr>
          <a:xfrm>
            <a:off x="0" y="1382889"/>
            <a:ext cx="12192000" cy="34431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 name="Google Shape;30;p50"/>
          <p:cNvSpPr txBox="1"/>
          <p:nvPr>
            <p:ph type="title"/>
          </p:nvPr>
        </p:nvSpPr>
        <p:spPr>
          <a:xfrm>
            <a:off x="2325739" y="1382888"/>
            <a:ext cx="7545768" cy="3443111"/>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lt1"/>
              </a:buClr>
              <a:buSzPts val="4000"/>
              <a:buFont typeface="Georgia"/>
              <a:buNone/>
              <a:defRPr b="0" i="1" sz="4000" u="none" cap="none" strike="noStrik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31" name="Google Shape;31;p50"/>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1"/>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type="twoObj">
  <p:cSld name="TWO_OBJECTS">
    <p:spTree>
      <p:nvGrpSpPr>
        <p:cNvPr id="34" name="Shape 34"/>
        <p:cNvGrpSpPr/>
        <p:nvPr/>
      </p:nvGrpSpPr>
      <p:grpSpPr>
        <a:xfrm>
          <a:off x="0" y="0"/>
          <a:ext cx="0" cy="0"/>
          <a:chOff x="0" y="0"/>
          <a:chExt cx="0" cy="0"/>
        </a:xfrm>
      </p:grpSpPr>
      <p:sp>
        <p:nvSpPr>
          <p:cNvPr id="35" name="Google Shape;35;p52"/>
          <p:cNvSpPr txBox="1"/>
          <p:nvPr>
            <p:ph type="title"/>
          </p:nvPr>
        </p:nvSpPr>
        <p:spPr>
          <a:xfrm>
            <a:off x="609600" y="274638"/>
            <a:ext cx="10972800" cy="1143299"/>
          </a:xfrm>
          <a:prstGeom prst="rect">
            <a:avLst/>
          </a:prstGeom>
          <a:noFill/>
          <a:ln>
            <a:noFill/>
          </a:ln>
        </p:spPr>
        <p:txBody>
          <a:bodyPr anchorCtr="0" anchor="ctr" bIns="91425" lIns="91425" spcFirstLastPara="1" rIns="91425" wrap="square" tIns="91425">
            <a:noAutofit/>
          </a:bodyPr>
          <a:lstStyle>
            <a:lvl1pPr lvl="0" marR="0" algn="ctr">
              <a:lnSpc>
                <a:spcPct val="8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36" name="Google Shape;36;p52"/>
          <p:cNvSpPr txBox="1"/>
          <p:nvPr>
            <p:ph idx="1" type="body"/>
          </p:nvPr>
        </p:nvSpPr>
        <p:spPr>
          <a:xfrm>
            <a:off x="609601" y="1600200"/>
            <a:ext cx="5384799" cy="4526100"/>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100000"/>
              </a:lnSpc>
              <a:spcBef>
                <a:spcPts val="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52"/>
          <p:cNvSpPr txBox="1"/>
          <p:nvPr>
            <p:ph idx="2" type="body"/>
          </p:nvPr>
        </p:nvSpPr>
        <p:spPr>
          <a:xfrm>
            <a:off x="6197601" y="1600200"/>
            <a:ext cx="5384799" cy="4526100"/>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100000"/>
              </a:lnSpc>
              <a:spcBef>
                <a:spcPts val="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52"/>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9" name="Shape 39"/>
        <p:cNvGrpSpPr/>
        <p:nvPr/>
      </p:nvGrpSpPr>
      <p:grpSpPr>
        <a:xfrm>
          <a:off x="0" y="0"/>
          <a:ext cx="0" cy="0"/>
          <a:chOff x="0" y="0"/>
          <a:chExt cx="0" cy="0"/>
        </a:xfrm>
      </p:grpSpPr>
      <p:sp>
        <p:nvSpPr>
          <p:cNvPr id="40" name="Google Shape;40;p55"/>
          <p:cNvSpPr txBox="1"/>
          <p:nvPr>
            <p:ph type="title"/>
          </p:nvPr>
        </p:nvSpPr>
        <p:spPr>
          <a:xfrm>
            <a:off x="816851" y="1260636"/>
            <a:ext cx="3454400" cy="480926"/>
          </a:xfrm>
          <a:prstGeom prst="rect">
            <a:avLst/>
          </a:prstGeom>
          <a:noFill/>
          <a:ln>
            <a:noFill/>
          </a:ln>
        </p:spPr>
        <p:txBody>
          <a:bodyPr anchorCtr="0" anchor="t" bIns="45700" lIns="91425" spcFirstLastPara="1" rIns="91425" wrap="square" tIns="45700">
            <a:noAutofit/>
          </a:bodyPr>
          <a:lstStyle>
            <a:lvl1pPr lvl="0" marR="0" algn="l">
              <a:lnSpc>
                <a:spcPct val="80000"/>
              </a:lnSpc>
              <a:spcBef>
                <a:spcPts val="0"/>
              </a:spcBef>
              <a:spcAft>
                <a:spcPts val="0"/>
              </a:spcAft>
              <a:buClr>
                <a:srgbClr val="2FB6E3"/>
              </a:buClr>
              <a:buSzPts val="1600"/>
              <a:buFont typeface="Arial"/>
              <a:buNone/>
              <a:defRPr b="1" i="0" sz="1600" u="none" cap="none" strike="noStrike">
                <a:solidFill>
                  <a:srgbClr val="2FB6E3"/>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41" name="Google Shape;41;p55"/>
          <p:cNvSpPr txBox="1"/>
          <p:nvPr>
            <p:ph idx="1" type="body"/>
          </p:nvPr>
        </p:nvSpPr>
        <p:spPr>
          <a:xfrm>
            <a:off x="4766733" y="1260636"/>
            <a:ext cx="6815667" cy="411932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2" name="Google Shape;42;p55"/>
          <p:cNvSpPr txBox="1"/>
          <p:nvPr>
            <p:ph idx="2" type="body"/>
          </p:nvPr>
        </p:nvSpPr>
        <p:spPr>
          <a:xfrm>
            <a:off x="816847" y="1820271"/>
            <a:ext cx="3454403" cy="218975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40"/>
              </a:spcBef>
              <a:spcAft>
                <a:spcPts val="0"/>
              </a:spcAft>
              <a:buClr>
                <a:srgbClr val="343434"/>
              </a:buClr>
              <a:buSzPts val="1200"/>
              <a:buFont typeface="Noto Sans Symbols"/>
              <a:buNone/>
              <a:defRPr b="0" i="0" sz="1200" u="none" cap="none" strike="noStrike">
                <a:solidFill>
                  <a:srgbClr val="343434"/>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55"/>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rgbClr val="F2F2F2"/>
        </a:solidFill>
      </p:bgPr>
    </p:bg>
    <p:spTree>
      <p:nvGrpSpPr>
        <p:cNvPr id="44" name="Shape 44"/>
        <p:cNvGrpSpPr/>
        <p:nvPr/>
      </p:nvGrpSpPr>
      <p:grpSpPr>
        <a:xfrm>
          <a:off x="0" y="0"/>
          <a:ext cx="0" cy="0"/>
          <a:chOff x="0" y="0"/>
          <a:chExt cx="0" cy="0"/>
        </a:xfrm>
      </p:grpSpPr>
      <p:sp>
        <p:nvSpPr>
          <p:cNvPr id="45" name="Google Shape;45;p56"/>
          <p:cNvSpPr txBox="1"/>
          <p:nvPr/>
        </p:nvSpPr>
        <p:spPr>
          <a:xfrm>
            <a:off x="2657837" y="-727195"/>
            <a:ext cx="6887547" cy="8666988"/>
          </a:xfrm>
          <a:prstGeom prst="rect">
            <a:avLst/>
          </a:prstGeom>
          <a:no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Clr>
                <a:srgbClr val="000000"/>
              </a:buClr>
              <a:buSzPts val="19900"/>
              <a:buFont typeface="Arial"/>
              <a:buNone/>
            </a:pPr>
            <a:r>
              <a:rPr b="0" i="0" lang="en-US" sz="19900" u="none" cap="none" strike="noStrike">
                <a:solidFill>
                  <a:srgbClr val="D8D8D8"/>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19900"/>
              <a:buFont typeface="Arial"/>
              <a:buNone/>
            </a:pPr>
            <a:r>
              <a:rPr b="0" i="0" lang="en-US" sz="19900" u="none" cap="none" strike="noStrike">
                <a:solidFill>
                  <a:srgbClr val="D8D8D8"/>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46" name="Google Shape;46;p56"/>
          <p:cNvSpPr/>
          <p:nvPr/>
        </p:nvSpPr>
        <p:spPr>
          <a:xfrm>
            <a:off x="0" y="1382889"/>
            <a:ext cx="12192000" cy="34431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 name="Google Shape;47;p56"/>
          <p:cNvSpPr txBox="1"/>
          <p:nvPr>
            <p:ph type="title"/>
          </p:nvPr>
        </p:nvSpPr>
        <p:spPr>
          <a:xfrm>
            <a:off x="2325739" y="1382888"/>
            <a:ext cx="7545768" cy="3443111"/>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lt1"/>
              </a:buClr>
              <a:buSzPts val="4000"/>
              <a:buFont typeface="Georgia"/>
              <a:buNone/>
              <a:defRPr b="0" i="1" sz="4000" u="none" cap="none" strike="noStrik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48" name="Google Shape;48;p56"/>
          <p:cNvSpPr txBox="1"/>
          <p:nvPr/>
        </p:nvSpPr>
        <p:spPr>
          <a:xfrm>
            <a:off x="3650073" y="4964499"/>
            <a:ext cx="4816592" cy="2769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7F7F7F"/>
                </a:solidFill>
                <a:latin typeface="Calibri"/>
                <a:ea typeface="Calibri"/>
                <a:cs typeface="Calibri"/>
                <a:sym typeface="Calibri"/>
              </a:rPr>
              <a:t>—CLICK TO TYPE ATTRIBUTION</a:t>
            </a:r>
            <a:endParaRPr b="0" i="0" sz="1400" u="none" cap="none" strike="noStrike">
              <a:solidFill>
                <a:srgbClr val="000000"/>
              </a:solidFill>
              <a:latin typeface="Arial"/>
              <a:ea typeface="Arial"/>
              <a:cs typeface="Arial"/>
              <a:sym typeface="Arial"/>
            </a:endParaRPr>
          </a:p>
        </p:txBody>
      </p:sp>
      <p:sp>
        <p:nvSpPr>
          <p:cNvPr id="49" name="Google Shape;49;p56"/>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No Content">
  <p:cSld name="Title-No Content">
    <p:spTree>
      <p:nvGrpSpPr>
        <p:cNvPr id="50" name="Shape 50"/>
        <p:cNvGrpSpPr/>
        <p:nvPr/>
      </p:nvGrpSpPr>
      <p:grpSpPr>
        <a:xfrm>
          <a:off x="0" y="0"/>
          <a:ext cx="0" cy="0"/>
          <a:chOff x="0" y="0"/>
          <a:chExt cx="0" cy="0"/>
        </a:xfrm>
      </p:grpSpPr>
      <p:sp>
        <p:nvSpPr>
          <p:cNvPr id="51" name="Google Shape;51;p57"/>
          <p:cNvSpPr txBox="1"/>
          <p:nvPr>
            <p:ph type="title"/>
          </p:nvPr>
        </p:nvSpPr>
        <p:spPr>
          <a:xfrm>
            <a:off x="920899" y="752646"/>
            <a:ext cx="9844455" cy="517355"/>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2" name="Google Shape;52;p57"/>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3" name="Shape 53"/>
        <p:cNvGrpSpPr/>
        <p:nvPr/>
      </p:nvGrpSpPr>
      <p:grpSpPr>
        <a:xfrm>
          <a:off x="0" y="0"/>
          <a:ext cx="0" cy="0"/>
          <a:chOff x="0" y="0"/>
          <a:chExt cx="0" cy="0"/>
        </a:xfrm>
      </p:grpSpPr>
      <p:sp>
        <p:nvSpPr>
          <p:cNvPr id="54" name="Google Shape;54;p58"/>
          <p:cNvSpPr txBox="1"/>
          <p:nvPr>
            <p:ph type="title"/>
          </p:nvPr>
        </p:nvSpPr>
        <p:spPr>
          <a:xfrm>
            <a:off x="897125" y="4800600"/>
            <a:ext cx="7315200" cy="566738"/>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2000"/>
              <a:buFont typeface="Arial"/>
              <a:buNone/>
              <a:defRPr b="1" i="0" sz="2000" u="none" cap="none" strike="noStrike">
                <a:solidFill>
                  <a:srgbClr val="002856"/>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5" name="Google Shape;55;p58"/>
          <p:cNvSpPr/>
          <p:nvPr>
            <p:ph idx="2" type="pic"/>
          </p:nvPr>
        </p:nvSpPr>
        <p:spPr>
          <a:xfrm>
            <a:off x="897125" y="612775"/>
            <a:ext cx="10529739" cy="4114800"/>
          </a:xfrm>
          <a:prstGeom prst="rect">
            <a:avLst/>
          </a:prstGeom>
          <a:noFill/>
          <a:ln>
            <a:noFill/>
          </a:ln>
        </p:spPr>
      </p:sp>
      <p:sp>
        <p:nvSpPr>
          <p:cNvPr id="56" name="Google Shape;56;p58"/>
          <p:cNvSpPr txBox="1"/>
          <p:nvPr>
            <p:ph idx="1" type="body"/>
          </p:nvPr>
        </p:nvSpPr>
        <p:spPr>
          <a:xfrm>
            <a:off x="897125" y="5367338"/>
            <a:ext cx="7315200" cy="804862"/>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8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algn="l">
              <a:lnSpc>
                <a:spcPct val="100000"/>
              </a:lnSpc>
              <a:spcBef>
                <a:spcPts val="200"/>
              </a:spcBef>
              <a:spcAft>
                <a:spcPts val="0"/>
              </a:spcAft>
              <a:buClr>
                <a:schemeClr val="dk1"/>
              </a:buClr>
              <a:buSzPts val="1000"/>
              <a:buFont typeface="Noto Sans Symbols"/>
              <a:buNone/>
              <a:defRPr b="0" i="0" sz="1000" u="none" cap="none" strike="noStrike">
                <a:solidFill>
                  <a:schemeClr val="dk1"/>
                </a:solidFill>
                <a:latin typeface="Arial"/>
                <a:ea typeface="Arial"/>
                <a:cs typeface="Arial"/>
                <a:sym typeface="Arial"/>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57" name="Google Shape;57;p58"/>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45"/>
          <p:cNvSpPr/>
          <p:nvPr/>
        </p:nvSpPr>
        <p:spPr>
          <a:xfrm>
            <a:off x="1448741" y="0"/>
            <a:ext cx="9144000" cy="6858000"/>
          </a:xfrm>
          <a:prstGeom prst="ellipse">
            <a:avLst/>
          </a:prstGeom>
          <a:gradFill>
            <a:gsLst>
              <a:gs pos="0">
                <a:srgbClr val="FFFFFF"/>
              </a:gs>
              <a:gs pos="100000">
                <a:srgbClr val="FFFFFF">
                  <a:alpha val="0"/>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 name="Google Shape;67;p45"/>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45"/>
          <p:cNvSpPr txBox="1"/>
          <p:nvPr>
            <p:ph idx="1" type="body"/>
          </p:nvPr>
        </p:nvSpPr>
        <p:spPr>
          <a:xfrm>
            <a:off x="920899" y="1512712"/>
            <a:ext cx="10357500" cy="42747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9" name="Google Shape;69;p45"/>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64"/>
          <p:cNvSpPr txBox="1"/>
          <p:nvPr>
            <p:ph type="ctrTitle"/>
          </p:nvPr>
        </p:nvSpPr>
        <p:spPr>
          <a:xfrm>
            <a:off x="948751" y="1721556"/>
            <a:ext cx="7944300" cy="1333500"/>
          </a:xfrm>
          <a:prstGeom prst="rect">
            <a:avLst/>
          </a:prstGeom>
          <a:noFill/>
          <a:ln>
            <a:noFill/>
          </a:ln>
        </p:spPr>
        <p:txBody>
          <a:bodyPr anchorCtr="0" anchor="b" bIns="45700" lIns="91425" spcFirstLastPara="1" rIns="91425" wrap="square" tIns="45700">
            <a:noAutofit/>
          </a:bodyPr>
          <a:lstStyle>
            <a:lvl1pPr lvl="0" marR="0" algn="l">
              <a:lnSpc>
                <a:spcPct val="70000"/>
              </a:lnSpc>
              <a:spcBef>
                <a:spcPts val="0"/>
              </a:spcBef>
              <a:spcAft>
                <a:spcPts val="0"/>
              </a:spcAft>
              <a:buClr>
                <a:schemeClr val="lt1"/>
              </a:buClr>
              <a:buSzPts val="5000"/>
              <a:buFont typeface="Arial"/>
              <a:buNone/>
              <a:defRPr b="0" i="0" sz="50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72" name="Google Shape;72;p64"/>
          <p:cNvSpPr txBox="1"/>
          <p:nvPr>
            <p:ph idx="1" type="subTitle"/>
          </p:nvPr>
        </p:nvSpPr>
        <p:spPr>
          <a:xfrm>
            <a:off x="948751" y="3704007"/>
            <a:ext cx="7944300" cy="6351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320"/>
              </a:spcBef>
              <a:spcAft>
                <a:spcPts val="0"/>
              </a:spcAft>
              <a:buClr>
                <a:schemeClr val="accent3"/>
              </a:buClr>
              <a:buSzPts val="1600"/>
              <a:buFont typeface="Noto Sans Symbols"/>
              <a:buNone/>
              <a:defRPr b="1" i="0" sz="1600" u="none" cap="none" strike="noStrike">
                <a:solidFill>
                  <a:schemeClr val="accent3"/>
                </a:solidFill>
                <a:latin typeface="Arial"/>
                <a:ea typeface="Arial"/>
                <a:cs typeface="Arial"/>
                <a:sym typeface="Arial"/>
              </a:defRPr>
            </a:lvl1pPr>
            <a:lvl2pPr lvl="1" marR="0" algn="ctr">
              <a:lnSpc>
                <a:spcPct val="100000"/>
              </a:lnSpc>
              <a:spcBef>
                <a:spcPts val="480"/>
              </a:spcBef>
              <a:spcAft>
                <a:spcPts val="0"/>
              </a:spcAft>
              <a:buClr>
                <a:srgbClr val="929292"/>
              </a:buClr>
              <a:buSzPts val="2400"/>
              <a:buFont typeface="Arial"/>
              <a:buNone/>
              <a:defRPr b="0" i="0" sz="2400" u="none" cap="none" strike="noStrike">
                <a:solidFill>
                  <a:srgbClr val="929292"/>
                </a:solidFill>
                <a:latin typeface="Arial"/>
                <a:ea typeface="Arial"/>
                <a:cs typeface="Arial"/>
                <a:sym typeface="Arial"/>
              </a:defRPr>
            </a:lvl2pPr>
            <a:lvl3pPr lvl="2" marR="0" algn="ctr">
              <a:lnSpc>
                <a:spcPct val="100000"/>
              </a:lnSpc>
              <a:spcBef>
                <a:spcPts val="480"/>
              </a:spcBef>
              <a:spcAft>
                <a:spcPts val="0"/>
              </a:spcAft>
              <a:buClr>
                <a:srgbClr val="929292"/>
              </a:buClr>
              <a:buSzPts val="2400"/>
              <a:buFont typeface="Noto Sans Symbols"/>
              <a:buNone/>
              <a:defRPr b="0" i="0" sz="2400" u="none" cap="none" strike="noStrike">
                <a:solidFill>
                  <a:srgbClr val="929292"/>
                </a:solidFill>
                <a:latin typeface="Arial"/>
                <a:ea typeface="Arial"/>
                <a:cs typeface="Arial"/>
                <a:sym typeface="Arial"/>
              </a:defRPr>
            </a:lvl3pPr>
            <a:lvl4pPr lvl="3"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Arial"/>
                <a:ea typeface="Arial"/>
                <a:cs typeface="Arial"/>
                <a:sym typeface="Arial"/>
              </a:defRPr>
            </a:lvl4pPr>
            <a:lvl5pPr lvl="4"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Arial"/>
                <a:ea typeface="Arial"/>
                <a:cs typeface="Arial"/>
                <a:sym typeface="Arial"/>
              </a:defRPr>
            </a:lvl5pPr>
            <a:lvl6pPr lvl="5"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6pPr>
            <a:lvl7pPr lvl="6"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7pPr>
            <a:lvl8pPr lvl="7"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8pPr>
            <a:lvl9pPr lvl="8" marR="0" algn="ctr">
              <a:lnSpc>
                <a:spcPct val="100000"/>
              </a:lnSpc>
              <a:spcBef>
                <a:spcPts val="400"/>
              </a:spcBef>
              <a:spcAft>
                <a:spcPts val="0"/>
              </a:spcAft>
              <a:buClr>
                <a:srgbClr val="929292"/>
              </a:buClr>
              <a:buSzPts val="2000"/>
              <a:buFont typeface="Arial"/>
              <a:buNone/>
              <a:defRPr b="0" i="0" sz="2000" u="none" cap="none" strike="noStrike">
                <a:solidFill>
                  <a:srgbClr val="929292"/>
                </a:solidFill>
                <a:latin typeface="Calibri"/>
                <a:ea typeface="Calibri"/>
                <a:cs typeface="Calibri"/>
                <a:sym typeface="Calibri"/>
              </a:defRPr>
            </a:lvl9pPr>
          </a:lstStyle>
          <a:p/>
        </p:txBody>
      </p:sp>
      <p:sp>
        <p:nvSpPr>
          <p:cNvPr id="73" name="Google Shape;73;p6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type="titleOnly">
  <p:cSld name="TITLE_ONLY">
    <p:bg>
      <p:bgPr>
        <a:solidFill>
          <a:srgbClr val="F2F2F2"/>
        </a:solidFill>
      </p:bgPr>
    </p:bg>
    <p:spTree>
      <p:nvGrpSpPr>
        <p:cNvPr id="74" name="Shape 74"/>
        <p:cNvGrpSpPr/>
        <p:nvPr/>
      </p:nvGrpSpPr>
      <p:grpSpPr>
        <a:xfrm>
          <a:off x="0" y="0"/>
          <a:ext cx="0" cy="0"/>
          <a:chOff x="0" y="0"/>
          <a:chExt cx="0" cy="0"/>
        </a:xfrm>
      </p:grpSpPr>
      <p:sp>
        <p:nvSpPr>
          <p:cNvPr id="75" name="Google Shape;75;p65"/>
          <p:cNvSpPr/>
          <p:nvPr/>
        </p:nvSpPr>
        <p:spPr>
          <a:xfrm>
            <a:off x="0" y="1382889"/>
            <a:ext cx="12192000" cy="34431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 name="Google Shape;76;p65"/>
          <p:cNvSpPr txBox="1"/>
          <p:nvPr>
            <p:ph type="title"/>
          </p:nvPr>
        </p:nvSpPr>
        <p:spPr>
          <a:xfrm>
            <a:off x="2325739" y="1382888"/>
            <a:ext cx="7545900" cy="3443100"/>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lt1"/>
              </a:buClr>
              <a:buSzPts val="4000"/>
              <a:buFont typeface="Georgia"/>
              <a:buNone/>
              <a:defRPr b="0" i="1" sz="4000" u="none" cap="none" strike="noStrik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77" name="Google Shape;77;p65"/>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78" name="Shape 78"/>
        <p:cNvGrpSpPr/>
        <p:nvPr/>
      </p:nvGrpSpPr>
      <p:grpSpPr>
        <a:xfrm>
          <a:off x="0" y="0"/>
          <a:ext cx="0" cy="0"/>
          <a:chOff x="0" y="0"/>
          <a:chExt cx="0" cy="0"/>
        </a:xfrm>
      </p:grpSpPr>
      <p:sp>
        <p:nvSpPr>
          <p:cNvPr id="79" name="Google Shape;79;p66"/>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80" name="Shape 80"/>
        <p:cNvGrpSpPr/>
        <p:nvPr/>
      </p:nvGrpSpPr>
      <p:grpSpPr>
        <a:xfrm>
          <a:off x="0" y="0"/>
          <a:ext cx="0" cy="0"/>
          <a:chOff x="0" y="0"/>
          <a:chExt cx="0" cy="0"/>
        </a:xfrm>
      </p:grpSpPr>
      <p:sp>
        <p:nvSpPr>
          <p:cNvPr id="81" name="Google Shape;81;p67"/>
          <p:cNvSpPr txBox="1"/>
          <p:nvPr>
            <p:ph type="title"/>
          </p:nvPr>
        </p:nvSpPr>
        <p:spPr>
          <a:xfrm>
            <a:off x="816851" y="1260636"/>
            <a:ext cx="3454500" cy="480900"/>
          </a:xfrm>
          <a:prstGeom prst="rect">
            <a:avLst/>
          </a:prstGeom>
          <a:noFill/>
          <a:ln>
            <a:noFill/>
          </a:ln>
        </p:spPr>
        <p:txBody>
          <a:bodyPr anchorCtr="0" anchor="t" bIns="45700" lIns="91425" spcFirstLastPara="1" rIns="91425" wrap="square" tIns="45700">
            <a:noAutofit/>
          </a:bodyPr>
          <a:lstStyle>
            <a:lvl1pPr lvl="0" marR="0" algn="l">
              <a:lnSpc>
                <a:spcPct val="80000"/>
              </a:lnSpc>
              <a:spcBef>
                <a:spcPts val="0"/>
              </a:spcBef>
              <a:spcAft>
                <a:spcPts val="0"/>
              </a:spcAft>
              <a:buClr>
                <a:srgbClr val="2FB6E3"/>
              </a:buClr>
              <a:buSzPts val="1600"/>
              <a:buFont typeface="Arial"/>
              <a:buNone/>
              <a:defRPr b="1" i="0" sz="1600" u="none" cap="none" strike="noStrike">
                <a:solidFill>
                  <a:srgbClr val="2FB6E3"/>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82" name="Google Shape;82;p67"/>
          <p:cNvSpPr txBox="1"/>
          <p:nvPr>
            <p:ph idx="1" type="body"/>
          </p:nvPr>
        </p:nvSpPr>
        <p:spPr>
          <a:xfrm>
            <a:off x="4766733" y="1260636"/>
            <a:ext cx="6815700" cy="41193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67"/>
          <p:cNvSpPr txBox="1"/>
          <p:nvPr>
            <p:ph idx="2" type="body"/>
          </p:nvPr>
        </p:nvSpPr>
        <p:spPr>
          <a:xfrm>
            <a:off x="816847" y="1820271"/>
            <a:ext cx="3454500" cy="21897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40"/>
              </a:spcBef>
              <a:spcAft>
                <a:spcPts val="0"/>
              </a:spcAft>
              <a:buClr>
                <a:srgbClr val="343434"/>
              </a:buClr>
              <a:buSzPts val="1200"/>
              <a:buFont typeface="Noto Sans Symbols"/>
              <a:buNone/>
              <a:defRPr b="0" i="0" sz="1200" u="none" cap="none" strike="noStrike">
                <a:solidFill>
                  <a:srgbClr val="343434"/>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4" name="Google Shape;84;p67"/>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rgbClr val="F2F2F2"/>
        </a:solidFill>
      </p:bgPr>
    </p:bg>
    <p:spTree>
      <p:nvGrpSpPr>
        <p:cNvPr id="85" name="Shape 85"/>
        <p:cNvGrpSpPr/>
        <p:nvPr/>
      </p:nvGrpSpPr>
      <p:grpSpPr>
        <a:xfrm>
          <a:off x="0" y="0"/>
          <a:ext cx="0" cy="0"/>
          <a:chOff x="0" y="0"/>
          <a:chExt cx="0" cy="0"/>
        </a:xfrm>
      </p:grpSpPr>
      <p:sp>
        <p:nvSpPr>
          <p:cNvPr id="86" name="Google Shape;86;p68"/>
          <p:cNvSpPr txBox="1"/>
          <p:nvPr/>
        </p:nvSpPr>
        <p:spPr>
          <a:xfrm>
            <a:off x="2657837" y="-727195"/>
            <a:ext cx="6887400" cy="8667000"/>
          </a:xfrm>
          <a:prstGeom prst="rect">
            <a:avLst/>
          </a:prstGeom>
          <a:no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Clr>
                <a:srgbClr val="000000"/>
              </a:buClr>
              <a:buSzPts val="19900"/>
              <a:buFont typeface="Arial"/>
              <a:buNone/>
            </a:pPr>
            <a:r>
              <a:rPr b="0" i="0" lang="en-US" sz="19900" u="none" cap="none" strike="noStrike">
                <a:solidFill>
                  <a:srgbClr val="D8D8D8"/>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19900"/>
              <a:buFont typeface="Arial"/>
              <a:buNone/>
            </a:pPr>
            <a:r>
              <a:rPr b="0" i="0" lang="en-US" sz="19900" u="none" cap="none" strike="noStrike">
                <a:solidFill>
                  <a:srgbClr val="D8D8D8"/>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87" name="Google Shape;87;p68"/>
          <p:cNvSpPr/>
          <p:nvPr/>
        </p:nvSpPr>
        <p:spPr>
          <a:xfrm>
            <a:off x="0" y="1382889"/>
            <a:ext cx="12192000" cy="3443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 name="Google Shape;88;p68"/>
          <p:cNvSpPr txBox="1"/>
          <p:nvPr>
            <p:ph type="title"/>
          </p:nvPr>
        </p:nvSpPr>
        <p:spPr>
          <a:xfrm>
            <a:off x="2325739" y="1382888"/>
            <a:ext cx="7545900" cy="3443100"/>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lt1"/>
              </a:buClr>
              <a:buSzPts val="4000"/>
              <a:buFont typeface="Georgia"/>
              <a:buNone/>
              <a:defRPr b="0" i="1" sz="4000" u="none" cap="none" strike="noStrik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89" name="Google Shape;89;p68"/>
          <p:cNvSpPr txBox="1"/>
          <p:nvPr/>
        </p:nvSpPr>
        <p:spPr>
          <a:xfrm>
            <a:off x="3650073" y="4964499"/>
            <a:ext cx="4816500" cy="27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7F7F7F"/>
                </a:solidFill>
                <a:latin typeface="Calibri"/>
                <a:ea typeface="Calibri"/>
                <a:cs typeface="Calibri"/>
                <a:sym typeface="Calibri"/>
              </a:rPr>
              <a:t>—CLICK TO TYPE ATTRIBUTION</a:t>
            </a:r>
            <a:endParaRPr b="0" i="0" sz="1400" u="none" cap="none" strike="noStrike">
              <a:solidFill>
                <a:srgbClr val="000000"/>
              </a:solidFill>
              <a:latin typeface="Arial"/>
              <a:ea typeface="Arial"/>
              <a:cs typeface="Arial"/>
              <a:sym typeface="Arial"/>
            </a:endParaRPr>
          </a:p>
        </p:txBody>
      </p:sp>
      <p:sp>
        <p:nvSpPr>
          <p:cNvPr id="90" name="Google Shape;90;p68"/>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69"/>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type="twoObj">
  <p:cSld name="TWO_OBJECTS">
    <p:spTree>
      <p:nvGrpSpPr>
        <p:cNvPr id="93" name="Shape 93"/>
        <p:cNvGrpSpPr/>
        <p:nvPr/>
      </p:nvGrpSpPr>
      <p:grpSpPr>
        <a:xfrm>
          <a:off x="0" y="0"/>
          <a:ext cx="0" cy="0"/>
          <a:chOff x="0" y="0"/>
          <a:chExt cx="0" cy="0"/>
        </a:xfrm>
      </p:grpSpPr>
      <p:sp>
        <p:nvSpPr>
          <p:cNvPr id="94" name="Google Shape;94;p70"/>
          <p:cNvSpPr txBox="1"/>
          <p:nvPr>
            <p:ph type="title"/>
          </p:nvPr>
        </p:nvSpPr>
        <p:spPr>
          <a:xfrm>
            <a:off x="609600" y="274638"/>
            <a:ext cx="10972800" cy="1143300"/>
          </a:xfrm>
          <a:prstGeom prst="rect">
            <a:avLst/>
          </a:prstGeom>
          <a:noFill/>
          <a:ln>
            <a:noFill/>
          </a:ln>
        </p:spPr>
        <p:txBody>
          <a:bodyPr anchorCtr="0" anchor="ctr" bIns="91425" lIns="91425" spcFirstLastPara="1" rIns="91425" wrap="square" tIns="91425">
            <a:noAutofit/>
          </a:bodyPr>
          <a:lstStyle>
            <a:lvl1pPr lvl="0" marR="0" algn="ctr">
              <a:lnSpc>
                <a:spcPct val="8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95" name="Google Shape;95;p70"/>
          <p:cNvSpPr txBox="1"/>
          <p:nvPr>
            <p:ph idx="1" type="body"/>
          </p:nvPr>
        </p:nvSpPr>
        <p:spPr>
          <a:xfrm>
            <a:off x="609601" y="1600200"/>
            <a:ext cx="5384700" cy="4526100"/>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100000"/>
              </a:lnSpc>
              <a:spcBef>
                <a:spcPts val="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6" name="Google Shape;96;p70"/>
          <p:cNvSpPr txBox="1"/>
          <p:nvPr>
            <p:ph idx="2" type="body"/>
          </p:nvPr>
        </p:nvSpPr>
        <p:spPr>
          <a:xfrm>
            <a:off x="6197601" y="1600200"/>
            <a:ext cx="5384700" cy="4526100"/>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100000"/>
              </a:lnSpc>
              <a:spcBef>
                <a:spcPts val="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 name="Google Shape;97;p7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No Content">
  <p:cSld name="Title-No Content">
    <p:spTree>
      <p:nvGrpSpPr>
        <p:cNvPr id="98" name="Shape 98"/>
        <p:cNvGrpSpPr/>
        <p:nvPr/>
      </p:nvGrpSpPr>
      <p:grpSpPr>
        <a:xfrm>
          <a:off x="0" y="0"/>
          <a:ext cx="0" cy="0"/>
          <a:chOff x="0" y="0"/>
          <a:chExt cx="0" cy="0"/>
        </a:xfrm>
      </p:grpSpPr>
      <p:sp>
        <p:nvSpPr>
          <p:cNvPr id="99" name="Google Shape;99;p71"/>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00" name="Google Shape;100;p7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1" name="Shape 101"/>
        <p:cNvGrpSpPr/>
        <p:nvPr/>
      </p:nvGrpSpPr>
      <p:grpSpPr>
        <a:xfrm>
          <a:off x="0" y="0"/>
          <a:ext cx="0" cy="0"/>
          <a:chOff x="0" y="0"/>
          <a:chExt cx="0" cy="0"/>
        </a:xfrm>
      </p:grpSpPr>
      <p:sp>
        <p:nvSpPr>
          <p:cNvPr id="102" name="Google Shape;102;p72"/>
          <p:cNvSpPr txBox="1"/>
          <p:nvPr>
            <p:ph type="title"/>
          </p:nvPr>
        </p:nvSpPr>
        <p:spPr>
          <a:xfrm>
            <a:off x="897125" y="4800600"/>
            <a:ext cx="7315200" cy="5667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2000"/>
              <a:buFont typeface="Arial"/>
              <a:buNone/>
              <a:defRPr b="1" i="0" sz="2000" u="none" cap="none" strike="noStrike">
                <a:solidFill>
                  <a:srgbClr val="002856"/>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03" name="Google Shape;103;p72"/>
          <p:cNvSpPr/>
          <p:nvPr>
            <p:ph idx="2" type="pic"/>
          </p:nvPr>
        </p:nvSpPr>
        <p:spPr>
          <a:xfrm>
            <a:off x="897125" y="612775"/>
            <a:ext cx="10529700" cy="4114800"/>
          </a:xfrm>
          <a:prstGeom prst="rect">
            <a:avLst/>
          </a:prstGeom>
          <a:noFill/>
          <a:ln>
            <a:noFill/>
          </a:ln>
        </p:spPr>
      </p:sp>
      <p:sp>
        <p:nvSpPr>
          <p:cNvPr id="104" name="Google Shape;104;p72"/>
          <p:cNvSpPr txBox="1"/>
          <p:nvPr>
            <p:ph idx="1" type="body"/>
          </p:nvPr>
        </p:nvSpPr>
        <p:spPr>
          <a:xfrm>
            <a:off x="897125" y="5367338"/>
            <a:ext cx="7315200" cy="804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8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algn="l">
              <a:lnSpc>
                <a:spcPct val="100000"/>
              </a:lnSpc>
              <a:spcBef>
                <a:spcPts val="200"/>
              </a:spcBef>
              <a:spcAft>
                <a:spcPts val="0"/>
              </a:spcAft>
              <a:buClr>
                <a:schemeClr val="dk1"/>
              </a:buClr>
              <a:buSzPts val="1000"/>
              <a:buFont typeface="Noto Sans Symbols"/>
              <a:buNone/>
              <a:defRPr b="0" i="0" sz="1000" u="none" cap="none" strike="noStrike">
                <a:solidFill>
                  <a:schemeClr val="dk1"/>
                </a:solidFill>
                <a:latin typeface="Arial"/>
                <a:ea typeface="Arial"/>
                <a:cs typeface="Arial"/>
                <a:sym typeface="Arial"/>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05" name="Google Shape;105;p72"/>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3" name="Shape 113"/>
        <p:cNvGrpSpPr/>
        <p:nvPr/>
      </p:nvGrpSpPr>
      <p:grpSpPr>
        <a:xfrm>
          <a:off x="0" y="0"/>
          <a:ext cx="0" cy="0"/>
          <a:chOff x="0" y="0"/>
          <a:chExt cx="0" cy="0"/>
        </a:xfrm>
      </p:grpSpPr>
      <p:sp>
        <p:nvSpPr>
          <p:cNvPr id="114" name="Google Shape;114;p49"/>
          <p:cNvSpPr/>
          <p:nvPr/>
        </p:nvSpPr>
        <p:spPr>
          <a:xfrm>
            <a:off x="1448741" y="0"/>
            <a:ext cx="9144000" cy="6858000"/>
          </a:xfrm>
          <a:prstGeom prst="ellipse">
            <a:avLst/>
          </a:prstGeom>
          <a:gradFill>
            <a:gsLst>
              <a:gs pos="0">
                <a:srgbClr val="FFFFFF"/>
              </a:gs>
              <a:gs pos="100000">
                <a:srgbClr val="FFFFFF">
                  <a:alpha val="0"/>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49"/>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6" name="Google Shape;116;p49"/>
          <p:cNvSpPr txBox="1"/>
          <p:nvPr>
            <p:ph idx="1" type="body"/>
          </p:nvPr>
        </p:nvSpPr>
        <p:spPr>
          <a:xfrm>
            <a:off x="920899" y="1512712"/>
            <a:ext cx="10357500" cy="42747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17" name="Google Shape;117;p49"/>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18" name="Shape 118"/>
        <p:cNvGrpSpPr/>
        <p:nvPr/>
      </p:nvGrpSpPr>
      <p:grpSpPr>
        <a:xfrm>
          <a:off x="0" y="0"/>
          <a:ext cx="0" cy="0"/>
          <a:chOff x="0" y="0"/>
          <a:chExt cx="0" cy="0"/>
        </a:xfrm>
      </p:grpSpPr>
      <p:sp>
        <p:nvSpPr>
          <p:cNvPr id="119" name="Google Shape;119;p73"/>
          <p:cNvSpPr txBox="1"/>
          <p:nvPr>
            <p:ph type="title"/>
          </p:nvPr>
        </p:nvSpPr>
        <p:spPr>
          <a:xfrm>
            <a:off x="816851" y="1260636"/>
            <a:ext cx="3454500" cy="480900"/>
          </a:xfrm>
          <a:prstGeom prst="rect">
            <a:avLst/>
          </a:prstGeom>
          <a:noFill/>
          <a:ln>
            <a:noFill/>
          </a:ln>
        </p:spPr>
        <p:txBody>
          <a:bodyPr anchorCtr="0" anchor="t" bIns="45700" lIns="91425" spcFirstLastPara="1" rIns="91425" wrap="square" tIns="45700">
            <a:noAutofit/>
          </a:bodyPr>
          <a:lstStyle>
            <a:lvl1pPr lvl="0" marR="0" algn="l">
              <a:lnSpc>
                <a:spcPct val="80000"/>
              </a:lnSpc>
              <a:spcBef>
                <a:spcPts val="0"/>
              </a:spcBef>
              <a:spcAft>
                <a:spcPts val="0"/>
              </a:spcAft>
              <a:buClr>
                <a:srgbClr val="2FB6E3"/>
              </a:buClr>
              <a:buSzPts val="1600"/>
              <a:buFont typeface="Arial"/>
              <a:buNone/>
              <a:defRPr b="1" i="0" sz="1600" u="none" cap="none" strike="noStrike">
                <a:solidFill>
                  <a:srgbClr val="2FB6E3"/>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73"/>
          <p:cNvSpPr txBox="1"/>
          <p:nvPr>
            <p:ph idx="1" type="body"/>
          </p:nvPr>
        </p:nvSpPr>
        <p:spPr>
          <a:xfrm>
            <a:off x="4766733" y="1260636"/>
            <a:ext cx="6815700" cy="41193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1" name="Google Shape;121;p73"/>
          <p:cNvSpPr txBox="1"/>
          <p:nvPr>
            <p:ph idx="2" type="body"/>
          </p:nvPr>
        </p:nvSpPr>
        <p:spPr>
          <a:xfrm>
            <a:off x="816847" y="1820271"/>
            <a:ext cx="3454500" cy="21897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40"/>
              </a:spcBef>
              <a:spcAft>
                <a:spcPts val="0"/>
              </a:spcAft>
              <a:buClr>
                <a:srgbClr val="343434"/>
              </a:buClr>
              <a:buSzPts val="1200"/>
              <a:buFont typeface="Noto Sans Symbols"/>
              <a:buNone/>
              <a:defRPr b="0" i="0" sz="1200" u="none" cap="none" strike="noStrike">
                <a:solidFill>
                  <a:srgbClr val="343434"/>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2" name="Google Shape;122;p73"/>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No Content">
  <p:cSld name="Title-No Content">
    <p:spTree>
      <p:nvGrpSpPr>
        <p:cNvPr id="123" name="Shape 123"/>
        <p:cNvGrpSpPr/>
        <p:nvPr/>
      </p:nvGrpSpPr>
      <p:grpSpPr>
        <a:xfrm>
          <a:off x="0" y="0"/>
          <a:ext cx="0" cy="0"/>
          <a:chOff x="0" y="0"/>
          <a:chExt cx="0" cy="0"/>
        </a:xfrm>
      </p:grpSpPr>
      <p:sp>
        <p:nvSpPr>
          <p:cNvPr id="124" name="Google Shape;124;p74"/>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5" name="Google Shape;125;p7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6" name="Shape 126"/>
        <p:cNvGrpSpPr/>
        <p:nvPr/>
      </p:nvGrpSpPr>
      <p:grpSpPr>
        <a:xfrm>
          <a:off x="0" y="0"/>
          <a:ext cx="0" cy="0"/>
          <a:chOff x="0" y="0"/>
          <a:chExt cx="0" cy="0"/>
        </a:xfrm>
      </p:grpSpPr>
      <p:sp>
        <p:nvSpPr>
          <p:cNvPr id="127" name="Google Shape;127;p75"/>
          <p:cNvSpPr txBox="1"/>
          <p:nvPr>
            <p:ph type="title"/>
          </p:nvPr>
        </p:nvSpPr>
        <p:spPr>
          <a:xfrm>
            <a:off x="897125" y="4800600"/>
            <a:ext cx="7315200" cy="5667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2000"/>
              <a:buFont typeface="Arial"/>
              <a:buNone/>
              <a:defRPr b="1" i="0" sz="2000" u="none" cap="none" strike="noStrike">
                <a:solidFill>
                  <a:srgbClr val="002856"/>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 name="Google Shape;128;p75"/>
          <p:cNvSpPr/>
          <p:nvPr>
            <p:ph idx="2" type="pic"/>
          </p:nvPr>
        </p:nvSpPr>
        <p:spPr>
          <a:xfrm>
            <a:off x="897125" y="612775"/>
            <a:ext cx="10529700" cy="4114800"/>
          </a:xfrm>
          <a:prstGeom prst="rect">
            <a:avLst/>
          </a:prstGeom>
          <a:noFill/>
          <a:ln>
            <a:noFill/>
          </a:ln>
        </p:spPr>
      </p:sp>
      <p:sp>
        <p:nvSpPr>
          <p:cNvPr id="129" name="Google Shape;129;p75"/>
          <p:cNvSpPr txBox="1"/>
          <p:nvPr>
            <p:ph idx="1" type="body"/>
          </p:nvPr>
        </p:nvSpPr>
        <p:spPr>
          <a:xfrm>
            <a:off x="897125" y="5367338"/>
            <a:ext cx="7315200" cy="804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8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algn="l">
              <a:lnSpc>
                <a:spcPct val="100000"/>
              </a:lnSpc>
              <a:spcBef>
                <a:spcPts val="200"/>
              </a:spcBef>
              <a:spcAft>
                <a:spcPts val="0"/>
              </a:spcAft>
              <a:buClr>
                <a:schemeClr val="dk1"/>
              </a:buClr>
              <a:buSzPts val="1000"/>
              <a:buFont typeface="Noto Sans Symbols"/>
              <a:buNone/>
              <a:defRPr b="0" i="0" sz="1000" u="none" cap="none" strike="noStrike">
                <a:solidFill>
                  <a:schemeClr val="dk1"/>
                </a:solidFill>
                <a:latin typeface="Arial"/>
                <a:ea typeface="Arial"/>
                <a:cs typeface="Arial"/>
                <a:sym typeface="Arial"/>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30" name="Google Shape;130;p75"/>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31" name="Shape 131"/>
        <p:cNvGrpSpPr/>
        <p:nvPr/>
      </p:nvGrpSpPr>
      <p:grpSpPr>
        <a:xfrm>
          <a:off x="0" y="0"/>
          <a:ext cx="0" cy="0"/>
          <a:chOff x="0" y="0"/>
          <a:chExt cx="0" cy="0"/>
        </a:xfrm>
      </p:grpSpPr>
      <p:sp>
        <p:nvSpPr>
          <p:cNvPr id="132" name="Google Shape;132;p76"/>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1" name="Shape 141"/>
        <p:cNvGrpSpPr/>
        <p:nvPr/>
      </p:nvGrpSpPr>
      <p:grpSpPr>
        <a:xfrm>
          <a:off x="0" y="0"/>
          <a:ext cx="0" cy="0"/>
          <a:chOff x="0" y="0"/>
          <a:chExt cx="0" cy="0"/>
        </a:xfrm>
      </p:grpSpPr>
      <p:sp>
        <p:nvSpPr>
          <p:cNvPr id="142" name="Google Shape;142;p54"/>
          <p:cNvSpPr/>
          <p:nvPr/>
        </p:nvSpPr>
        <p:spPr>
          <a:xfrm>
            <a:off x="1448741" y="0"/>
            <a:ext cx="9144000" cy="6858000"/>
          </a:xfrm>
          <a:prstGeom prst="ellipse">
            <a:avLst/>
          </a:prstGeom>
          <a:gradFill>
            <a:gsLst>
              <a:gs pos="0">
                <a:srgbClr val="FFFFFF"/>
              </a:gs>
              <a:gs pos="100000">
                <a:srgbClr val="FFFFFF">
                  <a:alpha val="0"/>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54"/>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4" name="Google Shape;144;p54"/>
          <p:cNvSpPr txBox="1"/>
          <p:nvPr>
            <p:ph idx="1" type="body"/>
          </p:nvPr>
        </p:nvSpPr>
        <p:spPr>
          <a:xfrm>
            <a:off x="920899" y="1512712"/>
            <a:ext cx="10357500" cy="42747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5" name="Google Shape;145;p5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146" name="Shape 146"/>
        <p:cNvGrpSpPr/>
        <p:nvPr/>
      </p:nvGrpSpPr>
      <p:grpSpPr>
        <a:xfrm>
          <a:off x="0" y="0"/>
          <a:ext cx="0" cy="0"/>
          <a:chOff x="0" y="0"/>
          <a:chExt cx="0" cy="0"/>
        </a:xfrm>
      </p:grpSpPr>
      <p:sp>
        <p:nvSpPr>
          <p:cNvPr id="147" name="Google Shape;147;p59"/>
          <p:cNvSpPr txBox="1"/>
          <p:nvPr>
            <p:ph type="title"/>
          </p:nvPr>
        </p:nvSpPr>
        <p:spPr>
          <a:xfrm>
            <a:off x="816851" y="1260636"/>
            <a:ext cx="3454500" cy="480900"/>
          </a:xfrm>
          <a:prstGeom prst="rect">
            <a:avLst/>
          </a:prstGeom>
          <a:noFill/>
          <a:ln>
            <a:noFill/>
          </a:ln>
        </p:spPr>
        <p:txBody>
          <a:bodyPr anchorCtr="0" anchor="t" bIns="45700" lIns="91425" spcFirstLastPara="1" rIns="91425" wrap="square" tIns="45700">
            <a:noAutofit/>
          </a:bodyPr>
          <a:lstStyle>
            <a:lvl1pPr lvl="0" marR="0" algn="l">
              <a:lnSpc>
                <a:spcPct val="80000"/>
              </a:lnSpc>
              <a:spcBef>
                <a:spcPts val="0"/>
              </a:spcBef>
              <a:spcAft>
                <a:spcPts val="0"/>
              </a:spcAft>
              <a:buClr>
                <a:srgbClr val="2FB6E3"/>
              </a:buClr>
              <a:buSzPts val="1600"/>
              <a:buFont typeface="Arial"/>
              <a:buNone/>
              <a:defRPr b="1" i="0" sz="1600" u="none" cap="none" strike="noStrike">
                <a:solidFill>
                  <a:srgbClr val="2FB6E3"/>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8" name="Google Shape;148;p59"/>
          <p:cNvSpPr txBox="1"/>
          <p:nvPr>
            <p:ph idx="1" type="body"/>
          </p:nvPr>
        </p:nvSpPr>
        <p:spPr>
          <a:xfrm>
            <a:off x="4766733" y="1260636"/>
            <a:ext cx="6815700" cy="4119300"/>
          </a:xfrm>
          <a:prstGeom prst="rect">
            <a:avLst/>
          </a:prstGeom>
          <a:noFill/>
          <a:ln>
            <a:noFill/>
          </a:ln>
        </p:spPr>
        <p:txBody>
          <a:bodyPr anchorCtr="0" anchor="t" bIns="45700" lIns="91425" spcFirstLastPara="1" rIns="91425" wrap="square" tIns="45700">
            <a:noAutofit/>
          </a:bodyPr>
          <a:lstStyle>
            <a:lvl1pPr indent="-431800" lvl="0" marL="457200" marR="0" algn="l">
              <a:lnSpc>
                <a:spcPct val="100000"/>
              </a:lnSpc>
              <a:spcBef>
                <a:spcPts val="640"/>
              </a:spcBef>
              <a:spcAft>
                <a:spcPts val="0"/>
              </a:spcAft>
              <a:buClr>
                <a:schemeClr val="dk1"/>
              </a:buClr>
              <a:buSzPts val="3200"/>
              <a:buFont typeface="Noto Sans Symbols"/>
              <a:buChar char="▪"/>
              <a:defRPr b="0" i="0" sz="3200" u="none" cap="none" strike="noStrike">
                <a:solidFill>
                  <a:schemeClr val="dk1"/>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9" name="Google Shape;149;p59"/>
          <p:cNvSpPr txBox="1"/>
          <p:nvPr>
            <p:ph idx="2" type="body"/>
          </p:nvPr>
        </p:nvSpPr>
        <p:spPr>
          <a:xfrm>
            <a:off x="816847" y="1820271"/>
            <a:ext cx="3454500" cy="21897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40"/>
              </a:spcBef>
              <a:spcAft>
                <a:spcPts val="0"/>
              </a:spcAft>
              <a:buClr>
                <a:srgbClr val="343434"/>
              </a:buClr>
              <a:buSzPts val="1200"/>
              <a:buFont typeface="Noto Sans Symbols"/>
              <a:buNone/>
              <a:defRPr b="0" i="0" sz="1200" u="none" cap="none" strike="noStrike">
                <a:solidFill>
                  <a:srgbClr val="343434"/>
                </a:solidFill>
                <a:latin typeface="Arial"/>
                <a:ea typeface="Arial"/>
                <a:cs typeface="Arial"/>
                <a:sym typeface="Arial"/>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0" name="Google Shape;150;p59"/>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No Content">
  <p:cSld name="Title-No Content">
    <p:spTree>
      <p:nvGrpSpPr>
        <p:cNvPr id="151" name="Shape 151"/>
        <p:cNvGrpSpPr/>
        <p:nvPr/>
      </p:nvGrpSpPr>
      <p:grpSpPr>
        <a:xfrm>
          <a:off x="0" y="0"/>
          <a:ext cx="0" cy="0"/>
          <a:chOff x="0" y="0"/>
          <a:chExt cx="0" cy="0"/>
        </a:xfrm>
      </p:grpSpPr>
      <p:sp>
        <p:nvSpPr>
          <p:cNvPr id="152" name="Google Shape;152;p60"/>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3" name="Google Shape;153;p6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p61"/>
          <p:cNvSpPr txBox="1"/>
          <p:nvPr>
            <p:ph type="title"/>
          </p:nvPr>
        </p:nvSpPr>
        <p:spPr>
          <a:xfrm>
            <a:off x="897125" y="4800600"/>
            <a:ext cx="7315200" cy="566700"/>
          </a:xfrm>
          <a:prstGeom prst="rect">
            <a:avLst/>
          </a:prstGeom>
          <a:noFill/>
          <a:ln>
            <a:noFill/>
          </a:ln>
        </p:spPr>
        <p:txBody>
          <a:bodyPr anchorCtr="0" anchor="b" bIns="45700" lIns="91425" spcFirstLastPara="1" rIns="91425" wrap="square" tIns="45700">
            <a:noAutofit/>
          </a:bodyPr>
          <a:lstStyle>
            <a:lvl1pPr lvl="0" marR="0" algn="l">
              <a:lnSpc>
                <a:spcPct val="80000"/>
              </a:lnSpc>
              <a:spcBef>
                <a:spcPts val="0"/>
              </a:spcBef>
              <a:spcAft>
                <a:spcPts val="0"/>
              </a:spcAft>
              <a:buClr>
                <a:srgbClr val="002856"/>
              </a:buClr>
              <a:buSzPts val="2000"/>
              <a:buFont typeface="Arial"/>
              <a:buNone/>
              <a:defRPr b="1" i="0" sz="2000" u="none" cap="none" strike="noStrike">
                <a:solidFill>
                  <a:srgbClr val="002856"/>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61"/>
          <p:cNvSpPr/>
          <p:nvPr>
            <p:ph idx="2" type="pic"/>
          </p:nvPr>
        </p:nvSpPr>
        <p:spPr>
          <a:xfrm>
            <a:off x="897125" y="612775"/>
            <a:ext cx="10529700" cy="4114800"/>
          </a:xfrm>
          <a:prstGeom prst="rect">
            <a:avLst/>
          </a:prstGeom>
          <a:noFill/>
          <a:ln>
            <a:noFill/>
          </a:ln>
        </p:spPr>
      </p:sp>
      <p:sp>
        <p:nvSpPr>
          <p:cNvPr id="157" name="Google Shape;157;p61"/>
          <p:cNvSpPr txBox="1"/>
          <p:nvPr>
            <p:ph idx="1" type="body"/>
          </p:nvPr>
        </p:nvSpPr>
        <p:spPr>
          <a:xfrm>
            <a:off x="897125" y="5367338"/>
            <a:ext cx="7315200" cy="804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280"/>
              </a:spcBef>
              <a:spcAft>
                <a:spcPts val="0"/>
              </a:spcAft>
              <a:buClr>
                <a:schemeClr val="dk1"/>
              </a:buClr>
              <a:buSzPts val="1400"/>
              <a:buFont typeface="Noto Sans Symbols"/>
              <a:buNone/>
              <a:defRPr b="0" i="0" sz="1400" u="none" cap="none" strike="noStrike">
                <a:solidFill>
                  <a:schemeClr val="dk1"/>
                </a:solidFill>
                <a:latin typeface="Arial"/>
                <a:ea typeface="Arial"/>
                <a:cs typeface="Arial"/>
                <a:sym typeface="Arial"/>
              </a:defRPr>
            </a:lvl1pPr>
            <a:lvl2pPr indent="-228600" lvl="1" marL="914400" marR="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algn="l">
              <a:lnSpc>
                <a:spcPct val="100000"/>
              </a:lnSpc>
              <a:spcBef>
                <a:spcPts val="200"/>
              </a:spcBef>
              <a:spcAft>
                <a:spcPts val="0"/>
              </a:spcAft>
              <a:buClr>
                <a:schemeClr val="dk1"/>
              </a:buClr>
              <a:buSzPts val="1000"/>
              <a:buFont typeface="Noto Sans Symbols"/>
              <a:buNone/>
              <a:defRPr b="0" i="0" sz="1000" u="none" cap="none" strike="noStrike">
                <a:solidFill>
                  <a:schemeClr val="dk1"/>
                </a:solidFill>
                <a:latin typeface="Arial"/>
                <a:ea typeface="Arial"/>
                <a:cs typeface="Arial"/>
                <a:sym typeface="Arial"/>
              </a:defRPr>
            </a:lvl3pPr>
            <a:lvl4pPr indent="-228600" lvl="3" marL="1828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58" name="Google Shape;158;p6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59" name="Shape 159"/>
        <p:cNvGrpSpPr/>
        <p:nvPr/>
      </p:nvGrpSpPr>
      <p:grpSpPr>
        <a:xfrm>
          <a:off x="0" y="0"/>
          <a:ext cx="0" cy="0"/>
          <a:chOff x="0" y="0"/>
          <a:chExt cx="0" cy="0"/>
        </a:xfrm>
      </p:grpSpPr>
      <p:sp>
        <p:nvSpPr>
          <p:cNvPr id="160" name="Google Shape;160;p62"/>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1" name="Shape 161"/>
        <p:cNvGrpSpPr/>
        <p:nvPr/>
      </p:nvGrpSpPr>
      <p:grpSpPr>
        <a:xfrm>
          <a:off x="0" y="0"/>
          <a:ext cx="0" cy="0"/>
          <a:chOff x="0" y="0"/>
          <a:chExt cx="0" cy="0"/>
        </a:xfrm>
      </p:grpSpPr>
      <p:sp>
        <p:nvSpPr>
          <p:cNvPr id="162" name="Google Shape;162;p63"/>
          <p:cNvSpPr/>
          <p:nvPr/>
        </p:nvSpPr>
        <p:spPr>
          <a:xfrm>
            <a:off x="-100" y="6727600"/>
            <a:ext cx="12192000" cy="1304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163" name="Google Shape;163;p63"/>
          <p:cNvSpPr txBox="1"/>
          <p:nvPr>
            <p:ph type="title"/>
          </p:nvPr>
        </p:nvSpPr>
        <p:spPr>
          <a:xfrm>
            <a:off x="415600" y="593367"/>
            <a:ext cx="11360800" cy="94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64" name="Google Shape;164;p63"/>
          <p:cNvSpPr txBox="1"/>
          <p:nvPr>
            <p:ph idx="1" type="body"/>
          </p:nvPr>
        </p:nvSpPr>
        <p:spPr>
          <a:xfrm>
            <a:off x="415600" y="1688433"/>
            <a:ext cx="11360800" cy="44036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2133"/>
              </a:spcBef>
              <a:spcAft>
                <a:spcPts val="0"/>
              </a:spcAft>
              <a:buSzPts val="1400"/>
              <a:buChar char="○"/>
              <a:defRPr/>
            </a:lvl2pPr>
            <a:lvl3pPr indent="-317500" lvl="2" marL="1371600" algn="l">
              <a:lnSpc>
                <a:spcPct val="115000"/>
              </a:lnSpc>
              <a:spcBef>
                <a:spcPts val="2133"/>
              </a:spcBef>
              <a:spcAft>
                <a:spcPts val="0"/>
              </a:spcAft>
              <a:buSzPts val="1400"/>
              <a:buChar char="■"/>
              <a:defRPr/>
            </a:lvl3pPr>
            <a:lvl4pPr indent="-317500" lvl="3" marL="1828800" algn="l">
              <a:lnSpc>
                <a:spcPct val="115000"/>
              </a:lnSpc>
              <a:spcBef>
                <a:spcPts val="2133"/>
              </a:spcBef>
              <a:spcAft>
                <a:spcPts val="0"/>
              </a:spcAft>
              <a:buSzPts val="1400"/>
              <a:buChar char="●"/>
              <a:defRPr/>
            </a:lvl4pPr>
            <a:lvl5pPr indent="-317500" lvl="4" marL="2286000" algn="l">
              <a:lnSpc>
                <a:spcPct val="115000"/>
              </a:lnSpc>
              <a:spcBef>
                <a:spcPts val="2133"/>
              </a:spcBef>
              <a:spcAft>
                <a:spcPts val="0"/>
              </a:spcAft>
              <a:buSzPts val="1400"/>
              <a:buChar char="○"/>
              <a:defRPr/>
            </a:lvl5pPr>
            <a:lvl6pPr indent="-317500" lvl="5" marL="2743200" algn="l">
              <a:lnSpc>
                <a:spcPct val="115000"/>
              </a:lnSpc>
              <a:spcBef>
                <a:spcPts val="2133"/>
              </a:spcBef>
              <a:spcAft>
                <a:spcPts val="0"/>
              </a:spcAft>
              <a:buSzPts val="1400"/>
              <a:buChar char="■"/>
              <a:defRPr/>
            </a:lvl6pPr>
            <a:lvl7pPr indent="-317500" lvl="6" marL="3200400" algn="l">
              <a:lnSpc>
                <a:spcPct val="115000"/>
              </a:lnSpc>
              <a:spcBef>
                <a:spcPts val="2133"/>
              </a:spcBef>
              <a:spcAft>
                <a:spcPts val="0"/>
              </a:spcAft>
              <a:buSzPts val="1400"/>
              <a:buChar char="●"/>
              <a:defRPr/>
            </a:lvl7pPr>
            <a:lvl8pPr indent="-317500" lvl="7" marL="3657600" algn="l">
              <a:lnSpc>
                <a:spcPct val="115000"/>
              </a:lnSpc>
              <a:spcBef>
                <a:spcPts val="2133"/>
              </a:spcBef>
              <a:spcAft>
                <a:spcPts val="0"/>
              </a:spcAft>
              <a:buSzPts val="1400"/>
              <a:buChar char="○"/>
              <a:defRPr/>
            </a:lvl8pPr>
            <a:lvl9pPr indent="-317500" lvl="8" marL="4114800" algn="l">
              <a:lnSpc>
                <a:spcPct val="115000"/>
              </a:lnSpc>
              <a:spcBef>
                <a:spcPts val="2133"/>
              </a:spcBef>
              <a:spcAft>
                <a:spcPts val="2133"/>
              </a:spcAft>
              <a:buSzPts val="1400"/>
              <a:buChar char="■"/>
              <a:defRPr/>
            </a:lvl9pPr>
          </a:lstStyle>
          <a:p/>
        </p:txBody>
      </p:sp>
      <p:sp>
        <p:nvSpPr>
          <p:cNvPr id="165" name="Google Shape;165;p6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4" Type="http://schemas.openxmlformats.org/officeDocument/2006/relationships/theme" Target="../theme/theme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2.xml"/><Relationship Id="rId12" Type="http://schemas.openxmlformats.org/officeDocument/2006/relationships/slideLayout" Target="../slideLayouts/slideLayout20.xml"/><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0" Type="http://schemas.openxmlformats.org/officeDocument/2006/relationships/theme" Target="../theme/theme3.xml"/><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image" Target="../media/image1.jpg"/><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 name="Shape 9"/>
        <p:cNvGrpSpPr/>
        <p:nvPr/>
      </p:nvGrpSpPr>
      <p:grpSpPr>
        <a:xfrm>
          <a:off x="0" y="0"/>
          <a:ext cx="0" cy="0"/>
          <a:chOff x="0" y="0"/>
          <a:chExt cx="0" cy="0"/>
        </a:xfrm>
      </p:grpSpPr>
      <p:pic>
        <p:nvPicPr>
          <p:cNvPr id="10" name="Google Shape;10;p42"/>
          <p:cNvPicPr preferRelativeResize="0"/>
          <p:nvPr/>
        </p:nvPicPr>
        <p:blipFill rotWithShape="1">
          <a:blip r:embed="rId1">
            <a:alphaModFix/>
          </a:blip>
          <a:srcRect b="0" l="0" r="0" t="0"/>
          <a:stretch/>
        </p:blipFill>
        <p:spPr>
          <a:xfrm>
            <a:off x="1588" y="1588"/>
            <a:ext cx="1588" cy="1588"/>
          </a:xfrm>
          <a:prstGeom prst="rect">
            <a:avLst/>
          </a:prstGeom>
          <a:noFill/>
          <a:ln>
            <a:noFill/>
          </a:ln>
        </p:spPr>
      </p:pic>
      <p:sp>
        <p:nvSpPr>
          <p:cNvPr id="11" name="Google Shape;11;p42"/>
          <p:cNvSpPr/>
          <p:nvPr/>
        </p:nvSpPr>
        <p:spPr>
          <a:xfrm>
            <a:off x="0" y="6238766"/>
            <a:ext cx="12192000" cy="61923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 name="Google Shape;12;p42"/>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3" name="Google Shape;13;p42"/>
          <p:cNvSpPr txBox="1"/>
          <p:nvPr>
            <p:ph type="title"/>
          </p:nvPr>
        </p:nvSpPr>
        <p:spPr>
          <a:xfrm>
            <a:off x="920899" y="752646"/>
            <a:ext cx="9844455" cy="517355"/>
          </a:xfrm>
          <a:prstGeom prst="rect">
            <a:avLst/>
          </a:prstGeom>
          <a:noFill/>
          <a:ln>
            <a:noFill/>
          </a:ln>
        </p:spPr>
        <p:txBody>
          <a:bodyPr anchorCtr="0" anchor="b" bIns="45700" lIns="91425" spcFirstLastPara="1" rIns="91425" wrap="square" tIns="45700">
            <a:noAutofit/>
          </a:bodyPr>
          <a:lstStyle>
            <a:lvl1pPr lvl="0" marR="0" rtl="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4" name="Google Shape;14;p42"/>
          <p:cNvPicPr preferRelativeResize="0"/>
          <p:nvPr/>
        </p:nvPicPr>
        <p:blipFill rotWithShape="1">
          <a:blip r:embed="rId2">
            <a:alphaModFix/>
          </a:blip>
          <a:srcRect b="0" l="0" r="0" t="0"/>
          <a:stretch/>
        </p:blipFill>
        <p:spPr>
          <a:xfrm>
            <a:off x="9868897" y="6272369"/>
            <a:ext cx="2189157" cy="510804"/>
          </a:xfrm>
          <a:prstGeom prst="rect">
            <a:avLst/>
          </a:prstGeom>
          <a:noFill/>
          <a:ln>
            <a:noFill/>
          </a:ln>
        </p:spPr>
      </p:pic>
      <p:sp>
        <p:nvSpPr>
          <p:cNvPr id="15" name="Google Shape;15;p42"/>
          <p:cNvSpPr txBox="1"/>
          <p:nvPr>
            <p:ph idx="1" type="body"/>
          </p:nvPr>
        </p:nvSpPr>
        <p:spPr>
          <a:xfrm>
            <a:off x="920899" y="1526762"/>
            <a:ext cx="9844455" cy="3550055"/>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16" name="Google Shape;16;p42"/>
          <p:cNvPicPr preferRelativeResize="0"/>
          <p:nvPr/>
        </p:nvPicPr>
        <p:blipFill rotWithShape="1">
          <a:blip r:embed="rId3">
            <a:alphaModFix/>
          </a:blip>
          <a:srcRect b="0" l="0" r="0" t="0"/>
          <a:stretch/>
        </p:blipFill>
        <p:spPr>
          <a:xfrm>
            <a:off x="202365" y="6299171"/>
            <a:ext cx="1645920" cy="4572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58" name="Shape 58"/>
        <p:cNvGrpSpPr/>
        <p:nvPr/>
      </p:nvGrpSpPr>
      <p:grpSpPr>
        <a:xfrm>
          <a:off x="0" y="0"/>
          <a:ext cx="0" cy="0"/>
          <a:chOff x="0" y="0"/>
          <a:chExt cx="0" cy="0"/>
        </a:xfrm>
      </p:grpSpPr>
      <p:sp>
        <p:nvSpPr>
          <p:cNvPr id="59" name="Google Shape;59;p44"/>
          <p:cNvSpPr/>
          <p:nvPr/>
        </p:nvSpPr>
        <p:spPr>
          <a:xfrm>
            <a:off x="0" y="6238766"/>
            <a:ext cx="12192000" cy="61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 name="Google Shape;60;p4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44"/>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rtl="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62" name="Google Shape;62;p44"/>
          <p:cNvPicPr preferRelativeResize="0"/>
          <p:nvPr/>
        </p:nvPicPr>
        <p:blipFill rotWithShape="1">
          <a:blip r:embed="rId1">
            <a:alphaModFix/>
          </a:blip>
          <a:srcRect b="0" l="0" r="0" t="0"/>
          <a:stretch/>
        </p:blipFill>
        <p:spPr>
          <a:xfrm>
            <a:off x="9868897" y="6272369"/>
            <a:ext cx="2189157" cy="510804"/>
          </a:xfrm>
          <a:prstGeom prst="rect">
            <a:avLst/>
          </a:prstGeom>
          <a:noFill/>
          <a:ln>
            <a:noFill/>
          </a:ln>
        </p:spPr>
      </p:pic>
      <p:sp>
        <p:nvSpPr>
          <p:cNvPr id="63" name="Google Shape;63;p44"/>
          <p:cNvSpPr txBox="1"/>
          <p:nvPr>
            <p:ph idx="1" type="body"/>
          </p:nvPr>
        </p:nvSpPr>
        <p:spPr>
          <a:xfrm>
            <a:off x="920899" y="1526762"/>
            <a:ext cx="9844500" cy="3550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64" name="Google Shape;64;p44"/>
          <p:cNvPicPr preferRelativeResize="0"/>
          <p:nvPr/>
        </p:nvPicPr>
        <p:blipFill rotWithShape="1">
          <a:blip r:embed="rId2">
            <a:alphaModFix/>
          </a:blip>
          <a:srcRect b="0" l="0" r="0" t="0"/>
          <a:stretch/>
        </p:blipFill>
        <p:spPr>
          <a:xfrm>
            <a:off x="202365" y="6299171"/>
            <a:ext cx="1645920" cy="4572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06" name="Shape 106"/>
        <p:cNvGrpSpPr/>
        <p:nvPr/>
      </p:nvGrpSpPr>
      <p:grpSpPr>
        <a:xfrm>
          <a:off x="0" y="0"/>
          <a:ext cx="0" cy="0"/>
          <a:chOff x="0" y="0"/>
          <a:chExt cx="0" cy="0"/>
        </a:xfrm>
      </p:grpSpPr>
      <p:sp>
        <p:nvSpPr>
          <p:cNvPr id="107" name="Google Shape;107;p48"/>
          <p:cNvSpPr/>
          <p:nvPr/>
        </p:nvSpPr>
        <p:spPr>
          <a:xfrm>
            <a:off x="0" y="6238766"/>
            <a:ext cx="12192000" cy="61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 name="Google Shape;108;p48"/>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09" name="Google Shape;109;p48"/>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rtl="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10" name="Google Shape;110;p48"/>
          <p:cNvPicPr preferRelativeResize="0"/>
          <p:nvPr/>
        </p:nvPicPr>
        <p:blipFill rotWithShape="1">
          <a:blip r:embed="rId1">
            <a:alphaModFix/>
          </a:blip>
          <a:srcRect b="0" l="0" r="0" t="0"/>
          <a:stretch/>
        </p:blipFill>
        <p:spPr>
          <a:xfrm>
            <a:off x="9868897" y="6272369"/>
            <a:ext cx="2189157" cy="510804"/>
          </a:xfrm>
          <a:prstGeom prst="rect">
            <a:avLst/>
          </a:prstGeom>
          <a:noFill/>
          <a:ln>
            <a:noFill/>
          </a:ln>
        </p:spPr>
      </p:pic>
      <p:sp>
        <p:nvSpPr>
          <p:cNvPr id="111" name="Google Shape;111;p48"/>
          <p:cNvSpPr txBox="1"/>
          <p:nvPr>
            <p:ph idx="1" type="body"/>
          </p:nvPr>
        </p:nvSpPr>
        <p:spPr>
          <a:xfrm>
            <a:off x="920899" y="1526762"/>
            <a:ext cx="9844500" cy="3550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112" name="Google Shape;112;p48"/>
          <p:cNvPicPr preferRelativeResize="0"/>
          <p:nvPr/>
        </p:nvPicPr>
        <p:blipFill rotWithShape="1">
          <a:blip r:embed="rId2">
            <a:alphaModFix/>
          </a:blip>
          <a:srcRect b="0" l="0" r="0" t="0"/>
          <a:stretch/>
        </p:blipFill>
        <p:spPr>
          <a:xfrm>
            <a:off x="202365" y="6299171"/>
            <a:ext cx="1645920" cy="4572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1" r:id="rId3"/>
    <p:sldLayoutId id="2147483672" r:id="rId4"/>
    <p:sldLayoutId id="2147483673" r:id="rId5"/>
    <p:sldLayoutId id="2147483674" r:id="rId6"/>
    <p:sldLayoutId id="2147483675"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33" name="Shape 133"/>
        <p:cNvGrpSpPr/>
        <p:nvPr/>
      </p:nvGrpSpPr>
      <p:grpSpPr>
        <a:xfrm>
          <a:off x="0" y="0"/>
          <a:ext cx="0" cy="0"/>
          <a:chOff x="0" y="0"/>
          <a:chExt cx="0" cy="0"/>
        </a:xfrm>
      </p:grpSpPr>
      <p:pic>
        <p:nvPicPr>
          <p:cNvPr id="134" name="Google Shape;134;p53"/>
          <p:cNvPicPr preferRelativeResize="0"/>
          <p:nvPr/>
        </p:nvPicPr>
        <p:blipFill rotWithShape="1">
          <a:blip r:embed="rId1">
            <a:alphaModFix/>
          </a:blip>
          <a:srcRect b="0" l="0" r="0" t="0"/>
          <a:stretch/>
        </p:blipFill>
        <p:spPr>
          <a:xfrm>
            <a:off x="1588" y="1588"/>
            <a:ext cx="1588" cy="1588"/>
          </a:xfrm>
          <a:prstGeom prst="rect">
            <a:avLst/>
          </a:prstGeom>
          <a:noFill/>
          <a:ln>
            <a:noFill/>
          </a:ln>
        </p:spPr>
      </p:pic>
      <p:sp>
        <p:nvSpPr>
          <p:cNvPr id="135" name="Google Shape;135;p53"/>
          <p:cNvSpPr/>
          <p:nvPr/>
        </p:nvSpPr>
        <p:spPr>
          <a:xfrm>
            <a:off x="0" y="6238766"/>
            <a:ext cx="12192000" cy="619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53"/>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37" name="Google Shape;137;p53"/>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lvl1pPr lvl="0" marR="0" rtl="0" algn="l">
              <a:lnSpc>
                <a:spcPct val="80000"/>
              </a:lnSpc>
              <a:spcBef>
                <a:spcPts val="0"/>
              </a:spcBef>
              <a:spcAft>
                <a:spcPts val="0"/>
              </a:spcAft>
              <a:buClr>
                <a:srgbClr val="002856"/>
              </a:buClr>
              <a:buSzPts val="3600"/>
              <a:buFont typeface="Arial"/>
              <a:buNone/>
              <a:defRPr b="1" i="0" sz="3600" u="none" cap="none" strike="noStrike">
                <a:solidFill>
                  <a:srgbClr val="00285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38" name="Google Shape;138;p53"/>
          <p:cNvPicPr preferRelativeResize="0"/>
          <p:nvPr/>
        </p:nvPicPr>
        <p:blipFill rotWithShape="1">
          <a:blip r:embed="rId2">
            <a:alphaModFix/>
          </a:blip>
          <a:srcRect b="0" l="0" r="0" t="0"/>
          <a:stretch/>
        </p:blipFill>
        <p:spPr>
          <a:xfrm>
            <a:off x="9868897" y="6272369"/>
            <a:ext cx="2189157" cy="510804"/>
          </a:xfrm>
          <a:prstGeom prst="rect">
            <a:avLst/>
          </a:prstGeom>
          <a:noFill/>
          <a:ln>
            <a:noFill/>
          </a:ln>
        </p:spPr>
      </p:pic>
      <p:sp>
        <p:nvSpPr>
          <p:cNvPr id="139" name="Google Shape;139;p53"/>
          <p:cNvSpPr txBox="1"/>
          <p:nvPr>
            <p:ph idx="1" type="body"/>
          </p:nvPr>
        </p:nvSpPr>
        <p:spPr>
          <a:xfrm>
            <a:off x="920899" y="1526762"/>
            <a:ext cx="9844500" cy="3550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140" name="Google Shape;140;p53"/>
          <p:cNvPicPr preferRelativeResize="0"/>
          <p:nvPr/>
        </p:nvPicPr>
        <p:blipFill rotWithShape="1">
          <a:blip r:embed="rId3">
            <a:alphaModFix/>
          </a:blip>
          <a:srcRect b="0" l="0" r="0" t="0"/>
          <a:stretch/>
        </p:blipFill>
        <p:spPr>
          <a:xfrm>
            <a:off x="202365" y="6299171"/>
            <a:ext cx="1645920" cy="4572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7" r:id="rId4"/>
    <p:sldLayoutId id="2147483678" r:id="rId5"/>
    <p:sldLayoutId id="2147483679" r:id="rId6"/>
    <p:sldLayoutId id="2147483680" r:id="rId7"/>
    <p:sldLayoutId id="2147483681" r:id="rId8"/>
    <p:sldLayoutId id="2147483682"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https://ross.campusgroups.com/marketingclub/rsvp_boot?id=1837171" TargetMode="External"/><Relationship Id="rId4" Type="http://schemas.openxmlformats.org/officeDocument/2006/relationships/image" Target="../media/image19.png"/><Relationship Id="rId9" Type="http://schemas.openxmlformats.org/officeDocument/2006/relationships/image" Target="../media/image22.png"/><Relationship Id="rId5" Type="http://schemas.openxmlformats.org/officeDocument/2006/relationships/image" Target="../media/image14.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4.png"/><Relationship Id="rId7" Type="http://schemas.openxmlformats.org/officeDocument/2006/relationships/image" Target="../media/image13.png"/><Relationship Id="rId8"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1" Type="http://schemas.openxmlformats.org/officeDocument/2006/relationships/hyperlink" Target="https://www.amazon.com/Marketing-Interview-Answers-Toughest-Questions-ebook/dp/B07WDYVBK3/ref=sr_1_1?dchild=1&amp;keywords=lewis+lin+rise+above+the+noise&amp;qid=1589933589&amp;sr=8-1" TargetMode="External"/><Relationship Id="rId10" Type="http://schemas.openxmlformats.org/officeDocument/2006/relationships/hyperlink" Target="http://elc-columbia.weebly.com/uploads/3/9/7/2/39724566/marketing_size_case.pdf" TargetMode="External"/><Relationship Id="rId13" Type="http://schemas.openxmlformats.org/officeDocument/2006/relationships/hyperlink" Target="http://elc-columbia.weebly.com/uploads/3/9/7/2/39724566/marketing_size_case.pdf" TargetMode="External"/><Relationship Id="rId12" Type="http://schemas.openxmlformats.org/officeDocument/2006/relationships/hyperlink" Target="http://elc-columbia.weebly.com/uploads/3/9/7/2/39724566/marketing_size_case.pdf" TargetMode="External"/><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hyperlink" Target="https://sites.google.com/umich.edu/rosscareerdevelopmentoffice/recruiting-prep/interview-preparation?authuser=0" TargetMode="External"/><Relationship Id="rId4" Type="http://schemas.openxmlformats.org/officeDocument/2006/relationships/hyperlink" Target="https://drive.google.com/file/d/1tJ2Ztoscd8fAespC3tTAVBvZXsmTyLVm/view" TargetMode="External"/><Relationship Id="rId9" Type="http://schemas.openxmlformats.org/officeDocument/2006/relationships/hyperlink" Target="https://www.barnesandnoble.com/w/rise-above-the-noise-lewis-c-lin/1118849131" TargetMode="External"/><Relationship Id="rId15" Type="http://schemas.openxmlformats.org/officeDocument/2006/relationships/hyperlink" Target="https://drive.google.com/drive/u/1/folders/13R3Zzqhb9AaSB8cNJYNxPqpso5OP9X0d" TargetMode="External"/><Relationship Id="rId14" Type="http://schemas.openxmlformats.org/officeDocument/2006/relationships/hyperlink" Target="https://kresgeguides.bus.umich.edu/az.php?a=m&amp;q=mintel" TargetMode="External"/><Relationship Id="rId17" Type="http://schemas.openxmlformats.org/officeDocument/2006/relationships/image" Target="../media/image21.jpg"/><Relationship Id="rId16" Type="http://schemas.openxmlformats.org/officeDocument/2006/relationships/image" Target="../media/image6.png"/><Relationship Id="rId5" Type="http://schemas.openxmlformats.org/officeDocument/2006/relationships/hyperlink" Target="https://sites.google.com/umich.edu/rosscareerdevelopmentoffice/recruiting-prep/interview-preparation?authuser=0" TargetMode="External"/><Relationship Id="rId6" Type="http://schemas.openxmlformats.org/officeDocument/2006/relationships/hyperlink" Target="https://drive.google.com/file/d/1H06GeOxbR6NxienEwaoCKqD1_XqWtNFX/view" TargetMode="External"/><Relationship Id="rId7" Type="http://schemas.openxmlformats.org/officeDocument/2006/relationships/hyperlink" Target="https://docs.google.com/spreadsheets/d/1E16aZgKQAtVjg16QiEd5HXCe0T2Fne2HMC54c3w629c/edit#gid=57032234" TargetMode="External"/><Relationship Id="rId8" Type="http://schemas.openxmlformats.org/officeDocument/2006/relationships/hyperlink" Target="https://sites.google.com/umich.edu/rosscareerdevelopmentoffice/industryfunction/marketing?authuser=0"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
          <p:cNvPicPr preferRelativeResize="0"/>
          <p:nvPr/>
        </p:nvPicPr>
        <p:blipFill rotWithShape="1">
          <a:blip r:embed="rId3">
            <a:alphaModFix/>
          </a:blip>
          <a:srcRect b="0" l="0" r="0" t="0"/>
          <a:stretch/>
        </p:blipFill>
        <p:spPr>
          <a:xfrm>
            <a:off x="1588" y="1588"/>
            <a:ext cx="1588" cy="1588"/>
          </a:xfrm>
          <a:prstGeom prst="rect">
            <a:avLst/>
          </a:prstGeom>
          <a:noFill/>
          <a:ln>
            <a:noFill/>
          </a:ln>
        </p:spPr>
      </p:pic>
      <p:sp>
        <p:nvSpPr>
          <p:cNvPr id="171" name="Google Shape;171;p1"/>
          <p:cNvSpPr txBox="1"/>
          <p:nvPr>
            <p:ph type="ctrTitle"/>
          </p:nvPr>
        </p:nvSpPr>
        <p:spPr>
          <a:xfrm>
            <a:off x="948751" y="1721556"/>
            <a:ext cx="7944384" cy="1333637"/>
          </a:xfrm>
          <a:prstGeom prst="rect">
            <a:avLst/>
          </a:prstGeom>
          <a:noFill/>
          <a:ln>
            <a:noFill/>
          </a:ln>
        </p:spPr>
        <p:txBody>
          <a:bodyPr anchorCtr="0" anchor="b" bIns="45700" lIns="91425" spcFirstLastPara="1" rIns="91425" wrap="square" tIns="45700">
            <a:noAutofit/>
          </a:bodyPr>
          <a:lstStyle/>
          <a:p>
            <a:pPr indent="0" lvl="0" marL="0" marR="0" rtl="0" algn="l">
              <a:lnSpc>
                <a:spcPct val="70000"/>
              </a:lnSpc>
              <a:spcBef>
                <a:spcPts val="0"/>
              </a:spcBef>
              <a:spcAft>
                <a:spcPts val="0"/>
              </a:spcAft>
              <a:buClr>
                <a:schemeClr val="lt1"/>
              </a:buClr>
              <a:buSzPts val="5000"/>
              <a:buFont typeface="Arial"/>
              <a:buNone/>
            </a:pPr>
            <a:r>
              <a:rPr b="1" i="0" lang="en-US" sz="5000" u="none" cap="none" strike="noStrike">
                <a:solidFill>
                  <a:schemeClr val="lt1"/>
                </a:solidFill>
                <a:latin typeface="Roboto"/>
                <a:ea typeface="Roboto"/>
                <a:cs typeface="Roboto"/>
                <a:sym typeface="Roboto"/>
              </a:rPr>
              <a:t>Cas</a:t>
            </a:r>
            <a:r>
              <a:rPr b="1" lang="en-US">
                <a:latin typeface="Roboto"/>
                <a:ea typeface="Roboto"/>
                <a:cs typeface="Roboto"/>
                <a:sym typeface="Roboto"/>
              </a:rPr>
              <a:t>e</a:t>
            </a:r>
            <a:r>
              <a:rPr b="1" i="0" lang="en-US" sz="5000" u="none" cap="none" strike="noStrike">
                <a:solidFill>
                  <a:schemeClr val="lt1"/>
                </a:solidFill>
                <a:latin typeface="Roboto"/>
                <a:ea typeface="Roboto"/>
                <a:cs typeface="Roboto"/>
                <a:sym typeface="Roboto"/>
              </a:rPr>
              <a:t> Workshop</a:t>
            </a:r>
            <a:endParaRPr b="1">
              <a:latin typeface="Roboto"/>
              <a:ea typeface="Roboto"/>
              <a:cs typeface="Roboto"/>
              <a:sym typeface="Roboto"/>
            </a:endParaRPr>
          </a:p>
        </p:txBody>
      </p:sp>
      <p:sp>
        <p:nvSpPr>
          <p:cNvPr id="172" name="Google Shape;172;p1"/>
          <p:cNvSpPr txBox="1"/>
          <p:nvPr>
            <p:ph idx="1" type="subTitle"/>
          </p:nvPr>
        </p:nvSpPr>
        <p:spPr>
          <a:xfrm>
            <a:off x="948751" y="3704007"/>
            <a:ext cx="7944384" cy="6351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3"/>
              </a:buClr>
              <a:buSzPts val="1600"/>
              <a:buFont typeface="Noto Sans Symbols"/>
              <a:buNone/>
            </a:pPr>
            <a:r>
              <a:rPr i="0" lang="en-US" sz="2400" u="none" cap="none" strike="noStrike">
                <a:solidFill>
                  <a:schemeClr val="lt1"/>
                </a:solidFill>
                <a:latin typeface="Roboto"/>
                <a:ea typeface="Roboto"/>
                <a:cs typeface="Roboto"/>
                <a:sym typeface="Roboto"/>
              </a:rPr>
              <a:t>Michigan Marketing Club Education Session </a:t>
            </a:r>
            <a:r>
              <a:rPr lang="en-US" sz="2400">
                <a:solidFill>
                  <a:schemeClr val="lt1"/>
                </a:solidFill>
                <a:latin typeface="Roboto"/>
                <a:ea typeface="Roboto"/>
                <a:cs typeface="Roboto"/>
                <a:sym typeface="Roboto"/>
              </a:rPr>
              <a:t>5</a:t>
            </a:r>
            <a:endParaRPr>
              <a:latin typeface="Roboto"/>
              <a:ea typeface="Roboto"/>
              <a:cs typeface="Roboto"/>
              <a:sym typeface="Roboto"/>
            </a:endParaRPr>
          </a:p>
          <a:p>
            <a:pPr indent="0" lvl="0" marL="0" marR="0" rtl="0" algn="l">
              <a:lnSpc>
                <a:spcPct val="100000"/>
              </a:lnSpc>
              <a:spcBef>
                <a:spcPts val="0"/>
              </a:spcBef>
              <a:spcAft>
                <a:spcPts val="0"/>
              </a:spcAft>
              <a:buClr>
                <a:schemeClr val="accent3"/>
              </a:buClr>
              <a:buSzPts val="1600"/>
              <a:buFont typeface="Noto Sans Symbols"/>
              <a:buNone/>
            </a:pPr>
            <a:r>
              <a:rPr i="0" lang="en-US" sz="2400" u="none" cap="none" strike="noStrike">
                <a:solidFill>
                  <a:schemeClr val="lt1"/>
                </a:solidFill>
                <a:latin typeface="Roboto"/>
                <a:ea typeface="Roboto"/>
                <a:cs typeface="Roboto"/>
                <a:sym typeface="Roboto"/>
              </a:rPr>
              <a:t>September 30, 202</a:t>
            </a:r>
            <a:r>
              <a:rPr lang="en-US" sz="2400">
                <a:solidFill>
                  <a:schemeClr val="lt1"/>
                </a:solidFill>
                <a:latin typeface="Roboto"/>
                <a:ea typeface="Roboto"/>
                <a:cs typeface="Roboto"/>
                <a:sym typeface="Roboto"/>
              </a:rPr>
              <a:t>2</a:t>
            </a:r>
            <a:endParaRPr sz="2400">
              <a:solidFill>
                <a:schemeClr val="lt1"/>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79" name="Google Shape;179;p2"/>
          <p:cNvSpPr/>
          <p:nvPr/>
        </p:nvSpPr>
        <p:spPr>
          <a:xfrm>
            <a:off x="954600" y="4979425"/>
            <a:ext cx="10282800" cy="750000"/>
          </a:xfrm>
          <a:prstGeom prst="leftRightArrow">
            <a:avLst>
              <a:gd fmla="val 50000" name="adj1"/>
              <a:gd fmla="val 50000" name="adj2"/>
            </a:avLst>
          </a:prstGeom>
          <a:solidFill>
            <a:srgbClr val="FFFFFF"/>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txBox="1"/>
          <p:nvPr/>
        </p:nvSpPr>
        <p:spPr>
          <a:xfrm>
            <a:off x="920900" y="1270225"/>
            <a:ext cx="10357500" cy="72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464646"/>
                </a:solidFill>
                <a:latin typeface="Roboto"/>
                <a:ea typeface="Roboto"/>
                <a:cs typeface="Roboto"/>
                <a:sym typeface="Roboto"/>
              </a:rPr>
              <a:t>How excited are you to learn casing today?</a:t>
            </a:r>
            <a:endParaRPr b="1" i="0" sz="2300" u="none" cap="none" strike="noStrike">
              <a:solidFill>
                <a:srgbClr val="464646"/>
              </a:solidFill>
              <a:latin typeface="Roboto"/>
              <a:ea typeface="Roboto"/>
              <a:cs typeface="Roboto"/>
              <a:sym typeface="Roboto"/>
            </a:endParaRPr>
          </a:p>
        </p:txBody>
      </p:sp>
      <p:sp>
        <p:nvSpPr>
          <p:cNvPr id="181" name="Google Shape;181;p2"/>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rgbClr val="002856"/>
                </a:solidFill>
                <a:latin typeface="Roboto"/>
                <a:ea typeface="Roboto"/>
                <a:cs typeface="Roboto"/>
                <a:sym typeface="Roboto"/>
              </a:rPr>
              <a:t>Week 5 down and we’re almost done with Fall A!</a:t>
            </a:r>
            <a:endParaRPr b="1" i="0" sz="3600" u="none" cap="none" strike="noStrike">
              <a:solidFill>
                <a:srgbClr val="002856"/>
              </a:solidFill>
              <a:latin typeface="Roboto"/>
              <a:ea typeface="Roboto"/>
              <a:cs typeface="Roboto"/>
              <a:sym typeface="Roboto"/>
            </a:endParaRPr>
          </a:p>
        </p:txBody>
      </p:sp>
      <p:pic>
        <p:nvPicPr>
          <p:cNvPr id="182" name="Google Shape;182;p2"/>
          <p:cNvPicPr preferRelativeResize="0"/>
          <p:nvPr/>
        </p:nvPicPr>
        <p:blipFill rotWithShape="1">
          <a:blip r:embed="rId3">
            <a:alphaModFix/>
          </a:blip>
          <a:srcRect b="0" l="42644" r="0" t="0"/>
          <a:stretch/>
        </p:blipFill>
        <p:spPr>
          <a:xfrm>
            <a:off x="8123725" y="2118700"/>
            <a:ext cx="2732676" cy="2678700"/>
          </a:xfrm>
          <a:prstGeom prst="rect">
            <a:avLst/>
          </a:prstGeom>
          <a:noFill/>
          <a:ln>
            <a:noFill/>
          </a:ln>
        </p:spPr>
      </p:pic>
      <p:pic>
        <p:nvPicPr>
          <p:cNvPr id="183" name="Google Shape;183;p2"/>
          <p:cNvPicPr preferRelativeResize="0"/>
          <p:nvPr/>
        </p:nvPicPr>
        <p:blipFill rotWithShape="1">
          <a:blip r:embed="rId4">
            <a:alphaModFix/>
          </a:blip>
          <a:srcRect b="0" l="0" r="0" t="0"/>
          <a:stretch/>
        </p:blipFill>
        <p:spPr>
          <a:xfrm>
            <a:off x="1335608" y="2118700"/>
            <a:ext cx="2732667" cy="26787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
          <p:cNvSpPr txBox="1"/>
          <p:nvPr>
            <p:ph idx="1" type="body"/>
          </p:nvPr>
        </p:nvSpPr>
        <p:spPr>
          <a:xfrm>
            <a:off x="920899" y="1606982"/>
            <a:ext cx="10357500" cy="4274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b="1" lang="en-US" sz="2000">
                <a:latin typeface="Roboto"/>
                <a:ea typeface="Roboto"/>
                <a:cs typeface="Roboto"/>
                <a:sym typeface="Roboto"/>
              </a:rPr>
              <a:t>Today’s Agenda</a:t>
            </a:r>
            <a:endParaRPr b="1" sz="2000">
              <a:latin typeface="Roboto"/>
              <a:ea typeface="Roboto"/>
              <a:cs typeface="Roboto"/>
              <a:sym typeface="Roboto"/>
            </a:endParaRPr>
          </a:p>
          <a:p>
            <a:pPr indent="-457200" lvl="0" marL="533400" rtl="0" algn="l">
              <a:lnSpc>
                <a:spcPct val="100000"/>
              </a:lnSpc>
              <a:spcBef>
                <a:spcPts val="600"/>
              </a:spcBef>
              <a:spcAft>
                <a:spcPts val="0"/>
              </a:spcAft>
              <a:buClr>
                <a:srgbClr val="222222"/>
              </a:buClr>
              <a:buSzPts val="2400"/>
              <a:buFont typeface="Roboto"/>
              <a:buChar char="▪"/>
            </a:pPr>
            <a:r>
              <a:rPr lang="en-US" sz="2000">
                <a:solidFill>
                  <a:srgbClr val="222222"/>
                </a:solidFill>
                <a:latin typeface="Roboto"/>
                <a:ea typeface="Roboto"/>
                <a:cs typeface="Roboto"/>
                <a:sym typeface="Roboto"/>
              </a:rPr>
              <a:t>Trek Updates and FB&amp;A event </a:t>
            </a:r>
            <a:endParaRPr sz="2000">
              <a:solidFill>
                <a:srgbClr val="222222"/>
              </a:solidFill>
              <a:latin typeface="Roboto"/>
              <a:ea typeface="Roboto"/>
              <a:cs typeface="Roboto"/>
              <a:sym typeface="Roboto"/>
            </a:endParaRPr>
          </a:p>
          <a:p>
            <a:pPr indent="-457200" lvl="0" marL="533400" rtl="0" algn="l">
              <a:lnSpc>
                <a:spcPct val="100000"/>
              </a:lnSpc>
              <a:spcBef>
                <a:spcPts val="600"/>
              </a:spcBef>
              <a:spcAft>
                <a:spcPts val="0"/>
              </a:spcAft>
              <a:buSzPts val="2400"/>
              <a:buFont typeface="Roboto"/>
              <a:buChar char="▪"/>
            </a:pPr>
            <a:r>
              <a:rPr lang="en-US" sz="2000">
                <a:latin typeface="Roboto"/>
                <a:ea typeface="Roboto"/>
                <a:cs typeface="Roboto"/>
                <a:sym typeface="Roboto"/>
              </a:rPr>
              <a:t>Overview of Marketing Case Questions</a:t>
            </a:r>
            <a:endParaRPr/>
          </a:p>
          <a:p>
            <a:pPr indent="-457200" lvl="0" marL="533400" rtl="0" algn="l">
              <a:lnSpc>
                <a:spcPct val="100000"/>
              </a:lnSpc>
              <a:spcBef>
                <a:spcPts val="600"/>
              </a:spcBef>
              <a:spcAft>
                <a:spcPts val="0"/>
              </a:spcAft>
              <a:buSzPts val="2400"/>
              <a:buFont typeface="Roboto"/>
              <a:buChar char="▪"/>
            </a:pPr>
            <a:r>
              <a:rPr lang="en-US" sz="2000">
                <a:latin typeface="Roboto"/>
                <a:ea typeface="Roboto"/>
                <a:cs typeface="Roboto"/>
                <a:sym typeface="Roboto"/>
              </a:rPr>
              <a:t>Deep dive on the 5 C’s</a:t>
            </a:r>
            <a:endParaRPr sz="2000">
              <a:latin typeface="Roboto"/>
              <a:ea typeface="Roboto"/>
              <a:cs typeface="Roboto"/>
              <a:sym typeface="Roboto"/>
            </a:endParaRPr>
          </a:p>
          <a:p>
            <a:pPr indent="-457200" lvl="0" marL="533400" rtl="0" algn="l">
              <a:lnSpc>
                <a:spcPct val="100000"/>
              </a:lnSpc>
              <a:spcBef>
                <a:spcPts val="600"/>
              </a:spcBef>
              <a:spcAft>
                <a:spcPts val="0"/>
              </a:spcAft>
              <a:buSzPts val="2400"/>
              <a:buFont typeface="Roboto"/>
              <a:buChar char="▪"/>
            </a:pPr>
            <a:r>
              <a:rPr lang="en-US" sz="2000">
                <a:latin typeface="Roboto"/>
                <a:ea typeface="Roboto"/>
                <a:cs typeface="Roboto"/>
                <a:sym typeface="Roboto"/>
              </a:rPr>
              <a:t>How to Prepare for Case Questions</a:t>
            </a:r>
            <a:endParaRPr sz="2000">
              <a:latin typeface="Roboto"/>
              <a:ea typeface="Roboto"/>
              <a:cs typeface="Roboto"/>
              <a:sym typeface="Roboto"/>
            </a:endParaRPr>
          </a:p>
          <a:p>
            <a:pPr indent="-457200" lvl="0" marL="533400" rtl="0" algn="l">
              <a:lnSpc>
                <a:spcPct val="100000"/>
              </a:lnSpc>
              <a:spcBef>
                <a:spcPts val="600"/>
              </a:spcBef>
              <a:spcAft>
                <a:spcPts val="600"/>
              </a:spcAft>
              <a:buSzPts val="2400"/>
              <a:buFont typeface="Roboto"/>
              <a:buChar char="▪"/>
            </a:pPr>
            <a:r>
              <a:rPr lang="en-US" sz="2000">
                <a:latin typeface="Roboto"/>
                <a:ea typeface="Roboto"/>
                <a:cs typeface="Roboto"/>
                <a:sym typeface="Roboto"/>
              </a:rPr>
              <a:t>Resources and Homework</a:t>
            </a:r>
            <a:endParaRPr sz="2000">
              <a:latin typeface="Roboto"/>
              <a:ea typeface="Roboto"/>
              <a:cs typeface="Roboto"/>
              <a:sym typeface="Roboto"/>
            </a:endParaRPr>
          </a:p>
        </p:txBody>
      </p:sp>
      <p:sp>
        <p:nvSpPr>
          <p:cNvPr id="190" name="Google Shape;190;p3"/>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91" name="Google Shape;191;p3"/>
          <p:cNvSpPr txBox="1"/>
          <p:nvPr/>
        </p:nvSpPr>
        <p:spPr>
          <a:xfrm>
            <a:off x="920899" y="752646"/>
            <a:ext cx="9844500" cy="5175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Welcome to Marketing Club Week 5!</a:t>
            </a:r>
            <a:endParaRPr b="1" i="0" sz="3600" u="none" cap="none" strike="noStrike">
              <a:solidFill>
                <a:schemeClr val="accent1"/>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15fb597e686_0_0"/>
          <p:cNvSpPr/>
          <p:nvPr/>
        </p:nvSpPr>
        <p:spPr>
          <a:xfrm>
            <a:off x="1010333" y="1137733"/>
            <a:ext cx="5751900" cy="4918800"/>
          </a:xfrm>
          <a:prstGeom prst="rect">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8" name="Google Shape;198;g15fb597e686_0_0"/>
          <p:cNvSpPr txBox="1"/>
          <p:nvPr>
            <p:ph idx="12" type="sldNum"/>
          </p:nvPr>
        </p:nvSpPr>
        <p:spPr>
          <a:xfrm>
            <a:off x="4250545" y="8518516"/>
            <a:ext cx="7754700" cy="3705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99" name="Google Shape;199;g15fb597e686_0_0"/>
          <p:cNvSpPr txBox="1"/>
          <p:nvPr/>
        </p:nvSpPr>
        <p:spPr>
          <a:xfrm>
            <a:off x="917200" y="293092"/>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MMC Chicago Trek</a:t>
            </a:r>
            <a:endParaRPr b="1" i="0" sz="3600" u="none" cap="none" strike="noStrike">
              <a:solidFill>
                <a:schemeClr val="accent1"/>
              </a:solidFill>
              <a:latin typeface="Roboto"/>
              <a:ea typeface="Roboto"/>
              <a:cs typeface="Roboto"/>
              <a:sym typeface="Roboto"/>
            </a:endParaRPr>
          </a:p>
        </p:txBody>
      </p:sp>
      <p:sp>
        <p:nvSpPr>
          <p:cNvPr id="200" name="Google Shape;200;g15fb597e686_0_0"/>
          <p:cNvSpPr txBox="1"/>
          <p:nvPr>
            <p:ph idx="1" type="body"/>
          </p:nvPr>
        </p:nvSpPr>
        <p:spPr>
          <a:xfrm>
            <a:off x="1008325" y="1408100"/>
            <a:ext cx="5756100" cy="4606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2400"/>
              <a:buNone/>
            </a:pPr>
            <a:r>
              <a:rPr b="1" lang="en-US" sz="1700">
                <a:latin typeface="Roboto"/>
                <a:ea typeface="Roboto"/>
                <a:cs typeface="Roboto"/>
                <a:sym typeface="Roboto"/>
              </a:rPr>
              <a:t>MMC is hosting a Chicago trek on October 19th &amp; 20th</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rPr b="1" lang="en-US" sz="1700">
                <a:latin typeface="Roboto"/>
                <a:ea typeface="Roboto"/>
                <a:cs typeface="Roboto"/>
                <a:sym typeface="Roboto"/>
              </a:rPr>
              <a:t>This is a great opportunity to:</a:t>
            </a:r>
            <a:endParaRPr b="1" sz="1700">
              <a:latin typeface="Roboto"/>
              <a:ea typeface="Roboto"/>
              <a:cs typeface="Roboto"/>
              <a:sym typeface="Roboto"/>
            </a:endParaRPr>
          </a:p>
          <a:p>
            <a:pPr indent="-412750" lvl="0" marL="609600" rtl="0" algn="l">
              <a:lnSpc>
                <a:spcPct val="100000"/>
              </a:lnSpc>
              <a:spcBef>
                <a:spcPts val="0"/>
              </a:spcBef>
              <a:spcAft>
                <a:spcPts val="0"/>
              </a:spcAft>
              <a:buSzPts val="1700"/>
              <a:buFont typeface="Roboto"/>
              <a:buChar char="▪"/>
            </a:pPr>
            <a:r>
              <a:rPr b="1" lang="en-US" sz="1700">
                <a:latin typeface="Roboto"/>
                <a:ea typeface="Roboto"/>
                <a:cs typeface="Roboto"/>
                <a:sym typeface="Roboto"/>
              </a:rPr>
              <a:t>network with company representatives in person </a:t>
            </a:r>
            <a:endParaRPr b="1" sz="1700">
              <a:latin typeface="Roboto"/>
              <a:ea typeface="Roboto"/>
              <a:cs typeface="Roboto"/>
              <a:sym typeface="Roboto"/>
            </a:endParaRPr>
          </a:p>
          <a:p>
            <a:pPr indent="-412750" lvl="0" marL="609600" rtl="0" algn="l">
              <a:lnSpc>
                <a:spcPct val="100000"/>
              </a:lnSpc>
              <a:spcBef>
                <a:spcPts val="0"/>
              </a:spcBef>
              <a:spcAft>
                <a:spcPts val="0"/>
              </a:spcAft>
              <a:buSzPts val="1700"/>
              <a:buFont typeface="Roboto"/>
              <a:buChar char="▪"/>
            </a:pPr>
            <a:r>
              <a:rPr b="1" lang="en-US" sz="1700">
                <a:latin typeface="Roboto"/>
                <a:ea typeface="Roboto"/>
                <a:cs typeface="Roboto"/>
                <a:sym typeface="Roboto"/>
              </a:rPr>
              <a:t>get a feel for the office and culture </a:t>
            </a:r>
            <a:endParaRPr b="1" sz="1700">
              <a:latin typeface="Roboto"/>
              <a:ea typeface="Roboto"/>
              <a:cs typeface="Roboto"/>
              <a:sym typeface="Roboto"/>
            </a:endParaRPr>
          </a:p>
          <a:p>
            <a:pPr indent="-412750" lvl="0" marL="609600" rtl="0" algn="l">
              <a:lnSpc>
                <a:spcPct val="100000"/>
              </a:lnSpc>
              <a:spcBef>
                <a:spcPts val="0"/>
              </a:spcBef>
              <a:spcAft>
                <a:spcPts val="0"/>
              </a:spcAft>
              <a:buSzPts val="1700"/>
              <a:buFont typeface="Roboto"/>
              <a:buChar char="▪"/>
            </a:pPr>
            <a:r>
              <a:rPr b="1" lang="en-US" sz="1700">
                <a:latin typeface="Roboto"/>
                <a:ea typeface="Roboto"/>
                <a:cs typeface="Roboto"/>
                <a:sym typeface="Roboto"/>
              </a:rPr>
              <a:t>learn what the internship looks like</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rPr b="1" lang="en-US" sz="1700">
                <a:latin typeface="Roboto"/>
                <a:ea typeface="Roboto"/>
                <a:cs typeface="Roboto"/>
                <a:sym typeface="Roboto"/>
              </a:rPr>
              <a:t>Itineraries are being finalized but select events include:</a:t>
            </a:r>
            <a:endParaRPr b="1" sz="1700">
              <a:latin typeface="Roboto"/>
              <a:ea typeface="Roboto"/>
              <a:cs typeface="Roboto"/>
              <a:sym typeface="Roboto"/>
            </a:endParaRPr>
          </a:p>
          <a:p>
            <a:pPr indent="-412750" lvl="0" marL="609600" rtl="0" algn="l">
              <a:lnSpc>
                <a:spcPct val="100000"/>
              </a:lnSpc>
              <a:spcBef>
                <a:spcPts val="0"/>
              </a:spcBef>
              <a:spcAft>
                <a:spcPts val="0"/>
              </a:spcAft>
              <a:buSzPts val="1700"/>
              <a:buFont typeface="Roboto"/>
              <a:buChar char="●"/>
            </a:pPr>
            <a:r>
              <a:rPr b="1" lang="en-US" sz="1700">
                <a:latin typeface="Roboto"/>
                <a:ea typeface="Roboto"/>
                <a:cs typeface="Roboto"/>
                <a:sym typeface="Roboto"/>
              </a:rPr>
              <a:t>Beer tasting with Molson Coors</a:t>
            </a:r>
            <a:endParaRPr b="1" sz="1700">
              <a:latin typeface="Roboto"/>
              <a:ea typeface="Roboto"/>
              <a:cs typeface="Roboto"/>
              <a:sym typeface="Roboto"/>
            </a:endParaRPr>
          </a:p>
          <a:p>
            <a:pPr indent="-412750" lvl="0" marL="609600" rtl="0" algn="l">
              <a:lnSpc>
                <a:spcPct val="100000"/>
              </a:lnSpc>
              <a:spcBef>
                <a:spcPts val="0"/>
              </a:spcBef>
              <a:spcAft>
                <a:spcPts val="0"/>
              </a:spcAft>
              <a:buSzPts val="1700"/>
              <a:buFont typeface="Roboto"/>
              <a:buChar char="●"/>
            </a:pPr>
            <a:r>
              <a:rPr b="1" lang="en-US" sz="1700">
                <a:latin typeface="Roboto"/>
                <a:ea typeface="Roboto"/>
                <a:cs typeface="Roboto"/>
                <a:sym typeface="Roboto"/>
              </a:rPr>
              <a:t>Happy Hour hosted by PepsiCo</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rPr b="1" lang="en-US" sz="1700">
                <a:latin typeface="Roboto"/>
                <a:ea typeface="Roboto"/>
                <a:cs typeface="Roboto"/>
                <a:sym typeface="Roboto"/>
              </a:rPr>
              <a:t>Please sign up on </a:t>
            </a:r>
            <a:r>
              <a:rPr b="1" lang="en-US" sz="1700" u="sng">
                <a:solidFill>
                  <a:schemeClr val="hlink"/>
                </a:solidFill>
                <a:latin typeface="Roboto"/>
                <a:ea typeface="Roboto"/>
                <a:cs typeface="Roboto"/>
                <a:sym typeface="Roboto"/>
                <a:hlinkClick r:id="rId3"/>
              </a:rPr>
              <a:t>Campus Groups</a:t>
            </a:r>
            <a:r>
              <a:rPr b="1" lang="en-US" sz="1700">
                <a:latin typeface="Roboto"/>
                <a:ea typeface="Roboto"/>
                <a:cs typeface="Roboto"/>
                <a:sym typeface="Roboto"/>
              </a:rPr>
              <a:t> by 10/5</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t/>
            </a:r>
            <a:endParaRPr b="1" sz="1700">
              <a:latin typeface="Roboto"/>
              <a:ea typeface="Roboto"/>
              <a:cs typeface="Roboto"/>
              <a:sym typeface="Roboto"/>
            </a:endParaRPr>
          </a:p>
          <a:p>
            <a:pPr indent="0" lvl="0" marL="0" rtl="0" algn="l">
              <a:lnSpc>
                <a:spcPct val="100000"/>
              </a:lnSpc>
              <a:spcBef>
                <a:spcPts val="0"/>
              </a:spcBef>
              <a:spcAft>
                <a:spcPts val="0"/>
              </a:spcAft>
              <a:buSzPts val="2400"/>
              <a:buNone/>
            </a:pPr>
            <a:r>
              <a:t/>
            </a:r>
            <a:endParaRPr b="1" sz="1700">
              <a:latin typeface="Roboto"/>
              <a:ea typeface="Roboto"/>
              <a:cs typeface="Roboto"/>
              <a:sym typeface="Roboto"/>
            </a:endParaRPr>
          </a:p>
          <a:p>
            <a:pPr indent="0" lvl="0" marL="0" rtl="0" algn="ctr">
              <a:lnSpc>
                <a:spcPct val="100000"/>
              </a:lnSpc>
              <a:spcBef>
                <a:spcPts val="0"/>
              </a:spcBef>
              <a:spcAft>
                <a:spcPts val="0"/>
              </a:spcAft>
              <a:buSzPts val="2400"/>
              <a:buNone/>
            </a:pPr>
            <a:r>
              <a:t/>
            </a:r>
            <a:endParaRPr b="1" sz="1300">
              <a:latin typeface="Roboto"/>
              <a:ea typeface="Roboto"/>
              <a:cs typeface="Roboto"/>
              <a:sym typeface="Roboto"/>
            </a:endParaRPr>
          </a:p>
          <a:p>
            <a:pPr indent="0" lvl="0" marL="0" rtl="0" algn="ctr">
              <a:lnSpc>
                <a:spcPct val="100000"/>
              </a:lnSpc>
              <a:spcBef>
                <a:spcPts val="0"/>
              </a:spcBef>
              <a:spcAft>
                <a:spcPts val="0"/>
              </a:spcAft>
              <a:buSzPts val="2400"/>
              <a:buNone/>
            </a:pPr>
            <a:r>
              <a:rPr lang="en-US" sz="1600">
                <a:latin typeface="Roboto"/>
                <a:ea typeface="Roboto"/>
                <a:cs typeface="Roboto"/>
                <a:sym typeface="Roboto"/>
              </a:rPr>
              <a:t>Reach out to </a:t>
            </a:r>
            <a:r>
              <a:rPr b="1" lang="en-US" sz="1600">
                <a:latin typeface="Roboto"/>
                <a:ea typeface="Roboto"/>
                <a:cs typeface="Roboto"/>
                <a:sym typeface="Roboto"/>
              </a:rPr>
              <a:t>jmregan@umich</a:t>
            </a:r>
            <a:r>
              <a:rPr lang="en-US" sz="1600">
                <a:latin typeface="Roboto"/>
                <a:ea typeface="Roboto"/>
                <a:cs typeface="Roboto"/>
                <a:sym typeface="Roboto"/>
              </a:rPr>
              <a:t> or </a:t>
            </a:r>
            <a:r>
              <a:rPr b="1" lang="en-US" sz="1600">
                <a:highlight>
                  <a:srgbClr val="FFFFFF"/>
                </a:highlight>
                <a:latin typeface="Roboto"/>
                <a:ea typeface="Roboto"/>
                <a:cs typeface="Roboto"/>
                <a:sym typeface="Roboto"/>
              </a:rPr>
              <a:t>mtphan@umich.edu</a:t>
            </a:r>
            <a:r>
              <a:rPr lang="en-US" sz="1600">
                <a:highlight>
                  <a:srgbClr val="FFFFFF"/>
                </a:highlight>
                <a:latin typeface="Roboto"/>
                <a:ea typeface="Roboto"/>
                <a:cs typeface="Roboto"/>
                <a:sym typeface="Roboto"/>
              </a:rPr>
              <a:t> </a:t>
            </a:r>
            <a:br>
              <a:rPr lang="en-US" sz="1600">
                <a:highlight>
                  <a:srgbClr val="FFFFFF"/>
                </a:highlight>
                <a:latin typeface="Roboto"/>
                <a:ea typeface="Roboto"/>
                <a:cs typeface="Roboto"/>
                <a:sym typeface="Roboto"/>
              </a:rPr>
            </a:br>
            <a:r>
              <a:rPr lang="en-US" sz="1600">
                <a:highlight>
                  <a:srgbClr val="FFFFFF"/>
                </a:highlight>
                <a:latin typeface="Roboto"/>
                <a:ea typeface="Roboto"/>
                <a:cs typeface="Roboto"/>
                <a:sym typeface="Roboto"/>
              </a:rPr>
              <a:t>with any questions!</a:t>
            </a:r>
            <a:endParaRPr sz="1600">
              <a:latin typeface="Roboto"/>
              <a:ea typeface="Roboto"/>
              <a:cs typeface="Roboto"/>
              <a:sym typeface="Roboto"/>
            </a:endParaRPr>
          </a:p>
        </p:txBody>
      </p:sp>
      <p:sp>
        <p:nvSpPr>
          <p:cNvPr id="201" name="Google Shape;201;g15fb597e686_0_0"/>
          <p:cNvSpPr/>
          <p:nvPr/>
        </p:nvSpPr>
        <p:spPr>
          <a:xfrm>
            <a:off x="6973767" y="2774225"/>
            <a:ext cx="5046300" cy="3282300"/>
          </a:xfrm>
          <a:prstGeom prst="rect">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2" name="Google Shape;202;g15fb597e686_0_0"/>
          <p:cNvSpPr txBox="1"/>
          <p:nvPr/>
        </p:nvSpPr>
        <p:spPr>
          <a:xfrm>
            <a:off x="7843651" y="2883754"/>
            <a:ext cx="3158400" cy="378000"/>
          </a:xfrm>
          <a:prstGeom prst="rect">
            <a:avLst/>
          </a:prstGeom>
          <a:noFill/>
          <a:ln>
            <a:noFill/>
          </a:ln>
        </p:spPr>
        <p:txBody>
          <a:bodyPr anchorCtr="0" anchor="t" bIns="0" lIns="121900" spcFirstLastPara="1" rIns="12190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sng" cap="none" strike="noStrike">
                <a:solidFill>
                  <a:schemeClr val="dk1"/>
                </a:solidFill>
                <a:latin typeface="Roboto"/>
                <a:ea typeface="Roboto"/>
                <a:cs typeface="Roboto"/>
                <a:sym typeface="Roboto"/>
              </a:rPr>
              <a:t>Participating Companies</a:t>
            </a:r>
            <a:endParaRPr b="1" i="0" sz="2000" u="sng" cap="none" strike="noStrike">
              <a:solidFill>
                <a:schemeClr val="dk1"/>
              </a:solidFill>
              <a:latin typeface="Arial"/>
              <a:ea typeface="Arial"/>
              <a:cs typeface="Arial"/>
              <a:sym typeface="Arial"/>
            </a:endParaRPr>
          </a:p>
        </p:txBody>
      </p:sp>
      <p:pic>
        <p:nvPicPr>
          <p:cNvPr id="203" name="Google Shape;203;g15fb597e686_0_0"/>
          <p:cNvPicPr preferRelativeResize="0"/>
          <p:nvPr/>
        </p:nvPicPr>
        <p:blipFill rotWithShape="1">
          <a:blip r:embed="rId4">
            <a:alphaModFix/>
          </a:blip>
          <a:srcRect b="28598" l="9016" r="9016" t="18216"/>
          <a:stretch/>
        </p:blipFill>
        <p:spPr>
          <a:xfrm>
            <a:off x="9557933" y="3370658"/>
            <a:ext cx="2353056" cy="817377"/>
          </a:xfrm>
          <a:prstGeom prst="rect">
            <a:avLst/>
          </a:prstGeom>
          <a:noFill/>
          <a:ln>
            <a:noFill/>
          </a:ln>
        </p:spPr>
      </p:pic>
      <p:pic>
        <p:nvPicPr>
          <p:cNvPr id="204" name="Google Shape;204;g15fb597e686_0_0"/>
          <p:cNvPicPr preferRelativeResize="0"/>
          <p:nvPr/>
        </p:nvPicPr>
        <p:blipFill rotWithShape="1">
          <a:blip r:embed="rId5">
            <a:alphaModFix/>
          </a:blip>
          <a:srcRect b="0" l="0" r="0" t="0"/>
          <a:stretch/>
        </p:blipFill>
        <p:spPr>
          <a:xfrm>
            <a:off x="7082948" y="4851518"/>
            <a:ext cx="2474976" cy="974601"/>
          </a:xfrm>
          <a:prstGeom prst="rect">
            <a:avLst/>
          </a:prstGeom>
          <a:noFill/>
          <a:ln>
            <a:noFill/>
          </a:ln>
        </p:spPr>
      </p:pic>
      <p:pic>
        <p:nvPicPr>
          <p:cNvPr id="205" name="Google Shape;205;g15fb597e686_0_0"/>
          <p:cNvPicPr preferRelativeResize="0"/>
          <p:nvPr/>
        </p:nvPicPr>
        <p:blipFill rotWithShape="1">
          <a:blip r:embed="rId6">
            <a:alphaModFix/>
          </a:blip>
          <a:srcRect b="17098" l="27438" r="27542" t="13926"/>
          <a:stretch/>
        </p:blipFill>
        <p:spPr>
          <a:xfrm>
            <a:off x="9888635" y="4188025"/>
            <a:ext cx="1691667" cy="1397733"/>
          </a:xfrm>
          <a:prstGeom prst="rect">
            <a:avLst/>
          </a:prstGeom>
          <a:noFill/>
          <a:ln>
            <a:noFill/>
          </a:ln>
        </p:spPr>
      </p:pic>
      <p:pic>
        <p:nvPicPr>
          <p:cNvPr id="206" name="Google Shape;206;g15fb597e686_0_0"/>
          <p:cNvPicPr preferRelativeResize="0"/>
          <p:nvPr/>
        </p:nvPicPr>
        <p:blipFill rotWithShape="1">
          <a:blip r:embed="rId7">
            <a:alphaModFix/>
          </a:blip>
          <a:srcRect b="0" l="0" r="0" t="0"/>
          <a:stretch/>
        </p:blipFill>
        <p:spPr>
          <a:xfrm>
            <a:off x="7082951" y="3370642"/>
            <a:ext cx="2353056" cy="396304"/>
          </a:xfrm>
          <a:prstGeom prst="rect">
            <a:avLst/>
          </a:prstGeom>
          <a:noFill/>
          <a:ln>
            <a:noFill/>
          </a:ln>
        </p:spPr>
      </p:pic>
      <p:pic>
        <p:nvPicPr>
          <p:cNvPr id="207" name="Google Shape;207;g15fb597e686_0_0"/>
          <p:cNvPicPr preferRelativeResize="0"/>
          <p:nvPr/>
        </p:nvPicPr>
        <p:blipFill rotWithShape="1">
          <a:blip r:embed="rId8">
            <a:alphaModFix/>
          </a:blip>
          <a:srcRect b="0" l="0" r="0" t="0"/>
          <a:stretch/>
        </p:blipFill>
        <p:spPr>
          <a:xfrm>
            <a:off x="7082951" y="4039225"/>
            <a:ext cx="2353055" cy="540045"/>
          </a:xfrm>
          <a:prstGeom prst="rect">
            <a:avLst/>
          </a:prstGeom>
          <a:noFill/>
          <a:ln>
            <a:noFill/>
          </a:ln>
        </p:spPr>
      </p:pic>
      <p:pic>
        <p:nvPicPr>
          <p:cNvPr id="208" name="Google Shape;208;g15fb597e686_0_0"/>
          <p:cNvPicPr preferRelativeResize="0"/>
          <p:nvPr/>
        </p:nvPicPr>
        <p:blipFill>
          <a:blip r:embed="rId9">
            <a:alphaModFix/>
          </a:blip>
          <a:stretch>
            <a:fillRect/>
          </a:stretch>
        </p:blipFill>
        <p:spPr>
          <a:xfrm>
            <a:off x="8241750" y="182250"/>
            <a:ext cx="2362200" cy="23622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15fbe0d68b0_1_1"/>
          <p:cNvSpPr txBox="1"/>
          <p:nvPr>
            <p:ph type="title"/>
          </p:nvPr>
        </p:nvSpPr>
        <p:spPr>
          <a:xfrm>
            <a:off x="920899" y="752646"/>
            <a:ext cx="9844500" cy="517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FB&amp;A: Purely Elizabeth Fireside Chat</a:t>
            </a:r>
            <a:endParaRPr/>
          </a:p>
        </p:txBody>
      </p:sp>
      <p:sp>
        <p:nvSpPr>
          <p:cNvPr id="215" name="Google Shape;215;g15fbe0d68b0_1_1"/>
          <p:cNvSpPr txBox="1"/>
          <p:nvPr>
            <p:ph idx="12" type="sldNum"/>
          </p:nvPr>
        </p:nvSpPr>
        <p:spPr>
          <a:xfrm>
            <a:off x="3187909" y="6388887"/>
            <a:ext cx="5816100" cy="2778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pic>
        <p:nvPicPr>
          <p:cNvPr id="216" name="Google Shape;216;g15fbe0d68b0_1_1"/>
          <p:cNvPicPr preferRelativeResize="0"/>
          <p:nvPr/>
        </p:nvPicPr>
        <p:blipFill>
          <a:blip r:embed="rId3">
            <a:alphaModFix/>
          </a:blip>
          <a:stretch>
            <a:fillRect/>
          </a:stretch>
        </p:blipFill>
        <p:spPr>
          <a:xfrm>
            <a:off x="6527500" y="1512700"/>
            <a:ext cx="5155901" cy="2577950"/>
          </a:xfrm>
          <a:prstGeom prst="rect">
            <a:avLst/>
          </a:prstGeom>
          <a:noFill/>
          <a:ln>
            <a:noFill/>
          </a:ln>
        </p:spPr>
      </p:pic>
      <p:sp>
        <p:nvSpPr>
          <p:cNvPr id="217" name="Google Shape;217;g15fbe0d68b0_1_1"/>
          <p:cNvSpPr txBox="1"/>
          <p:nvPr>
            <p:ph idx="1" type="body"/>
          </p:nvPr>
        </p:nvSpPr>
        <p:spPr>
          <a:xfrm>
            <a:off x="920900" y="1512700"/>
            <a:ext cx="5259600" cy="42747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sz="1800"/>
              <a:t>On </a:t>
            </a:r>
            <a:r>
              <a:rPr b="1" lang="en-US" sz="1800"/>
              <a:t>October 5th</a:t>
            </a:r>
            <a:r>
              <a:rPr lang="en-US" sz="1800"/>
              <a:t> (next Wednesday), F&amp;BA is hosting members of Purely Elizabeth’s sustainability and R&amp;D teams for a virtual Q&amp;A </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rPr lang="en-US" sz="1800"/>
              <a:t>Purely Elizabeth has been a leader in the natural foods category with its nutritious, non-GMO and organic ancient grain products. </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rPr lang="en-US" sz="1800"/>
              <a:t>Purely Elizabeth is redefining the standards of packaged foods with its current line of certified gluten-free and vegan products consisting of granola, cereal, oatmeal, and pancake &amp; waffle mix.</a:t>
            </a:r>
            <a:endParaRPr sz="1800"/>
          </a:p>
        </p:txBody>
      </p:sp>
      <p:pic>
        <p:nvPicPr>
          <p:cNvPr id="218" name="Google Shape;218;g15fbe0d68b0_1_1"/>
          <p:cNvPicPr preferRelativeResize="0"/>
          <p:nvPr/>
        </p:nvPicPr>
        <p:blipFill>
          <a:blip r:embed="rId4">
            <a:alphaModFix/>
          </a:blip>
          <a:stretch>
            <a:fillRect/>
          </a:stretch>
        </p:blipFill>
        <p:spPr>
          <a:xfrm>
            <a:off x="7924359" y="4243050"/>
            <a:ext cx="2362200" cy="2362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8"/>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chemeClr val="accent1"/>
              </a:buClr>
              <a:buSzPts val="3600"/>
              <a:buFont typeface="Arial"/>
              <a:buNone/>
            </a:pPr>
            <a:r>
              <a:rPr lang="en-US"/>
              <a:t>Before we get into case questions!</a:t>
            </a:r>
            <a:endParaRPr/>
          </a:p>
        </p:txBody>
      </p:sp>
      <p:sp>
        <p:nvSpPr>
          <p:cNvPr id="224" name="Google Shape;224;p8"/>
          <p:cNvSpPr txBox="1"/>
          <p:nvPr>
            <p:ph idx="1" type="body"/>
          </p:nvPr>
        </p:nvSpPr>
        <p:spPr>
          <a:xfrm>
            <a:off x="920899" y="1512712"/>
            <a:ext cx="10357500" cy="4274700"/>
          </a:xfrm>
          <a:prstGeom prst="rect">
            <a:avLst/>
          </a:prstGeom>
          <a:noFill/>
          <a:ln>
            <a:noFill/>
          </a:ln>
        </p:spPr>
        <p:txBody>
          <a:bodyPr anchorCtr="0" anchor="t" bIns="45700" lIns="91425" spcFirstLastPara="1" rIns="91425" wrap="square" tIns="45700">
            <a:noAutofit/>
          </a:bodyPr>
          <a:lstStyle/>
          <a:p>
            <a:pPr indent="0" lvl="0" marL="76200" rtl="0" algn="l">
              <a:lnSpc>
                <a:spcPct val="100000"/>
              </a:lnSpc>
              <a:spcBef>
                <a:spcPts val="480"/>
              </a:spcBef>
              <a:spcAft>
                <a:spcPts val="0"/>
              </a:spcAft>
              <a:buSzPts val="2400"/>
              <a:buNone/>
            </a:pPr>
            <a:r>
              <a:rPr lang="en-US"/>
              <a:t>Does anybody have questions about…</a:t>
            </a:r>
            <a:endParaRPr/>
          </a:p>
          <a:p>
            <a:pPr indent="-381000" lvl="0" marL="457200" marR="0" rtl="0" algn="l">
              <a:lnSpc>
                <a:spcPct val="100000"/>
              </a:lnSpc>
              <a:spcBef>
                <a:spcPts val="480"/>
              </a:spcBef>
              <a:spcAft>
                <a:spcPts val="0"/>
              </a:spcAft>
              <a:buClr>
                <a:schemeClr val="dk1"/>
              </a:buClr>
              <a:buSzPts val="2400"/>
              <a:buFont typeface="Noto Sans Symbols"/>
              <a:buChar char="▪"/>
            </a:pPr>
            <a:r>
              <a:rPr lang="en-US"/>
              <a:t>Recruiting timelines</a:t>
            </a:r>
            <a:endParaRPr/>
          </a:p>
          <a:p>
            <a:pPr indent="-381000" lvl="0" marL="457200" marR="0" rtl="0" algn="l">
              <a:lnSpc>
                <a:spcPct val="100000"/>
              </a:lnSpc>
              <a:spcBef>
                <a:spcPts val="480"/>
              </a:spcBef>
              <a:spcAft>
                <a:spcPts val="0"/>
              </a:spcAft>
              <a:buClr>
                <a:schemeClr val="dk1"/>
              </a:buClr>
              <a:buSzPts val="2400"/>
              <a:buFont typeface="Noto Sans Symbols"/>
              <a:buChar char="▪"/>
            </a:pPr>
            <a:r>
              <a:rPr lang="en-US"/>
              <a:t>Researching companies</a:t>
            </a:r>
            <a:endParaRPr/>
          </a:p>
          <a:p>
            <a:pPr indent="-381000" lvl="0" marL="457200" marR="0" rtl="0" algn="l">
              <a:lnSpc>
                <a:spcPct val="100000"/>
              </a:lnSpc>
              <a:spcBef>
                <a:spcPts val="480"/>
              </a:spcBef>
              <a:spcAft>
                <a:spcPts val="0"/>
              </a:spcAft>
              <a:buClr>
                <a:schemeClr val="dk1"/>
              </a:buClr>
              <a:buSzPts val="2400"/>
              <a:buFont typeface="Noto Sans Symbols"/>
              <a:buChar char="▪"/>
            </a:pPr>
            <a:r>
              <a:rPr lang="en-US"/>
              <a:t>Networking with alums / companies</a:t>
            </a:r>
            <a:endParaRPr/>
          </a:p>
          <a:p>
            <a:pPr indent="-381000" lvl="0" marL="457200" marR="0" rtl="0" algn="l">
              <a:lnSpc>
                <a:spcPct val="100000"/>
              </a:lnSpc>
              <a:spcBef>
                <a:spcPts val="480"/>
              </a:spcBef>
              <a:spcAft>
                <a:spcPts val="0"/>
              </a:spcAft>
              <a:buClr>
                <a:schemeClr val="dk1"/>
              </a:buClr>
              <a:buSzPts val="2400"/>
              <a:buFont typeface="Noto Sans Symbols"/>
              <a:buChar char="▪"/>
            </a:pPr>
            <a:r>
              <a:rPr lang="en-US"/>
              <a:t>Fit questions</a:t>
            </a:r>
            <a:endParaRPr/>
          </a:p>
          <a:p>
            <a:pPr indent="-381000" lvl="0" marL="457200" marR="0" rtl="0" algn="l">
              <a:lnSpc>
                <a:spcPct val="100000"/>
              </a:lnSpc>
              <a:spcBef>
                <a:spcPts val="480"/>
              </a:spcBef>
              <a:spcAft>
                <a:spcPts val="0"/>
              </a:spcAft>
              <a:buClr>
                <a:schemeClr val="dk1"/>
              </a:buClr>
              <a:buSzPts val="2400"/>
              <a:buFont typeface="Noto Sans Symbols"/>
              <a:buChar char="▪"/>
            </a:pPr>
            <a:r>
              <a:rPr lang="en-US"/>
              <a:t>Behavioral questions</a:t>
            </a:r>
            <a:endParaRPr/>
          </a:p>
          <a:p>
            <a:pPr indent="-381000" lvl="0" marL="457200" marR="0" rtl="0" algn="l">
              <a:lnSpc>
                <a:spcPct val="100000"/>
              </a:lnSpc>
              <a:spcBef>
                <a:spcPts val="480"/>
              </a:spcBef>
              <a:spcAft>
                <a:spcPts val="0"/>
              </a:spcAft>
              <a:buSzPts val="2400"/>
              <a:buChar char="▪"/>
            </a:pPr>
            <a:r>
              <a:rPr lang="en-US"/>
              <a:t>Symposium</a:t>
            </a:r>
            <a:endParaRPr/>
          </a:p>
          <a:p>
            <a:pPr indent="-381000" lvl="0" marL="457200" marR="0" rtl="0" algn="l">
              <a:lnSpc>
                <a:spcPct val="100000"/>
              </a:lnSpc>
              <a:spcBef>
                <a:spcPts val="480"/>
              </a:spcBef>
              <a:spcAft>
                <a:spcPts val="0"/>
              </a:spcAft>
              <a:buClr>
                <a:schemeClr val="dk1"/>
              </a:buClr>
              <a:buSzPts val="2400"/>
              <a:buFont typeface="Noto Sans Symbols"/>
              <a:buChar char="▪"/>
            </a:pPr>
            <a:r>
              <a:rPr lang="en-US"/>
              <a:t>Our favorite colors…?</a:t>
            </a:r>
            <a:endParaRPr/>
          </a:p>
        </p:txBody>
      </p:sp>
      <p:sp>
        <p:nvSpPr>
          <p:cNvPr id="225" name="Google Shape;225;p8"/>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7"/>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231" name="Google Shape;231;p7"/>
          <p:cNvSpPr/>
          <p:nvPr/>
        </p:nvSpPr>
        <p:spPr>
          <a:xfrm>
            <a:off x="0" y="0"/>
            <a:ext cx="12192000" cy="6201600"/>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a:solidFill>
                  <a:schemeClr val="lt1"/>
                </a:solidFill>
                <a:latin typeface="Roboto"/>
                <a:ea typeface="Roboto"/>
                <a:cs typeface="Roboto"/>
                <a:sym typeface="Roboto"/>
              </a:rPr>
              <a:t>Context for (Marketing) </a:t>
            </a:r>
            <a:r>
              <a:rPr b="1" i="1" lang="en-US" sz="4000" u="none" cap="none" strike="noStrike">
                <a:solidFill>
                  <a:schemeClr val="lt1"/>
                </a:solidFill>
                <a:latin typeface="Roboto"/>
                <a:ea typeface="Roboto"/>
                <a:cs typeface="Roboto"/>
                <a:sym typeface="Roboto"/>
              </a:rPr>
              <a:t>Case </a:t>
            </a:r>
            <a:r>
              <a:rPr b="1" i="1" lang="en-US" sz="4000">
                <a:solidFill>
                  <a:schemeClr val="lt1"/>
                </a:solidFill>
                <a:latin typeface="Roboto"/>
                <a:ea typeface="Roboto"/>
                <a:cs typeface="Roboto"/>
                <a:sym typeface="Roboto"/>
              </a:rPr>
              <a:t>Interviews</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9"/>
          <p:cNvSpPr/>
          <p:nvPr/>
        </p:nvSpPr>
        <p:spPr>
          <a:xfrm>
            <a:off x="775252" y="1510748"/>
            <a:ext cx="7046700" cy="4594500"/>
          </a:xfrm>
          <a:prstGeom prst="rect">
            <a:avLst/>
          </a:prstGeom>
          <a:noFill/>
          <a:ln cap="flat" cmpd="sng" w="25400">
            <a:solidFill>
              <a:schemeClr val="accent6"/>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237" name="Google Shape;237;p9"/>
          <p:cNvSpPr/>
          <p:nvPr/>
        </p:nvSpPr>
        <p:spPr>
          <a:xfrm>
            <a:off x="923987" y="1612518"/>
            <a:ext cx="3156000" cy="5967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Fit</a:t>
            </a:r>
            <a:endParaRPr b="1" i="0" sz="2200" u="none" cap="none" strike="noStrike">
              <a:solidFill>
                <a:schemeClr val="lt1"/>
              </a:solidFill>
              <a:latin typeface="Roboto"/>
              <a:ea typeface="Roboto"/>
              <a:cs typeface="Roboto"/>
              <a:sym typeface="Roboto"/>
            </a:endParaRPr>
          </a:p>
        </p:txBody>
      </p:sp>
      <p:sp>
        <p:nvSpPr>
          <p:cNvPr id="238" name="Google Shape;238;p9"/>
          <p:cNvSpPr/>
          <p:nvPr/>
        </p:nvSpPr>
        <p:spPr>
          <a:xfrm>
            <a:off x="923987" y="2295938"/>
            <a:ext cx="3156000" cy="36975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Assesses how well you fit with the company and role</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Can be aspirational (“Why do you want to work here?”) OR knowledge-based (“What’s our best performing brand?”)</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Fairly common</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Can be similar to behavioral</a:t>
            </a:r>
            <a:endParaRPr b="0" i="0" sz="1400" u="none" cap="none" strike="noStrike">
              <a:solidFill>
                <a:srgbClr val="000000"/>
              </a:solidFill>
              <a:latin typeface="Roboto"/>
              <a:ea typeface="Roboto"/>
              <a:cs typeface="Roboto"/>
              <a:sym typeface="Roboto"/>
            </a:endParaRPr>
          </a:p>
        </p:txBody>
      </p:sp>
      <p:sp>
        <p:nvSpPr>
          <p:cNvPr id="239" name="Google Shape;239;p9"/>
          <p:cNvSpPr/>
          <p:nvPr/>
        </p:nvSpPr>
        <p:spPr>
          <a:xfrm>
            <a:off x="4521925" y="1612518"/>
            <a:ext cx="3156000" cy="5967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Behavioral</a:t>
            </a:r>
            <a:endParaRPr b="1" i="0" sz="2200" u="none" cap="none" strike="noStrike">
              <a:solidFill>
                <a:schemeClr val="lt1"/>
              </a:solidFill>
              <a:latin typeface="Roboto"/>
              <a:ea typeface="Roboto"/>
              <a:cs typeface="Roboto"/>
              <a:sym typeface="Roboto"/>
            </a:endParaRPr>
          </a:p>
        </p:txBody>
      </p:sp>
      <p:sp>
        <p:nvSpPr>
          <p:cNvPr id="240" name="Google Shape;240;p9"/>
          <p:cNvSpPr/>
          <p:nvPr/>
        </p:nvSpPr>
        <p:spPr>
          <a:xfrm>
            <a:off x="4521925" y="2295938"/>
            <a:ext cx="3156000" cy="36975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Demonstrates past behavior on the job</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Used to predict your success in the role</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Most common questions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Not unique to marketing</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900"/>
              <a:buFont typeface="Roboto"/>
              <a:buChar char="•"/>
            </a:pPr>
            <a:r>
              <a:rPr b="0" i="0" lang="en-US" sz="1900" u="none" cap="none" strike="noStrike">
                <a:solidFill>
                  <a:schemeClr val="dk1"/>
                </a:solidFill>
                <a:latin typeface="Roboto"/>
                <a:ea typeface="Roboto"/>
                <a:cs typeface="Roboto"/>
                <a:sym typeface="Roboto"/>
              </a:rPr>
              <a:t>Often used interchangeably with “fit”</a:t>
            </a:r>
            <a:endParaRPr b="0" i="0" sz="1400" u="none" cap="none" strike="noStrike">
              <a:solidFill>
                <a:srgbClr val="000000"/>
              </a:solidFill>
              <a:latin typeface="Roboto"/>
              <a:ea typeface="Roboto"/>
              <a:cs typeface="Roboto"/>
              <a:sym typeface="Roboto"/>
            </a:endParaRPr>
          </a:p>
        </p:txBody>
      </p:sp>
      <p:sp>
        <p:nvSpPr>
          <p:cNvPr id="241" name="Google Shape;241;p9"/>
          <p:cNvSpPr/>
          <p:nvPr/>
        </p:nvSpPr>
        <p:spPr>
          <a:xfrm>
            <a:off x="8119864" y="1612518"/>
            <a:ext cx="3156000" cy="596700"/>
          </a:xfrm>
          <a:prstGeom prst="rect">
            <a:avLst/>
          </a:prstGeom>
          <a:solidFill>
            <a:srgbClr val="A5A5A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Case</a:t>
            </a:r>
            <a:endParaRPr b="1" i="0" sz="2200" u="none" cap="none" strike="noStrike">
              <a:solidFill>
                <a:schemeClr val="lt1"/>
              </a:solidFill>
              <a:latin typeface="Roboto"/>
              <a:ea typeface="Roboto"/>
              <a:cs typeface="Roboto"/>
              <a:sym typeface="Roboto"/>
            </a:endParaRPr>
          </a:p>
        </p:txBody>
      </p:sp>
      <p:sp>
        <p:nvSpPr>
          <p:cNvPr id="242" name="Google Shape;242;p9"/>
          <p:cNvSpPr/>
          <p:nvPr/>
        </p:nvSpPr>
        <p:spPr>
          <a:xfrm>
            <a:off x="8119864" y="2295938"/>
            <a:ext cx="3156000" cy="36975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Each industry and role has a different form of “case” question</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Several types used in marketing:</a:t>
            </a:r>
            <a:endParaRPr b="0" i="0" sz="1400" u="none" cap="none" strike="noStrike">
              <a:solidFill>
                <a:srgbClr val="000000"/>
              </a:solidFill>
              <a:latin typeface="Roboto"/>
              <a:ea typeface="Roboto"/>
              <a:cs typeface="Roboto"/>
              <a:sym typeface="Roboto"/>
            </a:endParaRPr>
          </a:p>
          <a:p>
            <a:pPr indent="-342900" lvl="4" marL="697230" marR="0" rtl="0" algn="l">
              <a:lnSpc>
                <a:spcPct val="100000"/>
              </a:lnSpc>
              <a:spcBef>
                <a:spcPts val="0"/>
              </a:spcBef>
              <a:spcAft>
                <a:spcPts val="0"/>
              </a:spcAft>
              <a:buClr>
                <a:srgbClr val="A5A5A5"/>
              </a:buClr>
              <a:buSzPts val="1900"/>
              <a:buFont typeface="Roboto"/>
              <a:buChar char="o"/>
            </a:pPr>
            <a:r>
              <a:rPr b="0" i="0" lang="en-US" sz="1900" u="none" cap="none" strike="noStrike">
                <a:solidFill>
                  <a:srgbClr val="A5A5A5"/>
                </a:solidFill>
                <a:latin typeface="Roboto"/>
                <a:ea typeface="Roboto"/>
                <a:cs typeface="Roboto"/>
                <a:sym typeface="Roboto"/>
              </a:rPr>
              <a:t>New Product Launch</a:t>
            </a:r>
            <a:endParaRPr b="0" i="0" sz="1400" u="none" cap="none" strike="noStrike">
              <a:solidFill>
                <a:srgbClr val="000000"/>
              </a:solidFill>
              <a:latin typeface="Roboto"/>
              <a:ea typeface="Roboto"/>
              <a:cs typeface="Roboto"/>
              <a:sym typeface="Roboto"/>
            </a:endParaRPr>
          </a:p>
          <a:p>
            <a:pPr indent="-342900" lvl="7" marL="697230" marR="0" rtl="0" algn="l">
              <a:lnSpc>
                <a:spcPct val="100000"/>
              </a:lnSpc>
              <a:spcBef>
                <a:spcPts val="0"/>
              </a:spcBef>
              <a:spcAft>
                <a:spcPts val="0"/>
              </a:spcAft>
              <a:buClr>
                <a:srgbClr val="A5A5A5"/>
              </a:buClr>
              <a:buSzPts val="1900"/>
              <a:buFont typeface="Roboto"/>
              <a:buChar char="o"/>
            </a:pPr>
            <a:r>
              <a:rPr b="0" i="0" lang="en-US" sz="1900" u="none" cap="none" strike="noStrike">
                <a:solidFill>
                  <a:srgbClr val="A5A5A5"/>
                </a:solidFill>
                <a:latin typeface="Roboto"/>
                <a:ea typeface="Roboto"/>
                <a:cs typeface="Roboto"/>
                <a:sym typeface="Roboto"/>
              </a:rPr>
              <a:t>Performance Analysis</a:t>
            </a:r>
            <a:endParaRPr b="0" i="0" sz="1400" u="none" cap="none" strike="noStrike">
              <a:solidFill>
                <a:srgbClr val="000000"/>
              </a:solidFill>
              <a:latin typeface="Roboto"/>
              <a:ea typeface="Roboto"/>
              <a:cs typeface="Roboto"/>
              <a:sym typeface="Roboto"/>
            </a:endParaRPr>
          </a:p>
          <a:p>
            <a:pPr indent="-342900" lvl="7" marL="697230" marR="0" rtl="0" algn="l">
              <a:lnSpc>
                <a:spcPct val="100000"/>
              </a:lnSpc>
              <a:spcBef>
                <a:spcPts val="0"/>
              </a:spcBef>
              <a:spcAft>
                <a:spcPts val="0"/>
              </a:spcAft>
              <a:buClr>
                <a:srgbClr val="A5A5A5"/>
              </a:buClr>
              <a:buSzPts val="1900"/>
              <a:buFont typeface="Roboto"/>
              <a:buChar char="o"/>
            </a:pPr>
            <a:r>
              <a:rPr b="0" i="0" lang="en-US" sz="1900" u="none" cap="none" strike="noStrike">
                <a:solidFill>
                  <a:srgbClr val="A5A5A5"/>
                </a:solidFill>
                <a:latin typeface="Roboto"/>
                <a:ea typeface="Roboto"/>
                <a:cs typeface="Roboto"/>
                <a:sym typeface="Roboto"/>
              </a:rPr>
              <a:t>New Entrant</a:t>
            </a:r>
            <a:endParaRPr b="0" i="0" sz="1400" u="none" cap="none" strike="noStrike">
              <a:solidFill>
                <a:srgbClr val="000000"/>
              </a:solidFill>
              <a:latin typeface="Roboto"/>
              <a:ea typeface="Roboto"/>
              <a:cs typeface="Roboto"/>
              <a:sym typeface="Roboto"/>
            </a:endParaRPr>
          </a:p>
          <a:p>
            <a:pPr indent="-342900" lvl="7" marL="697230" marR="0" rtl="0" algn="l">
              <a:lnSpc>
                <a:spcPct val="100000"/>
              </a:lnSpc>
              <a:spcBef>
                <a:spcPts val="0"/>
              </a:spcBef>
              <a:spcAft>
                <a:spcPts val="0"/>
              </a:spcAft>
              <a:buClr>
                <a:srgbClr val="A5A5A5"/>
              </a:buClr>
              <a:buSzPts val="1900"/>
              <a:buFont typeface="Roboto"/>
              <a:buChar char="o"/>
            </a:pPr>
            <a:r>
              <a:rPr b="0" i="0" lang="en-US" sz="1900" u="none" cap="none" strike="noStrike">
                <a:solidFill>
                  <a:srgbClr val="A5A5A5"/>
                </a:solidFill>
                <a:latin typeface="Roboto"/>
                <a:ea typeface="Roboto"/>
                <a:cs typeface="Roboto"/>
                <a:sym typeface="Roboto"/>
              </a:rPr>
              <a:t>Market Sizing</a:t>
            </a:r>
            <a:endParaRPr b="0" i="0" sz="1400" u="none" cap="none" strike="noStrike">
              <a:solidFill>
                <a:srgbClr val="000000"/>
              </a:solidFill>
              <a:latin typeface="Roboto"/>
              <a:ea typeface="Roboto"/>
              <a:cs typeface="Roboto"/>
              <a:sym typeface="Roboto"/>
            </a:endParaRPr>
          </a:p>
          <a:p>
            <a:pPr indent="-342900" lvl="7" marL="697230" marR="0" rtl="0" algn="l">
              <a:lnSpc>
                <a:spcPct val="100000"/>
              </a:lnSpc>
              <a:spcBef>
                <a:spcPts val="0"/>
              </a:spcBef>
              <a:spcAft>
                <a:spcPts val="0"/>
              </a:spcAft>
              <a:buClr>
                <a:srgbClr val="A5A5A5"/>
              </a:buClr>
              <a:buSzPts val="1900"/>
              <a:buFont typeface="Roboto"/>
              <a:buChar char="o"/>
            </a:pPr>
            <a:r>
              <a:rPr b="0" i="0" lang="en-US" sz="1900" u="none" cap="none" strike="noStrike">
                <a:solidFill>
                  <a:srgbClr val="A5A5A5"/>
                </a:solidFill>
                <a:latin typeface="Roboto"/>
                <a:ea typeface="Roboto"/>
                <a:cs typeface="Roboto"/>
                <a:sym typeface="Roboto"/>
              </a:rPr>
              <a:t>Marketing Analysis</a:t>
            </a:r>
            <a:endParaRPr b="0" i="0" sz="1400" u="none" cap="none" strike="noStrike">
              <a:solidFill>
                <a:srgbClr val="000000"/>
              </a:solidFill>
              <a:latin typeface="Roboto"/>
              <a:ea typeface="Roboto"/>
              <a:cs typeface="Roboto"/>
              <a:sym typeface="Roboto"/>
            </a:endParaRPr>
          </a:p>
        </p:txBody>
      </p:sp>
      <p:sp>
        <p:nvSpPr>
          <p:cNvPr id="243" name="Google Shape;243;p9"/>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400"/>
              <a:buFont typeface="Arial"/>
              <a:buNone/>
            </a:pPr>
            <a:r>
              <a:rPr b="1" i="0" lang="en-US" sz="3400" u="none" cap="none" strike="noStrike">
                <a:solidFill>
                  <a:schemeClr val="accent1"/>
                </a:solidFill>
                <a:latin typeface="Roboto"/>
                <a:ea typeface="Roboto"/>
                <a:cs typeface="Roboto"/>
                <a:sym typeface="Roboto"/>
              </a:rPr>
              <a:t>Last few weeks we focused on fit and behavioral Qs</a:t>
            </a:r>
            <a:endParaRPr b="1" i="0" sz="3400" u="none" cap="none" strike="noStrike">
              <a:solidFill>
                <a:schemeClr val="accent1"/>
              </a:solidFill>
              <a:latin typeface="Roboto"/>
              <a:ea typeface="Roboto"/>
              <a:cs typeface="Roboto"/>
              <a:sym typeface="Roboto"/>
            </a:endParaRPr>
          </a:p>
        </p:txBody>
      </p:sp>
      <p:sp>
        <p:nvSpPr>
          <p:cNvPr id="244" name="Google Shape;244;p9"/>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0"/>
          <p:cNvSpPr/>
          <p:nvPr/>
        </p:nvSpPr>
        <p:spPr>
          <a:xfrm>
            <a:off x="923987" y="1612518"/>
            <a:ext cx="3156000" cy="596700"/>
          </a:xfrm>
          <a:prstGeom prst="rect">
            <a:avLst/>
          </a:prstGeom>
          <a:solidFill>
            <a:srgbClr val="A5A5A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Fit</a:t>
            </a:r>
            <a:endParaRPr b="1" i="0" sz="2200" u="none" cap="none" strike="noStrike">
              <a:solidFill>
                <a:schemeClr val="lt1"/>
              </a:solidFill>
              <a:latin typeface="Roboto"/>
              <a:ea typeface="Roboto"/>
              <a:cs typeface="Roboto"/>
              <a:sym typeface="Roboto"/>
            </a:endParaRPr>
          </a:p>
        </p:txBody>
      </p:sp>
      <p:sp>
        <p:nvSpPr>
          <p:cNvPr id="250" name="Google Shape;250;p10"/>
          <p:cNvSpPr/>
          <p:nvPr/>
        </p:nvSpPr>
        <p:spPr>
          <a:xfrm>
            <a:off x="923987" y="2295938"/>
            <a:ext cx="3156000" cy="36975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Assesses how well you fit with the company and role</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Can be aspirational (“Why do you want to work here?”) OR knowledge-based (“What’s our best performing brand?”)</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Fairly common</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Can be similar to behavioral</a:t>
            </a:r>
            <a:endParaRPr b="0" i="0" sz="1900" u="none" cap="none" strike="noStrike">
              <a:solidFill>
                <a:srgbClr val="A5A5A5"/>
              </a:solidFill>
              <a:latin typeface="Roboto"/>
              <a:ea typeface="Roboto"/>
              <a:cs typeface="Roboto"/>
              <a:sym typeface="Roboto"/>
            </a:endParaRPr>
          </a:p>
        </p:txBody>
      </p:sp>
      <p:sp>
        <p:nvSpPr>
          <p:cNvPr id="251" name="Google Shape;251;p10"/>
          <p:cNvSpPr/>
          <p:nvPr/>
        </p:nvSpPr>
        <p:spPr>
          <a:xfrm>
            <a:off x="4521925" y="1612518"/>
            <a:ext cx="3156000" cy="596700"/>
          </a:xfrm>
          <a:prstGeom prst="rect">
            <a:avLst/>
          </a:prstGeom>
          <a:solidFill>
            <a:srgbClr val="A5A5A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Behavioral</a:t>
            </a:r>
            <a:endParaRPr b="1" i="0" sz="2200" u="none" cap="none" strike="noStrike">
              <a:solidFill>
                <a:schemeClr val="lt1"/>
              </a:solidFill>
              <a:latin typeface="Roboto"/>
              <a:ea typeface="Roboto"/>
              <a:cs typeface="Roboto"/>
              <a:sym typeface="Roboto"/>
            </a:endParaRPr>
          </a:p>
        </p:txBody>
      </p:sp>
      <p:sp>
        <p:nvSpPr>
          <p:cNvPr id="252" name="Google Shape;252;p10"/>
          <p:cNvSpPr/>
          <p:nvPr/>
        </p:nvSpPr>
        <p:spPr>
          <a:xfrm>
            <a:off x="4521925" y="2295938"/>
            <a:ext cx="3156000" cy="36975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Demonstrates past behavior on the job</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Used to predict your success in the role</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Most common questions</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Not unique to marketing</a:t>
            </a:r>
            <a:endParaRPr b="0" i="0" sz="1900" u="none" cap="none" strike="noStrike">
              <a:solidFill>
                <a:srgbClr val="A5A5A5"/>
              </a:solidFill>
              <a:latin typeface="Roboto"/>
              <a:ea typeface="Roboto"/>
              <a:cs typeface="Roboto"/>
              <a:sym typeface="Roboto"/>
            </a:endParaRPr>
          </a:p>
          <a:p>
            <a:pPr indent="-285750" lvl="0" marL="285750" marR="0" rtl="0" algn="l">
              <a:lnSpc>
                <a:spcPct val="100000"/>
              </a:lnSpc>
              <a:spcBef>
                <a:spcPts val="0"/>
              </a:spcBef>
              <a:spcAft>
                <a:spcPts val="0"/>
              </a:spcAft>
              <a:buClr>
                <a:srgbClr val="A5A5A5"/>
              </a:buClr>
              <a:buSzPts val="1900"/>
              <a:buFont typeface="Roboto"/>
              <a:buChar char="•"/>
            </a:pPr>
            <a:r>
              <a:rPr b="0" i="0" lang="en-US" sz="1900" u="none" cap="none" strike="noStrike">
                <a:solidFill>
                  <a:srgbClr val="A5A5A5"/>
                </a:solidFill>
                <a:latin typeface="Roboto"/>
                <a:ea typeface="Roboto"/>
                <a:cs typeface="Roboto"/>
                <a:sym typeface="Roboto"/>
              </a:rPr>
              <a:t>Often used interchangeably with “fit”</a:t>
            </a:r>
            <a:endParaRPr b="0" i="0" sz="1900" u="none" cap="none" strike="noStrike">
              <a:solidFill>
                <a:srgbClr val="A5A5A5"/>
              </a:solidFill>
              <a:latin typeface="Roboto"/>
              <a:ea typeface="Roboto"/>
              <a:cs typeface="Roboto"/>
              <a:sym typeface="Roboto"/>
            </a:endParaRPr>
          </a:p>
        </p:txBody>
      </p:sp>
      <p:sp>
        <p:nvSpPr>
          <p:cNvPr id="253" name="Google Shape;253;p10"/>
          <p:cNvSpPr/>
          <p:nvPr/>
        </p:nvSpPr>
        <p:spPr>
          <a:xfrm>
            <a:off x="8119864" y="1612518"/>
            <a:ext cx="3156000" cy="5967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Case</a:t>
            </a:r>
            <a:endParaRPr b="1" i="0" sz="2200" u="none" cap="none" strike="noStrike">
              <a:solidFill>
                <a:schemeClr val="lt1"/>
              </a:solidFill>
              <a:latin typeface="Roboto"/>
              <a:ea typeface="Roboto"/>
              <a:cs typeface="Roboto"/>
              <a:sym typeface="Roboto"/>
            </a:endParaRPr>
          </a:p>
        </p:txBody>
      </p:sp>
      <p:sp>
        <p:nvSpPr>
          <p:cNvPr id="254" name="Google Shape;254;p10"/>
          <p:cNvSpPr/>
          <p:nvPr/>
        </p:nvSpPr>
        <p:spPr>
          <a:xfrm>
            <a:off x="8119864" y="2295938"/>
            <a:ext cx="3156000" cy="36975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1900"/>
              <a:buFont typeface="Roboto"/>
              <a:buChar char="•"/>
            </a:pPr>
            <a:r>
              <a:rPr b="0" i="0" lang="en-US" sz="1900" u="none" cap="none" strike="noStrike">
                <a:solidFill>
                  <a:schemeClr val="dk1"/>
                </a:solidFill>
                <a:latin typeface="Roboto"/>
                <a:ea typeface="Roboto"/>
                <a:cs typeface="Roboto"/>
                <a:sym typeface="Roboto"/>
              </a:rPr>
              <a:t>Each industry and role has a different form of “case” question</a:t>
            </a:r>
            <a:endParaRPr b="0" i="0" sz="1400" u="none" cap="none" strike="noStrike">
              <a:solidFill>
                <a:schemeClr val="dk1"/>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900"/>
              <a:buFont typeface="Roboto"/>
              <a:buChar char="•"/>
            </a:pPr>
            <a:r>
              <a:rPr b="0" i="0" lang="en-US" sz="1900" u="none" cap="none" strike="noStrike">
                <a:solidFill>
                  <a:schemeClr val="dk1"/>
                </a:solidFill>
                <a:latin typeface="Roboto"/>
                <a:ea typeface="Roboto"/>
                <a:cs typeface="Roboto"/>
                <a:sym typeface="Roboto"/>
              </a:rPr>
              <a:t>Several types used in marketing:</a:t>
            </a:r>
            <a:endParaRPr b="0" i="0" sz="1400" u="none" cap="none" strike="noStrike">
              <a:solidFill>
                <a:schemeClr val="dk1"/>
              </a:solidFill>
              <a:latin typeface="Roboto"/>
              <a:ea typeface="Roboto"/>
              <a:cs typeface="Roboto"/>
              <a:sym typeface="Roboto"/>
            </a:endParaRPr>
          </a:p>
          <a:p>
            <a:pPr indent="-342900" lvl="4" marL="697230" marR="0" rtl="0" algn="l">
              <a:lnSpc>
                <a:spcPct val="100000"/>
              </a:lnSpc>
              <a:spcBef>
                <a:spcPts val="0"/>
              </a:spcBef>
              <a:spcAft>
                <a:spcPts val="0"/>
              </a:spcAft>
              <a:buClr>
                <a:schemeClr val="dk1"/>
              </a:buClr>
              <a:buSzPts val="1900"/>
              <a:buFont typeface="Roboto"/>
              <a:buChar char="o"/>
            </a:pPr>
            <a:r>
              <a:rPr b="0" i="0" lang="en-US" sz="1900" u="none" cap="none" strike="noStrike">
                <a:solidFill>
                  <a:schemeClr val="dk1"/>
                </a:solidFill>
                <a:latin typeface="Roboto"/>
                <a:ea typeface="Roboto"/>
                <a:cs typeface="Roboto"/>
                <a:sym typeface="Roboto"/>
              </a:rPr>
              <a:t>New Product Launch</a:t>
            </a:r>
            <a:endParaRPr b="0" i="0" sz="1400" u="none" cap="none" strike="noStrike">
              <a:solidFill>
                <a:schemeClr val="dk1"/>
              </a:solidFill>
              <a:latin typeface="Roboto"/>
              <a:ea typeface="Roboto"/>
              <a:cs typeface="Roboto"/>
              <a:sym typeface="Roboto"/>
            </a:endParaRPr>
          </a:p>
          <a:p>
            <a:pPr indent="-342900" lvl="7" marL="697230" marR="0" rtl="0" algn="l">
              <a:lnSpc>
                <a:spcPct val="100000"/>
              </a:lnSpc>
              <a:spcBef>
                <a:spcPts val="0"/>
              </a:spcBef>
              <a:spcAft>
                <a:spcPts val="0"/>
              </a:spcAft>
              <a:buClr>
                <a:schemeClr val="dk1"/>
              </a:buClr>
              <a:buSzPts val="1900"/>
              <a:buFont typeface="Roboto"/>
              <a:buChar char="o"/>
            </a:pPr>
            <a:r>
              <a:rPr b="0" i="0" lang="en-US" sz="1900" u="none" cap="none" strike="noStrike">
                <a:solidFill>
                  <a:schemeClr val="dk1"/>
                </a:solidFill>
                <a:latin typeface="Roboto"/>
                <a:ea typeface="Roboto"/>
                <a:cs typeface="Roboto"/>
                <a:sym typeface="Roboto"/>
              </a:rPr>
              <a:t>Performance Analysis</a:t>
            </a:r>
            <a:endParaRPr b="0" i="0" sz="1400" u="none" cap="none" strike="noStrike">
              <a:solidFill>
                <a:schemeClr val="dk1"/>
              </a:solidFill>
              <a:latin typeface="Roboto"/>
              <a:ea typeface="Roboto"/>
              <a:cs typeface="Roboto"/>
              <a:sym typeface="Roboto"/>
            </a:endParaRPr>
          </a:p>
          <a:p>
            <a:pPr indent="-342900" lvl="7" marL="697230" marR="0" rtl="0" algn="l">
              <a:lnSpc>
                <a:spcPct val="100000"/>
              </a:lnSpc>
              <a:spcBef>
                <a:spcPts val="0"/>
              </a:spcBef>
              <a:spcAft>
                <a:spcPts val="0"/>
              </a:spcAft>
              <a:buClr>
                <a:schemeClr val="dk1"/>
              </a:buClr>
              <a:buSzPts val="1900"/>
              <a:buFont typeface="Roboto"/>
              <a:buChar char="o"/>
            </a:pPr>
            <a:r>
              <a:rPr b="0" i="0" lang="en-US" sz="1900" u="none" cap="none" strike="noStrike">
                <a:solidFill>
                  <a:schemeClr val="dk1"/>
                </a:solidFill>
                <a:latin typeface="Roboto"/>
                <a:ea typeface="Roboto"/>
                <a:cs typeface="Roboto"/>
                <a:sym typeface="Roboto"/>
              </a:rPr>
              <a:t>New Entrant</a:t>
            </a:r>
            <a:endParaRPr b="0" i="0" sz="1400" u="none" cap="none" strike="noStrike">
              <a:solidFill>
                <a:schemeClr val="dk1"/>
              </a:solidFill>
              <a:latin typeface="Roboto"/>
              <a:ea typeface="Roboto"/>
              <a:cs typeface="Roboto"/>
              <a:sym typeface="Roboto"/>
            </a:endParaRPr>
          </a:p>
          <a:p>
            <a:pPr indent="-342900" lvl="7" marL="697230" marR="0" rtl="0" algn="l">
              <a:lnSpc>
                <a:spcPct val="100000"/>
              </a:lnSpc>
              <a:spcBef>
                <a:spcPts val="0"/>
              </a:spcBef>
              <a:spcAft>
                <a:spcPts val="0"/>
              </a:spcAft>
              <a:buClr>
                <a:schemeClr val="dk1"/>
              </a:buClr>
              <a:buSzPts val="1900"/>
              <a:buFont typeface="Roboto"/>
              <a:buChar char="o"/>
            </a:pPr>
            <a:r>
              <a:rPr b="0" i="0" lang="en-US" sz="1900" u="none" cap="none" strike="noStrike">
                <a:solidFill>
                  <a:schemeClr val="dk1"/>
                </a:solidFill>
                <a:latin typeface="Roboto"/>
                <a:ea typeface="Roboto"/>
                <a:cs typeface="Roboto"/>
                <a:sym typeface="Roboto"/>
              </a:rPr>
              <a:t>Market Sizing</a:t>
            </a:r>
            <a:endParaRPr b="0" i="0" sz="1400" u="none" cap="none" strike="noStrike">
              <a:solidFill>
                <a:schemeClr val="dk1"/>
              </a:solidFill>
              <a:latin typeface="Roboto"/>
              <a:ea typeface="Roboto"/>
              <a:cs typeface="Roboto"/>
              <a:sym typeface="Roboto"/>
            </a:endParaRPr>
          </a:p>
          <a:p>
            <a:pPr indent="-342900" lvl="7" marL="697230" marR="0" rtl="0" algn="l">
              <a:lnSpc>
                <a:spcPct val="100000"/>
              </a:lnSpc>
              <a:spcBef>
                <a:spcPts val="0"/>
              </a:spcBef>
              <a:spcAft>
                <a:spcPts val="0"/>
              </a:spcAft>
              <a:buClr>
                <a:schemeClr val="dk1"/>
              </a:buClr>
              <a:buSzPts val="1900"/>
              <a:buFont typeface="Roboto"/>
              <a:buChar char="o"/>
            </a:pPr>
            <a:r>
              <a:rPr b="0" i="0" lang="en-US" sz="1900" u="none" cap="none" strike="noStrike">
                <a:solidFill>
                  <a:schemeClr val="dk1"/>
                </a:solidFill>
                <a:latin typeface="Roboto"/>
                <a:ea typeface="Roboto"/>
                <a:cs typeface="Roboto"/>
                <a:sym typeface="Roboto"/>
              </a:rPr>
              <a:t>Marketing Analysis</a:t>
            </a:r>
            <a:endParaRPr b="0" i="0" sz="1400" u="none" cap="none" strike="noStrike">
              <a:solidFill>
                <a:schemeClr val="dk1"/>
              </a:solidFill>
              <a:latin typeface="Roboto"/>
              <a:ea typeface="Roboto"/>
              <a:cs typeface="Roboto"/>
              <a:sym typeface="Roboto"/>
            </a:endParaRPr>
          </a:p>
        </p:txBody>
      </p:sp>
      <p:sp>
        <p:nvSpPr>
          <p:cNvPr id="255" name="Google Shape;255;p10"/>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Today we will focus on case questions</a:t>
            </a:r>
            <a:endParaRPr b="1" i="0" sz="3600" u="none" cap="none" strike="noStrike">
              <a:solidFill>
                <a:schemeClr val="accent1"/>
              </a:solidFill>
              <a:latin typeface="Roboto"/>
              <a:ea typeface="Roboto"/>
              <a:cs typeface="Roboto"/>
              <a:sym typeface="Roboto"/>
            </a:endParaRPr>
          </a:p>
        </p:txBody>
      </p:sp>
      <p:sp>
        <p:nvSpPr>
          <p:cNvPr id="256" name="Google Shape;256;p1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257" name="Google Shape;257;p10"/>
          <p:cNvSpPr/>
          <p:nvPr/>
        </p:nvSpPr>
        <p:spPr>
          <a:xfrm>
            <a:off x="7991061" y="1510748"/>
            <a:ext cx="3409200" cy="4594500"/>
          </a:xfrm>
          <a:prstGeom prst="rect">
            <a:avLst/>
          </a:prstGeom>
          <a:noFill/>
          <a:ln cap="flat" cmpd="sng" w="25400">
            <a:solidFill>
              <a:schemeClr val="accent6"/>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1"/>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What is a case question?</a:t>
            </a:r>
            <a:endParaRPr b="1" i="0" sz="3600" u="none" cap="none" strike="noStrike">
              <a:solidFill>
                <a:schemeClr val="accent1"/>
              </a:solidFill>
              <a:latin typeface="Roboto"/>
              <a:ea typeface="Roboto"/>
              <a:cs typeface="Roboto"/>
              <a:sym typeface="Roboto"/>
            </a:endParaRPr>
          </a:p>
        </p:txBody>
      </p:sp>
      <p:sp>
        <p:nvSpPr>
          <p:cNvPr id="263" name="Google Shape;263;p1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264" name="Google Shape;264;p11"/>
          <p:cNvSpPr txBox="1"/>
          <p:nvPr>
            <p:ph idx="1" type="body"/>
          </p:nvPr>
        </p:nvSpPr>
        <p:spPr>
          <a:xfrm>
            <a:off x="920899" y="1512712"/>
            <a:ext cx="10340100" cy="4274700"/>
          </a:xfrm>
          <a:prstGeom prst="rect">
            <a:avLst/>
          </a:prstGeom>
          <a:noFill/>
          <a:ln>
            <a:noFill/>
          </a:ln>
        </p:spPr>
        <p:txBody>
          <a:bodyPr anchorCtr="0" anchor="t" bIns="45700" lIns="91425" spcFirstLastPara="1" rIns="91425" wrap="square" tIns="45700">
            <a:noAutofit/>
          </a:bodyPr>
          <a:lstStyle/>
          <a:p>
            <a:pPr indent="0" lvl="0" marL="88900" rtl="0" algn="l">
              <a:lnSpc>
                <a:spcPct val="100000"/>
              </a:lnSpc>
              <a:spcBef>
                <a:spcPts val="480"/>
              </a:spcBef>
              <a:spcAft>
                <a:spcPts val="0"/>
              </a:spcAft>
              <a:buSzPts val="2200"/>
              <a:buNone/>
            </a:pPr>
            <a:r>
              <a:rPr lang="en-US" sz="1800">
                <a:latin typeface="Roboto"/>
                <a:ea typeface="Roboto"/>
                <a:cs typeface="Roboto"/>
                <a:sym typeface="Roboto"/>
              </a:rPr>
              <a:t>Case questions require you to evaluate a </a:t>
            </a:r>
            <a:r>
              <a:rPr b="1" lang="en-US" sz="1800">
                <a:latin typeface="Roboto"/>
                <a:ea typeface="Roboto"/>
                <a:cs typeface="Roboto"/>
                <a:sym typeface="Roboto"/>
              </a:rPr>
              <a:t>business problem: </a:t>
            </a:r>
            <a:r>
              <a:rPr lang="en-US" sz="1800">
                <a:latin typeface="Roboto"/>
                <a:ea typeface="Roboto"/>
                <a:cs typeface="Roboto"/>
                <a:sym typeface="Roboto"/>
              </a:rPr>
              <a:t>specific situations, products, or advertising campaigns</a:t>
            </a:r>
            <a:endParaRPr sz="1800">
              <a:latin typeface="Roboto"/>
              <a:ea typeface="Roboto"/>
              <a:cs typeface="Roboto"/>
              <a:sym typeface="Roboto"/>
            </a:endParaRPr>
          </a:p>
          <a:p>
            <a:pPr indent="0" lvl="0" marL="88900" rtl="0" algn="l">
              <a:lnSpc>
                <a:spcPct val="100000"/>
              </a:lnSpc>
              <a:spcBef>
                <a:spcPts val="480"/>
              </a:spcBef>
              <a:spcAft>
                <a:spcPts val="0"/>
              </a:spcAft>
              <a:buSzPts val="2200"/>
              <a:buNone/>
            </a:pPr>
            <a:r>
              <a:t/>
            </a:r>
            <a:endParaRPr sz="1800">
              <a:latin typeface="Roboto"/>
              <a:ea typeface="Roboto"/>
              <a:cs typeface="Roboto"/>
              <a:sym typeface="Roboto"/>
            </a:endParaRPr>
          </a:p>
          <a:p>
            <a:pPr indent="0" lvl="0" marL="88900" rtl="0" algn="l">
              <a:lnSpc>
                <a:spcPct val="100000"/>
              </a:lnSpc>
              <a:spcBef>
                <a:spcPts val="480"/>
              </a:spcBef>
              <a:spcAft>
                <a:spcPts val="0"/>
              </a:spcAft>
              <a:buSzPts val="2200"/>
              <a:buNone/>
            </a:pPr>
            <a:r>
              <a:rPr lang="en-US" sz="1800">
                <a:latin typeface="Roboto"/>
                <a:ea typeface="Roboto"/>
                <a:cs typeface="Roboto"/>
                <a:sym typeface="Roboto"/>
              </a:rPr>
              <a:t>They are used by companies to see if you </a:t>
            </a:r>
            <a:r>
              <a:rPr b="1" lang="en-US" sz="1800">
                <a:latin typeface="Roboto"/>
                <a:ea typeface="Roboto"/>
                <a:cs typeface="Roboto"/>
                <a:sym typeface="Roboto"/>
              </a:rPr>
              <a:t>understand basic marketing acumen</a:t>
            </a:r>
            <a:r>
              <a:rPr lang="en-US" sz="1800">
                <a:latin typeface="Roboto"/>
                <a:ea typeface="Roboto"/>
                <a:cs typeface="Roboto"/>
                <a:sym typeface="Roboto"/>
              </a:rPr>
              <a:t> and if you can </a:t>
            </a:r>
            <a:r>
              <a:rPr b="1" lang="en-US" sz="1800">
                <a:latin typeface="Roboto"/>
                <a:ea typeface="Roboto"/>
                <a:cs typeface="Roboto"/>
                <a:sym typeface="Roboto"/>
              </a:rPr>
              <a:t>think like a marketer</a:t>
            </a:r>
            <a:endParaRPr b="1" sz="1800">
              <a:latin typeface="Roboto"/>
              <a:ea typeface="Roboto"/>
              <a:cs typeface="Roboto"/>
              <a:sym typeface="Roboto"/>
            </a:endParaRPr>
          </a:p>
          <a:p>
            <a:pPr indent="0" lvl="0" marL="88900" rtl="0" algn="l">
              <a:lnSpc>
                <a:spcPct val="100000"/>
              </a:lnSpc>
              <a:spcBef>
                <a:spcPts val="480"/>
              </a:spcBef>
              <a:spcAft>
                <a:spcPts val="0"/>
              </a:spcAft>
              <a:buSzPts val="2200"/>
              <a:buNone/>
            </a:pPr>
            <a:r>
              <a:t/>
            </a:r>
            <a:endParaRPr sz="1800">
              <a:latin typeface="Roboto"/>
              <a:ea typeface="Roboto"/>
              <a:cs typeface="Roboto"/>
              <a:sym typeface="Roboto"/>
            </a:endParaRPr>
          </a:p>
          <a:p>
            <a:pPr indent="0" lvl="0" marL="88900" rtl="0" algn="l">
              <a:lnSpc>
                <a:spcPct val="100000"/>
              </a:lnSpc>
              <a:spcBef>
                <a:spcPts val="480"/>
              </a:spcBef>
              <a:spcAft>
                <a:spcPts val="0"/>
              </a:spcAft>
              <a:buSzPts val="2200"/>
              <a:buNone/>
            </a:pPr>
            <a:r>
              <a:rPr lang="en-US" sz="1800">
                <a:latin typeface="Roboto"/>
                <a:ea typeface="Roboto"/>
                <a:cs typeface="Roboto"/>
                <a:sym typeface="Roboto"/>
              </a:rPr>
              <a:t>Unlike consulting cases, marketing cases require you to bring all knowledge of consumer/product trends, specific brands, and any company insights that you want to use to apply to situations</a:t>
            </a:r>
            <a:endParaRPr/>
          </a:p>
          <a:p>
            <a:pPr indent="0" lvl="0" marL="88900" rtl="0" algn="l">
              <a:lnSpc>
                <a:spcPct val="100000"/>
              </a:lnSpc>
              <a:spcBef>
                <a:spcPts val="480"/>
              </a:spcBef>
              <a:spcAft>
                <a:spcPts val="0"/>
              </a:spcAft>
              <a:buSzPts val="2200"/>
              <a:buNone/>
            </a:pPr>
            <a:r>
              <a:t/>
            </a:r>
            <a:endParaRPr sz="1800">
              <a:latin typeface="Roboto"/>
              <a:ea typeface="Roboto"/>
              <a:cs typeface="Roboto"/>
              <a:sym typeface="Roboto"/>
            </a:endParaRPr>
          </a:p>
          <a:p>
            <a:pPr indent="0" lvl="0" marL="88900" rtl="0" algn="l">
              <a:lnSpc>
                <a:spcPct val="100000"/>
              </a:lnSpc>
              <a:spcBef>
                <a:spcPts val="480"/>
              </a:spcBef>
              <a:spcAft>
                <a:spcPts val="0"/>
              </a:spcAft>
              <a:buSzPts val="2200"/>
              <a:buNone/>
            </a:pPr>
            <a:r>
              <a:rPr lang="en-US" sz="1800">
                <a:latin typeface="Roboto"/>
                <a:ea typeface="Roboto"/>
                <a:cs typeface="Roboto"/>
                <a:sym typeface="Roboto"/>
              </a:rPr>
              <a:t>There are </a:t>
            </a:r>
            <a:r>
              <a:rPr b="1" lang="en-US" sz="1800">
                <a:latin typeface="Roboto"/>
                <a:ea typeface="Roboto"/>
                <a:cs typeface="Roboto"/>
                <a:sym typeface="Roboto"/>
              </a:rPr>
              <a:t>4 major types of case questions and frameworks</a:t>
            </a:r>
            <a:r>
              <a:rPr lang="en-US" sz="1800">
                <a:latin typeface="Roboto"/>
                <a:ea typeface="Roboto"/>
                <a:cs typeface="Roboto"/>
                <a:sym typeface="Roboto"/>
              </a:rPr>
              <a:t> that can be applied (we will review these in depth on the following slides)</a:t>
            </a:r>
            <a:endParaRPr sz="1800">
              <a:latin typeface="Roboto"/>
              <a:ea typeface="Roboto"/>
              <a:cs typeface="Roboto"/>
              <a:sym typeface="Roboto"/>
            </a:endParaRPr>
          </a:p>
        </p:txBody>
      </p:sp>
      <p:sp>
        <p:nvSpPr>
          <p:cNvPr id="265" name="Google Shape;265;p11"/>
          <p:cNvSpPr/>
          <p:nvPr/>
        </p:nvSpPr>
        <p:spPr>
          <a:xfrm>
            <a:off x="920899" y="5339062"/>
            <a:ext cx="10340100" cy="8967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84B9F6"/>
                </a:solidFill>
                <a:latin typeface="Roboto"/>
                <a:ea typeface="Roboto"/>
                <a:cs typeface="Roboto"/>
                <a:sym typeface="Roboto"/>
              </a:rPr>
              <a:t>The most important thing to know about case questions: </a:t>
            </a:r>
            <a:r>
              <a:rPr b="1" i="0" lang="en-US" sz="2200" u="none" cap="none" strike="noStrike">
                <a:solidFill>
                  <a:schemeClr val="lt1"/>
                </a:solidFill>
                <a:latin typeface="Roboto"/>
                <a:ea typeface="Roboto"/>
                <a:cs typeface="Roboto"/>
                <a:sym typeface="Roboto"/>
              </a:rPr>
              <a:t>the more you practice, the better you will be and the more confident you will feel!</a:t>
            </a:r>
            <a:endParaRPr b="1" i="0" sz="2200" u="none" cap="none" strike="noStrike">
              <a:solidFill>
                <a:schemeClr val="l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2"/>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There are four types of marketing case questions you need to master to succeed in interviews</a:t>
            </a:r>
            <a:endParaRPr b="1" i="0" sz="3600" u="none" cap="none" strike="noStrike">
              <a:solidFill>
                <a:schemeClr val="accent1"/>
              </a:solidFill>
              <a:latin typeface="Roboto"/>
              <a:ea typeface="Roboto"/>
              <a:cs typeface="Roboto"/>
              <a:sym typeface="Roboto"/>
            </a:endParaRPr>
          </a:p>
        </p:txBody>
      </p:sp>
      <p:sp>
        <p:nvSpPr>
          <p:cNvPr id="271" name="Google Shape;271;p12"/>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272" name="Google Shape;272;p12"/>
          <p:cNvSpPr/>
          <p:nvPr/>
        </p:nvSpPr>
        <p:spPr>
          <a:xfrm>
            <a:off x="971342" y="1711908"/>
            <a:ext cx="2469000" cy="391212"/>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Roboto"/>
                <a:ea typeface="Roboto"/>
                <a:cs typeface="Roboto"/>
                <a:sym typeface="Roboto"/>
              </a:rPr>
              <a:t>5 C’s</a:t>
            </a:r>
            <a:endParaRPr b="1" i="0" sz="2400" u="none" cap="none" strike="noStrike">
              <a:solidFill>
                <a:schemeClr val="lt1"/>
              </a:solidFill>
              <a:latin typeface="Roboto"/>
              <a:ea typeface="Roboto"/>
              <a:cs typeface="Roboto"/>
              <a:sym typeface="Roboto"/>
            </a:endParaRPr>
          </a:p>
        </p:txBody>
      </p:sp>
      <p:sp>
        <p:nvSpPr>
          <p:cNvPr id="273" name="Google Shape;273;p12"/>
          <p:cNvSpPr/>
          <p:nvPr/>
        </p:nvSpPr>
        <p:spPr>
          <a:xfrm>
            <a:off x="971342" y="2151192"/>
            <a:ext cx="2469000" cy="2823580"/>
          </a:xfrm>
          <a:prstGeom prst="rect">
            <a:avLst/>
          </a:prstGeom>
          <a:solidFill>
            <a:srgbClr val="C0DCFB"/>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Used to evaluate </a:t>
            </a:r>
            <a:r>
              <a:rPr b="1" i="0" lang="en-US" sz="1800" u="none" cap="none" strike="noStrike">
                <a:solidFill>
                  <a:schemeClr val="dk1"/>
                </a:solidFill>
                <a:latin typeface="Roboto"/>
                <a:ea typeface="Roboto"/>
                <a:cs typeface="Roboto"/>
                <a:sym typeface="Roboto"/>
              </a:rPr>
              <a:t>a situation or the market</a:t>
            </a:r>
            <a:endParaRPr/>
          </a:p>
          <a:p>
            <a:pPr indent="-158750" lvl="0" marL="285750" marR="0" rtl="0" algn="l">
              <a:lnSpc>
                <a:spcPct val="100000"/>
              </a:lnSpc>
              <a:spcBef>
                <a:spcPts val="0"/>
              </a:spcBef>
              <a:spcAft>
                <a:spcPts val="0"/>
              </a:spcAft>
              <a:buClr>
                <a:schemeClr val="dk1"/>
              </a:buClr>
              <a:buSzPts val="2000"/>
              <a:buFont typeface="Roboto"/>
              <a:buNone/>
            </a:pPr>
            <a:r>
              <a:t/>
            </a:r>
            <a:endParaRPr b="1" i="0" sz="18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Focus is </a:t>
            </a:r>
            <a:r>
              <a:rPr b="1" i="0" lang="en-US" sz="1800" u="none" cap="none" strike="noStrike">
                <a:solidFill>
                  <a:schemeClr val="dk1"/>
                </a:solidFill>
                <a:latin typeface="Roboto"/>
                <a:ea typeface="Roboto"/>
                <a:cs typeface="Roboto"/>
                <a:sym typeface="Roboto"/>
              </a:rPr>
              <a:t>big picture</a:t>
            </a:r>
            <a:r>
              <a:rPr b="0" i="0" lang="en-US" sz="1800" u="none" cap="none" strike="noStrike">
                <a:solidFill>
                  <a:schemeClr val="dk1"/>
                </a:solidFill>
                <a:latin typeface="Roboto"/>
                <a:ea typeface="Roboto"/>
                <a:cs typeface="Roboto"/>
                <a:sym typeface="Roboto"/>
              </a:rPr>
              <a:t>, </a:t>
            </a:r>
            <a:r>
              <a:rPr b="1" i="0" lang="en-US" sz="1800" u="none" cap="none" strike="noStrike">
                <a:solidFill>
                  <a:schemeClr val="dk1"/>
                </a:solidFill>
                <a:latin typeface="Roboto"/>
                <a:ea typeface="Roboto"/>
                <a:cs typeface="Roboto"/>
                <a:sym typeface="Roboto"/>
              </a:rPr>
              <a:t>strategic</a:t>
            </a:r>
            <a:endParaRPr b="1" i="0" sz="1800" u="none" cap="none" strike="noStrike">
              <a:solidFill>
                <a:srgbClr val="000000"/>
              </a:solidFill>
              <a:latin typeface="Roboto"/>
              <a:ea typeface="Roboto"/>
              <a:cs typeface="Roboto"/>
              <a:sym typeface="Roboto"/>
            </a:endParaRPr>
          </a:p>
        </p:txBody>
      </p:sp>
      <p:sp>
        <p:nvSpPr>
          <p:cNvPr id="274" name="Google Shape;274;p12"/>
          <p:cNvSpPr/>
          <p:nvPr/>
        </p:nvSpPr>
        <p:spPr>
          <a:xfrm>
            <a:off x="3546100" y="1711908"/>
            <a:ext cx="2469000" cy="391212"/>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Roboto"/>
                <a:ea typeface="Roboto"/>
                <a:cs typeface="Roboto"/>
                <a:sym typeface="Roboto"/>
              </a:rPr>
              <a:t>4 P’s</a:t>
            </a:r>
            <a:endParaRPr b="1" i="0" sz="2400" u="none" cap="none" strike="noStrike">
              <a:solidFill>
                <a:schemeClr val="lt1"/>
              </a:solidFill>
              <a:latin typeface="Roboto"/>
              <a:ea typeface="Roboto"/>
              <a:cs typeface="Roboto"/>
              <a:sym typeface="Roboto"/>
            </a:endParaRPr>
          </a:p>
        </p:txBody>
      </p:sp>
      <p:sp>
        <p:nvSpPr>
          <p:cNvPr id="275" name="Google Shape;275;p12"/>
          <p:cNvSpPr/>
          <p:nvPr/>
        </p:nvSpPr>
        <p:spPr>
          <a:xfrm>
            <a:off x="3546100" y="2151192"/>
            <a:ext cx="2469000" cy="2823580"/>
          </a:xfrm>
          <a:prstGeom prst="rect">
            <a:avLst/>
          </a:prstGeom>
          <a:solidFill>
            <a:srgbClr val="D4EFF9"/>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Used to evaluate a </a:t>
            </a:r>
            <a:r>
              <a:rPr b="1" i="0" lang="en-US" sz="1800" u="none" cap="none" strike="noStrike">
                <a:solidFill>
                  <a:schemeClr val="dk1"/>
                </a:solidFill>
                <a:latin typeface="Roboto"/>
                <a:ea typeface="Roboto"/>
                <a:cs typeface="Roboto"/>
                <a:sym typeface="Roboto"/>
              </a:rPr>
              <a:t>specific brand</a:t>
            </a:r>
            <a:r>
              <a:rPr b="0" i="0" lang="en-US" sz="1800" u="none" cap="none" strike="noStrike">
                <a:solidFill>
                  <a:schemeClr val="dk1"/>
                </a:solidFill>
                <a:latin typeface="Roboto"/>
                <a:ea typeface="Roboto"/>
                <a:cs typeface="Roboto"/>
                <a:sym typeface="Roboto"/>
              </a:rPr>
              <a:t> situation or execute a marketing plan for a </a:t>
            </a:r>
            <a:r>
              <a:rPr b="1" i="0" lang="en-US" sz="1800" u="none" cap="none" strike="noStrike">
                <a:solidFill>
                  <a:schemeClr val="dk1"/>
                </a:solidFill>
                <a:latin typeface="Roboto"/>
                <a:ea typeface="Roboto"/>
                <a:cs typeface="Roboto"/>
                <a:sym typeface="Roboto"/>
              </a:rPr>
              <a:t>new product</a:t>
            </a:r>
            <a:endParaRPr/>
          </a:p>
          <a:p>
            <a:pPr indent="-158750" lvl="0" marL="285750" marR="0" rtl="0" algn="l">
              <a:lnSpc>
                <a:spcPct val="100000"/>
              </a:lnSpc>
              <a:spcBef>
                <a:spcPts val="0"/>
              </a:spcBef>
              <a:spcAft>
                <a:spcPts val="0"/>
              </a:spcAft>
              <a:buClr>
                <a:schemeClr val="dk1"/>
              </a:buClr>
              <a:buSzPts val="2000"/>
              <a:buFont typeface="Roboto"/>
              <a:buNone/>
            </a:pPr>
            <a:r>
              <a:t/>
            </a:r>
            <a:endParaRPr b="1" i="0" sz="18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Focus is </a:t>
            </a:r>
            <a:r>
              <a:rPr b="1" i="0" lang="en-US" sz="1800" u="none" cap="none" strike="noStrike">
                <a:solidFill>
                  <a:schemeClr val="dk1"/>
                </a:solidFill>
                <a:latin typeface="Roboto"/>
                <a:ea typeface="Roboto"/>
                <a:cs typeface="Roboto"/>
                <a:sym typeface="Roboto"/>
              </a:rPr>
              <a:t>in-depth, execution</a:t>
            </a:r>
            <a:endParaRPr b="1" i="0" sz="1800" u="none" cap="none" strike="noStrike">
              <a:solidFill>
                <a:srgbClr val="000000"/>
              </a:solidFill>
              <a:latin typeface="Roboto"/>
              <a:ea typeface="Roboto"/>
              <a:cs typeface="Roboto"/>
              <a:sym typeface="Roboto"/>
            </a:endParaRPr>
          </a:p>
        </p:txBody>
      </p:sp>
      <p:sp>
        <p:nvSpPr>
          <p:cNvPr id="276" name="Google Shape;276;p12"/>
          <p:cNvSpPr/>
          <p:nvPr/>
        </p:nvSpPr>
        <p:spPr>
          <a:xfrm>
            <a:off x="6120858" y="1711908"/>
            <a:ext cx="2469000" cy="391212"/>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Roboto"/>
                <a:ea typeface="Roboto"/>
                <a:cs typeface="Roboto"/>
                <a:sym typeface="Roboto"/>
              </a:rPr>
              <a:t>TOESS</a:t>
            </a:r>
            <a:endParaRPr b="1" i="0" sz="2400" u="none" cap="none" strike="noStrike">
              <a:solidFill>
                <a:schemeClr val="lt1"/>
              </a:solidFill>
              <a:latin typeface="Roboto"/>
              <a:ea typeface="Roboto"/>
              <a:cs typeface="Roboto"/>
              <a:sym typeface="Roboto"/>
            </a:endParaRPr>
          </a:p>
        </p:txBody>
      </p:sp>
      <p:sp>
        <p:nvSpPr>
          <p:cNvPr id="277" name="Google Shape;277;p12"/>
          <p:cNvSpPr/>
          <p:nvPr/>
        </p:nvSpPr>
        <p:spPr>
          <a:xfrm>
            <a:off x="6120858" y="2151192"/>
            <a:ext cx="2469000" cy="2823580"/>
          </a:xfrm>
          <a:prstGeom prst="rect">
            <a:avLst/>
          </a:prstGeom>
          <a:solidFill>
            <a:srgbClr val="FDF2CA"/>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Used to evaluate </a:t>
            </a:r>
            <a:r>
              <a:rPr b="1" i="0" lang="en-US" sz="1800" u="none" cap="none" strike="noStrike">
                <a:solidFill>
                  <a:schemeClr val="dk1"/>
                </a:solidFill>
                <a:latin typeface="Roboto"/>
                <a:ea typeface="Roboto"/>
                <a:cs typeface="Roboto"/>
                <a:sym typeface="Roboto"/>
              </a:rPr>
              <a:t>advertising efficacy</a:t>
            </a:r>
            <a:endParaRPr/>
          </a:p>
          <a:p>
            <a:pPr indent="-158750" lvl="0" marL="285750" marR="0" rtl="0" algn="l">
              <a:lnSpc>
                <a:spcPct val="100000"/>
              </a:lnSpc>
              <a:spcBef>
                <a:spcPts val="0"/>
              </a:spcBef>
              <a:spcAft>
                <a:spcPts val="0"/>
              </a:spcAft>
              <a:buClr>
                <a:schemeClr val="dk1"/>
              </a:buClr>
              <a:buSzPts val="2000"/>
              <a:buFont typeface="Roboto"/>
              <a:buNone/>
            </a:pPr>
            <a:r>
              <a:t/>
            </a:r>
            <a:endParaRPr b="1" i="0" sz="18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Reactive to a </a:t>
            </a:r>
            <a:r>
              <a:rPr b="1" i="0" lang="en-US" sz="1800" u="none" cap="none" strike="noStrike">
                <a:solidFill>
                  <a:schemeClr val="dk1"/>
                </a:solidFill>
                <a:latin typeface="Roboto"/>
                <a:ea typeface="Roboto"/>
                <a:cs typeface="Roboto"/>
                <a:sym typeface="Roboto"/>
              </a:rPr>
              <a:t>specific piece of creative or campaign</a:t>
            </a:r>
            <a:endParaRPr b="1" i="0" sz="1800" u="none" cap="none" strike="noStrike">
              <a:solidFill>
                <a:srgbClr val="000000"/>
              </a:solidFill>
              <a:latin typeface="Roboto"/>
              <a:ea typeface="Roboto"/>
              <a:cs typeface="Roboto"/>
              <a:sym typeface="Roboto"/>
            </a:endParaRPr>
          </a:p>
        </p:txBody>
      </p:sp>
      <p:sp>
        <p:nvSpPr>
          <p:cNvPr id="278" name="Google Shape;278;p12"/>
          <p:cNvSpPr/>
          <p:nvPr/>
        </p:nvSpPr>
        <p:spPr>
          <a:xfrm>
            <a:off x="8695616" y="1711908"/>
            <a:ext cx="2469000" cy="391212"/>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Roboto"/>
                <a:ea typeface="Roboto"/>
                <a:cs typeface="Roboto"/>
                <a:sym typeface="Roboto"/>
              </a:rPr>
              <a:t>Market Sizing</a:t>
            </a:r>
            <a:endParaRPr b="1" i="0" sz="2400" u="none" cap="none" strike="noStrike">
              <a:solidFill>
                <a:schemeClr val="lt1"/>
              </a:solidFill>
              <a:latin typeface="Roboto"/>
              <a:ea typeface="Roboto"/>
              <a:cs typeface="Roboto"/>
              <a:sym typeface="Roboto"/>
            </a:endParaRPr>
          </a:p>
        </p:txBody>
      </p:sp>
      <p:sp>
        <p:nvSpPr>
          <p:cNvPr id="279" name="Google Shape;279;p12"/>
          <p:cNvSpPr/>
          <p:nvPr/>
        </p:nvSpPr>
        <p:spPr>
          <a:xfrm>
            <a:off x="8695616" y="2151192"/>
            <a:ext cx="2469000" cy="2823580"/>
          </a:xfrm>
          <a:prstGeom prst="rect">
            <a:avLst/>
          </a:prstGeom>
          <a:solidFill>
            <a:srgbClr val="F8DFD4"/>
          </a:solidFill>
          <a:ln>
            <a:noFill/>
          </a:ln>
        </p:spPr>
        <p:txBody>
          <a:bodyPr anchorCtr="0" anchor="t" bIns="91425" lIns="91425" spcFirstLastPara="1" rIns="91425" wrap="square" tIns="91425">
            <a:noAutofit/>
          </a:bodyPr>
          <a:lstStyle/>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Evaluate the potential </a:t>
            </a:r>
            <a:r>
              <a:rPr b="1" i="0" lang="en-US" sz="1800" u="none" cap="none" strike="noStrike">
                <a:solidFill>
                  <a:schemeClr val="dk1"/>
                </a:solidFill>
                <a:latin typeface="Roboto"/>
                <a:ea typeface="Roboto"/>
                <a:cs typeface="Roboto"/>
                <a:sym typeface="Roboto"/>
              </a:rPr>
              <a:t>size of an opportunity</a:t>
            </a:r>
            <a:endParaRPr/>
          </a:p>
          <a:p>
            <a:pPr indent="-158750" lvl="0" marL="285750" marR="0" rtl="0" algn="l">
              <a:lnSpc>
                <a:spcPct val="100000"/>
              </a:lnSpc>
              <a:spcBef>
                <a:spcPts val="0"/>
              </a:spcBef>
              <a:spcAft>
                <a:spcPts val="0"/>
              </a:spcAft>
              <a:buClr>
                <a:schemeClr val="dk1"/>
              </a:buClr>
              <a:buSzPts val="2000"/>
              <a:buFont typeface="Roboto"/>
              <a:buNone/>
            </a:pPr>
            <a:r>
              <a:t/>
            </a:r>
            <a:endParaRPr b="1" i="0" sz="18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2000"/>
              <a:buFont typeface="Roboto"/>
              <a:buChar char="•"/>
            </a:pPr>
            <a:r>
              <a:rPr b="0" i="0" lang="en-US" sz="1800" u="none" cap="none" strike="noStrike">
                <a:solidFill>
                  <a:schemeClr val="dk1"/>
                </a:solidFill>
                <a:latin typeface="Roboto"/>
                <a:ea typeface="Roboto"/>
                <a:cs typeface="Roboto"/>
                <a:sym typeface="Roboto"/>
              </a:rPr>
              <a:t>Focus is on demonstration of </a:t>
            </a:r>
            <a:r>
              <a:rPr b="1" i="0" lang="en-US" sz="1800" u="none" cap="none" strike="noStrike">
                <a:solidFill>
                  <a:schemeClr val="dk1"/>
                </a:solidFill>
                <a:latin typeface="Roboto"/>
                <a:ea typeface="Roboto"/>
                <a:cs typeface="Roboto"/>
                <a:sym typeface="Roboto"/>
              </a:rPr>
              <a:t>analytical ability</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3"/>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There are four types of marketing case questions you need to master to succeed in interviews</a:t>
            </a:r>
            <a:endParaRPr b="1" i="0" sz="3600" u="none" cap="none" strike="noStrike">
              <a:solidFill>
                <a:schemeClr val="accent1"/>
              </a:solidFill>
              <a:latin typeface="Roboto"/>
              <a:ea typeface="Roboto"/>
              <a:cs typeface="Roboto"/>
              <a:sym typeface="Roboto"/>
            </a:endParaRPr>
          </a:p>
        </p:txBody>
      </p:sp>
      <p:sp>
        <p:nvSpPr>
          <p:cNvPr id="285" name="Google Shape;285;p13"/>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aphicFrame>
        <p:nvGraphicFramePr>
          <p:cNvPr id="286" name="Google Shape;286;p13"/>
          <p:cNvGraphicFramePr/>
          <p:nvPr/>
        </p:nvGraphicFramePr>
        <p:xfrm>
          <a:off x="416171" y="1525953"/>
          <a:ext cx="3000000" cy="3000000"/>
        </p:xfrm>
        <a:graphic>
          <a:graphicData uri="http://schemas.openxmlformats.org/drawingml/2006/table">
            <a:tbl>
              <a:tblPr bandRow="1" firstRow="1">
                <a:noFill/>
                <a:tableStyleId>{6D5295AD-7D7E-41B6-A489-87AF737CDC33}</a:tableStyleId>
              </a:tblPr>
              <a:tblGrid>
                <a:gridCol w="1340875"/>
                <a:gridCol w="2317675"/>
                <a:gridCol w="2546100"/>
                <a:gridCol w="2546100"/>
                <a:gridCol w="2546100"/>
              </a:tblGrid>
              <a:tr h="444350">
                <a:tc>
                  <a:txBody>
                    <a:bodyPr/>
                    <a:lstStyle/>
                    <a:p>
                      <a:pPr indent="0" lvl="0" marL="0" marR="0" rtl="0" algn="l">
                        <a:lnSpc>
                          <a:spcPct val="100000"/>
                        </a:lnSpc>
                        <a:spcBef>
                          <a:spcPts val="0"/>
                        </a:spcBef>
                        <a:spcAft>
                          <a:spcPts val="0"/>
                        </a:spcAft>
                        <a:buNone/>
                      </a:pPr>
                      <a:r>
                        <a:rPr lang="en-US" sz="1400" u="none" cap="none" strike="noStrike"/>
                        <a:t>Case Q Type</a:t>
                      </a:r>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None/>
                      </a:pPr>
                      <a:r>
                        <a:rPr b="1" lang="en-US" sz="1400" u="none" cap="none" strike="noStrike">
                          <a:solidFill>
                            <a:schemeClr val="lt1"/>
                          </a:solidFill>
                        </a:rPr>
                        <a:t>5C’s</a:t>
                      </a:r>
                      <a:endParaRPr/>
                    </a:p>
                  </a:txBody>
                  <a:tcPr marT="45725" marB="45725" marR="91450" marL="91450" anchor="ctr">
                    <a:lnL cap="flat" cmpd="sng" w="12700">
                      <a:solidFill>
                        <a:schemeClr val="dk1"/>
                      </a:solidFill>
                      <a:prstDash val="solid"/>
                      <a:round/>
                      <a:headEnd len="sm" w="sm" type="none"/>
                      <a:tailEnd len="sm" w="sm" type="none"/>
                    </a:lnL>
                    <a:solidFill>
                      <a:srgbClr val="0D57AA"/>
                    </a:solidFill>
                  </a:tcPr>
                </a:tc>
                <a:tc>
                  <a:txBody>
                    <a:bodyPr/>
                    <a:lstStyle/>
                    <a:p>
                      <a:pPr indent="0" lvl="0" marL="0" marR="0" rtl="0" algn="ctr">
                        <a:lnSpc>
                          <a:spcPct val="100000"/>
                        </a:lnSpc>
                        <a:spcBef>
                          <a:spcPts val="0"/>
                        </a:spcBef>
                        <a:spcAft>
                          <a:spcPts val="0"/>
                        </a:spcAft>
                        <a:buNone/>
                      </a:pPr>
                      <a:r>
                        <a:rPr b="1" lang="en-US" sz="1400" u="none" cap="none" strike="noStrike">
                          <a:solidFill>
                            <a:schemeClr val="lt1"/>
                          </a:solidFill>
                        </a:rPr>
                        <a:t>4P’s</a:t>
                      </a:r>
                      <a:endParaRPr/>
                    </a:p>
                  </a:txBody>
                  <a:tcPr marT="45725" marB="45725" marR="91450" marL="91450" anchor="ctr">
                    <a:solidFill>
                      <a:srgbClr val="2FB6E3"/>
                    </a:solidFill>
                  </a:tcPr>
                </a:tc>
                <a:tc>
                  <a:txBody>
                    <a:bodyPr/>
                    <a:lstStyle/>
                    <a:p>
                      <a:pPr indent="0" lvl="0" marL="0" marR="0" rtl="0" algn="ctr">
                        <a:lnSpc>
                          <a:spcPct val="100000"/>
                        </a:lnSpc>
                        <a:spcBef>
                          <a:spcPts val="0"/>
                        </a:spcBef>
                        <a:spcAft>
                          <a:spcPts val="0"/>
                        </a:spcAft>
                        <a:buNone/>
                      </a:pPr>
                      <a:r>
                        <a:rPr b="1" lang="en-US" sz="1400" u="none" cap="none" strike="noStrike">
                          <a:solidFill>
                            <a:schemeClr val="lt1"/>
                          </a:solidFill>
                        </a:rPr>
                        <a:t>TOESS</a:t>
                      </a:r>
                      <a:endParaRPr/>
                    </a:p>
                  </a:txBody>
                  <a:tcPr marT="45725" marB="45725" marR="91450" marL="91450" anchor="ctr">
                    <a:solidFill>
                      <a:srgbClr val="ECBC09"/>
                    </a:solidFill>
                  </a:tcPr>
                </a:tc>
                <a:tc>
                  <a:txBody>
                    <a:bodyPr/>
                    <a:lstStyle/>
                    <a:p>
                      <a:pPr indent="0" lvl="0" marL="0" marR="0" rtl="0" algn="ctr">
                        <a:lnSpc>
                          <a:spcPct val="100000"/>
                        </a:lnSpc>
                        <a:spcBef>
                          <a:spcPts val="0"/>
                        </a:spcBef>
                        <a:spcAft>
                          <a:spcPts val="0"/>
                        </a:spcAft>
                        <a:buNone/>
                      </a:pPr>
                      <a:r>
                        <a:rPr b="1" lang="en-US" sz="1400" u="none" cap="none" strike="noStrike">
                          <a:solidFill>
                            <a:schemeClr val="lt1"/>
                          </a:solidFill>
                        </a:rPr>
                        <a:t>Mkt Sizing</a:t>
                      </a:r>
                      <a:endParaRPr/>
                    </a:p>
                  </a:txBody>
                  <a:tcPr marT="45725" marB="45725" marR="91450" marL="91450" anchor="ctr">
                    <a:solidFill>
                      <a:srgbClr val="DE642D"/>
                    </a:solidFill>
                  </a:tcPr>
                </a:tc>
              </a:tr>
              <a:tr h="391875">
                <a:tc>
                  <a:txBody>
                    <a:bodyPr/>
                    <a:lstStyle/>
                    <a:p>
                      <a:pPr indent="0" lvl="0" marL="0" marR="0" rtl="0" algn="l">
                        <a:lnSpc>
                          <a:spcPct val="100000"/>
                        </a:lnSpc>
                        <a:spcBef>
                          <a:spcPts val="0"/>
                        </a:spcBef>
                        <a:spcAft>
                          <a:spcPts val="0"/>
                        </a:spcAft>
                        <a:buNone/>
                      </a:pPr>
                      <a:r>
                        <a:rPr b="1" lang="en-US" sz="1400" u="none" cap="none" strike="noStrike"/>
                        <a:t>Prevalence*</a:t>
                      </a:r>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latin typeface="Roboto"/>
                          <a:ea typeface="Roboto"/>
                          <a:cs typeface="Roboto"/>
                          <a:sym typeface="Roboto"/>
                        </a:rPr>
                        <a:t>70%</a:t>
                      </a:r>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latin typeface="Roboto"/>
                          <a:ea typeface="Roboto"/>
                          <a:cs typeface="Roboto"/>
                          <a:sym typeface="Roboto"/>
                        </a:rPr>
                        <a:t>80%</a:t>
                      </a:r>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latin typeface="Roboto"/>
                          <a:ea typeface="Roboto"/>
                          <a:cs typeface="Roboto"/>
                          <a:sym typeface="Roboto"/>
                        </a:rPr>
                        <a:t>20%</a:t>
                      </a:r>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latin typeface="Roboto"/>
                          <a:ea typeface="Roboto"/>
                          <a:cs typeface="Roboto"/>
                          <a:sym typeface="Roboto"/>
                        </a:rPr>
                        <a:t>10%</a:t>
                      </a:r>
                      <a:endParaRPr/>
                    </a:p>
                  </a:txBody>
                  <a:tcPr marT="45725" marB="45725" marR="91450" marL="91450"/>
                </a:tc>
              </a:tr>
              <a:tr h="1271525">
                <a:tc>
                  <a:txBody>
                    <a:bodyPr/>
                    <a:lstStyle/>
                    <a:p>
                      <a:pPr indent="0" lvl="0" marL="0" marR="0" rtl="0" algn="l">
                        <a:lnSpc>
                          <a:spcPct val="100000"/>
                        </a:lnSpc>
                        <a:spcBef>
                          <a:spcPts val="0"/>
                        </a:spcBef>
                        <a:spcAft>
                          <a:spcPts val="0"/>
                        </a:spcAft>
                        <a:buNone/>
                      </a:pPr>
                      <a:r>
                        <a:rPr b="1" lang="en-US" sz="1400" u="none" cap="none" strike="noStrike"/>
                        <a:t>Purpose</a:t>
                      </a:r>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chemeClr val="dk1"/>
                          </a:solidFill>
                          <a:latin typeface="Roboto"/>
                          <a:ea typeface="Roboto"/>
                          <a:cs typeface="Roboto"/>
                          <a:sym typeface="Roboto"/>
                        </a:rPr>
                        <a:t>Evaluate </a:t>
                      </a:r>
                      <a:r>
                        <a:rPr b="1" i="0" lang="en-US" sz="1400" u="none" cap="none" strike="noStrike">
                          <a:solidFill>
                            <a:schemeClr val="dk1"/>
                          </a:solidFill>
                          <a:latin typeface="Roboto"/>
                          <a:ea typeface="Roboto"/>
                          <a:cs typeface="Roboto"/>
                          <a:sym typeface="Roboto"/>
                        </a:rPr>
                        <a:t>a situation or the market</a:t>
                      </a:r>
                      <a:endParaRPr b="1" sz="1400" u="none" cap="none" strike="noStrike">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chemeClr val="dk1"/>
                          </a:solidFill>
                          <a:latin typeface="Roboto"/>
                          <a:ea typeface="Roboto"/>
                          <a:cs typeface="Roboto"/>
                          <a:sym typeface="Roboto"/>
                        </a:rPr>
                        <a:t>Evaluate a </a:t>
                      </a:r>
                      <a:r>
                        <a:rPr b="1" i="0" lang="en-US" sz="1400" u="none" cap="none" strike="noStrike">
                          <a:solidFill>
                            <a:schemeClr val="dk1"/>
                          </a:solidFill>
                          <a:latin typeface="Roboto"/>
                          <a:ea typeface="Roboto"/>
                          <a:cs typeface="Roboto"/>
                          <a:sym typeface="Roboto"/>
                        </a:rPr>
                        <a:t>specific brand</a:t>
                      </a:r>
                      <a:r>
                        <a:rPr i="0" lang="en-US" sz="1400" u="none" cap="none" strike="noStrike">
                          <a:solidFill>
                            <a:schemeClr val="dk1"/>
                          </a:solidFill>
                          <a:latin typeface="Roboto"/>
                          <a:ea typeface="Roboto"/>
                          <a:cs typeface="Roboto"/>
                          <a:sym typeface="Roboto"/>
                        </a:rPr>
                        <a:t> situation or execute a marketing plan for a </a:t>
                      </a:r>
                      <a:r>
                        <a:rPr b="1" i="0" lang="en-US" sz="1400" u="none" cap="none" strike="noStrike">
                          <a:solidFill>
                            <a:schemeClr val="dk1"/>
                          </a:solidFill>
                          <a:latin typeface="Roboto"/>
                          <a:ea typeface="Roboto"/>
                          <a:cs typeface="Roboto"/>
                          <a:sym typeface="Roboto"/>
                        </a:rPr>
                        <a:t>new product</a:t>
                      </a:r>
                      <a:endParaRPr b="1" sz="1400" u="none" cap="none" strike="noStrike">
                        <a:latin typeface="Roboto"/>
                        <a:ea typeface="Roboto"/>
                        <a:cs typeface="Roboto"/>
                        <a:sym typeface="Robot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chemeClr val="dk1"/>
                          </a:solidFill>
                          <a:latin typeface="Roboto"/>
                          <a:ea typeface="Roboto"/>
                          <a:cs typeface="Roboto"/>
                          <a:sym typeface="Roboto"/>
                        </a:rPr>
                        <a:t>Evaluate </a:t>
                      </a:r>
                      <a:r>
                        <a:rPr b="1" i="0" lang="en-US" sz="1400" u="none" cap="none" strike="noStrike">
                          <a:solidFill>
                            <a:schemeClr val="dk1"/>
                          </a:solidFill>
                          <a:latin typeface="Roboto"/>
                          <a:ea typeface="Roboto"/>
                          <a:cs typeface="Roboto"/>
                          <a:sym typeface="Roboto"/>
                        </a:rPr>
                        <a:t>advertising effectiveness</a:t>
                      </a:r>
                      <a:endParaRPr b="1" sz="1400" u="none" cap="none" strike="noStrike">
                        <a:latin typeface="Roboto"/>
                        <a:ea typeface="Roboto"/>
                        <a:cs typeface="Roboto"/>
                        <a:sym typeface="Roboto"/>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chemeClr val="dk1"/>
                          </a:solidFill>
                          <a:latin typeface="Roboto"/>
                          <a:ea typeface="Roboto"/>
                          <a:cs typeface="Roboto"/>
                          <a:sym typeface="Roboto"/>
                        </a:rPr>
                        <a:t>Evaluate the potential </a:t>
                      </a:r>
                      <a:r>
                        <a:rPr b="1" i="0" lang="en-US" sz="1400" u="none" cap="none" strike="noStrike">
                          <a:solidFill>
                            <a:schemeClr val="dk1"/>
                          </a:solidFill>
                          <a:latin typeface="Roboto"/>
                          <a:ea typeface="Roboto"/>
                          <a:cs typeface="Roboto"/>
                          <a:sym typeface="Roboto"/>
                        </a:rPr>
                        <a:t>size of an opportunity</a:t>
                      </a:r>
                      <a:endParaRPr b="1" sz="1400" u="none" cap="none" strike="noStrike">
                        <a:latin typeface="Roboto"/>
                        <a:ea typeface="Roboto"/>
                        <a:cs typeface="Roboto"/>
                        <a:sym typeface="Roboto"/>
                      </a:endParaRPr>
                    </a:p>
                  </a:txBody>
                  <a:tcPr marT="45725" marB="45725" marR="91450" marL="91450"/>
                </a:tc>
              </a:tr>
              <a:tr h="782850">
                <a:tc>
                  <a:txBody>
                    <a:bodyPr/>
                    <a:lstStyle/>
                    <a:p>
                      <a:pPr indent="0" lvl="0" marL="0" marR="0" rtl="0" algn="l">
                        <a:lnSpc>
                          <a:spcPct val="100000"/>
                        </a:lnSpc>
                        <a:spcBef>
                          <a:spcPts val="0"/>
                        </a:spcBef>
                        <a:spcAft>
                          <a:spcPts val="0"/>
                        </a:spcAft>
                        <a:buNone/>
                      </a:pPr>
                      <a:r>
                        <a:rPr b="1" lang="en-US" sz="1400" u="none" cap="none" strike="noStrike"/>
                        <a:t>Focus</a:t>
                      </a:r>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None/>
                      </a:pPr>
                      <a:r>
                        <a:rPr lang="en-US" sz="1400" u="none" cap="none" strike="noStrike"/>
                        <a:t>“Big Picture” strategic decisions</a:t>
                      </a:r>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l">
                        <a:lnSpc>
                          <a:spcPct val="100000"/>
                        </a:lnSpc>
                        <a:spcBef>
                          <a:spcPts val="0"/>
                        </a:spcBef>
                        <a:spcAft>
                          <a:spcPts val="0"/>
                        </a:spcAft>
                        <a:buNone/>
                      </a:pPr>
                      <a:r>
                        <a:rPr lang="en-US" sz="1400" u="none" cap="none" strike="noStrike"/>
                        <a:t>“In the weeds” execution decisions</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Ability to critique an ad critically, and have an opinion about its effectiveness</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Ability to break down a complex number using logic in a rational manner</a:t>
                      </a:r>
                      <a:endParaRPr/>
                    </a:p>
                  </a:txBody>
                  <a:tcPr marT="45725" marB="45725" marR="91450" marL="91450"/>
                </a:tc>
              </a:tr>
              <a:tr h="697275">
                <a:tc>
                  <a:txBody>
                    <a:bodyPr/>
                    <a:lstStyle/>
                    <a:p>
                      <a:pPr indent="0" lvl="0" marL="0" marR="0" rtl="0" algn="l">
                        <a:lnSpc>
                          <a:spcPct val="100000"/>
                        </a:lnSpc>
                        <a:spcBef>
                          <a:spcPts val="0"/>
                        </a:spcBef>
                        <a:spcAft>
                          <a:spcPts val="0"/>
                        </a:spcAft>
                        <a:buNone/>
                      </a:pPr>
                      <a:r>
                        <a:rPr b="1" lang="en-US" sz="1400" u="none" cap="none" strike="noStrike"/>
                        <a:t>Cues</a:t>
                      </a:r>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None/>
                      </a:pPr>
                      <a:r>
                        <a:rPr b="1" lang="en-US" sz="1400" u="none" cap="none" strike="noStrike"/>
                        <a:t>Should</a:t>
                      </a:r>
                      <a:r>
                        <a:rPr lang="en-US" sz="1400" u="none" cap="none" strike="noStrike"/>
                        <a:t> we… bring X product to Y market?</a:t>
                      </a:r>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l">
                        <a:lnSpc>
                          <a:spcPct val="100000"/>
                        </a:lnSpc>
                        <a:spcBef>
                          <a:spcPts val="0"/>
                        </a:spcBef>
                        <a:spcAft>
                          <a:spcPts val="0"/>
                        </a:spcAft>
                        <a:buNone/>
                      </a:pPr>
                      <a:r>
                        <a:rPr b="1" lang="en-US" sz="1400" u="none" cap="none" strike="noStrike"/>
                        <a:t>How </a:t>
                      </a:r>
                      <a:r>
                        <a:rPr lang="en-US" sz="1400" u="none" cap="none" strike="noStrike"/>
                        <a:t>should we…</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How would you evaluate this…</a:t>
                      </a:r>
                      <a:endParaRPr sz="1400" u="sng"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How many/big is…</a:t>
                      </a:r>
                      <a:endParaRPr sz="1400" u="sng" cap="none" strike="noStrike"/>
                    </a:p>
                  </a:txBody>
                  <a:tcPr marT="45725" marB="45725" marR="91450" marL="91450"/>
                </a:tc>
              </a:tr>
              <a:tr h="499025">
                <a:tc>
                  <a:txBody>
                    <a:bodyPr/>
                    <a:lstStyle/>
                    <a:p>
                      <a:pPr indent="0" lvl="0" marL="0" marR="0" rtl="0" algn="l">
                        <a:lnSpc>
                          <a:spcPct val="100000"/>
                        </a:lnSpc>
                        <a:spcBef>
                          <a:spcPts val="0"/>
                        </a:spcBef>
                        <a:spcAft>
                          <a:spcPts val="0"/>
                        </a:spcAft>
                        <a:buNone/>
                      </a:pPr>
                      <a:r>
                        <a:rPr b="1" lang="en-US" sz="1400" u="none" cap="none" strike="noStrike"/>
                        <a:t>Sample</a:t>
                      </a:r>
                      <a:endParaRPr/>
                    </a:p>
                  </a:txBody>
                  <a:tcPr marT="45725" marB="45725" marR="91450" marL="91450">
                    <a:lnR cap="flat" cmpd="sng" w="12700">
                      <a:solidFill>
                        <a:schemeClr val="dk1"/>
                      </a:solidFill>
                      <a:prstDash val="solid"/>
                      <a:round/>
                      <a:headEnd len="sm" w="sm" type="none"/>
                      <a:tailEnd len="sm" w="sm" type="none"/>
                    </a:lnR>
                  </a:tcPr>
                </a:tc>
                <a:tc>
                  <a:txBody>
                    <a:bodyPr/>
                    <a:lstStyle/>
                    <a:p>
                      <a:pPr indent="0" lvl="0" marL="0" marR="0" rtl="0" algn="l">
                        <a:lnSpc>
                          <a:spcPct val="100000"/>
                        </a:lnSpc>
                        <a:spcBef>
                          <a:spcPts val="0"/>
                        </a:spcBef>
                        <a:spcAft>
                          <a:spcPts val="0"/>
                        </a:spcAft>
                        <a:buNone/>
                      </a:pPr>
                      <a:r>
                        <a:rPr lang="en-US" sz="1400" u="none" cap="none" strike="noStrike"/>
                        <a:t>How would you think about a decision to bring X product to Y market?</a:t>
                      </a:r>
                      <a:endParaRPr/>
                    </a:p>
                  </a:txBody>
                  <a:tcPr marT="45725" marB="45725" marR="91450" marL="91450">
                    <a:lnL cap="flat" cmpd="sng" w="12700">
                      <a:solidFill>
                        <a:schemeClr val="dk1"/>
                      </a:solidFill>
                      <a:prstDash val="solid"/>
                      <a:round/>
                      <a:headEnd len="sm" w="sm" type="none"/>
                      <a:tailEnd len="sm" w="sm" type="none"/>
                    </a:lnL>
                  </a:tcPr>
                </a:tc>
                <a:tc>
                  <a:txBody>
                    <a:bodyPr/>
                    <a:lstStyle/>
                    <a:p>
                      <a:pPr indent="0" lvl="0" marL="0" marR="0" rtl="0" algn="l">
                        <a:lnSpc>
                          <a:spcPct val="100000"/>
                        </a:lnSpc>
                        <a:spcBef>
                          <a:spcPts val="0"/>
                        </a:spcBef>
                        <a:spcAft>
                          <a:spcPts val="0"/>
                        </a:spcAft>
                        <a:buNone/>
                      </a:pPr>
                      <a:r>
                        <a:rPr lang="en-US" sz="1400" u="none" cap="none" strike="noStrike"/>
                        <a:t>How should we market X product to Y consumers?</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How would you evaluate this video ad?</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How many screens are in all of Ann Arbor?</a:t>
                      </a:r>
                      <a:endParaRPr/>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4"/>
          <p:cNvSpPr txBox="1"/>
          <p:nvPr>
            <p:ph type="title"/>
          </p:nvPr>
        </p:nvSpPr>
        <p:spPr>
          <a:xfrm>
            <a:off x="920899" y="752646"/>
            <a:ext cx="9844500" cy="5175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chemeClr val="accent1"/>
              </a:buClr>
              <a:buSzPts val="3600"/>
              <a:buFont typeface="Arial"/>
              <a:buNone/>
            </a:pPr>
            <a:r>
              <a:rPr lang="en-US"/>
              <a:t>If you only remember one thing today…</a:t>
            </a:r>
            <a:endParaRPr/>
          </a:p>
        </p:txBody>
      </p:sp>
      <p:sp>
        <p:nvSpPr>
          <p:cNvPr id="292" name="Google Shape;292;p14"/>
          <p:cNvSpPr txBox="1"/>
          <p:nvPr>
            <p:ph idx="1" type="body"/>
          </p:nvPr>
        </p:nvSpPr>
        <p:spPr>
          <a:xfrm>
            <a:off x="920899" y="1512712"/>
            <a:ext cx="10357500" cy="42747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100000"/>
              </a:lnSpc>
              <a:spcBef>
                <a:spcPts val="480"/>
              </a:spcBef>
              <a:spcAft>
                <a:spcPts val="0"/>
              </a:spcAft>
              <a:buClr>
                <a:schemeClr val="dk1"/>
              </a:buClr>
              <a:buSzPts val="2400"/>
              <a:buFont typeface="Noto Sans Symbols"/>
              <a:buChar char="▪"/>
            </a:pPr>
            <a:r>
              <a:rPr lang="en-US" sz="1800"/>
              <a:t>All marketing case interviews should start with you demonstrating a fundamental understanding of the Consumer (of the product or brand that’s being asked about)</a:t>
            </a:r>
            <a:endParaRPr/>
          </a:p>
          <a:p>
            <a:pPr indent="-381000" lvl="1" marL="914400" rtl="0" algn="l">
              <a:lnSpc>
                <a:spcPct val="100000"/>
              </a:lnSpc>
              <a:spcBef>
                <a:spcPts val="480"/>
              </a:spcBef>
              <a:spcAft>
                <a:spcPts val="0"/>
              </a:spcAft>
              <a:buSzPts val="2400"/>
              <a:buChar char="–"/>
            </a:pPr>
            <a:r>
              <a:rPr lang="en-US" sz="1800"/>
              <a:t>Consumer is one of the 5 “C”s -- and also needs to be brought in for 4Ps questions</a:t>
            </a:r>
            <a:endParaRPr/>
          </a:p>
          <a:p>
            <a:pPr indent="-228600" lvl="1" marL="914400" rtl="0" algn="l">
              <a:lnSpc>
                <a:spcPct val="100000"/>
              </a:lnSpc>
              <a:spcBef>
                <a:spcPts val="480"/>
              </a:spcBef>
              <a:spcAft>
                <a:spcPts val="0"/>
              </a:spcAft>
              <a:buSzPts val="2400"/>
              <a:buNone/>
            </a:pPr>
            <a:r>
              <a:t/>
            </a:r>
            <a:endParaRPr sz="1800"/>
          </a:p>
          <a:p>
            <a:pPr indent="-381000" lvl="0" marL="457200" marR="0" rtl="0" algn="l">
              <a:lnSpc>
                <a:spcPct val="100000"/>
              </a:lnSpc>
              <a:spcBef>
                <a:spcPts val="480"/>
              </a:spcBef>
              <a:spcAft>
                <a:spcPts val="0"/>
              </a:spcAft>
              <a:buClr>
                <a:schemeClr val="dk1"/>
              </a:buClr>
              <a:buSzPts val="2400"/>
              <a:buFont typeface="Noto Sans Symbols"/>
              <a:buChar char="▪"/>
            </a:pPr>
            <a:r>
              <a:rPr lang="en-US" sz="1800"/>
              <a:t>What are the consumers demographics, psychographics (pain points, lifestyles, behaviors, wants/needs… etc.)</a:t>
            </a:r>
            <a:endParaRPr/>
          </a:p>
          <a:p>
            <a:pPr indent="-228600" lvl="0" marL="457200" marR="0" rtl="0" algn="l">
              <a:lnSpc>
                <a:spcPct val="100000"/>
              </a:lnSpc>
              <a:spcBef>
                <a:spcPts val="480"/>
              </a:spcBef>
              <a:spcAft>
                <a:spcPts val="0"/>
              </a:spcAft>
              <a:buClr>
                <a:schemeClr val="dk1"/>
              </a:buClr>
              <a:buSzPts val="2400"/>
              <a:buFont typeface="Noto Sans Symbols"/>
              <a:buNone/>
            </a:pPr>
            <a:r>
              <a:t/>
            </a:r>
            <a:endParaRPr sz="1800"/>
          </a:p>
          <a:p>
            <a:pPr indent="-381000" lvl="0" marL="457200" marR="0" rtl="0" algn="l">
              <a:lnSpc>
                <a:spcPct val="100000"/>
              </a:lnSpc>
              <a:spcBef>
                <a:spcPts val="480"/>
              </a:spcBef>
              <a:spcAft>
                <a:spcPts val="0"/>
              </a:spcAft>
              <a:buClr>
                <a:schemeClr val="dk1"/>
              </a:buClr>
              <a:buSzPts val="2400"/>
              <a:buFont typeface="Noto Sans Symbols"/>
              <a:buChar char="▪"/>
            </a:pPr>
            <a:r>
              <a:rPr lang="en-US" sz="1800"/>
              <a:t>Once you’ve defined the consumer, the rest of the case gets much easier!</a:t>
            </a:r>
            <a:endParaRPr/>
          </a:p>
          <a:p>
            <a:pPr indent="-228600" lvl="0" marL="457200" marR="0" rtl="0" algn="l">
              <a:lnSpc>
                <a:spcPct val="100000"/>
              </a:lnSpc>
              <a:spcBef>
                <a:spcPts val="480"/>
              </a:spcBef>
              <a:spcAft>
                <a:spcPts val="0"/>
              </a:spcAft>
              <a:buClr>
                <a:schemeClr val="dk1"/>
              </a:buClr>
              <a:buSzPts val="2400"/>
              <a:buFont typeface="Noto Sans Symbols"/>
              <a:buNone/>
            </a:pPr>
            <a:r>
              <a:t/>
            </a:r>
            <a:endParaRPr sz="1800"/>
          </a:p>
          <a:p>
            <a:pPr indent="-381000" lvl="0" marL="457200" marR="0" rtl="0" algn="l">
              <a:lnSpc>
                <a:spcPct val="100000"/>
              </a:lnSpc>
              <a:spcBef>
                <a:spcPts val="480"/>
              </a:spcBef>
              <a:spcAft>
                <a:spcPts val="0"/>
              </a:spcAft>
              <a:buClr>
                <a:schemeClr val="dk1"/>
              </a:buClr>
              <a:buSzPts val="2400"/>
              <a:buFont typeface="Noto Sans Symbols"/>
              <a:buChar char="▪"/>
            </a:pPr>
            <a:r>
              <a:rPr lang="en-US" sz="1800"/>
              <a:t>This is why reading about the latest trends (ie through Mintel) is important, because you need to bring relevant knowledge about consumers into the interview</a:t>
            </a:r>
            <a:endParaRPr/>
          </a:p>
        </p:txBody>
      </p:sp>
      <p:sp>
        <p:nvSpPr>
          <p:cNvPr id="293" name="Google Shape;293;p1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5"/>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299" name="Google Shape;299;p15"/>
          <p:cNvSpPr/>
          <p:nvPr/>
        </p:nvSpPr>
        <p:spPr>
          <a:xfrm>
            <a:off x="0" y="0"/>
            <a:ext cx="12192000" cy="6201508"/>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The 5 C’s</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6"/>
          <p:cNvSpPr txBox="1"/>
          <p:nvPr>
            <p:ph idx="1" type="body"/>
          </p:nvPr>
        </p:nvSpPr>
        <p:spPr>
          <a:xfrm>
            <a:off x="920899" y="1512712"/>
            <a:ext cx="5303520" cy="4663440"/>
          </a:xfrm>
          <a:prstGeom prst="rect">
            <a:avLst/>
          </a:prstGeom>
          <a:noFill/>
          <a:ln>
            <a:noFill/>
          </a:ln>
        </p:spPr>
        <p:txBody>
          <a:bodyPr anchorCtr="0" anchor="t" bIns="45700" lIns="91425" spcFirstLastPara="1" rIns="91425" wrap="square" tIns="45700">
            <a:noAutofit/>
          </a:bodyPr>
          <a:lstStyle/>
          <a:p>
            <a:pPr indent="0" lvl="0" marL="85725" rtl="0" algn="l">
              <a:lnSpc>
                <a:spcPct val="100000"/>
              </a:lnSpc>
              <a:spcBef>
                <a:spcPts val="480"/>
              </a:spcBef>
              <a:spcAft>
                <a:spcPts val="0"/>
              </a:spcAft>
              <a:buSzPts val="2250"/>
              <a:buNone/>
            </a:pPr>
            <a:r>
              <a:rPr lang="en-US" sz="1800">
                <a:latin typeface="Roboto"/>
                <a:ea typeface="Roboto"/>
                <a:cs typeface="Roboto"/>
                <a:sym typeface="Roboto"/>
              </a:rPr>
              <a:t>Used to </a:t>
            </a:r>
            <a:r>
              <a:rPr b="1" lang="en-US" sz="1800">
                <a:latin typeface="Roboto"/>
                <a:ea typeface="Roboto"/>
                <a:cs typeface="Roboto"/>
                <a:sym typeface="Roboto"/>
              </a:rPr>
              <a:t>evaluate a situation </a:t>
            </a:r>
            <a:r>
              <a:rPr lang="en-US" sz="1800">
                <a:latin typeface="Roboto"/>
                <a:ea typeface="Roboto"/>
                <a:cs typeface="Roboto"/>
                <a:sym typeface="Roboto"/>
              </a:rPr>
              <a:t>and make strategic recommendations, e.g.,</a:t>
            </a:r>
            <a:endParaRPr/>
          </a:p>
          <a:p>
            <a:pPr indent="-371475" lvl="0" marL="457200" rtl="0" algn="l">
              <a:lnSpc>
                <a:spcPct val="100000"/>
              </a:lnSpc>
              <a:spcBef>
                <a:spcPts val="480"/>
              </a:spcBef>
              <a:spcAft>
                <a:spcPts val="0"/>
              </a:spcAft>
              <a:buSzPts val="2250"/>
              <a:buFont typeface="Roboto"/>
              <a:buChar char="▪"/>
            </a:pPr>
            <a:r>
              <a:rPr lang="en-US" sz="1800">
                <a:latin typeface="Roboto"/>
                <a:ea typeface="Roboto"/>
                <a:cs typeface="Roboto"/>
                <a:sym typeface="Roboto"/>
              </a:rPr>
              <a:t>Whether to enter new categories and/or have line extensions</a:t>
            </a:r>
            <a:endParaRPr/>
          </a:p>
          <a:p>
            <a:pPr indent="-371475" lvl="0" marL="457200" rtl="0" algn="l">
              <a:lnSpc>
                <a:spcPct val="100000"/>
              </a:lnSpc>
              <a:spcBef>
                <a:spcPts val="480"/>
              </a:spcBef>
              <a:spcAft>
                <a:spcPts val="0"/>
              </a:spcAft>
              <a:buSzPts val="2250"/>
              <a:buFont typeface="Roboto"/>
              <a:buChar char="▪"/>
            </a:pPr>
            <a:r>
              <a:rPr lang="en-US" sz="1800">
                <a:latin typeface="Roboto"/>
                <a:ea typeface="Roboto"/>
                <a:cs typeface="Roboto"/>
                <a:sym typeface="Roboto"/>
              </a:rPr>
              <a:t>New product launches</a:t>
            </a:r>
            <a:endParaRPr/>
          </a:p>
          <a:p>
            <a:pPr indent="-371475" lvl="0" marL="457200" rtl="0" algn="l">
              <a:lnSpc>
                <a:spcPct val="100000"/>
              </a:lnSpc>
              <a:spcBef>
                <a:spcPts val="480"/>
              </a:spcBef>
              <a:spcAft>
                <a:spcPts val="0"/>
              </a:spcAft>
              <a:buSzPts val="2250"/>
              <a:buFont typeface="Roboto"/>
              <a:buChar char="▪"/>
            </a:pPr>
            <a:r>
              <a:rPr lang="en-US" sz="1800">
                <a:latin typeface="Roboto"/>
                <a:ea typeface="Roboto"/>
                <a:cs typeface="Roboto"/>
                <a:sym typeface="Roboto"/>
              </a:rPr>
              <a:t>How serious the threat of a new entrant is</a:t>
            </a:r>
            <a:endParaRPr sz="1800">
              <a:latin typeface="Roboto"/>
              <a:ea typeface="Roboto"/>
              <a:cs typeface="Roboto"/>
              <a:sym typeface="Roboto"/>
            </a:endParaRPr>
          </a:p>
          <a:p>
            <a:pPr indent="0" lvl="0" marL="85725" rtl="0" algn="l">
              <a:lnSpc>
                <a:spcPct val="100000"/>
              </a:lnSpc>
              <a:spcBef>
                <a:spcPts val="480"/>
              </a:spcBef>
              <a:spcAft>
                <a:spcPts val="0"/>
              </a:spcAft>
              <a:buSzPts val="2250"/>
              <a:buNone/>
            </a:pPr>
            <a:r>
              <a:t/>
            </a:r>
            <a:endParaRPr sz="1800">
              <a:latin typeface="Roboto"/>
              <a:ea typeface="Roboto"/>
              <a:cs typeface="Roboto"/>
              <a:sym typeface="Roboto"/>
            </a:endParaRPr>
          </a:p>
          <a:p>
            <a:pPr indent="0" lvl="0" marL="85725" rtl="0" algn="l">
              <a:lnSpc>
                <a:spcPct val="100000"/>
              </a:lnSpc>
              <a:spcBef>
                <a:spcPts val="480"/>
              </a:spcBef>
              <a:spcAft>
                <a:spcPts val="0"/>
              </a:spcAft>
              <a:buSzPts val="2250"/>
              <a:buNone/>
            </a:pPr>
            <a:r>
              <a:rPr lang="en-US" sz="1800">
                <a:latin typeface="Roboto"/>
                <a:ea typeface="Roboto"/>
                <a:cs typeface="Roboto"/>
                <a:sym typeface="Roboto"/>
              </a:rPr>
              <a:t>Focus is </a:t>
            </a:r>
            <a:r>
              <a:rPr b="1" lang="en-US" sz="1800">
                <a:latin typeface="Roboto"/>
                <a:ea typeface="Roboto"/>
                <a:cs typeface="Roboto"/>
                <a:sym typeface="Roboto"/>
              </a:rPr>
              <a:t>big picture, strategic</a:t>
            </a:r>
            <a:endParaRPr b="1" sz="1800">
              <a:latin typeface="Roboto"/>
              <a:ea typeface="Roboto"/>
              <a:cs typeface="Roboto"/>
              <a:sym typeface="Roboto"/>
            </a:endParaRPr>
          </a:p>
          <a:p>
            <a:pPr indent="-371475" lvl="0" marL="457200" rtl="0" algn="l">
              <a:lnSpc>
                <a:spcPct val="100000"/>
              </a:lnSpc>
              <a:spcBef>
                <a:spcPts val="480"/>
              </a:spcBef>
              <a:spcAft>
                <a:spcPts val="0"/>
              </a:spcAft>
              <a:buSzPts val="2250"/>
              <a:buFont typeface="Roboto"/>
              <a:buChar char="▪"/>
            </a:pPr>
            <a:r>
              <a:rPr lang="en-US" sz="1800">
                <a:latin typeface="Roboto"/>
                <a:ea typeface="Roboto"/>
                <a:cs typeface="Roboto"/>
                <a:sym typeface="Roboto"/>
              </a:rPr>
              <a:t>Questions may include some upfront context</a:t>
            </a:r>
            <a:endParaRPr sz="1800">
              <a:latin typeface="Roboto"/>
              <a:ea typeface="Roboto"/>
              <a:cs typeface="Roboto"/>
              <a:sym typeface="Roboto"/>
            </a:endParaRPr>
          </a:p>
          <a:p>
            <a:pPr indent="-371475" lvl="0" marL="457200" rtl="0" algn="l">
              <a:lnSpc>
                <a:spcPct val="100000"/>
              </a:lnSpc>
              <a:spcBef>
                <a:spcPts val="480"/>
              </a:spcBef>
              <a:spcAft>
                <a:spcPts val="0"/>
              </a:spcAft>
              <a:buSzPts val="2250"/>
              <a:buFont typeface="Roboto"/>
              <a:buChar char="▪"/>
            </a:pPr>
            <a:r>
              <a:rPr lang="en-US" sz="1800">
                <a:latin typeface="Roboto"/>
                <a:ea typeface="Roboto"/>
                <a:cs typeface="Roboto"/>
                <a:sym typeface="Roboto"/>
              </a:rPr>
              <a:t>Sample questions sound like:</a:t>
            </a:r>
            <a:endParaRPr sz="1800">
              <a:latin typeface="Roboto"/>
              <a:ea typeface="Roboto"/>
              <a:cs typeface="Roboto"/>
              <a:sym typeface="Roboto"/>
            </a:endParaRPr>
          </a:p>
          <a:p>
            <a:pPr indent="-358775" lvl="1" marL="914400" rtl="0" algn="l">
              <a:lnSpc>
                <a:spcPct val="100000"/>
              </a:lnSpc>
              <a:spcBef>
                <a:spcPts val="480"/>
              </a:spcBef>
              <a:spcAft>
                <a:spcPts val="0"/>
              </a:spcAft>
              <a:buSzPts val="2050"/>
              <a:buFont typeface="Roboto"/>
              <a:buChar char="–"/>
            </a:pPr>
            <a:r>
              <a:rPr lang="en-US" sz="1800">
                <a:latin typeface="Roboto"/>
                <a:ea typeface="Roboto"/>
                <a:cs typeface="Roboto"/>
                <a:sym typeface="Roboto"/>
              </a:rPr>
              <a:t>Should we ___?</a:t>
            </a:r>
            <a:endParaRPr sz="1800">
              <a:latin typeface="Roboto"/>
              <a:ea typeface="Roboto"/>
              <a:cs typeface="Roboto"/>
              <a:sym typeface="Roboto"/>
            </a:endParaRPr>
          </a:p>
          <a:p>
            <a:pPr indent="-358775" lvl="1" marL="914400" rtl="0" algn="l">
              <a:lnSpc>
                <a:spcPct val="100000"/>
              </a:lnSpc>
              <a:spcBef>
                <a:spcPts val="480"/>
              </a:spcBef>
              <a:spcAft>
                <a:spcPts val="0"/>
              </a:spcAft>
              <a:buSzPts val="2050"/>
              <a:buFont typeface="Roboto"/>
              <a:buChar char="–"/>
            </a:pPr>
            <a:r>
              <a:rPr lang="en-US" sz="1800">
                <a:latin typeface="Roboto"/>
                <a:ea typeface="Roboto"/>
                <a:cs typeface="Roboto"/>
                <a:sym typeface="Roboto"/>
              </a:rPr>
              <a:t>What would you consider doing if a competitor did _____?</a:t>
            </a:r>
            <a:endParaRPr sz="1800">
              <a:latin typeface="Roboto"/>
              <a:ea typeface="Roboto"/>
              <a:cs typeface="Roboto"/>
              <a:sym typeface="Roboto"/>
            </a:endParaRPr>
          </a:p>
        </p:txBody>
      </p:sp>
      <p:sp>
        <p:nvSpPr>
          <p:cNvPr id="305" name="Google Shape;305;p16"/>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06" name="Google Shape;306;p16"/>
          <p:cNvPicPr preferRelativeResize="0"/>
          <p:nvPr/>
        </p:nvPicPr>
        <p:blipFill rotWithShape="1">
          <a:blip r:embed="rId3">
            <a:alphaModFix/>
          </a:blip>
          <a:srcRect b="0" l="0" r="0" t="0"/>
          <a:stretch/>
        </p:blipFill>
        <p:spPr>
          <a:xfrm>
            <a:off x="7040880" y="1808961"/>
            <a:ext cx="4230222" cy="3265959"/>
          </a:xfrm>
          <a:prstGeom prst="rect">
            <a:avLst/>
          </a:prstGeom>
          <a:noFill/>
          <a:ln>
            <a:noFill/>
          </a:ln>
          <a:effectLst>
            <a:outerShdw blurRad="50800" rotWithShape="0" algn="tl" dir="2700000" dist="38100">
              <a:srgbClr val="000000">
                <a:alpha val="40000"/>
              </a:srgbClr>
            </a:outerShdw>
          </a:effectLst>
        </p:spPr>
      </p:pic>
      <p:sp>
        <p:nvSpPr>
          <p:cNvPr id="307" name="Google Shape;307;p16"/>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5 C’s Overview</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7"/>
          <p:cNvSpPr txBox="1"/>
          <p:nvPr>
            <p:ph type="title"/>
          </p:nvPr>
        </p:nvSpPr>
        <p:spPr>
          <a:xfrm>
            <a:off x="1143000" y="1382888"/>
            <a:ext cx="9998765" cy="3443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Should Danone launch a plant-based whipped topping?</a:t>
            </a:r>
            <a:endParaRPr/>
          </a:p>
        </p:txBody>
      </p:sp>
      <p:sp>
        <p:nvSpPr>
          <p:cNvPr id="313" name="Google Shape;313;p17"/>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314" name="Google Shape;314;p17"/>
          <p:cNvSpPr txBox="1"/>
          <p:nvPr/>
        </p:nvSpPr>
        <p:spPr>
          <a:xfrm>
            <a:off x="202883" y="1487157"/>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315" name="Google Shape;315;p17"/>
          <p:cNvSpPr txBox="1"/>
          <p:nvPr/>
        </p:nvSpPr>
        <p:spPr>
          <a:xfrm>
            <a:off x="10969901" y="3894443"/>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316" name="Google Shape;316;p17"/>
          <p:cNvSpPr txBox="1"/>
          <p:nvPr/>
        </p:nvSpPr>
        <p:spPr>
          <a:xfrm>
            <a:off x="0" y="945935"/>
            <a:ext cx="2209800"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accent1"/>
                </a:solidFill>
                <a:latin typeface="Roboto"/>
                <a:ea typeface="Roboto"/>
                <a:cs typeface="Roboto"/>
                <a:sym typeface="Roboto"/>
              </a:rPr>
              <a:t>MMC Example</a:t>
            </a:r>
            <a:endParaRPr b="0" i="0" sz="1400" u="none" cap="none" strike="noStrike">
              <a:solidFill>
                <a:srgbClr val="000000"/>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8"/>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pSp>
        <p:nvGrpSpPr>
          <p:cNvPr id="322" name="Google Shape;322;p18"/>
          <p:cNvGrpSpPr/>
          <p:nvPr/>
        </p:nvGrpSpPr>
        <p:grpSpPr>
          <a:xfrm>
            <a:off x="920898" y="1377609"/>
            <a:ext cx="10711669" cy="4690168"/>
            <a:chOff x="920898" y="1377609"/>
            <a:chExt cx="10711669" cy="4690168"/>
          </a:xfrm>
        </p:grpSpPr>
        <p:sp>
          <p:nvSpPr>
            <p:cNvPr id="323" name="Google Shape;323;p18"/>
            <p:cNvSpPr/>
            <p:nvPr/>
          </p:nvSpPr>
          <p:spPr>
            <a:xfrm>
              <a:off x="920898" y="1377609"/>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000"/>
                <a:buFont typeface="Calibri"/>
                <a:buNone/>
              </a:pPr>
              <a:r>
                <a:rPr b="1" i="0" lang="en-US" sz="2000" u="none" cap="none" strike="noStrike">
                  <a:solidFill>
                    <a:schemeClr val="lt1"/>
                  </a:solidFill>
                  <a:latin typeface="Roboto"/>
                  <a:ea typeface="Roboto"/>
                  <a:cs typeface="Roboto"/>
                  <a:sym typeface="Roboto"/>
                </a:rPr>
                <a:t>Consumer</a:t>
              </a:r>
              <a:endParaRPr b="0" i="0" sz="1800" u="none" cap="none" strike="noStrike">
                <a:solidFill>
                  <a:schemeClr val="lt1"/>
                </a:solidFill>
                <a:latin typeface="Roboto"/>
                <a:ea typeface="Roboto"/>
                <a:cs typeface="Roboto"/>
                <a:sym typeface="Roboto"/>
              </a:endParaRPr>
            </a:p>
          </p:txBody>
        </p:sp>
        <p:sp>
          <p:nvSpPr>
            <p:cNvPr id="324" name="Google Shape;324;p18"/>
            <p:cNvSpPr/>
            <p:nvPr/>
          </p:nvSpPr>
          <p:spPr>
            <a:xfrm>
              <a:off x="3071192" y="1377609"/>
              <a:ext cx="676682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1"/>
                  </a:solidFill>
                  <a:latin typeface="Roboto"/>
                  <a:ea typeface="Roboto"/>
                  <a:cs typeface="Roboto"/>
                  <a:sym typeface="Roboto"/>
                </a:rPr>
                <a:t>This is the end consumer – the person actually purchasing the product</a:t>
              </a:r>
              <a:endParaRPr b="0" i="0" sz="1400" u="none" cap="none" strike="noStrike">
                <a:solidFill>
                  <a:srgbClr val="000000"/>
                </a:solidFill>
                <a:latin typeface="Roboto"/>
                <a:ea typeface="Roboto"/>
                <a:cs typeface="Roboto"/>
                <a:sym typeface="Roboto"/>
              </a:endParaRPr>
            </a:p>
          </p:txBody>
        </p:sp>
        <p:sp>
          <p:nvSpPr>
            <p:cNvPr id="325" name="Google Shape;325;p18"/>
            <p:cNvSpPr/>
            <p:nvPr/>
          </p:nvSpPr>
          <p:spPr>
            <a:xfrm>
              <a:off x="920898" y="4243725"/>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000"/>
                <a:buFont typeface="Calibri"/>
                <a:buNone/>
              </a:pPr>
              <a:r>
                <a:rPr b="1" i="0" lang="en-US" sz="2000" u="none" cap="none" strike="noStrike">
                  <a:solidFill>
                    <a:schemeClr val="lt1"/>
                  </a:solidFill>
                  <a:latin typeface="Roboto"/>
                  <a:ea typeface="Roboto"/>
                  <a:cs typeface="Roboto"/>
                  <a:sym typeface="Roboto"/>
                </a:rPr>
                <a:t>Company</a:t>
              </a:r>
              <a:endParaRPr b="0" i="0" sz="1800" u="none" cap="none" strike="noStrike">
                <a:solidFill>
                  <a:schemeClr val="lt1"/>
                </a:solidFill>
                <a:latin typeface="Roboto"/>
                <a:ea typeface="Roboto"/>
                <a:cs typeface="Roboto"/>
                <a:sym typeface="Roboto"/>
              </a:endParaRPr>
            </a:p>
          </p:txBody>
        </p:sp>
        <p:sp>
          <p:nvSpPr>
            <p:cNvPr id="326" name="Google Shape;326;p18"/>
            <p:cNvSpPr/>
            <p:nvPr/>
          </p:nvSpPr>
          <p:spPr>
            <a:xfrm>
              <a:off x="3071192" y="4243725"/>
              <a:ext cx="676682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1"/>
                  </a:solidFill>
                  <a:latin typeface="Roboto"/>
                  <a:ea typeface="Roboto"/>
                  <a:cs typeface="Roboto"/>
                  <a:sym typeface="Roboto"/>
                </a:rPr>
                <a:t>The organization whose product, strategy, or market opportunity you are evaluating</a:t>
              </a:r>
              <a:endParaRPr b="0" i="0" sz="1400" u="none" cap="none" strike="noStrike">
                <a:solidFill>
                  <a:srgbClr val="000000"/>
                </a:solidFill>
                <a:latin typeface="Roboto"/>
                <a:ea typeface="Roboto"/>
                <a:cs typeface="Roboto"/>
                <a:sym typeface="Roboto"/>
              </a:endParaRPr>
            </a:p>
          </p:txBody>
        </p:sp>
        <p:sp>
          <p:nvSpPr>
            <p:cNvPr id="327" name="Google Shape;327;p18"/>
            <p:cNvSpPr/>
            <p:nvPr/>
          </p:nvSpPr>
          <p:spPr>
            <a:xfrm>
              <a:off x="920898" y="2332981"/>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2000"/>
                <a:buFont typeface="Calibri"/>
                <a:buNone/>
              </a:pPr>
              <a:r>
                <a:rPr b="1" i="0" lang="en-US" sz="2000" u="none" cap="none" strike="noStrike">
                  <a:solidFill>
                    <a:schemeClr val="lt1"/>
                  </a:solidFill>
                  <a:latin typeface="Roboto"/>
                  <a:ea typeface="Roboto"/>
                  <a:cs typeface="Roboto"/>
                  <a:sym typeface="Roboto"/>
                </a:rPr>
                <a:t>Category</a:t>
              </a:r>
              <a:endParaRPr b="0" i="0" sz="1800" u="none" cap="none" strike="noStrike">
                <a:solidFill>
                  <a:schemeClr val="lt1"/>
                </a:solidFill>
                <a:latin typeface="Roboto"/>
                <a:ea typeface="Roboto"/>
                <a:cs typeface="Roboto"/>
                <a:sym typeface="Roboto"/>
              </a:endParaRPr>
            </a:p>
          </p:txBody>
        </p:sp>
        <p:sp>
          <p:nvSpPr>
            <p:cNvPr id="328" name="Google Shape;328;p18"/>
            <p:cNvSpPr/>
            <p:nvPr/>
          </p:nvSpPr>
          <p:spPr>
            <a:xfrm>
              <a:off x="920898" y="3288353"/>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2000"/>
                <a:buFont typeface="Calibri"/>
                <a:buNone/>
              </a:pPr>
              <a:r>
                <a:rPr b="1" i="0" lang="en-US" sz="2000" u="none" cap="none" strike="noStrike">
                  <a:solidFill>
                    <a:schemeClr val="lt1"/>
                  </a:solidFill>
                  <a:latin typeface="Roboto"/>
                  <a:ea typeface="Roboto"/>
                  <a:cs typeface="Roboto"/>
                  <a:sym typeface="Roboto"/>
                </a:rPr>
                <a:t>Competitors</a:t>
              </a:r>
              <a:endParaRPr b="0" i="0" sz="1800" u="none" cap="none" strike="noStrike">
                <a:solidFill>
                  <a:schemeClr val="lt1"/>
                </a:solidFill>
                <a:latin typeface="Roboto"/>
                <a:ea typeface="Roboto"/>
                <a:cs typeface="Roboto"/>
                <a:sym typeface="Roboto"/>
              </a:endParaRPr>
            </a:p>
          </p:txBody>
        </p:sp>
        <p:sp>
          <p:nvSpPr>
            <p:cNvPr id="329" name="Google Shape;329;p18"/>
            <p:cNvSpPr/>
            <p:nvPr/>
          </p:nvSpPr>
          <p:spPr>
            <a:xfrm>
              <a:off x="3071192" y="3288353"/>
              <a:ext cx="676682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1"/>
                  </a:solidFill>
                  <a:latin typeface="Roboto"/>
                  <a:ea typeface="Roboto"/>
                  <a:cs typeface="Roboto"/>
                  <a:sym typeface="Roboto"/>
                </a:rPr>
                <a:t>The companies, products, or product substitutes that also address the need state of your consumer target</a:t>
              </a:r>
              <a:endParaRPr b="0" i="0" sz="1400" u="none" cap="none" strike="noStrike">
                <a:solidFill>
                  <a:srgbClr val="000000"/>
                </a:solidFill>
                <a:latin typeface="Roboto"/>
                <a:ea typeface="Roboto"/>
                <a:cs typeface="Roboto"/>
                <a:sym typeface="Roboto"/>
              </a:endParaRPr>
            </a:p>
          </p:txBody>
        </p:sp>
        <p:sp>
          <p:nvSpPr>
            <p:cNvPr id="330" name="Google Shape;330;p18"/>
            <p:cNvSpPr/>
            <p:nvPr/>
          </p:nvSpPr>
          <p:spPr>
            <a:xfrm>
              <a:off x="920898" y="5199097"/>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Customers/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Channel</a:t>
              </a:r>
              <a:endParaRPr b="0" i="0" sz="1800" u="none" cap="none" strike="noStrike">
                <a:solidFill>
                  <a:schemeClr val="lt1"/>
                </a:solidFill>
                <a:latin typeface="Roboto"/>
                <a:ea typeface="Roboto"/>
                <a:cs typeface="Roboto"/>
                <a:sym typeface="Roboto"/>
              </a:endParaRPr>
            </a:p>
          </p:txBody>
        </p:sp>
        <p:sp>
          <p:nvSpPr>
            <p:cNvPr id="331" name="Google Shape;331;p18"/>
            <p:cNvSpPr/>
            <p:nvPr/>
          </p:nvSpPr>
          <p:spPr>
            <a:xfrm>
              <a:off x="3071192" y="5199097"/>
              <a:ext cx="676682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1"/>
                  </a:solidFill>
                  <a:latin typeface="Roboto"/>
                  <a:ea typeface="Roboto"/>
                  <a:cs typeface="Roboto"/>
                  <a:sym typeface="Roboto"/>
                </a:rPr>
                <a:t>The distribution channels you plan to use to distribute your product for sale to consumers</a:t>
              </a:r>
              <a:endParaRPr b="0" i="0" sz="1400" u="none" cap="none" strike="noStrike">
                <a:solidFill>
                  <a:srgbClr val="000000"/>
                </a:solidFill>
                <a:latin typeface="Roboto"/>
                <a:ea typeface="Roboto"/>
                <a:cs typeface="Roboto"/>
                <a:sym typeface="Roboto"/>
              </a:endParaRPr>
            </a:p>
          </p:txBody>
        </p:sp>
        <p:sp>
          <p:nvSpPr>
            <p:cNvPr id="332" name="Google Shape;332;p18"/>
            <p:cNvSpPr/>
            <p:nvPr/>
          </p:nvSpPr>
          <p:spPr>
            <a:xfrm>
              <a:off x="3071192" y="2332981"/>
              <a:ext cx="676682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1"/>
                  </a:solidFill>
                  <a:latin typeface="Roboto"/>
                  <a:ea typeface="Roboto"/>
                  <a:cs typeface="Roboto"/>
                  <a:sym typeface="Roboto"/>
                </a:rPr>
                <a:t>The market of comparable products or services that your product belongs to</a:t>
              </a:r>
              <a:endParaRPr b="0" i="0" sz="1400" u="none" cap="none" strike="noStrike">
                <a:solidFill>
                  <a:srgbClr val="000000"/>
                </a:solidFill>
                <a:latin typeface="Roboto"/>
                <a:ea typeface="Roboto"/>
                <a:cs typeface="Roboto"/>
                <a:sym typeface="Roboto"/>
              </a:endParaRPr>
            </a:p>
          </p:txBody>
        </p:sp>
        <p:pic>
          <p:nvPicPr>
            <p:cNvPr id="333" name="Google Shape;333;p18"/>
            <p:cNvPicPr preferRelativeResize="0"/>
            <p:nvPr/>
          </p:nvPicPr>
          <p:blipFill rotWithShape="1">
            <a:blip r:embed="rId3">
              <a:alphaModFix/>
            </a:blip>
            <a:srcRect b="0" l="0" r="0" t="0"/>
            <a:stretch/>
          </p:blipFill>
          <p:spPr>
            <a:xfrm>
              <a:off x="10198261" y="2351269"/>
              <a:ext cx="1248157" cy="832104"/>
            </a:xfrm>
            <a:prstGeom prst="rect">
              <a:avLst/>
            </a:prstGeom>
            <a:noFill/>
            <a:ln>
              <a:noFill/>
            </a:ln>
          </p:spPr>
        </p:pic>
        <p:pic>
          <p:nvPicPr>
            <p:cNvPr id="334" name="Google Shape;334;p18"/>
            <p:cNvPicPr preferRelativeResize="0"/>
            <p:nvPr/>
          </p:nvPicPr>
          <p:blipFill rotWithShape="1">
            <a:blip r:embed="rId4">
              <a:alphaModFix/>
            </a:blip>
            <a:srcRect b="0" l="4787" r="54994" t="23206"/>
            <a:stretch/>
          </p:blipFill>
          <p:spPr>
            <a:xfrm>
              <a:off x="10511945" y="4262013"/>
              <a:ext cx="620788" cy="832104"/>
            </a:xfrm>
            <a:prstGeom prst="rect">
              <a:avLst/>
            </a:prstGeom>
            <a:noFill/>
            <a:ln>
              <a:noFill/>
            </a:ln>
          </p:spPr>
        </p:pic>
        <p:grpSp>
          <p:nvGrpSpPr>
            <p:cNvPr id="335" name="Google Shape;335;p18"/>
            <p:cNvGrpSpPr/>
            <p:nvPr/>
          </p:nvGrpSpPr>
          <p:grpSpPr>
            <a:xfrm>
              <a:off x="10023404" y="5312427"/>
              <a:ext cx="1597870" cy="640080"/>
              <a:chOff x="9967221" y="5312427"/>
              <a:chExt cx="1597870" cy="640080"/>
            </a:xfrm>
          </p:grpSpPr>
          <p:pic>
            <p:nvPicPr>
              <p:cNvPr descr="A close up of a sign&#10;&#10;Description automatically generated" id="336" name="Google Shape;336;p18"/>
              <p:cNvPicPr preferRelativeResize="0"/>
              <p:nvPr/>
            </p:nvPicPr>
            <p:blipFill rotWithShape="1">
              <a:blip r:embed="rId5">
                <a:alphaModFix/>
              </a:blip>
              <a:srcRect b="13635" l="29433" r="28932" t="15654"/>
              <a:stretch/>
            </p:blipFill>
            <p:spPr>
              <a:xfrm>
                <a:off x="11062557" y="5312427"/>
                <a:ext cx="502534" cy="640080"/>
              </a:xfrm>
              <a:prstGeom prst="rect">
                <a:avLst/>
              </a:prstGeom>
              <a:noFill/>
              <a:ln>
                <a:noFill/>
              </a:ln>
            </p:spPr>
          </p:pic>
          <p:pic>
            <p:nvPicPr>
              <p:cNvPr descr="A close up of a logo&#10;&#10;Description automatically generated" id="337" name="Google Shape;337;p18"/>
              <p:cNvPicPr preferRelativeResize="0"/>
              <p:nvPr/>
            </p:nvPicPr>
            <p:blipFill rotWithShape="1">
              <a:blip r:embed="rId6">
                <a:alphaModFix/>
              </a:blip>
              <a:srcRect b="46020" l="17420" r="17710" t="12222"/>
              <a:stretch/>
            </p:blipFill>
            <p:spPr>
              <a:xfrm>
                <a:off x="9967221" y="5312427"/>
                <a:ext cx="994395" cy="640080"/>
              </a:xfrm>
              <a:prstGeom prst="rect">
                <a:avLst/>
              </a:prstGeom>
              <a:noFill/>
              <a:ln>
                <a:noFill/>
              </a:ln>
            </p:spPr>
          </p:pic>
        </p:grpSp>
        <p:pic>
          <p:nvPicPr>
            <p:cNvPr id="338" name="Google Shape;338;p18"/>
            <p:cNvPicPr preferRelativeResize="0"/>
            <p:nvPr/>
          </p:nvPicPr>
          <p:blipFill rotWithShape="1">
            <a:blip r:embed="rId7">
              <a:alphaModFix/>
            </a:blip>
            <a:srcRect b="0" l="0" r="0" t="0"/>
            <a:stretch/>
          </p:blipFill>
          <p:spPr>
            <a:xfrm>
              <a:off x="10012111" y="3403623"/>
              <a:ext cx="1620456" cy="640080"/>
            </a:xfrm>
            <a:prstGeom prst="rect">
              <a:avLst/>
            </a:prstGeom>
            <a:noFill/>
            <a:ln>
              <a:noFill/>
            </a:ln>
          </p:spPr>
        </p:pic>
        <p:pic>
          <p:nvPicPr>
            <p:cNvPr id="339" name="Google Shape;339;p18"/>
            <p:cNvPicPr preferRelativeResize="0"/>
            <p:nvPr/>
          </p:nvPicPr>
          <p:blipFill rotWithShape="1">
            <a:blip r:embed="rId8">
              <a:alphaModFix/>
            </a:blip>
            <a:srcRect b="31394" l="0" r="0" t="2719"/>
            <a:stretch/>
          </p:blipFill>
          <p:spPr>
            <a:xfrm>
              <a:off x="10444489" y="1400469"/>
              <a:ext cx="756426" cy="832104"/>
            </a:xfrm>
            <a:prstGeom prst="rect">
              <a:avLst/>
            </a:prstGeom>
            <a:noFill/>
            <a:ln>
              <a:noFill/>
            </a:ln>
          </p:spPr>
        </p:pic>
      </p:grpSp>
      <p:sp>
        <p:nvSpPr>
          <p:cNvPr id="340" name="Google Shape;340;p18"/>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The 5 C’s Defined</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9"/>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46" name="Google Shape;346;p19"/>
          <p:cNvSpPr/>
          <p:nvPr/>
        </p:nvSpPr>
        <p:spPr>
          <a:xfrm>
            <a:off x="920898" y="1377609"/>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000"/>
              <a:buFont typeface="Calibri"/>
              <a:buNone/>
            </a:pPr>
            <a:r>
              <a:rPr b="1" i="0" lang="en-US" sz="2000" u="none" cap="none" strike="noStrike">
                <a:solidFill>
                  <a:schemeClr val="lt1"/>
                </a:solidFill>
                <a:latin typeface="Roboto"/>
                <a:ea typeface="Roboto"/>
                <a:cs typeface="Roboto"/>
                <a:sym typeface="Roboto"/>
              </a:rPr>
              <a:t>Consumer</a:t>
            </a:r>
            <a:endParaRPr b="0" i="0" sz="1800" u="none" cap="none" strike="noStrike">
              <a:solidFill>
                <a:schemeClr val="lt1"/>
              </a:solidFill>
              <a:latin typeface="Roboto"/>
              <a:ea typeface="Roboto"/>
              <a:cs typeface="Roboto"/>
              <a:sym typeface="Roboto"/>
            </a:endParaRPr>
          </a:p>
        </p:txBody>
      </p:sp>
      <p:sp>
        <p:nvSpPr>
          <p:cNvPr id="347" name="Google Shape;347;p19"/>
          <p:cNvSpPr/>
          <p:nvPr/>
        </p:nvSpPr>
        <p:spPr>
          <a:xfrm>
            <a:off x="3071192" y="1377609"/>
            <a:ext cx="819991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Always start with a description of the consumer and relevant insights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Establish a baseline for preferences, needs, tastes, budgets, demographics, etc.</a:t>
            </a:r>
            <a:endParaRPr b="0" i="0" sz="1400" u="none" cap="none" strike="noStrike">
              <a:solidFill>
                <a:srgbClr val="000000"/>
              </a:solidFill>
              <a:latin typeface="Roboto"/>
              <a:ea typeface="Roboto"/>
              <a:cs typeface="Roboto"/>
              <a:sym typeface="Roboto"/>
            </a:endParaRPr>
          </a:p>
        </p:txBody>
      </p:sp>
      <p:sp>
        <p:nvSpPr>
          <p:cNvPr id="348" name="Google Shape;348;p19"/>
          <p:cNvSpPr/>
          <p:nvPr/>
        </p:nvSpPr>
        <p:spPr>
          <a:xfrm>
            <a:off x="920898" y="4243725"/>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000"/>
              <a:buFont typeface="Calibri"/>
              <a:buNone/>
            </a:pPr>
            <a:r>
              <a:rPr b="1" i="0" lang="en-US" sz="2000" u="none" cap="none" strike="noStrike">
                <a:solidFill>
                  <a:schemeClr val="lt1"/>
                </a:solidFill>
                <a:latin typeface="Roboto"/>
                <a:ea typeface="Roboto"/>
                <a:cs typeface="Roboto"/>
                <a:sym typeface="Roboto"/>
              </a:rPr>
              <a:t>Company</a:t>
            </a:r>
            <a:endParaRPr b="0" i="0" sz="1800" u="none" cap="none" strike="noStrike">
              <a:solidFill>
                <a:schemeClr val="lt1"/>
              </a:solidFill>
              <a:latin typeface="Roboto"/>
              <a:ea typeface="Roboto"/>
              <a:cs typeface="Roboto"/>
              <a:sym typeface="Roboto"/>
            </a:endParaRPr>
          </a:p>
        </p:txBody>
      </p:sp>
      <p:sp>
        <p:nvSpPr>
          <p:cNvPr id="349" name="Google Shape;349;p19"/>
          <p:cNvSpPr/>
          <p:nvPr/>
        </p:nvSpPr>
        <p:spPr>
          <a:xfrm>
            <a:off x="3071192" y="4243725"/>
            <a:ext cx="819991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Discuss whether this is a core competency for your organization</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Consider the need for new capabilities/relationships and impact to firm’s strategy</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Think about the impact on existing products (e.g. if there is a risk of cannibalization)</a:t>
            </a:r>
            <a:endParaRPr b="0" i="0" sz="1400" u="none" cap="none" strike="noStrike">
              <a:solidFill>
                <a:srgbClr val="000000"/>
              </a:solidFill>
              <a:latin typeface="Roboto"/>
              <a:ea typeface="Roboto"/>
              <a:cs typeface="Roboto"/>
              <a:sym typeface="Roboto"/>
            </a:endParaRPr>
          </a:p>
        </p:txBody>
      </p:sp>
      <p:sp>
        <p:nvSpPr>
          <p:cNvPr id="350" name="Google Shape;350;p19"/>
          <p:cNvSpPr/>
          <p:nvPr/>
        </p:nvSpPr>
        <p:spPr>
          <a:xfrm>
            <a:off x="920898" y="2332994"/>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2000"/>
              <a:buFont typeface="Calibri"/>
              <a:buNone/>
            </a:pPr>
            <a:r>
              <a:rPr b="1" i="0" lang="en-US" sz="2000" u="none" cap="none" strike="noStrike">
                <a:solidFill>
                  <a:schemeClr val="lt1"/>
                </a:solidFill>
                <a:latin typeface="Roboto"/>
                <a:ea typeface="Roboto"/>
                <a:cs typeface="Roboto"/>
                <a:sym typeface="Roboto"/>
              </a:rPr>
              <a:t>Category</a:t>
            </a:r>
            <a:endParaRPr b="0" i="0" sz="1800" u="none" cap="none" strike="noStrike">
              <a:solidFill>
                <a:schemeClr val="lt1"/>
              </a:solidFill>
              <a:latin typeface="Roboto"/>
              <a:ea typeface="Roboto"/>
              <a:cs typeface="Roboto"/>
              <a:sym typeface="Roboto"/>
            </a:endParaRPr>
          </a:p>
        </p:txBody>
      </p:sp>
      <p:sp>
        <p:nvSpPr>
          <p:cNvPr id="351" name="Google Shape;351;p19"/>
          <p:cNvSpPr/>
          <p:nvPr/>
        </p:nvSpPr>
        <p:spPr>
          <a:xfrm>
            <a:off x="920898" y="3288353"/>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2000"/>
              <a:buFont typeface="Calibri"/>
              <a:buNone/>
            </a:pPr>
            <a:r>
              <a:rPr b="1" i="0" lang="en-US" sz="2000" u="none" cap="none" strike="noStrike">
                <a:solidFill>
                  <a:schemeClr val="lt1"/>
                </a:solidFill>
                <a:latin typeface="Roboto"/>
                <a:ea typeface="Roboto"/>
                <a:cs typeface="Roboto"/>
                <a:sym typeface="Roboto"/>
              </a:rPr>
              <a:t>Competitors</a:t>
            </a:r>
            <a:endParaRPr b="0" i="0" sz="1800" u="none" cap="none" strike="noStrike">
              <a:solidFill>
                <a:schemeClr val="lt1"/>
              </a:solidFill>
              <a:latin typeface="Roboto"/>
              <a:ea typeface="Roboto"/>
              <a:cs typeface="Roboto"/>
              <a:sym typeface="Roboto"/>
            </a:endParaRPr>
          </a:p>
        </p:txBody>
      </p:sp>
      <p:sp>
        <p:nvSpPr>
          <p:cNvPr id="352" name="Google Shape;352;p19"/>
          <p:cNvSpPr/>
          <p:nvPr/>
        </p:nvSpPr>
        <p:spPr>
          <a:xfrm>
            <a:off x="3071192" y="3288353"/>
            <a:ext cx="819991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Discuss competitors (internal or external) and what they have been up to</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Consider recent competitor innovations, new entrants, changes in product features, potential reactions to the new product or opportunity</a:t>
            </a:r>
            <a:endParaRPr b="0" i="0" sz="1400" u="none" cap="none" strike="noStrike">
              <a:solidFill>
                <a:srgbClr val="000000"/>
              </a:solidFill>
              <a:latin typeface="Roboto"/>
              <a:ea typeface="Roboto"/>
              <a:cs typeface="Roboto"/>
              <a:sym typeface="Roboto"/>
            </a:endParaRPr>
          </a:p>
        </p:txBody>
      </p:sp>
      <p:sp>
        <p:nvSpPr>
          <p:cNvPr id="353" name="Google Shape;353;p19"/>
          <p:cNvSpPr/>
          <p:nvPr/>
        </p:nvSpPr>
        <p:spPr>
          <a:xfrm>
            <a:off x="920898" y="5199097"/>
            <a:ext cx="2021085" cy="86868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Customers/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Channel</a:t>
            </a:r>
            <a:endParaRPr b="0" i="0" sz="1800" u="none" cap="none" strike="noStrike">
              <a:solidFill>
                <a:schemeClr val="lt1"/>
              </a:solidFill>
              <a:latin typeface="Roboto"/>
              <a:ea typeface="Roboto"/>
              <a:cs typeface="Roboto"/>
              <a:sym typeface="Roboto"/>
            </a:endParaRPr>
          </a:p>
        </p:txBody>
      </p:sp>
      <p:sp>
        <p:nvSpPr>
          <p:cNvPr id="354" name="Google Shape;354;p19"/>
          <p:cNvSpPr/>
          <p:nvPr/>
        </p:nvSpPr>
        <p:spPr>
          <a:xfrm>
            <a:off x="3071192" y="5199097"/>
            <a:ext cx="819991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Discuss impact on existing customer relationships and potential for new customers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Think about relevant customer trends/constraints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Consider the need for an omni channel or eCommerce strategy</a:t>
            </a:r>
            <a:endParaRPr b="0" i="0" sz="1400" u="none" cap="none" strike="noStrike">
              <a:solidFill>
                <a:srgbClr val="000000"/>
              </a:solidFill>
              <a:latin typeface="Roboto"/>
              <a:ea typeface="Roboto"/>
              <a:cs typeface="Roboto"/>
              <a:sym typeface="Roboto"/>
            </a:endParaRPr>
          </a:p>
        </p:txBody>
      </p:sp>
      <p:sp>
        <p:nvSpPr>
          <p:cNvPr id="355" name="Google Shape;355;p19"/>
          <p:cNvSpPr/>
          <p:nvPr/>
        </p:nvSpPr>
        <p:spPr>
          <a:xfrm>
            <a:off x="3071192" y="2332981"/>
            <a:ext cx="8199910" cy="86868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Focus on category growth or decline, newly emerging substitutes, or tech disruption</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Think about trends that could impact the product or opportunity being considered</a:t>
            </a:r>
            <a:endParaRPr b="0" i="0" sz="1400" u="none" cap="none" strike="noStrike">
              <a:solidFill>
                <a:srgbClr val="000000"/>
              </a:solidFill>
              <a:latin typeface="Roboto"/>
              <a:ea typeface="Roboto"/>
              <a:cs typeface="Roboto"/>
              <a:sym typeface="Roboto"/>
            </a:endParaRPr>
          </a:p>
        </p:txBody>
      </p:sp>
      <p:sp>
        <p:nvSpPr>
          <p:cNvPr id="356" name="Google Shape;356;p19"/>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How to Apply the 5 C’s</a:t>
            </a:r>
            <a:endParaRPr b="1" i="0" sz="3600" u="none" cap="none" strike="noStrike">
              <a:solidFill>
                <a:schemeClr val="accent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62" name="Google Shape;362;p20"/>
          <p:cNvSpPr/>
          <p:nvPr/>
        </p:nvSpPr>
        <p:spPr>
          <a:xfrm>
            <a:off x="920898" y="1377609"/>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000"/>
              <a:buFont typeface="Calibri"/>
              <a:buNone/>
            </a:pPr>
            <a:r>
              <a:rPr b="1" i="0" lang="en-US" sz="2000" u="none" cap="none" strike="noStrike">
                <a:solidFill>
                  <a:schemeClr val="lt1"/>
                </a:solidFill>
                <a:latin typeface="Roboto"/>
                <a:ea typeface="Roboto"/>
                <a:cs typeface="Roboto"/>
                <a:sym typeface="Roboto"/>
              </a:rPr>
              <a:t>Consumer</a:t>
            </a:r>
            <a:endParaRPr b="0" i="0" sz="1800" u="none" cap="none" strike="noStrike">
              <a:solidFill>
                <a:schemeClr val="lt1"/>
              </a:solidFill>
              <a:latin typeface="Roboto"/>
              <a:ea typeface="Roboto"/>
              <a:cs typeface="Roboto"/>
              <a:sym typeface="Roboto"/>
            </a:endParaRPr>
          </a:p>
        </p:txBody>
      </p:sp>
      <p:sp>
        <p:nvSpPr>
          <p:cNvPr id="363" name="Google Shape;363;p20"/>
          <p:cNvSpPr/>
          <p:nvPr/>
        </p:nvSpPr>
        <p:spPr>
          <a:xfrm>
            <a:off x="3071192" y="1377609"/>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47650" lvl="0" marL="285750" marR="0" rtl="0" algn="l">
              <a:lnSpc>
                <a:spcPct val="100000"/>
              </a:lnSpc>
              <a:spcBef>
                <a:spcPts val="0"/>
              </a:spcBef>
              <a:spcAft>
                <a:spcPts val="0"/>
              </a:spcAft>
              <a:buClr>
                <a:srgbClr val="000000"/>
              </a:buClr>
              <a:buSzPts val="1000"/>
              <a:buFont typeface="Roboto"/>
              <a:buChar char="•"/>
            </a:pPr>
            <a:r>
              <a:rPr b="0" i="0" lang="en-US" sz="1000" u="none" cap="none" strike="noStrike">
                <a:solidFill>
                  <a:schemeClr val="accent1"/>
                </a:solidFill>
                <a:latin typeface="Roboto"/>
                <a:ea typeface="Roboto"/>
                <a:cs typeface="Roboto"/>
                <a:sym typeface="Roboto"/>
              </a:rPr>
              <a:t>Likely someone that is concerned about health and well-being</a:t>
            </a:r>
            <a:endParaRPr b="0" i="0" sz="1000" u="none" cap="none" strike="noStrike">
              <a:solidFill>
                <a:schemeClr val="accent1"/>
              </a:solidFill>
              <a:latin typeface="Roboto"/>
              <a:ea typeface="Roboto"/>
              <a:cs typeface="Roboto"/>
              <a:sym typeface="Roboto"/>
            </a:endParaRPr>
          </a:p>
          <a:p>
            <a:pPr indent="-247650" lvl="0" marL="285750" marR="0" rtl="0" algn="l">
              <a:lnSpc>
                <a:spcPct val="100000"/>
              </a:lnSpc>
              <a:spcBef>
                <a:spcPts val="0"/>
              </a:spcBef>
              <a:spcAft>
                <a:spcPts val="0"/>
              </a:spcAft>
              <a:buClr>
                <a:schemeClr val="accent1"/>
              </a:buClr>
              <a:buSzPts val="1000"/>
              <a:buFont typeface="Roboto"/>
              <a:buChar char="•"/>
            </a:pPr>
            <a:r>
              <a:rPr b="0" i="0" lang="en-US" sz="1000" u="none" cap="none" strike="noStrike">
                <a:solidFill>
                  <a:schemeClr val="accent1"/>
                </a:solidFill>
                <a:latin typeface="Roboto"/>
                <a:ea typeface="Roboto"/>
                <a:cs typeface="Roboto"/>
                <a:sym typeface="Roboto"/>
              </a:rPr>
              <a:t>Interested in other plant-based products and consumes a low amount of dairy or has moved away from dairy entirely, e.g. someone who drinks almond/coconut/soy/oat milk or creamer with their coffee instead of dairy milk or creamer</a:t>
            </a:r>
            <a:endParaRPr b="0" i="0" sz="1000" u="none" cap="none" strike="noStrike">
              <a:solidFill>
                <a:schemeClr val="accent1"/>
              </a:solidFill>
              <a:latin typeface="Roboto"/>
              <a:ea typeface="Roboto"/>
              <a:cs typeface="Roboto"/>
              <a:sym typeface="Roboto"/>
            </a:endParaRPr>
          </a:p>
          <a:p>
            <a:pPr indent="-247650" lvl="0" marL="285750" marR="0" rtl="0" algn="l">
              <a:lnSpc>
                <a:spcPct val="100000"/>
              </a:lnSpc>
              <a:spcBef>
                <a:spcPts val="0"/>
              </a:spcBef>
              <a:spcAft>
                <a:spcPts val="0"/>
              </a:spcAft>
              <a:buClr>
                <a:schemeClr val="accent1"/>
              </a:buClr>
              <a:buSzPts val="1000"/>
              <a:buFont typeface="Roboto"/>
              <a:buChar char="•"/>
            </a:pPr>
            <a:r>
              <a:rPr b="0" i="0" lang="en-US" sz="1000" u="none" cap="none" strike="noStrike">
                <a:solidFill>
                  <a:schemeClr val="accent1"/>
                </a:solidFill>
                <a:latin typeface="Roboto"/>
                <a:ea typeface="Roboto"/>
                <a:cs typeface="Roboto"/>
                <a:sym typeface="Roboto"/>
              </a:rPr>
              <a:t>Also needs to be someone that while they see health as a priority, they value the chance to indulge every once in awhile. Otherwise, they would not be interested in a whipped topping that would go with desserts or on their coffee (like a frappuccino)</a:t>
            </a:r>
            <a:endParaRPr b="0" i="0" sz="1000" u="none" cap="none" strike="noStrike">
              <a:solidFill>
                <a:schemeClr val="accent1"/>
              </a:solidFill>
              <a:latin typeface="Roboto"/>
              <a:ea typeface="Roboto"/>
              <a:cs typeface="Roboto"/>
              <a:sym typeface="Roboto"/>
            </a:endParaRPr>
          </a:p>
        </p:txBody>
      </p:sp>
      <p:sp>
        <p:nvSpPr>
          <p:cNvPr id="364" name="Google Shape;364;p20"/>
          <p:cNvSpPr/>
          <p:nvPr/>
        </p:nvSpPr>
        <p:spPr>
          <a:xfrm>
            <a:off x="920898" y="4015125"/>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000"/>
              <a:buFont typeface="Calibri"/>
              <a:buNone/>
            </a:pPr>
            <a:r>
              <a:rPr b="1" i="0" lang="en-US" sz="2000" u="none" cap="none" strike="noStrike">
                <a:solidFill>
                  <a:schemeClr val="lt1"/>
                </a:solidFill>
                <a:latin typeface="Roboto"/>
                <a:ea typeface="Roboto"/>
                <a:cs typeface="Roboto"/>
                <a:sym typeface="Roboto"/>
              </a:rPr>
              <a:t>Company</a:t>
            </a:r>
            <a:endParaRPr b="0" i="0" sz="1800" u="none" cap="none" strike="noStrike">
              <a:solidFill>
                <a:schemeClr val="lt1"/>
              </a:solidFill>
              <a:latin typeface="Roboto"/>
              <a:ea typeface="Roboto"/>
              <a:cs typeface="Roboto"/>
              <a:sym typeface="Roboto"/>
            </a:endParaRPr>
          </a:p>
        </p:txBody>
      </p:sp>
      <p:sp>
        <p:nvSpPr>
          <p:cNvPr id="365" name="Google Shape;365;p20"/>
          <p:cNvSpPr/>
          <p:nvPr/>
        </p:nvSpPr>
        <p:spPr>
          <a:xfrm>
            <a:off x="3071192" y="4015125"/>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34950" lvl="0" marL="285750" marR="0" rtl="0" algn="l">
              <a:lnSpc>
                <a:spcPct val="100000"/>
              </a:lnSpc>
              <a:spcBef>
                <a:spcPts val="0"/>
              </a:spcBef>
              <a:spcAft>
                <a:spcPts val="0"/>
              </a:spcAft>
              <a:buClr>
                <a:schemeClr val="dk1"/>
              </a:buClr>
              <a:buSzPts val="1000"/>
              <a:buFont typeface="Roboto"/>
              <a:buChar char="•"/>
            </a:pPr>
            <a:r>
              <a:rPr b="0" i="0" lang="en-US" sz="1000" u="none" cap="none" strike="noStrike">
                <a:solidFill>
                  <a:schemeClr val="accent1"/>
                </a:solidFill>
                <a:latin typeface="Roboto"/>
                <a:ea typeface="Roboto"/>
                <a:cs typeface="Roboto"/>
                <a:sym typeface="Roboto"/>
              </a:rPr>
              <a:t>Danone has a few brands where a plant-based whipped topping may make sense - International Delight, So Delicious, and Silk</a:t>
            </a:r>
            <a:endParaRPr b="0" i="0" sz="1000" u="none" cap="none" strike="noStrike">
              <a:solidFill>
                <a:schemeClr val="accent1"/>
              </a:solidFill>
              <a:latin typeface="Roboto"/>
              <a:ea typeface="Roboto"/>
              <a:cs typeface="Roboto"/>
              <a:sym typeface="Roboto"/>
            </a:endParaRPr>
          </a:p>
          <a:p>
            <a:pPr indent="-234950" lvl="0" marL="285750" marR="0" rtl="0" algn="l">
              <a:lnSpc>
                <a:spcPct val="100000"/>
              </a:lnSpc>
              <a:spcBef>
                <a:spcPts val="0"/>
              </a:spcBef>
              <a:spcAft>
                <a:spcPts val="0"/>
              </a:spcAft>
              <a:buClr>
                <a:schemeClr val="accent1"/>
              </a:buClr>
              <a:buSzPts val="1000"/>
              <a:buFont typeface="Roboto"/>
              <a:buChar char="•"/>
            </a:pPr>
            <a:r>
              <a:rPr b="0" i="0" lang="en-US" sz="1000" u="none" cap="none" strike="noStrike">
                <a:solidFill>
                  <a:schemeClr val="accent1"/>
                </a:solidFill>
                <a:latin typeface="Roboto"/>
                <a:ea typeface="Roboto"/>
                <a:cs typeface="Roboto"/>
                <a:sym typeface="Roboto"/>
              </a:rPr>
              <a:t>International Delight and So Delicious already do make plant-based whipped toppings, so this would not be a new capability that Danone would need to figure out. However, with existing products there is a risk of cannibalization</a:t>
            </a:r>
            <a:endParaRPr b="0" i="0" sz="1000" u="none" cap="none" strike="noStrike">
              <a:solidFill>
                <a:schemeClr val="accent1"/>
              </a:solidFill>
              <a:latin typeface="Roboto"/>
              <a:ea typeface="Roboto"/>
              <a:cs typeface="Roboto"/>
              <a:sym typeface="Roboto"/>
            </a:endParaRPr>
          </a:p>
          <a:p>
            <a:pPr indent="-234950" lvl="0" marL="285750" marR="0" rtl="0" algn="l">
              <a:lnSpc>
                <a:spcPct val="100000"/>
              </a:lnSpc>
              <a:spcBef>
                <a:spcPts val="0"/>
              </a:spcBef>
              <a:spcAft>
                <a:spcPts val="0"/>
              </a:spcAft>
              <a:buClr>
                <a:schemeClr val="accent1"/>
              </a:buClr>
              <a:buSzPts val="1000"/>
              <a:buFont typeface="Roboto"/>
              <a:buChar char="•"/>
            </a:pPr>
            <a:r>
              <a:rPr b="0" i="1" lang="en-US" sz="1000" u="none" cap="none" strike="noStrike">
                <a:solidFill>
                  <a:schemeClr val="accent1"/>
                </a:solidFill>
                <a:latin typeface="Roboto"/>
                <a:ea typeface="Roboto"/>
                <a:cs typeface="Roboto"/>
                <a:sym typeface="Roboto"/>
              </a:rPr>
              <a:t>Note: here might be a good opportunity to engage with Danone. If the question is general - is this for a specific brand? They have several where it might make sense. If they have existing products - is this a line extension? Show your critical thinking (if applicable)</a:t>
            </a:r>
            <a:endParaRPr b="0" i="1" sz="1000" u="none" cap="none" strike="noStrike">
              <a:solidFill>
                <a:schemeClr val="accent1"/>
              </a:solidFill>
              <a:latin typeface="Roboto"/>
              <a:ea typeface="Roboto"/>
              <a:cs typeface="Roboto"/>
              <a:sym typeface="Roboto"/>
            </a:endParaRPr>
          </a:p>
        </p:txBody>
      </p:sp>
      <p:sp>
        <p:nvSpPr>
          <p:cNvPr id="366" name="Google Shape;366;p20"/>
          <p:cNvSpPr/>
          <p:nvPr/>
        </p:nvSpPr>
        <p:spPr>
          <a:xfrm>
            <a:off x="920900" y="2332975"/>
            <a:ext cx="2021100" cy="6927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2000"/>
              <a:buFont typeface="Calibri"/>
              <a:buNone/>
            </a:pPr>
            <a:r>
              <a:rPr b="1" i="0" lang="en-US" sz="2000" u="none" cap="none" strike="noStrike">
                <a:solidFill>
                  <a:schemeClr val="lt1"/>
                </a:solidFill>
                <a:latin typeface="Roboto"/>
                <a:ea typeface="Roboto"/>
                <a:cs typeface="Roboto"/>
                <a:sym typeface="Roboto"/>
              </a:rPr>
              <a:t>Category</a:t>
            </a:r>
            <a:endParaRPr b="0" i="0" sz="1800" u="none" cap="none" strike="noStrike">
              <a:solidFill>
                <a:schemeClr val="lt1"/>
              </a:solidFill>
              <a:latin typeface="Roboto"/>
              <a:ea typeface="Roboto"/>
              <a:cs typeface="Roboto"/>
              <a:sym typeface="Roboto"/>
            </a:endParaRPr>
          </a:p>
        </p:txBody>
      </p:sp>
      <p:sp>
        <p:nvSpPr>
          <p:cNvPr id="367" name="Google Shape;367;p20"/>
          <p:cNvSpPr/>
          <p:nvPr/>
        </p:nvSpPr>
        <p:spPr>
          <a:xfrm>
            <a:off x="920898" y="3059753"/>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2000"/>
              <a:buFont typeface="Calibri"/>
              <a:buNone/>
            </a:pPr>
            <a:r>
              <a:rPr b="1" i="0" lang="en-US" sz="2000" u="none" cap="none" strike="noStrike">
                <a:solidFill>
                  <a:schemeClr val="lt1"/>
                </a:solidFill>
                <a:latin typeface="Roboto"/>
                <a:ea typeface="Roboto"/>
                <a:cs typeface="Roboto"/>
                <a:sym typeface="Roboto"/>
              </a:rPr>
              <a:t>Competitors</a:t>
            </a:r>
            <a:endParaRPr b="0" i="0" sz="1800" u="none" cap="none" strike="noStrike">
              <a:solidFill>
                <a:schemeClr val="lt1"/>
              </a:solidFill>
              <a:latin typeface="Roboto"/>
              <a:ea typeface="Roboto"/>
              <a:cs typeface="Roboto"/>
              <a:sym typeface="Roboto"/>
            </a:endParaRPr>
          </a:p>
        </p:txBody>
      </p:sp>
      <p:sp>
        <p:nvSpPr>
          <p:cNvPr id="368" name="Google Shape;368;p20"/>
          <p:cNvSpPr/>
          <p:nvPr/>
        </p:nvSpPr>
        <p:spPr>
          <a:xfrm>
            <a:off x="3071192" y="3059753"/>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47650" lvl="0" marL="285750" marR="0" rtl="0" algn="l">
              <a:lnSpc>
                <a:spcPct val="100000"/>
              </a:lnSpc>
              <a:spcBef>
                <a:spcPts val="0"/>
              </a:spcBef>
              <a:spcAft>
                <a:spcPts val="0"/>
              </a:spcAft>
              <a:buClr>
                <a:srgbClr val="000000"/>
              </a:buClr>
              <a:buSzPts val="1000"/>
              <a:buFont typeface="Roboto"/>
              <a:buChar char="•"/>
            </a:pPr>
            <a:r>
              <a:rPr b="0" i="0" lang="en-US" sz="1000" u="none" cap="none" strike="noStrike">
                <a:solidFill>
                  <a:schemeClr val="accent1"/>
                </a:solidFill>
                <a:latin typeface="Roboto"/>
                <a:ea typeface="Roboto"/>
                <a:cs typeface="Roboto"/>
                <a:sym typeface="Roboto"/>
              </a:rPr>
              <a:t>Though there are many brands that have put out non-dairy milks and creamers, there are fewer non-dairy whipped topping brands. Even with the saturation of the market and a decline in whipped toppings, a non-dairy whipped topping may be an interesting opportunity, especially when thinking back to our consumer and what they value - health but also indulgence</a:t>
            </a:r>
            <a:endParaRPr b="0" i="0" sz="1000" u="none" cap="none" strike="noStrike">
              <a:solidFill>
                <a:schemeClr val="accent1"/>
              </a:solidFill>
              <a:latin typeface="Roboto"/>
              <a:ea typeface="Roboto"/>
              <a:cs typeface="Roboto"/>
              <a:sym typeface="Roboto"/>
            </a:endParaRPr>
          </a:p>
          <a:p>
            <a:pPr indent="-247650" lvl="0" marL="285750" marR="0" rtl="0" algn="l">
              <a:lnSpc>
                <a:spcPct val="100000"/>
              </a:lnSpc>
              <a:spcBef>
                <a:spcPts val="0"/>
              </a:spcBef>
              <a:spcAft>
                <a:spcPts val="0"/>
              </a:spcAft>
              <a:buClr>
                <a:schemeClr val="accent1"/>
              </a:buClr>
              <a:buSzPts val="1000"/>
              <a:buFont typeface="Roboto"/>
              <a:buChar char="•"/>
            </a:pPr>
            <a:r>
              <a:rPr b="0" i="0" lang="en-US" sz="1000" u="none" cap="none" strike="noStrike">
                <a:solidFill>
                  <a:schemeClr val="accent1"/>
                </a:solidFill>
                <a:latin typeface="Roboto"/>
                <a:ea typeface="Roboto"/>
                <a:cs typeface="Roboto"/>
                <a:sym typeface="Roboto"/>
              </a:rPr>
              <a:t>I would definitely want to look at brands like Reddi-wip, Cool Whip, and private label brands. I know that Reddi-Wip already has almond and coconut options. I believe Cool Whip only has low-fat. Private labels may have a mix of options (both non-dairy and low fat)</a:t>
            </a:r>
            <a:endParaRPr b="0" i="0" sz="1000" u="none" cap="none" strike="noStrike">
              <a:solidFill>
                <a:schemeClr val="accent1"/>
              </a:solidFill>
              <a:latin typeface="Roboto"/>
              <a:ea typeface="Roboto"/>
              <a:cs typeface="Roboto"/>
              <a:sym typeface="Roboto"/>
            </a:endParaRPr>
          </a:p>
        </p:txBody>
      </p:sp>
      <p:sp>
        <p:nvSpPr>
          <p:cNvPr id="369" name="Google Shape;369;p20"/>
          <p:cNvSpPr/>
          <p:nvPr/>
        </p:nvSpPr>
        <p:spPr>
          <a:xfrm>
            <a:off x="920900" y="4970500"/>
            <a:ext cx="2021100" cy="6927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Customers/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Channel</a:t>
            </a:r>
            <a:endParaRPr b="0" i="0" sz="1800" u="none" cap="none" strike="noStrike">
              <a:solidFill>
                <a:schemeClr val="lt1"/>
              </a:solidFill>
              <a:latin typeface="Roboto"/>
              <a:ea typeface="Roboto"/>
              <a:cs typeface="Roboto"/>
              <a:sym typeface="Roboto"/>
            </a:endParaRPr>
          </a:p>
        </p:txBody>
      </p:sp>
      <p:sp>
        <p:nvSpPr>
          <p:cNvPr id="370" name="Google Shape;370;p20"/>
          <p:cNvSpPr/>
          <p:nvPr/>
        </p:nvSpPr>
        <p:spPr>
          <a:xfrm>
            <a:off x="3071196" y="4970500"/>
            <a:ext cx="8199900" cy="6927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34950" lvl="0" marL="285750" marR="0" rtl="0" algn="l">
              <a:lnSpc>
                <a:spcPct val="100000"/>
              </a:lnSpc>
              <a:spcBef>
                <a:spcPts val="0"/>
              </a:spcBef>
              <a:spcAft>
                <a:spcPts val="0"/>
              </a:spcAft>
              <a:buClr>
                <a:schemeClr val="dk1"/>
              </a:buClr>
              <a:buSzPts val="1000"/>
              <a:buFont typeface="Roboto"/>
              <a:buChar char="•"/>
            </a:pPr>
            <a:r>
              <a:rPr b="0" i="0" lang="en-US" sz="1000" u="none" cap="none" strike="noStrike">
                <a:solidFill>
                  <a:schemeClr val="accent1"/>
                </a:solidFill>
                <a:latin typeface="Roboto"/>
                <a:ea typeface="Roboto"/>
                <a:cs typeface="Roboto"/>
                <a:sym typeface="Roboto"/>
              </a:rPr>
              <a:t>Danone has existing relationships with a number of customers, including Kroger, Costco, Walmart, Target, Amazon, Whole Foods</a:t>
            </a:r>
            <a:endParaRPr b="0" i="0" sz="1000" u="none" cap="none" strike="noStrike">
              <a:solidFill>
                <a:schemeClr val="accent1"/>
              </a:solidFill>
              <a:latin typeface="Roboto"/>
              <a:ea typeface="Roboto"/>
              <a:cs typeface="Roboto"/>
              <a:sym typeface="Roboto"/>
            </a:endParaRPr>
          </a:p>
          <a:p>
            <a:pPr indent="-234950" lvl="0" marL="285750" marR="0" rtl="0" algn="l">
              <a:lnSpc>
                <a:spcPct val="100000"/>
              </a:lnSpc>
              <a:spcBef>
                <a:spcPts val="0"/>
              </a:spcBef>
              <a:spcAft>
                <a:spcPts val="0"/>
              </a:spcAft>
              <a:buClr>
                <a:schemeClr val="dk1"/>
              </a:buClr>
              <a:buSzPts val="1000"/>
              <a:buFont typeface="Roboto"/>
              <a:buChar char="•"/>
            </a:pPr>
            <a:r>
              <a:rPr b="0" i="0" lang="en-US" sz="1000" u="none" cap="none" strike="noStrike">
                <a:solidFill>
                  <a:schemeClr val="accent1"/>
                </a:solidFill>
                <a:latin typeface="Roboto"/>
                <a:ea typeface="Roboto"/>
                <a:cs typeface="Roboto"/>
                <a:sym typeface="Roboto"/>
              </a:rPr>
              <a:t>There is going to be limited shelf space for a new product, so will need to make the case for why this is different from existing products (whether competitor or our own)</a:t>
            </a:r>
            <a:endParaRPr b="0" i="0" sz="1000" u="none" cap="none" strike="noStrike">
              <a:solidFill>
                <a:schemeClr val="accent1"/>
              </a:solidFill>
              <a:latin typeface="Roboto"/>
              <a:ea typeface="Roboto"/>
              <a:cs typeface="Roboto"/>
              <a:sym typeface="Roboto"/>
            </a:endParaRPr>
          </a:p>
          <a:p>
            <a:pPr indent="-234950" lvl="0" marL="285750" marR="0" rtl="0" algn="l">
              <a:lnSpc>
                <a:spcPct val="100000"/>
              </a:lnSpc>
              <a:spcBef>
                <a:spcPts val="0"/>
              </a:spcBef>
              <a:spcAft>
                <a:spcPts val="0"/>
              </a:spcAft>
              <a:buClr>
                <a:schemeClr val="accent1"/>
              </a:buClr>
              <a:buSzPts val="1000"/>
              <a:buFont typeface="Roboto"/>
              <a:buChar char="•"/>
            </a:pPr>
            <a:r>
              <a:rPr b="0" i="0" lang="en-US" sz="1000" u="none" cap="none" strike="noStrike">
                <a:solidFill>
                  <a:schemeClr val="accent1"/>
                </a:solidFill>
                <a:latin typeface="Roboto"/>
                <a:ea typeface="Roboto"/>
                <a:cs typeface="Roboto"/>
                <a:sym typeface="Roboto"/>
              </a:rPr>
              <a:t>For health conscious consumers, we want to make sure that we launch at customers that make sense, maybe Whole Foods</a:t>
            </a:r>
            <a:endParaRPr b="0" i="0" sz="1000" u="none" cap="none" strike="noStrike">
              <a:solidFill>
                <a:schemeClr val="accent1"/>
              </a:solidFill>
              <a:latin typeface="Roboto"/>
              <a:ea typeface="Roboto"/>
              <a:cs typeface="Roboto"/>
              <a:sym typeface="Roboto"/>
            </a:endParaRPr>
          </a:p>
        </p:txBody>
      </p:sp>
      <p:sp>
        <p:nvSpPr>
          <p:cNvPr id="371" name="Google Shape;371;p20"/>
          <p:cNvSpPr/>
          <p:nvPr/>
        </p:nvSpPr>
        <p:spPr>
          <a:xfrm>
            <a:off x="3071196" y="2332975"/>
            <a:ext cx="8199900" cy="6927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34950" lvl="0" marL="285750" marR="0" rtl="0" algn="l">
              <a:lnSpc>
                <a:spcPct val="100000"/>
              </a:lnSpc>
              <a:spcBef>
                <a:spcPts val="0"/>
              </a:spcBef>
              <a:spcAft>
                <a:spcPts val="0"/>
              </a:spcAft>
              <a:buClr>
                <a:schemeClr val="dk1"/>
              </a:buClr>
              <a:buSzPts val="1000"/>
              <a:buFont typeface="Roboto"/>
              <a:buChar char="•"/>
            </a:pPr>
            <a:r>
              <a:rPr b="0" i="0" lang="en-US" sz="1000" u="none" cap="none" strike="noStrike">
                <a:solidFill>
                  <a:schemeClr val="accent1"/>
                </a:solidFill>
                <a:latin typeface="Roboto"/>
                <a:ea typeface="Roboto"/>
                <a:cs typeface="Roboto"/>
                <a:sym typeface="Roboto"/>
              </a:rPr>
              <a:t>Plant-based/non-dairy alternatives have been very popular in recent years. There has been huge growth in this area and we have seen many new brands focused on providing consumers with these options. However, we might be at the point where growth is declining</a:t>
            </a:r>
            <a:endParaRPr b="0" i="0" sz="1000" u="none" cap="none" strike="noStrike">
              <a:solidFill>
                <a:schemeClr val="accent1"/>
              </a:solidFill>
              <a:latin typeface="Roboto"/>
              <a:ea typeface="Roboto"/>
              <a:cs typeface="Roboto"/>
              <a:sym typeface="Roboto"/>
            </a:endParaRPr>
          </a:p>
          <a:p>
            <a:pPr indent="-234950" lvl="0" marL="285750" marR="0" rtl="0" algn="l">
              <a:lnSpc>
                <a:spcPct val="100000"/>
              </a:lnSpc>
              <a:spcBef>
                <a:spcPts val="0"/>
              </a:spcBef>
              <a:spcAft>
                <a:spcPts val="0"/>
              </a:spcAft>
              <a:buClr>
                <a:schemeClr val="dk1"/>
              </a:buClr>
              <a:buSzPts val="1000"/>
              <a:buFont typeface="Roboto"/>
              <a:buChar char="•"/>
            </a:pPr>
            <a:r>
              <a:rPr b="0" i="0" lang="en-US" sz="1000" u="none" cap="none" strike="noStrike">
                <a:solidFill>
                  <a:schemeClr val="accent1"/>
                </a:solidFill>
                <a:latin typeface="Roboto"/>
                <a:ea typeface="Roboto"/>
                <a:cs typeface="Roboto"/>
                <a:sym typeface="Roboto"/>
              </a:rPr>
              <a:t>For whipped toppings, I can imagine that they have likely been on decline - with health and wellness being at the forefront of the minds of many consumers, including our own, I could see this being something that they are not buying as much</a:t>
            </a:r>
            <a:endParaRPr b="0" i="0" sz="1000" u="none" cap="none" strike="noStrike">
              <a:solidFill>
                <a:schemeClr val="accent1"/>
              </a:solidFill>
              <a:latin typeface="Roboto"/>
              <a:ea typeface="Roboto"/>
              <a:cs typeface="Roboto"/>
              <a:sym typeface="Roboto"/>
            </a:endParaRPr>
          </a:p>
        </p:txBody>
      </p:sp>
      <p:sp>
        <p:nvSpPr>
          <p:cNvPr id="372" name="Google Shape;372;p20"/>
          <p:cNvSpPr txBox="1"/>
          <p:nvPr>
            <p:ph type="title"/>
          </p:nvPr>
        </p:nvSpPr>
        <p:spPr>
          <a:xfrm>
            <a:off x="1173750" y="5691096"/>
            <a:ext cx="9844500" cy="517500"/>
          </a:xfrm>
          <a:prstGeom prst="rect">
            <a:avLst/>
          </a:prstGeom>
          <a:no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SzPts val="3240"/>
              <a:buNone/>
            </a:pPr>
            <a:r>
              <a:rPr lang="en-US" sz="2000">
                <a:latin typeface="Roboto"/>
                <a:ea typeface="Roboto"/>
                <a:cs typeface="Roboto"/>
                <a:sym typeface="Roboto"/>
              </a:rPr>
              <a:t>Answer: No. Products already exist and category growth is declining.</a:t>
            </a:r>
            <a:endParaRPr sz="2000">
              <a:latin typeface="Roboto"/>
              <a:ea typeface="Roboto"/>
              <a:cs typeface="Roboto"/>
              <a:sym typeface="Roboto"/>
            </a:endParaRPr>
          </a:p>
        </p:txBody>
      </p:sp>
      <p:sp>
        <p:nvSpPr>
          <p:cNvPr id="373" name="Google Shape;373;p20"/>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Should Danone launch a plant-based whipped topping?</a:t>
            </a:r>
            <a:endParaRPr b="1" i="0" sz="3600" u="none" cap="none" strike="noStrike">
              <a:solidFill>
                <a:schemeClr val="accent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79" name="Google Shape;379;p21"/>
          <p:cNvSpPr txBox="1"/>
          <p:nvPr>
            <p:ph idx="1" type="body"/>
          </p:nvPr>
        </p:nvSpPr>
        <p:spPr>
          <a:xfrm>
            <a:off x="920899" y="1512712"/>
            <a:ext cx="10340100" cy="4274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480"/>
              </a:spcBef>
              <a:spcAft>
                <a:spcPts val="0"/>
              </a:spcAft>
              <a:buSzPts val="1800"/>
              <a:buFont typeface="Roboto"/>
              <a:buChar char="▪"/>
            </a:pPr>
            <a:r>
              <a:rPr lang="en-US" sz="1800">
                <a:latin typeface="Roboto"/>
                <a:ea typeface="Roboto"/>
                <a:cs typeface="Roboto"/>
                <a:sym typeface="Roboto"/>
              </a:rPr>
              <a:t>Always bring your responses back to the consumer. Connect your insights to the consumer profile you established at the beginning of the question</a:t>
            </a:r>
            <a:endParaRPr sz="1800">
              <a:latin typeface="Roboto"/>
              <a:ea typeface="Roboto"/>
              <a:cs typeface="Roboto"/>
              <a:sym typeface="Roboto"/>
            </a:endParaRPr>
          </a:p>
          <a:p>
            <a:pPr indent="-342900" lvl="1" marL="914400" rtl="0" algn="l">
              <a:lnSpc>
                <a:spcPct val="100000"/>
              </a:lnSpc>
              <a:spcBef>
                <a:spcPts val="480"/>
              </a:spcBef>
              <a:spcAft>
                <a:spcPts val="0"/>
              </a:spcAft>
              <a:buSzPts val="1800"/>
              <a:buFont typeface="Roboto"/>
              <a:buChar char="–"/>
            </a:pPr>
            <a:r>
              <a:rPr lang="en-US" sz="1800">
                <a:latin typeface="Roboto"/>
                <a:ea typeface="Roboto"/>
                <a:cs typeface="Roboto"/>
                <a:sym typeface="Roboto"/>
              </a:rPr>
              <a:t>If this is a new product for a specific brand, think about if this product would be targeted at the existing consumer base or a new consumer base, and mention that insight</a:t>
            </a:r>
            <a:endParaRPr sz="1800">
              <a:latin typeface="Roboto"/>
              <a:ea typeface="Roboto"/>
              <a:cs typeface="Roboto"/>
              <a:sym typeface="Roboto"/>
            </a:endParaRPr>
          </a:p>
          <a:p>
            <a:pPr indent="-342900" lvl="0" marL="457200" rtl="0" algn="l">
              <a:lnSpc>
                <a:spcPct val="100000"/>
              </a:lnSpc>
              <a:spcBef>
                <a:spcPts val="480"/>
              </a:spcBef>
              <a:spcAft>
                <a:spcPts val="0"/>
              </a:spcAft>
              <a:buSzPts val="1800"/>
              <a:buFont typeface="Roboto"/>
              <a:buChar char="▪"/>
            </a:pPr>
            <a:r>
              <a:rPr lang="en-US" sz="1800">
                <a:latin typeface="Roboto"/>
                <a:ea typeface="Roboto"/>
                <a:cs typeface="Roboto"/>
                <a:sym typeface="Roboto"/>
              </a:rPr>
              <a:t>Make sure logic for each of the 5 C’s directionally moves to your answer</a:t>
            </a:r>
            <a:endParaRPr sz="1800">
              <a:latin typeface="Roboto"/>
              <a:ea typeface="Roboto"/>
              <a:cs typeface="Roboto"/>
              <a:sym typeface="Roboto"/>
            </a:endParaRPr>
          </a:p>
          <a:p>
            <a:pPr indent="-342900" lvl="0" marL="457200" rtl="0" algn="l">
              <a:lnSpc>
                <a:spcPct val="100000"/>
              </a:lnSpc>
              <a:spcBef>
                <a:spcPts val="480"/>
              </a:spcBef>
              <a:spcAft>
                <a:spcPts val="0"/>
              </a:spcAft>
              <a:buSzPts val="1800"/>
              <a:buChar char="▪"/>
            </a:pPr>
            <a:r>
              <a:rPr lang="en-US" sz="1800">
                <a:latin typeface="Roboto"/>
                <a:ea typeface="Roboto"/>
                <a:cs typeface="Roboto"/>
                <a:sym typeface="Roboto"/>
              </a:rPr>
              <a:t>When talking about trends or competitors, </a:t>
            </a:r>
            <a:r>
              <a:rPr b="1" lang="en-US" sz="1800">
                <a:latin typeface="Roboto"/>
                <a:ea typeface="Roboto"/>
                <a:cs typeface="Roboto"/>
                <a:sym typeface="Roboto"/>
              </a:rPr>
              <a:t>be specific</a:t>
            </a:r>
            <a:r>
              <a:rPr lang="en-US" sz="1800">
                <a:latin typeface="Roboto"/>
                <a:ea typeface="Roboto"/>
                <a:cs typeface="Roboto"/>
                <a:sym typeface="Roboto"/>
              </a:rPr>
              <a:t>. </a:t>
            </a:r>
            <a:endParaRPr/>
          </a:p>
          <a:p>
            <a:pPr indent="-342900" lvl="1" marL="914400" rtl="0" algn="l">
              <a:lnSpc>
                <a:spcPct val="100000"/>
              </a:lnSpc>
              <a:spcBef>
                <a:spcPts val="480"/>
              </a:spcBef>
              <a:spcAft>
                <a:spcPts val="0"/>
              </a:spcAft>
              <a:buSzPts val="1800"/>
              <a:buChar char="▪"/>
            </a:pPr>
            <a:r>
              <a:rPr lang="en-US" sz="1800">
                <a:latin typeface="Roboto"/>
                <a:ea typeface="Roboto"/>
                <a:cs typeface="Roboto"/>
                <a:sym typeface="Roboto"/>
              </a:rPr>
              <a:t>This is how you flex!</a:t>
            </a:r>
            <a:endParaRPr/>
          </a:p>
          <a:p>
            <a:pPr indent="-342900" lvl="1" marL="914400" rtl="0" algn="l">
              <a:lnSpc>
                <a:spcPct val="100000"/>
              </a:lnSpc>
              <a:spcBef>
                <a:spcPts val="480"/>
              </a:spcBef>
              <a:spcAft>
                <a:spcPts val="0"/>
              </a:spcAft>
              <a:buSzPts val="1800"/>
              <a:buChar char="▪"/>
            </a:pPr>
            <a:r>
              <a:rPr lang="en-US" sz="1800">
                <a:latin typeface="Roboto"/>
                <a:ea typeface="Roboto"/>
                <a:cs typeface="Roboto"/>
                <a:sym typeface="Roboto"/>
              </a:rPr>
              <a:t>Say more than “I would want to look at if this category is growing or declining” or “I would want to evaluate competitors”</a:t>
            </a:r>
            <a:endParaRPr/>
          </a:p>
          <a:p>
            <a:pPr indent="-342900" lvl="1" marL="914400" rtl="0" algn="l">
              <a:lnSpc>
                <a:spcPct val="100000"/>
              </a:lnSpc>
              <a:spcBef>
                <a:spcPts val="480"/>
              </a:spcBef>
              <a:spcAft>
                <a:spcPts val="0"/>
              </a:spcAft>
              <a:buSzPts val="1800"/>
              <a:buChar char="▪"/>
            </a:pPr>
            <a:r>
              <a:rPr lang="en-US" sz="1800">
                <a:latin typeface="Roboto"/>
                <a:ea typeface="Roboto"/>
                <a:cs typeface="Roboto"/>
                <a:sym typeface="Roboto"/>
              </a:rPr>
              <a:t>As a former CDO advisor said, “Act like you have been to the grocery store!”</a:t>
            </a:r>
            <a:endParaRPr sz="1800">
              <a:latin typeface="Roboto"/>
              <a:ea typeface="Roboto"/>
              <a:cs typeface="Roboto"/>
              <a:sym typeface="Roboto"/>
            </a:endParaRPr>
          </a:p>
          <a:p>
            <a:pPr indent="-342900" lvl="1" marL="914400" rtl="0" algn="l">
              <a:lnSpc>
                <a:spcPct val="100000"/>
              </a:lnSpc>
              <a:spcBef>
                <a:spcPts val="480"/>
              </a:spcBef>
              <a:spcAft>
                <a:spcPts val="0"/>
              </a:spcAft>
              <a:buSzPts val="1800"/>
              <a:buFont typeface="Roboto"/>
              <a:buChar char="▪"/>
            </a:pPr>
            <a:r>
              <a:rPr lang="en-US" sz="1800">
                <a:latin typeface="Roboto"/>
                <a:ea typeface="Roboto"/>
                <a:cs typeface="Roboto"/>
                <a:sym typeface="Roboto"/>
              </a:rPr>
              <a:t>Don’t forget about private label brands when thinking about competitors - they are huge!</a:t>
            </a:r>
            <a:endParaRPr sz="1800">
              <a:latin typeface="Roboto"/>
              <a:ea typeface="Roboto"/>
              <a:cs typeface="Roboto"/>
              <a:sym typeface="Roboto"/>
            </a:endParaRPr>
          </a:p>
          <a:p>
            <a:pPr indent="-342900" lvl="0" marL="457200" rtl="0" algn="l">
              <a:lnSpc>
                <a:spcPct val="100000"/>
              </a:lnSpc>
              <a:spcBef>
                <a:spcPts val="480"/>
              </a:spcBef>
              <a:spcAft>
                <a:spcPts val="0"/>
              </a:spcAft>
              <a:buSzPts val="1800"/>
              <a:buFont typeface="Roboto"/>
              <a:buChar char="▪"/>
            </a:pPr>
            <a:r>
              <a:rPr lang="en-US" sz="1800">
                <a:latin typeface="Roboto"/>
                <a:ea typeface="Roboto"/>
                <a:cs typeface="Roboto"/>
                <a:sym typeface="Roboto"/>
              </a:rPr>
              <a:t>At the end, always summarize your insights and respond to the question at the end with a definitive “Yes” or “No”</a:t>
            </a:r>
            <a:endParaRPr sz="1800">
              <a:latin typeface="Roboto"/>
              <a:ea typeface="Roboto"/>
              <a:cs typeface="Roboto"/>
              <a:sym typeface="Roboto"/>
            </a:endParaRPr>
          </a:p>
        </p:txBody>
      </p:sp>
      <p:sp>
        <p:nvSpPr>
          <p:cNvPr id="380" name="Google Shape;380;p21"/>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Additional Tips for 5 C’s</a:t>
            </a:r>
            <a:endParaRPr b="1" i="0" sz="3600" u="none" cap="none" strike="noStrike">
              <a:solidFill>
                <a:schemeClr val="accent1"/>
              </a:solidFill>
              <a:latin typeface="Roboto"/>
              <a:ea typeface="Roboto"/>
              <a:cs typeface="Roboto"/>
              <a:sym typeface="Roboto"/>
            </a:endParaRPr>
          </a:p>
        </p:txBody>
      </p:sp>
      <p:sp>
        <p:nvSpPr>
          <p:cNvPr id="381" name="Google Shape;381;p21"/>
          <p:cNvSpPr/>
          <p:nvPr/>
        </p:nvSpPr>
        <p:spPr>
          <a:xfrm>
            <a:off x="3851107" y="5927735"/>
            <a:ext cx="4489704" cy="461152"/>
          </a:xfrm>
          <a:prstGeom prst="rect">
            <a:avLst/>
          </a:prstGeom>
          <a:solidFill>
            <a:schemeClr val="accent2"/>
          </a:solidFill>
          <a:ln cap="flat" cmpd="sng" w="25400">
            <a:solidFill>
              <a:srgbClr val="BA94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Would you like us to demonstrate another example?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2"/>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87" name="Google Shape;387;p22"/>
          <p:cNvSpPr/>
          <p:nvPr/>
        </p:nvSpPr>
        <p:spPr>
          <a:xfrm>
            <a:off x="0" y="0"/>
            <a:ext cx="12192000" cy="6201508"/>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How do I prepare for </a:t>
            </a:r>
            <a:endParaRPr b="0" i="0" sz="40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case questions?</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3"/>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93" name="Google Shape;393;p23"/>
          <p:cNvSpPr/>
          <p:nvPr/>
        </p:nvSpPr>
        <p:spPr>
          <a:xfrm>
            <a:off x="1214300" y="1457525"/>
            <a:ext cx="4701000" cy="5967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DO</a:t>
            </a:r>
            <a:endParaRPr b="1" i="0" sz="2200" u="none" cap="none" strike="noStrike">
              <a:solidFill>
                <a:schemeClr val="lt1"/>
              </a:solidFill>
              <a:latin typeface="Roboto"/>
              <a:ea typeface="Roboto"/>
              <a:cs typeface="Roboto"/>
              <a:sym typeface="Roboto"/>
            </a:endParaRPr>
          </a:p>
        </p:txBody>
      </p:sp>
      <p:sp>
        <p:nvSpPr>
          <p:cNvPr id="394" name="Google Shape;394;p23"/>
          <p:cNvSpPr/>
          <p:nvPr/>
        </p:nvSpPr>
        <p:spPr>
          <a:xfrm>
            <a:off x="1214300" y="2140950"/>
            <a:ext cx="4701000" cy="39300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260350" lvl="0" marL="285750" marR="0" rtl="0" algn="l">
              <a:lnSpc>
                <a:spcPct val="100000"/>
              </a:lnSpc>
              <a:spcBef>
                <a:spcPts val="0"/>
              </a:spcBef>
              <a:spcAft>
                <a:spcPts val="0"/>
              </a:spcAft>
              <a:buClr>
                <a:srgbClr val="000000"/>
              </a:buClr>
              <a:buSzPts val="1500"/>
              <a:buFont typeface="Roboto"/>
              <a:buChar char="•"/>
            </a:pPr>
            <a:r>
              <a:rPr b="0" i="0" lang="en-US" sz="1500" u="none" cap="none" strike="noStrike">
                <a:solidFill>
                  <a:schemeClr val="dk1"/>
                </a:solidFill>
                <a:latin typeface="Roboto"/>
                <a:ea typeface="Roboto"/>
                <a:cs typeface="Roboto"/>
                <a:sym typeface="Roboto"/>
              </a:rPr>
              <a:t>Always bring your response back to the consumer</a:t>
            </a:r>
            <a:endParaRPr b="0" i="0" sz="1500" u="none" cap="none" strike="noStrike">
              <a:solidFill>
                <a:schemeClr val="dk1"/>
              </a:solidFill>
              <a:latin typeface="Roboto"/>
              <a:ea typeface="Roboto"/>
              <a:cs typeface="Roboto"/>
              <a:sym typeface="Roboto"/>
            </a:endParaRPr>
          </a:p>
          <a:p>
            <a:pPr indent="-260350" lvl="0" marL="28575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Be coherent, thoughtful, and as specific as you can</a:t>
            </a:r>
            <a:endParaRPr b="0" i="0" sz="1500" u="none" cap="none" strike="noStrike">
              <a:solidFill>
                <a:schemeClr val="dk1"/>
              </a:solidFill>
              <a:latin typeface="Roboto"/>
              <a:ea typeface="Roboto"/>
              <a:cs typeface="Roboto"/>
              <a:sym typeface="Roboto"/>
            </a:endParaRPr>
          </a:p>
          <a:p>
            <a:pPr indent="-260350" lvl="0" marL="28575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Ask questions if anything is unclear</a:t>
            </a:r>
            <a:endParaRPr b="0" i="0" sz="1500" u="none" cap="none" strike="noStrike">
              <a:solidFill>
                <a:schemeClr val="dk1"/>
              </a:solidFill>
              <a:latin typeface="Roboto"/>
              <a:ea typeface="Roboto"/>
              <a:cs typeface="Roboto"/>
              <a:sym typeface="Roboto"/>
            </a:endParaRPr>
          </a:p>
          <a:p>
            <a:pPr indent="-323850" lvl="1" marL="9144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Remember: case questions are a thought exercise. The interviewer wants to see that you are a critical thinker</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State your assumptions as you go through. You don’t need to be an expert on everything but you can make logical guesses</a:t>
            </a:r>
            <a:endParaRPr b="0" i="0" sz="1500" u="none" cap="none" strike="noStrike">
              <a:solidFill>
                <a:schemeClr val="dk1"/>
              </a:solidFill>
              <a:latin typeface="Roboto"/>
              <a:ea typeface="Roboto"/>
              <a:cs typeface="Roboto"/>
              <a:sym typeface="Roboto"/>
            </a:endParaRPr>
          </a:p>
          <a:p>
            <a:pPr indent="-323850" lvl="1" marL="9144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If unsure, see if your interviewer validates</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Do your research and have knowledge about the biggest products and categories of the company you are interviewing with </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Create a story with the C’s and P’s. This should be fun and a good way to show your creativity!</a:t>
            </a:r>
            <a:endParaRPr b="0" i="0" sz="1500" u="none" cap="none" strike="noStrike">
              <a:solidFill>
                <a:schemeClr val="dk1"/>
              </a:solidFill>
              <a:latin typeface="Roboto"/>
              <a:ea typeface="Roboto"/>
              <a:cs typeface="Roboto"/>
              <a:sym typeface="Roboto"/>
            </a:endParaRPr>
          </a:p>
        </p:txBody>
      </p:sp>
      <p:sp>
        <p:nvSpPr>
          <p:cNvPr id="395" name="Google Shape;395;p23"/>
          <p:cNvSpPr/>
          <p:nvPr/>
        </p:nvSpPr>
        <p:spPr>
          <a:xfrm>
            <a:off x="6064400" y="1457525"/>
            <a:ext cx="4701000" cy="5967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lt1"/>
                </a:solidFill>
                <a:latin typeface="Roboto"/>
                <a:ea typeface="Roboto"/>
                <a:cs typeface="Roboto"/>
                <a:sym typeface="Roboto"/>
              </a:rPr>
              <a:t>DO NOT</a:t>
            </a:r>
            <a:endParaRPr b="1" i="0" sz="2200" u="none" cap="none" strike="noStrike">
              <a:solidFill>
                <a:schemeClr val="lt1"/>
              </a:solidFill>
              <a:latin typeface="Roboto"/>
              <a:ea typeface="Roboto"/>
              <a:cs typeface="Roboto"/>
              <a:sym typeface="Roboto"/>
            </a:endParaRPr>
          </a:p>
        </p:txBody>
      </p:sp>
      <p:sp>
        <p:nvSpPr>
          <p:cNvPr id="396" name="Google Shape;396;p23"/>
          <p:cNvSpPr/>
          <p:nvPr/>
        </p:nvSpPr>
        <p:spPr>
          <a:xfrm>
            <a:off x="6064400" y="2140950"/>
            <a:ext cx="4701000" cy="3930000"/>
          </a:xfrm>
          <a:prstGeom prst="rect">
            <a:avLst/>
          </a:prstGeom>
          <a:solidFill>
            <a:srgbClr val="D8D8D8">
              <a:alpha val="89019"/>
            </a:srgbClr>
          </a:solid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Forget one of the 5 C’s or 4 P’s. Take time to write them out before you respond to make sure you hit all of them</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Respond as if you are listing them out (e.g. the consumer is X, the category is Y, etc.)</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Leave out specifics. Don’t just say “we need to look at competitors in this space.” Mention who they are</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Ask a question that you should already know (e.g. “Does Danone sell this type of product?)</a:t>
            </a:r>
            <a:endParaRPr b="0" i="0" sz="1500" u="none" cap="none" strike="noStrike">
              <a:solidFill>
                <a:schemeClr val="dk1"/>
              </a:solidFill>
              <a:latin typeface="Roboto"/>
              <a:ea typeface="Roboto"/>
              <a:cs typeface="Roboto"/>
              <a:sym typeface="Roboto"/>
            </a:endParaRPr>
          </a:p>
          <a:p>
            <a:pPr indent="-323850" lvl="0" marL="457200" marR="0" rtl="0" algn="l">
              <a:lnSpc>
                <a:spcPct val="100000"/>
              </a:lnSpc>
              <a:spcBef>
                <a:spcPts val="0"/>
              </a:spcBef>
              <a:spcAft>
                <a:spcPts val="0"/>
              </a:spcAft>
              <a:buClr>
                <a:schemeClr val="dk1"/>
              </a:buClr>
              <a:buSzPts val="1500"/>
              <a:buFont typeface="Roboto"/>
              <a:buChar char="•"/>
            </a:pPr>
            <a:r>
              <a:rPr b="0" i="0" lang="en-US" sz="1500" u="none" cap="none" strike="noStrike">
                <a:solidFill>
                  <a:schemeClr val="dk1"/>
                </a:solidFill>
                <a:latin typeface="Roboto"/>
                <a:ea typeface="Roboto"/>
                <a:cs typeface="Roboto"/>
                <a:sym typeface="Roboto"/>
              </a:rPr>
              <a:t>Get in your head. Take a deep breath before you respond and stay calm - you got this!</a:t>
            </a:r>
            <a:endParaRPr b="0" i="0" sz="1500" u="none" cap="none" strike="noStrike">
              <a:solidFill>
                <a:schemeClr val="dk1"/>
              </a:solidFill>
              <a:latin typeface="Roboto"/>
              <a:ea typeface="Roboto"/>
              <a:cs typeface="Roboto"/>
              <a:sym typeface="Roboto"/>
            </a:endParaRPr>
          </a:p>
        </p:txBody>
      </p:sp>
      <p:sp>
        <p:nvSpPr>
          <p:cNvPr id="397" name="Google Shape;397;p23"/>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The Do’s and Don’ts of Case Questions</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4"/>
          <p:cNvSpPr/>
          <p:nvPr/>
        </p:nvSpPr>
        <p:spPr>
          <a:xfrm>
            <a:off x="0" y="0"/>
            <a:ext cx="12192000" cy="6201600"/>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PRACTICE TIME!</a:t>
            </a:r>
            <a:endParaRPr/>
          </a:p>
          <a:p>
            <a:pPr indent="0" lvl="0" marL="0" marR="0" rtl="0" algn="ctr">
              <a:lnSpc>
                <a:spcPct val="100000"/>
              </a:lnSpc>
              <a:spcBef>
                <a:spcPts val="0"/>
              </a:spcBef>
              <a:spcAft>
                <a:spcPts val="0"/>
              </a:spcAft>
              <a:buClr>
                <a:srgbClr val="000000"/>
              </a:buClr>
              <a:buSzPts val="3200"/>
              <a:buFont typeface="Arial"/>
              <a:buNone/>
            </a:pPr>
            <a:r>
              <a:t/>
            </a:r>
            <a:endParaRPr b="1" i="1" sz="40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3200"/>
              <a:buFont typeface="Arial"/>
              <a:buNone/>
            </a:pPr>
            <a:r>
              <a:rPr b="1" i="1" lang="en-US" sz="4000">
                <a:solidFill>
                  <a:schemeClr val="lt1"/>
                </a:solidFill>
                <a:latin typeface="Roboto"/>
                <a:ea typeface="Roboto"/>
                <a:cs typeface="Roboto"/>
                <a:sym typeface="Roboto"/>
              </a:rPr>
              <a:t>Let’s answer these questions as a group</a:t>
            </a:r>
            <a:endParaRPr b="0" i="0" sz="4000" u="none" cap="none" strike="noStrike">
              <a:solidFill>
                <a:srgbClr val="000000"/>
              </a:solidFill>
              <a:latin typeface="Roboto"/>
              <a:ea typeface="Roboto"/>
              <a:cs typeface="Roboto"/>
              <a:sym typeface="Roboto"/>
            </a:endParaRPr>
          </a:p>
        </p:txBody>
      </p:sp>
      <p:sp>
        <p:nvSpPr>
          <p:cNvPr id="403" name="Google Shape;403;p2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6"/>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09" name="Google Shape;409;p26"/>
          <p:cNvSpPr/>
          <p:nvPr/>
        </p:nvSpPr>
        <p:spPr>
          <a:xfrm>
            <a:off x="920898" y="1377609"/>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000"/>
              <a:buFont typeface="Calibri"/>
              <a:buNone/>
            </a:pPr>
            <a:r>
              <a:rPr b="1" i="0" lang="en-US" sz="2000" u="none" cap="none" strike="noStrike">
                <a:solidFill>
                  <a:schemeClr val="lt1"/>
                </a:solidFill>
                <a:latin typeface="Roboto"/>
                <a:ea typeface="Roboto"/>
                <a:cs typeface="Roboto"/>
                <a:sym typeface="Roboto"/>
              </a:rPr>
              <a:t>Consumer</a:t>
            </a:r>
            <a:endParaRPr b="0" i="0" sz="1800" u="none" cap="none" strike="noStrike">
              <a:solidFill>
                <a:schemeClr val="lt1"/>
              </a:solidFill>
              <a:latin typeface="Roboto"/>
              <a:ea typeface="Roboto"/>
              <a:cs typeface="Roboto"/>
              <a:sym typeface="Roboto"/>
            </a:endParaRPr>
          </a:p>
        </p:txBody>
      </p:sp>
      <p:sp>
        <p:nvSpPr>
          <p:cNvPr id="410" name="Google Shape;410;p26"/>
          <p:cNvSpPr/>
          <p:nvPr/>
        </p:nvSpPr>
        <p:spPr>
          <a:xfrm>
            <a:off x="3071192" y="1377609"/>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Always start with a description of the consumer and relevant insights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Establish a baseline for preferences, needs, tastes, budgets, demographics, etc.</a:t>
            </a:r>
            <a:endParaRPr b="0" i="0" sz="1400" u="none" cap="none" strike="noStrike">
              <a:solidFill>
                <a:srgbClr val="000000"/>
              </a:solidFill>
              <a:latin typeface="Roboto"/>
              <a:ea typeface="Roboto"/>
              <a:cs typeface="Roboto"/>
              <a:sym typeface="Roboto"/>
            </a:endParaRPr>
          </a:p>
        </p:txBody>
      </p:sp>
      <p:sp>
        <p:nvSpPr>
          <p:cNvPr id="411" name="Google Shape;411;p26"/>
          <p:cNvSpPr/>
          <p:nvPr/>
        </p:nvSpPr>
        <p:spPr>
          <a:xfrm>
            <a:off x="920898" y="4243725"/>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000"/>
              <a:buFont typeface="Calibri"/>
              <a:buNone/>
            </a:pPr>
            <a:r>
              <a:rPr b="1" i="0" lang="en-US" sz="2000" u="none" cap="none" strike="noStrike">
                <a:solidFill>
                  <a:schemeClr val="lt1"/>
                </a:solidFill>
                <a:latin typeface="Roboto"/>
                <a:ea typeface="Roboto"/>
                <a:cs typeface="Roboto"/>
                <a:sym typeface="Roboto"/>
              </a:rPr>
              <a:t>Company</a:t>
            </a:r>
            <a:endParaRPr b="0" i="0" sz="1800" u="none" cap="none" strike="noStrike">
              <a:solidFill>
                <a:schemeClr val="lt1"/>
              </a:solidFill>
              <a:latin typeface="Roboto"/>
              <a:ea typeface="Roboto"/>
              <a:cs typeface="Roboto"/>
              <a:sym typeface="Roboto"/>
            </a:endParaRPr>
          </a:p>
        </p:txBody>
      </p:sp>
      <p:sp>
        <p:nvSpPr>
          <p:cNvPr id="412" name="Google Shape;412;p26"/>
          <p:cNvSpPr/>
          <p:nvPr/>
        </p:nvSpPr>
        <p:spPr>
          <a:xfrm>
            <a:off x="3071192" y="4243725"/>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Discuss whether this is a core competency for your organization</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Consider the need for new capabilities/relationships and impact to business strategy</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Think about the impact on existing products (e.g. if there is a risk of cannibalization)</a:t>
            </a:r>
            <a:endParaRPr b="0" i="0" sz="1400" u="none" cap="none" strike="noStrike">
              <a:solidFill>
                <a:srgbClr val="000000"/>
              </a:solidFill>
              <a:latin typeface="Roboto"/>
              <a:ea typeface="Roboto"/>
              <a:cs typeface="Roboto"/>
              <a:sym typeface="Roboto"/>
            </a:endParaRPr>
          </a:p>
        </p:txBody>
      </p:sp>
      <p:sp>
        <p:nvSpPr>
          <p:cNvPr id="413" name="Google Shape;413;p26"/>
          <p:cNvSpPr/>
          <p:nvPr/>
        </p:nvSpPr>
        <p:spPr>
          <a:xfrm>
            <a:off x="920898" y="2332981"/>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2000"/>
              <a:buFont typeface="Calibri"/>
              <a:buNone/>
            </a:pPr>
            <a:r>
              <a:rPr b="1" i="0" lang="en-US" sz="2000" u="none" cap="none" strike="noStrike">
                <a:solidFill>
                  <a:schemeClr val="lt1"/>
                </a:solidFill>
                <a:latin typeface="Roboto"/>
                <a:ea typeface="Roboto"/>
                <a:cs typeface="Roboto"/>
                <a:sym typeface="Roboto"/>
              </a:rPr>
              <a:t>Category</a:t>
            </a:r>
            <a:endParaRPr b="0" i="0" sz="1800" u="none" cap="none" strike="noStrike">
              <a:solidFill>
                <a:schemeClr val="lt1"/>
              </a:solidFill>
              <a:latin typeface="Roboto"/>
              <a:ea typeface="Roboto"/>
              <a:cs typeface="Roboto"/>
              <a:sym typeface="Roboto"/>
            </a:endParaRPr>
          </a:p>
        </p:txBody>
      </p:sp>
      <p:sp>
        <p:nvSpPr>
          <p:cNvPr id="414" name="Google Shape;414;p26"/>
          <p:cNvSpPr/>
          <p:nvPr/>
        </p:nvSpPr>
        <p:spPr>
          <a:xfrm>
            <a:off x="920898" y="3288353"/>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2000"/>
              <a:buFont typeface="Calibri"/>
              <a:buNone/>
            </a:pPr>
            <a:r>
              <a:rPr b="1" i="0" lang="en-US" sz="2000" u="none" cap="none" strike="noStrike">
                <a:solidFill>
                  <a:schemeClr val="lt1"/>
                </a:solidFill>
                <a:latin typeface="Roboto"/>
                <a:ea typeface="Roboto"/>
                <a:cs typeface="Roboto"/>
                <a:sym typeface="Roboto"/>
              </a:rPr>
              <a:t>Competitors</a:t>
            </a:r>
            <a:endParaRPr b="0" i="0" sz="1800" u="none" cap="none" strike="noStrike">
              <a:solidFill>
                <a:schemeClr val="lt1"/>
              </a:solidFill>
              <a:latin typeface="Roboto"/>
              <a:ea typeface="Roboto"/>
              <a:cs typeface="Roboto"/>
              <a:sym typeface="Roboto"/>
            </a:endParaRPr>
          </a:p>
        </p:txBody>
      </p:sp>
      <p:sp>
        <p:nvSpPr>
          <p:cNvPr id="415" name="Google Shape;415;p26"/>
          <p:cNvSpPr/>
          <p:nvPr/>
        </p:nvSpPr>
        <p:spPr>
          <a:xfrm>
            <a:off x="3071192" y="3288353"/>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Discuss competitors (internal or external) and what they have been up to</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accent1"/>
                </a:solidFill>
                <a:latin typeface="Roboto"/>
                <a:ea typeface="Roboto"/>
                <a:cs typeface="Roboto"/>
                <a:sym typeface="Roboto"/>
              </a:rPr>
              <a:t>Consider recent competitor innovations, new entrants, changes in product features, potential reactions to the new product or opportunity</a:t>
            </a:r>
            <a:endParaRPr b="0" i="0" sz="1400" u="none" cap="none" strike="noStrike">
              <a:solidFill>
                <a:srgbClr val="000000"/>
              </a:solidFill>
              <a:latin typeface="Roboto"/>
              <a:ea typeface="Roboto"/>
              <a:cs typeface="Roboto"/>
              <a:sym typeface="Roboto"/>
            </a:endParaRPr>
          </a:p>
        </p:txBody>
      </p:sp>
      <p:sp>
        <p:nvSpPr>
          <p:cNvPr id="416" name="Google Shape;416;p26"/>
          <p:cNvSpPr/>
          <p:nvPr/>
        </p:nvSpPr>
        <p:spPr>
          <a:xfrm>
            <a:off x="920898" y="5199097"/>
            <a:ext cx="2021100" cy="868800"/>
          </a:xfrm>
          <a:prstGeom prst="roundRect">
            <a:avLst>
              <a:gd fmla="val 16667" name="adj"/>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Customers/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Channel</a:t>
            </a:r>
            <a:endParaRPr b="0" i="0" sz="1800" u="none" cap="none" strike="noStrike">
              <a:solidFill>
                <a:schemeClr val="lt1"/>
              </a:solidFill>
              <a:latin typeface="Roboto"/>
              <a:ea typeface="Roboto"/>
              <a:cs typeface="Roboto"/>
              <a:sym typeface="Roboto"/>
            </a:endParaRPr>
          </a:p>
        </p:txBody>
      </p:sp>
      <p:sp>
        <p:nvSpPr>
          <p:cNvPr id="417" name="Google Shape;417;p26"/>
          <p:cNvSpPr/>
          <p:nvPr/>
        </p:nvSpPr>
        <p:spPr>
          <a:xfrm>
            <a:off x="3071192" y="5199097"/>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Discuss impact on existing customer relationships and potential for new customers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Think about relevant customer trends/constraints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Consider the need for an omni channel or eCommerce strategy</a:t>
            </a:r>
            <a:endParaRPr b="0" i="0" sz="1400" u="none" cap="none" strike="noStrike">
              <a:solidFill>
                <a:srgbClr val="000000"/>
              </a:solidFill>
              <a:latin typeface="Roboto"/>
              <a:ea typeface="Roboto"/>
              <a:cs typeface="Roboto"/>
              <a:sym typeface="Roboto"/>
            </a:endParaRPr>
          </a:p>
        </p:txBody>
      </p:sp>
      <p:sp>
        <p:nvSpPr>
          <p:cNvPr id="418" name="Google Shape;418;p26"/>
          <p:cNvSpPr/>
          <p:nvPr/>
        </p:nvSpPr>
        <p:spPr>
          <a:xfrm>
            <a:off x="3071192" y="2332981"/>
            <a:ext cx="8199900" cy="868800"/>
          </a:xfrm>
          <a:prstGeom prst="roundRect">
            <a:avLst>
              <a:gd fmla="val 16667" name="adj"/>
            </a:avLst>
          </a:prstGeom>
          <a:solidFill>
            <a:schemeClr val="l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Focus on category growth or decline, newly emerging substitutes, or tech disruption</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accent1"/>
                </a:solidFill>
                <a:latin typeface="Roboto"/>
                <a:ea typeface="Roboto"/>
                <a:cs typeface="Roboto"/>
                <a:sym typeface="Roboto"/>
              </a:rPr>
              <a:t>Think about trends that could impact the product or opportunity being considered</a:t>
            </a:r>
            <a:endParaRPr b="0" i="0" sz="1400" u="none" cap="none" strike="noStrike">
              <a:solidFill>
                <a:srgbClr val="000000"/>
              </a:solidFill>
              <a:latin typeface="Roboto"/>
              <a:ea typeface="Roboto"/>
              <a:cs typeface="Roboto"/>
              <a:sym typeface="Roboto"/>
            </a:endParaRPr>
          </a:p>
        </p:txBody>
      </p:sp>
      <p:sp>
        <p:nvSpPr>
          <p:cNvPr id="419" name="Google Shape;419;p26"/>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How to Apply the 5 C’s</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g15f80c3f3e8_0_0"/>
          <p:cNvPicPr preferRelativeResize="0"/>
          <p:nvPr/>
        </p:nvPicPr>
        <p:blipFill rotWithShape="1">
          <a:blip r:embed="rId3">
            <a:alphaModFix/>
          </a:blip>
          <a:srcRect b="0" l="0" r="0" t="0"/>
          <a:stretch/>
        </p:blipFill>
        <p:spPr>
          <a:xfrm>
            <a:off x="1588" y="1588"/>
            <a:ext cx="1588" cy="1588"/>
          </a:xfrm>
          <a:prstGeom prst="rect">
            <a:avLst/>
          </a:prstGeom>
          <a:noFill/>
          <a:ln>
            <a:noFill/>
          </a:ln>
        </p:spPr>
      </p:pic>
      <p:sp>
        <p:nvSpPr>
          <p:cNvPr id="425" name="Google Shape;425;g15f80c3f3e8_0_0"/>
          <p:cNvSpPr txBox="1"/>
          <p:nvPr>
            <p:ph type="title"/>
          </p:nvPr>
        </p:nvSpPr>
        <p:spPr>
          <a:xfrm>
            <a:off x="1143000" y="1382888"/>
            <a:ext cx="9998700" cy="3443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Impossible Meats is </a:t>
            </a:r>
            <a:r>
              <a:rPr lang="en-US"/>
              <a:t>considering launching a “beef” </a:t>
            </a:r>
            <a:r>
              <a:rPr lang="en-US"/>
              <a:t>jerky</a:t>
            </a:r>
            <a:r>
              <a:rPr lang="en-US"/>
              <a:t> product. Should they do it?</a:t>
            </a:r>
            <a:endParaRPr/>
          </a:p>
        </p:txBody>
      </p:sp>
      <p:sp>
        <p:nvSpPr>
          <p:cNvPr id="426" name="Google Shape;426;g15f80c3f3e8_0_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27" name="Google Shape;427;g15f80c3f3e8_0_0"/>
          <p:cNvSpPr txBox="1"/>
          <p:nvPr/>
        </p:nvSpPr>
        <p:spPr>
          <a:xfrm>
            <a:off x="202883" y="1487157"/>
            <a:ext cx="1133400" cy="17031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28" name="Google Shape;428;g15f80c3f3e8_0_0"/>
          <p:cNvSpPr txBox="1"/>
          <p:nvPr/>
        </p:nvSpPr>
        <p:spPr>
          <a:xfrm>
            <a:off x="10969901" y="3894443"/>
            <a:ext cx="1133400" cy="17031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29" name="Google Shape;429;g15f80c3f3e8_0_0"/>
          <p:cNvSpPr txBox="1"/>
          <p:nvPr/>
        </p:nvSpPr>
        <p:spPr>
          <a:xfrm>
            <a:off x="0" y="945935"/>
            <a:ext cx="22098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accent1"/>
                </a:solidFill>
                <a:latin typeface="Roboto"/>
                <a:ea typeface="Roboto"/>
                <a:cs typeface="Roboto"/>
                <a:sym typeface="Roboto"/>
              </a:rPr>
              <a:t>MMC Example</a:t>
            </a:r>
            <a:endParaRPr b="0" i="0" sz="1400" u="none" cap="none" strike="noStrike">
              <a:solidFill>
                <a:srgbClr val="000000"/>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25"/>
          <p:cNvPicPr preferRelativeResize="0"/>
          <p:nvPr/>
        </p:nvPicPr>
        <p:blipFill rotWithShape="1">
          <a:blip r:embed="rId3">
            <a:alphaModFix/>
          </a:blip>
          <a:srcRect b="0" l="0" r="0" t="0"/>
          <a:stretch/>
        </p:blipFill>
        <p:spPr>
          <a:xfrm>
            <a:off x="1588" y="1588"/>
            <a:ext cx="1588" cy="1588"/>
          </a:xfrm>
          <a:prstGeom prst="rect">
            <a:avLst/>
          </a:prstGeom>
          <a:noFill/>
          <a:ln>
            <a:noFill/>
          </a:ln>
        </p:spPr>
      </p:pic>
      <p:sp>
        <p:nvSpPr>
          <p:cNvPr id="435" name="Google Shape;435;p25"/>
          <p:cNvSpPr txBox="1"/>
          <p:nvPr>
            <p:ph type="title"/>
          </p:nvPr>
        </p:nvSpPr>
        <p:spPr>
          <a:xfrm>
            <a:off x="1143000" y="1382888"/>
            <a:ext cx="9998765" cy="3443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Dell is considering entering the phone market. Should they do it?</a:t>
            </a:r>
            <a:endParaRPr/>
          </a:p>
        </p:txBody>
      </p:sp>
      <p:sp>
        <p:nvSpPr>
          <p:cNvPr id="436" name="Google Shape;436;p25"/>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37" name="Google Shape;437;p25"/>
          <p:cNvSpPr txBox="1"/>
          <p:nvPr/>
        </p:nvSpPr>
        <p:spPr>
          <a:xfrm>
            <a:off x="202883" y="1487157"/>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38" name="Google Shape;438;p25"/>
          <p:cNvSpPr txBox="1"/>
          <p:nvPr/>
        </p:nvSpPr>
        <p:spPr>
          <a:xfrm>
            <a:off x="10969901" y="3894443"/>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39" name="Google Shape;439;p25"/>
          <p:cNvSpPr txBox="1"/>
          <p:nvPr/>
        </p:nvSpPr>
        <p:spPr>
          <a:xfrm>
            <a:off x="0" y="945935"/>
            <a:ext cx="2209800"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accent1"/>
                </a:solidFill>
                <a:latin typeface="Roboto"/>
                <a:ea typeface="Roboto"/>
                <a:cs typeface="Roboto"/>
                <a:sym typeface="Roboto"/>
              </a:rPr>
              <a:t>MMC Example</a:t>
            </a:r>
            <a:endParaRPr b="0" i="0" sz="1400" u="none" cap="none" strike="noStrike">
              <a:solidFill>
                <a:srgbClr val="000000"/>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7"/>
          <p:cNvSpPr txBox="1"/>
          <p:nvPr>
            <p:ph type="title"/>
          </p:nvPr>
        </p:nvSpPr>
        <p:spPr>
          <a:xfrm>
            <a:off x="1143000" y="1382888"/>
            <a:ext cx="9998765" cy="3443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Dell’s premium laptop is losing share to the Apple MacBook. What should we do over the next year?</a:t>
            </a:r>
            <a:endParaRPr/>
          </a:p>
        </p:txBody>
      </p:sp>
      <p:sp>
        <p:nvSpPr>
          <p:cNvPr id="445" name="Google Shape;445;p27"/>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46" name="Google Shape;446;p27"/>
          <p:cNvSpPr txBox="1"/>
          <p:nvPr/>
        </p:nvSpPr>
        <p:spPr>
          <a:xfrm>
            <a:off x="202883" y="1487157"/>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47" name="Google Shape;447;p27"/>
          <p:cNvSpPr txBox="1"/>
          <p:nvPr/>
        </p:nvSpPr>
        <p:spPr>
          <a:xfrm>
            <a:off x="10969901" y="3894443"/>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48" name="Google Shape;448;p27"/>
          <p:cNvSpPr txBox="1"/>
          <p:nvPr/>
        </p:nvSpPr>
        <p:spPr>
          <a:xfrm>
            <a:off x="0" y="945935"/>
            <a:ext cx="2209800"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accent1"/>
                </a:solidFill>
                <a:latin typeface="Roboto"/>
                <a:ea typeface="Roboto"/>
                <a:cs typeface="Roboto"/>
                <a:sym typeface="Roboto"/>
              </a:rPr>
              <a:t>MMC Example</a:t>
            </a:r>
            <a:endParaRPr b="0" i="0" sz="1400" u="none" cap="none" strike="noStrike">
              <a:solidFill>
                <a:srgbClr val="000000"/>
              </a:solidFill>
              <a:latin typeface="Roboto"/>
              <a:ea typeface="Roboto"/>
              <a:cs typeface="Roboto"/>
              <a:sym typeface="Roboto"/>
            </a:endParaRPr>
          </a:p>
        </p:txBody>
      </p:sp>
      <p:sp>
        <p:nvSpPr>
          <p:cNvPr id="449" name="Google Shape;449;p27"/>
          <p:cNvSpPr/>
          <p:nvPr/>
        </p:nvSpPr>
        <p:spPr>
          <a:xfrm>
            <a:off x="3851107" y="4361688"/>
            <a:ext cx="4489704" cy="1444752"/>
          </a:xfrm>
          <a:prstGeom prst="rect">
            <a:avLst/>
          </a:prstGeom>
          <a:solidFill>
            <a:schemeClr val="accent2"/>
          </a:solidFill>
          <a:ln cap="flat" cmpd="sng" w="25400">
            <a:solidFill>
              <a:srgbClr val="BA94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Tricked you, this is a 4P questions!</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Notice it asked “what should we do”, NOT “whether we should” or “should we…”</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3" name="Shape 453"/>
        <p:cNvGrpSpPr/>
        <p:nvPr/>
      </p:nvGrpSpPr>
      <p:grpSpPr>
        <a:xfrm>
          <a:off x="0" y="0"/>
          <a:ext cx="0" cy="0"/>
          <a:chOff x="0" y="0"/>
          <a:chExt cx="0" cy="0"/>
        </a:xfrm>
      </p:grpSpPr>
      <p:sp>
        <p:nvSpPr>
          <p:cNvPr id="454" name="Google Shape;454;p28"/>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55" name="Google Shape;455;p28"/>
          <p:cNvSpPr/>
          <p:nvPr/>
        </p:nvSpPr>
        <p:spPr>
          <a:xfrm>
            <a:off x="3071192" y="1377609"/>
            <a:ext cx="8199900" cy="8688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dk1"/>
                </a:solidFill>
                <a:latin typeface="Roboto"/>
                <a:ea typeface="Roboto"/>
                <a:cs typeface="Roboto"/>
                <a:sym typeface="Roboto"/>
              </a:rPr>
              <a:t>Always start with a description of the consumer and relevant insights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dk1"/>
                </a:solidFill>
                <a:latin typeface="Roboto"/>
                <a:ea typeface="Roboto"/>
                <a:cs typeface="Roboto"/>
                <a:sym typeface="Roboto"/>
              </a:rPr>
              <a:t>Establish a baseline for preferences, needs, tastes, budgets, demographics, etc.</a:t>
            </a:r>
            <a:endParaRPr b="0" i="0" sz="1400" u="none" cap="none" strike="noStrike">
              <a:solidFill>
                <a:srgbClr val="000000"/>
              </a:solidFill>
              <a:latin typeface="Roboto"/>
              <a:ea typeface="Roboto"/>
              <a:cs typeface="Roboto"/>
              <a:sym typeface="Roboto"/>
            </a:endParaRPr>
          </a:p>
        </p:txBody>
      </p:sp>
      <p:sp>
        <p:nvSpPr>
          <p:cNvPr id="456" name="Google Shape;456;p28"/>
          <p:cNvSpPr/>
          <p:nvPr/>
        </p:nvSpPr>
        <p:spPr>
          <a:xfrm>
            <a:off x="3071192" y="4243725"/>
            <a:ext cx="8199900" cy="8688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dk1"/>
                </a:solidFill>
                <a:latin typeface="Roboto"/>
                <a:ea typeface="Roboto"/>
                <a:cs typeface="Roboto"/>
                <a:sym typeface="Roboto"/>
              </a:rPr>
              <a:t>Discuss how awareness about the product is generated and through which mediums (social, television, billboards, in-store and point-of-sale displays)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dk1"/>
                </a:solidFill>
                <a:latin typeface="Roboto"/>
                <a:ea typeface="Roboto"/>
                <a:cs typeface="Roboto"/>
                <a:sym typeface="Roboto"/>
              </a:rPr>
              <a:t>Consider ways to increase trial of the product (e.g. coupons, sampling, demos)</a:t>
            </a:r>
            <a:endParaRPr b="0" i="0" sz="1400" u="none" cap="none" strike="noStrike">
              <a:solidFill>
                <a:srgbClr val="000000"/>
              </a:solidFill>
              <a:latin typeface="Roboto"/>
              <a:ea typeface="Roboto"/>
              <a:cs typeface="Roboto"/>
              <a:sym typeface="Roboto"/>
            </a:endParaRPr>
          </a:p>
        </p:txBody>
      </p:sp>
      <p:sp>
        <p:nvSpPr>
          <p:cNvPr id="457" name="Google Shape;457;p28"/>
          <p:cNvSpPr/>
          <p:nvPr/>
        </p:nvSpPr>
        <p:spPr>
          <a:xfrm>
            <a:off x="3071192" y="3288353"/>
            <a:ext cx="8199900" cy="8688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dk1"/>
                </a:solidFill>
                <a:latin typeface="Roboto"/>
                <a:ea typeface="Roboto"/>
                <a:cs typeface="Roboto"/>
                <a:sym typeface="Roboto"/>
              </a:rPr>
              <a:t>Discuss the set price of the product and how it reflects the product’s positioning (premium, parity, or value vs. competitors)</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rgbClr val="000000"/>
              </a:buClr>
              <a:buSzPts val="1600"/>
              <a:buFont typeface="Roboto"/>
              <a:buChar char="•"/>
            </a:pPr>
            <a:r>
              <a:rPr b="0" i="0" lang="en-US" sz="1600" u="none" cap="none" strike="noStrike">
                <a:solidFill>
                  <a:schemeClr val="dk1"/>
                </a:solidFill>
                <a:latin typeface="Roboto"/>
                <a:ea typeface="Roboto"/>
                <a:cs typeface="Roboto"/>
                <a:sym typeface="Roboto"/>
              </a:rPr>
              <a:t>Consider consumer willingness to pay and how to maximize profits</a:t>
            </a:r>
            <a:endParaRPr b="0" i="0" sz="1400" u="none" cap="none" strike="noStrike">
              <a:solidFill>
                <a:srgbClr val="000000"/>
              </a:solidFill>
              <a:latin typeface="Roboto"/>
              <a:ea typeface="Roboto"/>
              <a:cs typeface="Roboto"/>
              <a:sym typeface="Roboto"/>
            </a:endParaRPr>
          </a:p>
        </p:txBody>
      </p:sp>
      <p:sp>
        <p:nvSpPr>
          <p:cNvPr id="458" name="Google Shape;458;p28"/>
          <p:cNvSpPr/>
          <p:nvPr/>
        </p:nvSpPr>
        <p:spPr>
          <a:xfrm>
            <a:off x="3071192" y="5199097"/>
            <a:ext cx="8199900" cy="8688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dk1"/>
                </a:solidFill>
                <a:latin typeface="Roboto"/>
                <a:ea typeface="Roboto"/>
                <a:cs typeface="Roboto"/>
                <a:sym typeface="Roboto"/>
              </a:rPr>
              <a:t>Think about where the product is located within the store (think both aisle and placement on shelf)</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dk1"/>
                </a:solidFill>
                <a:latin typeface="Roboto"/>
                <a:ea typeface="Roboto"/>
                <a:cs typeface="Roboto"/>
                <a:sym typeface="Roboto"/>
              </a:rPr>
              <a:t>Consider customers and channels (grocery, mass, convenience, club, online, etc.)</a:t>
            </a:r>
            <a:endParaRPr b="0" i="0" sz="1400" u="none" cap="none" strike="noStrike">
              <a:solidFill>
                <a:srgbClr val="000000"/>
              </a:solidFill>
              <a:latin typeface="Roboto"/>
              <a:ea typeface="Roboto"/>
              <a:cs typeface="Roboto"/>
              <a:sym typeface="Roboto"/>
            </a:endParaRPr>
          </a:p>
        </p:txBody>
      </p:sp>
      <p:sp>
        <p:nvSpPr>
          <p:cNvPr id="459" name="Google Shape;459;p28"/>
          <p:cNvSpPr/>
          <p:nvPr/>
        </p:nvSpPr>
        <p:spPr>
          <a:xfrm>
            <a:off x="3071192" y="2332981"/>
            <a:ext cx="8199900" cy="868800"/>
          </a:xfrm>
          <a:prstGeom prst="roundRect">
            <a:avLst>
              <a:gd fmla="val 16667" name="adj"/>
            </a:avLst>
          </a:prstGeom>
          <a:solidFill>
            <a:schemeClr val="lt1"/>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dk1"/>
                </a:solidFill>
                <a:latin typeface="Roboto"/>
                <a:ea typeface="Roboto"/>
                <a:cs typeface="Roboto"/>
                <a:sym typeface="Roboto"/>
              </a:rPr>
              <a:t>Focus on the attributes that define the product (sizes, flavors, ingredients, etc.)</a:t>
            </a:r>
            <a:endParaRPr b="0" i="0" sz="1400" u="none" cap="none" strike="noStrike">
              <a:solidFill>
                <a:srgbClr val="000000"/>
              </a:solidFill>
              <a:latin typeface="Roboto"/>
              <a:ea typeface="Roboto"/>
              <a:cs typeface="Roboto"/>
              <a:sym typeface="Roboto"/>
            </a:endParaRPr>
          </a:p>
          <a:p>
            <a:pPr indent="-285750" lvl="0" marL="285750" marR="0" rtl="0" algn="l">
              <a:lnSpc>
                <a:spcPct val="100000"/>
              </a:lnSpc>
              <a:spcBef>
                <a:spcPts val="0"/>
              </a:spcBef>
              <a:spcAft>
                <a:spcPts val="0"/>
              </a:spcAft>
              <a:buClr>
                <a:schemeClr val="dk1"/>
              </a:buClr>
              <a:buSzPts val="1800"/>
              <a:buFont typeface="Roboto"/>
              <a:buChar char="•"/>
            </a:pPr>
            <a:r>
              <a:rPr b="0" i="0" lang="en-US" sz="1600" u="none" cap="none" strike="noStrike">
                <a:solidFill>
                  <a:schemeClr val="dk1"/>
                </a:solidFill>
                <a:latin typeface="Roboto"/>
                <a:ea typeface="Roboto"/>
                <a:cs typeface="Roboto"/>
                <a:sym typeface="Roboto"/>
              </a:rPr>
              <a:t>Think about how the product is packaged (blister pack, freestanding, etc.) and any imagery, claims, or call outs on the packaging</a:t>
            </a:r>
            <a:endParaRPr b="0" i="0" sz="1400" u="none" cap="none" strike="noStrike">
              <a:solidFill>
                <a:srgbClr val="000000"/>
              </a:solidFill>
              <a:latin typeface="Roboto"/>
              <a:ea typeface="Roboto"/>
              <a:cs typeface="Roboto"/>
              <a:sym typeface="Roboto"/>
            </a:endParaRPr>
          </a:p>
        </p:txBody>
      </p:sp>
      <p:sp>
        <p:nvSpPr>
          <p:cNvPr id="460" name="Google Shape;460;p28"/>
          <p:cNvSpPr/>
          <p:nvPr/>
        </p:nvSpPr>
        <p:spPr>
          <a:xfrm>
            <a:off x="920898" y="1377609"/>
            <a:ext cx="2021100" cy="868800"/>
          </a:xfrm>
          <a:prstGeom prst="roundRect">
            <a:avLst>
              <a:gd fmla="val 16667" name="adj"/>
            </a:avLst>
          </a:prstGeom>
          <a:solidFill>
            <a:schemeClr val="accent3"/>
          </a:solid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2000"/>
              <a:buFont typeface="Calibri"/>
              <a:buNone/>
            </a:pPr>
            <a:r>
              <a:rPr b="1" i="0" lang="en-US" sz="2000" u="none" cap="none" strike="noStrike">
                <a:solidFill>
                  <a:schemeClr val="lt1"/>
                </a:solidFill>
                <a:latin typeface="Roboto"/>
                <a:ea typeface="Roboto"/>
                <a:cs typeface="Roboto"/>
                <a:sym typeface="Roboto"/>
              </a:rPr>
              <a:t>Consumer</a:t>
            </a:r>
            <a:endParaRPr b="0" i="0" sz="1800" u="none" cap="none" strike="noStrike">
              <a:solidFill>
                <a:schemeClr val="lt1"/>
              </a:solidFill>
              <a:latin typeface="Roboto"/>
              <a:ea typeface="Roboto"/>
              <a:cs typeface="Roboto"/>
              <a:sym typeface="Roboto"/>
            </a:endParaRPr>
          </a:p>
        </p:txBody>
      </p:sp>
      <p:sp>
        <p:nvSpPr>
          <p:cNvPr id="461" name="Google Shape;461;p28"/>
          <p:cNvSpPr/>
          <p:nvPr/>
        </p:nvSpPr>
        <p:spPr>
          <a:xfrm>
            <a:off x="920898" y="4243725"/>
            <a:ext cx="2021100" cy="868800"/>
          </a:xfrm>
          <a:prstGeom prst="roundRect">
            <a:avLst>
              <a:gd fmla="val 16667" name="adj"/>
            </a:avLst>
          </a:prstGeom>
          <a:solidFill>
            <a:schemeClr val="accent3"/>
          </a:solid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000"/>
              <a:buFont typeface="Calibri"/>
              <a:buNone/>
            </a:pPr>
            <a:r>
              <a:rPr b="1" i="0" lang="en-US" sz="2000" u="none" cap="none" strike="noStrike">
                <a:solidFill>
                  <a:schemeClr val="lt1"/>
                </a:solidFill>
                <a:latin typeface="Roboto"/>
                <a:ea typeface="Roboto"/>
                <a:cs typeface="Roboto"/>
                <a:sym typeface="Roboto"/>
              </a:rPr>
              <a:t>Promotion</a:t>
            </a:r>
            <a:endParaRPr b="0" i="0" sz="1800" u="none" cap="none" strike="noStrike">
              <a:solidFill>
                <a:schemeClr val="lt1"/>
              </a:solidFill>
              <a:latin typeface="Roboto"/>
              <a:ea typeface="Roboto"/>
              <a:cs typeface="Roboto"/>
              <a:sym typeface="Roboto"/>
            </a:endParaRPr>
          </a:p>
        </p:txBody>
      </p:sp>
      <p:sp>
        <p:nvSpPr>
          <p:cNvPr id="462" name="Google Shape;462;p28"/>
          <p:cNvSpPr/>
          <p:nvPr/>
        </p:nvSpPr>
        <p:spPr>
          <a:xfrm>
            <a:off x="920898" y="2332981"/>
            <a:ext cx="2021100" cy="868800"/>
          </a:xfrm>
          <a:prstGeom prst="roundRect">
            <a:avLst>
              <a:gd fmla="val 16667" name="adj"/>
            </a:avLst>
          </a:prstGeom>
          <a:solidFill>
            <a:schemeClr val="accent3"/>
          </a:solid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2000"/>
              <a:buFont typeface="Calibri"/>
              <a:buNone/>
            </a:pPr>
            <a:r>
              <a:rPr b="1" i="0" lang="en-US" sz="2000" u="none" cap="none" strike="noStrike">
                <a:solidFill>
                  <a:schemeClr val="lt1"/>
                </a:solidFill>
                <a:latin typeface="Roboto"/>
                <a:ea typeface="Roboto"/>
                <a:cs typeface="Roboto"/>
                <a:sym typeface="Roboto"/>
              </a:rPr>
              <a:t>Product &amp; Packaging</a:t>
            </a:r>
            <a:endParaRPr b="0" i="0" sz="1800" u="none" cap="none" strike="noStrike">
              <a:solidFill>
                <a:schemeClr val="lt1"/>
              </a:solidFill>
              <a:latin typeface="Roboto"/>
              <a:ea typeface="Roboto"/>
              <a:cs typeface="Roboto"/>
              <a:sym typeface="Roboto"/>
            </a:endParaRPr>
          </a:p>
        </p:txBody>
      </p:sp>
      <p:sp>
        <p:nvSpPr>
          <p:cNvPr id="463" name="Google Shape;463;p28"/>
          <p:cNvSpPr/>
          <p:nvPr/>
        </p:nvSpPr>
        <p:spPr>
          <a:xfrm>
            <a:off x="920898" y="3288353"/>
            <a:ext cx="2021100" cy="868800"/>
          </a:xfrm>
          <a:prstGeom prst="roundRect">
            <a:avLst>
              <a:gd fmla="val 16667" name="adj"/>
            </a:avLst>
          </a:prstGeom>
          <a:solidFill>
            <a:schemeClr val="accent3"/>
          </a:solid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2000"/>
              <a:buFont typeface="Calibri"/>
              <a:buNone/>
            </a:pPr>
            <a:r>
              <a:rPr b="1" i="0" lang="en-US" sz="2000" u="none" cap="none" strike="noStrike">
                <a:solidFill>
                  <a:schemeClr val="lt1"/>
                </a:solidFill>
                <a:latin typeface="Roboto"/>
                <a:ea typeface="Roboto"/>
                <a:cs typeface="Roboto"/>
                <a:sym typeface="Roboto"/>
              </a:rPr>
              <a:t>Price</a:t>
            </a:r>
            <a:endParaRPr b="0" i="0" sz="1800" u="none" cap="none" strike="noStrike">
              <a:solidFill>
                <a:schemeClr val="lt1"/>
              </a:solidFill>
              <a:latin typeface="Roboto"/>
              <a:ea typeface="Roboto"/>
              <a:cs typeface="Roboto"/>
              <a:sym typeface="Roboto"/>
            </a:endParaRPr>
          </a:p>
        </p:txBody>
      </p:sp>
      <p:sp>
        <p:nvSpPr>
          <p:cNvPr id="464" name="Google Shape;464;p28"/>
          <p:cNvSpPr/>
          <p:nvPr/>
        </p:nvSpPr>
        <p:spPr>
          <a:xfrm>
            <a:off x="920898" y="5199097"/>
            <a:ext cx="2021100" cy="868800"/>
          </a:xfrm>
          <a:prstGeom prst="roundRect">
            <a:avLst>
              <a:gd fmla="val 16667" name="adj"/>
            </a:avLst>
          </a:prstGeom>
          <a:solidFill>
            <a:schemeClr val="accent3"/>
          </a:solid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5"/>
              </a:buClr>
              <a:buSzPts val="2000"/>
              <a:buFont typeface="Calibri"/>
              <a:buNone/>
            </a:pPr>
            <a:r>
              <a:rPr b="1" i="0" lang="en-US" sz="2000" u="none" cap="none" strike="noStrike">
                <a:solidFill>
                  <a:schemeClr val="lt1"/>
                </a:solidFill>
                <a:latin typeface="Roboto"/>
                <a:ea typeface="Roboto"/>
                <a:cs typeface="Roboto"/>
                <a:sym typeface="Roboto"/>
              </a:rPr>
              <a:t>Placement</a:t>
            </a:r>
            <a:endParaRPr b="0" i="0" sz="1800" u="none" cap="none" strike="noStrike">
              <a:solidFill>
                <a:schemeClr val="lt1"/>
              </a:solidFill>
              <a:latin typeface="Roboto"/>
              <a:ea typeface="Roboto"/>
              <a:cs typeface="Roboto"/>
              <a:sym typeface="Roboto"/>
            </a:endParaRPr>
          </a:p>
        </p:txBody>
      </p:sp>
      <p:sp>
        <p:nvSpPr>
          <p:cNvPr id="465" name="Google Shape;465;p28"/>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How to Apply the 4 P’s</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15fb597e686_0_46"/>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71" name="Google Shape;471;g15fb597e686_0_46"/>
          <p:cNvSpPr/>
          <p:nvPr/>
        </p:nvSpPr>
        <p:spPr>
          <a:xfrm>
            <a:off x="0" y="0"/>
            <a:ext cx="12192000" cy="6201600"/>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PRACTICE TIME!</a:t>
            </a:r>
            <a:endParaRPr/>
          </a:p>
          <a:p>
            <a:pPr indent="0" lvl="0" marL="0" marR="0" rtl="0" algn="ctr">
              <a:lnSpc>
                <a:spcPct val="100000"/>
              </a:lnSpc>
              <a:spcBef>
                <a:spcPts val="0"/>
              </a:spcBef>
              <a:spcAft>
                <a:spcPts val="0"/>
              </a:spcAft>
              <a:buClr>
                <a:srgbClr val="000000"/>
              </a:buClr>
              <a:buSzPts val="3200"/>
              <a:buFont typeface="Arial"/>
              <a:buNone/>
            </a:pPr>
            <a:r>
              <a:t/>
            </a:r>
            <a:endParaRPr b="1" i="1" sz="40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Find a partner &amp; practice answering </a:t>
            </a:r>
            <a:endParaRPr b="0" i="0" sz="40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the following case questions…</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29"/>
          <p:cNvSpPr txBox="1"/>
          <p:nvPr>
            <p:ph type="title"/>
          </p:nvPr>
        </p:nvSpPr>
        <p:spPr>
          <a:xfrm>
            <a:off x="1143000" y="1382888"/>
            <a:ext cx="9998765" cy="3443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Imagine you are the Brand Manager for Cheerios and you have the choice to launch a new peanut butter or caramel flavor. Which would you choose and why?</a:t>
            </a:r>
            <a:endParaRPr/>
          </a:p>
        </p:txBody>
      </p:sp>
      <p:sp>
        <p:nvSpPr>
          <p:cNvPr id="477" name="Google Shape;477;p29"/>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78" name="Google Shape;478;p29"/>
          <p:cNvSpPr txBox="1"/>
          <p:nvPr/>
        </p:nvSpPr>
        <p:spPr>
          <a:xfrm>
            <a:off x="202883" y="1487157"/>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79" name="Google Shape;479;p29"/>
          <p:cNvSpPr txBox="1"/>
          <p:nvPr/>
        </p:nvSpPr>
        <p:spPr>
          <a:xfrm>
            <a:off x="10969901" y="3894443"/>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80" name="Google Shape;480;p29"/>
          <p:cNvSpPr txBox="1"/>
          <p:nvPr/>
        </p:nvSpPr>
        <p:spPr>
          <a:xfrm>
            <a:off x="0" y="945935"/>
            <a:ext cx="2209800"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accent1"/>
                </a:solidFill>
                <a:latin typeface="Roboto"/>
                <a:ea typeface="Roboto"/>
                <a:cs typeface="Roboto"/>
                <a:sym typeface="Roboto"/>
              </a:rPr>
              <a:t>MMC Example</a:t>
            </a:r>
            <a:endParaRPr b="0" i="0" sz="1400" u="none" cap="none" strike="noStrike">
              <a:solidFill>
                <a:srgbClr val="000000"/>
              </a:solidFill>
              <a:latin typeface="Roboto"/>
              <a:ea typeface="Roboto"/>
              <a:cs typeface="Roboto"/>
              <a:sym typeface="Roboto"/>
            </a:endParaRPr>
          </a:p>
        </p:txBody>
      </p:sp>
      <p:sp>
        <p:nvSpPr>
          <p:cNvPr id="481" name="Google Shape;481;p29"/>
          <p:cNvSpPr/>
          <p:nvPr/>
        </p:nvSpPr>
        <p:spPr>
          <a:xfrm>
            <a:off x="7419450" y="263757"/>
            <a:ext cx="4489800" cy="723300"/>
          </a:xfrm>
          <a:prstGeom prst="rect">
            <a:avLst/>
          </a:prstGeom>
          <a:solidFill>
            <a:schemeClr val="accent2"/>
          </a:solidFill>
          <a:ln cap="flat" cmpd="sng" w="25400">
            <a:solidFill>
              <a:srgbClr val="BA94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a:t>If you don’t have the “facts”, just practice applying the framework and you can sound believable later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0"/>
          <p:cNvSpPr txBox="1"/>
          <p:nvPr>
            <p:ph type="title"/>
          </p:nvPr>
        </p:nvSpPr>
        <p:spPr>
          <a:xfrm>
            <a:off x="1143000" y="1382888"/>
            <a:ext cx="9998765" cy="34431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Imagine you are the Brand Manager for Tropicana and someone has the idea of making a strawberry flavored juice. Talk me through your thought process on whether you’d decide to do it.</a:t>
            </a:r>
            <a:endParaRPr/>
          </a:p>
        </p:txBody>
      </p:sp>
      <p:sp>
        <p:nvSpPr>
          <p:cNvPr id="487" name="Google Shape;487;p3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88" name="Google Shape;488;p30"/>
          <p:cNvSpPr txBox="1"/>
          <p:nvPr/>
        </p:nvSpPr>
        <p:spPr>
          <a:xfrm>
            <a:off x="202883" y="1487157"/>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89" name="Google Shape;489;p30"/>
          <p:cNvSpPr txBox="1"/>
          <p:nvPr/>
        </p:nvSpPr>
        <p:spPr>
          <a:xfrm>
            <a:off x="10969901" y="3894443"/>
            <a:ext cx="1133475" cy="170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000"/>
              <a:buFont typeface="Georgia"/>
              <a:buNone/>
            </a:pPr>
            <a:r>
              <a:rPr b="1" i="0" lang="en-US" sz="13800" u="none" cap="none" strike="noStrike">
                <a:solidFill>
                  <a:schemeClr val="accent2"/>
                </a:solidFill>
                <a:latin typeface="Georgia"/>
                <a:ea typeface="Georgia"/>
                <a:cs typeface="Georgia"/>
                <a:sym typeface="Georgia"/>
              </a:rPr>
              <a:t>”</a:t>
            </a:r>
            <a:endParaRPr b="0" i="0" sz="13800" u="none" cap="none" strike="noStrike">
              <a:solidFill>
                <a:schemeClr val="accent2"/>
              </a:solidFill>
              <a:latin typeface="Georgia"/>
              <a:ea typeface="Georgia"/>
              <a:cs typeface="Georgia"/>
              <a:sym typeface="Georgia"/>
            </a:endParaRPr>
          </a:p>
        </p:txBody>
      </p:sp>
      <p:sp>
        <p:nvSpPr>
          <p:cNvPr id="490" name="Google Shape;490;p30"/>
          <p:cNvSpPr txBox="1"/>
          <p:nvPr/>
        </p:nvSpPr>
        <p:spPr>
          <a:xfrm>
            <a:off x="0" y="945935"/>
            <a:ext cx="22098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accent1"/>
                </a:solidFill>
                <a:latin typeface="Roboto"/>
                <a:ea typeface="Roboto"/>
                <a:cs typeface="Roboto"/>
                <a:sym typeface="Roboto"/>
              </a:rPr>
              <a:t>MMC Example</a:t>
            </a:r>
            <a:endParaRPr b="0" i="0" sz="1400" u="none" cap="none" strike="noStrike">
              <a:solidFill>
                <a:srgbClr val="000000"/>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97" name="Google Shape;497;p31"/>
          <p:cNvSpPr txBox="1"/>
          <p:nvPr/>
        </p:nvSpPr>
        <p:spPr>
          <a:xfrm>
            <a:off x="3825700" y="3054150"/>
            <a:ext cx="517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Add Blue Page Breaker: eCommerce</a:t>
            </a:r>
            <a:endParaRPr b="0" i="0" sz="1400" u="none" cap="none" strike="noStrike">
              <a:solidFill>
                <a:srgbClr val="000000"/>
              </a:solidFill>
              <a:latin typeface="Arial"/>
              <a:ea typeface="Arial"/>
              <a:cs typeface="Arial"/>
              <a:sym typeface="Arial"/>
            </a:endParaRPr>
          </a:p>
        </p:txBody>
      </p:sp>
      <p:sp>
        <p:nvSpPr>
          <p:cNvPr id="498" name="Google Shape;498;p31"/>
          <p:cNvSpPr/>
          <p:nvPr/>
        </p:nvSpPr>
        <p:spPr>
          <a:xfrm>
            <a:off x="0" y="0"/>
            <a:ext cx="12192000" cy="6201600"/>
          </a:xfrm>
          <a:prstGeom prst="rect">
            <a:avLst/>
          </a:prstGeom>
          <a:solidFill>
            <a:srgbClr val="002856"/>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rgbClr val="FFFFFF"/>
                </a:solidFill>
                <a:latin typeface="Roboto"/>
                <a:ea typeface="Roboto"/>
                <a:cs typeface="Roboto"/>
                <a:sym typeface="Roboto"/>
              </a:rPr>
              <a:t>Now that you’re sufficiently overwhelmed…</a:t>
            </a:r>
            <a:endParaRPr/>
          </a:p>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rgbClr val="FFFFFF"/>
                </a:solidFill>
                <a:latin typeface="Roboto"/>
                <a:ea typeface="Roboto"/>
                <a:cs typeface="Roboto"/>
                <a:sym typeface="Roboto"/>
              </a:rPr>
              <a:t>What can you do?</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2"/>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05" name="Google Shape;505;p32"/>
          <p:cNvSpPr/>
          <p:nvPr/>
        </p:nvSpPr>
        <p:spPr>
          <a:xfrm>
            <a:off x="923975" y="176492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Store walks</a:t>
            </a:r>
            <a:endParaRPr b="1" i="0" sz="2200" u="none" cap="none" strike="noStrike">
              <a:solidFill>
                <a:srgbClr val="FFFFFF"/>
              </a:solidFill>
              <a:latin typeface="Roboto"/>
              <a:ea typeface="Roboto"/>
              <a:cs typeface="Roboto"/>
              <a:sym typeface="Roboto"/>
            </a:endParaRPr>
          </a:p>
        </p:txBody>
      </p:sp>
      <p:sp>
        <p:nvSpPr>
          <p:cNvPr id="506" name="Google Shape;506;p32"/>
          <p:cNvSpPr/>
          <p:nvPr/>
        </p:nvSpPr>
        <p:spPr>
          <a:xfrm>
            <a:off x="4521925" y="176492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eCommerce stalking</a:t>
            </a:r>
            <a:endParaRPr b="1" i="0" sz="2200" u="none" cap="none" strike="noStrike">
              <a:solidFill>
                <a:srgbClr val="FFFFFF"/>
              </a:solidFill>
              <a:latin typeface="Roboto"/>
              <a:ea typeface="Roboto"/>
              <a:cs typeface="Roboto"/>
              <a:sym typeface="Roboto"/>
            </a:endParaRPr>
          </a:p>
        </p:txBody>
      </p:sp>
      <p:sp>
        <p:nvSpPr>
          <p:cNvPr id="507" name="Google Shape;507;p32"/>
          <p:cNvSpPr/>
          <p:nvPr/>
        </p:nvSpPr>
        <p:spPr>
          <a:xfrm>
            <a:off x="8119875" y="176492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Mintel report reviews</a:t>
            </a:r>
            <a:endParaRPr b="1" i="0" sz="2200" u="none" cap="none" strike="noStrike">
              <a:solidFill>
                <a:srgbClr val="FFFFFF"/>
              </a:solidFill>
              <a:latin typeface="Roboto"/>
              <a:ea typeface="Roboto"/>
              <a:cs typeface="Roboto"/>
              <a:sym typeface="Roboto"/>
            </a:endParaRPr>
          </a:p>
        </p:txBody>
      </p:sp>
      <p:sp>
        <p:nvSpPr>
          <p:cNvPr id="508" name="Google Shape;508;p32"/>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rgbClr val="002856"/>
                </a:solidFill>
                <a:latin typeface="Roboto"/>
                <a:ea typeface="Roboto"/>
                <a:cs typeface="Roboto"/>
                <a:sym typeface="Roboto"/>
              </a:rPr>
              <a:t>Ways to research in advance of interviews</a:t>
            </a:r>
            <a:endParaRPr b="1" i="0" sz="3600" u="none" cap="none" strike="noStrike">
              <a:solidFill>
                <a:srgbClr val="002856"/>
              </a:solidFill>
              <a:latin typeface="Roboto"/>
              <a:ea typeface="Roboto"/>
              <a:cs typeface="Roboto"/>
              <a:sym typeface="Roboto"/>
            </a:endParaRPr>
          </a:p>
        </p:txBody>
      </p:sp>
      <p:sp>
        <p:nvSpPr>
          <p:cNvPr id="509" name="Google Shape;509;p32"/>
          <p:cNvSpPr/>
          <p:nvPr/>
        </p:nvSpPr>
        <p:spPr>
          <a:xfrm>
            <a:off x="2542000" y="325697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Company websites</a:t>
            </a:r>
            <a:endParaRPr b="1" i="0" sz="2200" u="none" cap="none" strike="noStrike">
              <a:solidFill>
                <a:srgbClr val="FFFFFF"/>
              </a:solidFill>
              <a:latin typeface="Roboto"/>
              <a:ea typeface="Roboto"/>
              <a:cs typeface="Roboto"/>
              <a:sym typeface="Roboto"/>
            </a:endParaRPr>
          </a:p>
        </p:txBody>
      </p:sp>
      <p:sp>
        <p:nvSpPr>
          <p:cNvPr id="510" name="Google Shape;510;p32"/>
          <p:cNvSpPr/>
          <p:nvPr/>
        </p:nvSpPr>
        <p:spPr>
          <a:xfrm>
            <a:off x="6303175" y="325697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Newsletters, Google alerts, etc.</a:t>
            </a:r>
            <a:endParaRPr b="1" i="0" sz="2200" u="none" cap="none" strike="noStrike">
              <a:solidFill>
                <a:srgbClr val="FFFFFF"/>
              </a:solidFill>
              <a:latin typeface="Roboto"/>
              <a:ea typeface="Roboto"/>
              <a:cs typeface="Roboto"/>
              <a:sym typeface="Roboto"/>
            </a:endParaRPr>
          </a:p>
        </p:txBody>
      </p:sp>
      <p:sp>
        <p:nvSpPr>
          <p:cNvPr id="511" name="Google Shape;511;p32"/>
          <p:cNvSpPr/>
          <p:nvPr/>
        </p:nvSpPr>
        <p:spPr>
          <a:xfrm>
            <a:off x="4270625" y="467282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Networking / informational interviews</a:t>
            </a:r>
            <a:endParaRPr b="1" i="0" sz="2200" u="none" cap="none" strike="noStrike">
              <a:solidFill>
                <a:srgbClr val="FFFFF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3"/>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518" name="Google Shape;518;p33"/>
          <p:cNvSpPr/>
          <p:nvPr/>
        </p:nvSpPr>
        <p:spPr>
          <a:xfrm>
            <a:off x="923975" y="1764927"/>
            <a:ext cx="3156000" cy="1158000"/>
          </a:xfrm>
          <a:prstGeom prst="rect">
            <a:avLst/>
          </a:prstGeom>
          <a:solidFill>
            <a:srgbClr val="9E9E9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2200" u="none" cap="none" strike="noStrike">
                <a:solidFill>
                  <a:srgbClr val="FFFFFF"/>
                </a:solidFill>
                <a:latin typeface="Roboto"/>
                <a:ea typeface="Roboto"/>
                <a:cs typeface="Roboto"/>
                <a:sym typeface="Roboto"/>
              </a:rPr>
              <a:t>Store walks</a:t>
            </a:r>
            <a:endParaRPr b="1" i="0" sz="2200" u="none" cap="none" strike="noStrike">
              <a:solidFill>
                <a:srgbClr val="FFFFFF"/>
              </a:solidFill>
              <a:latin typeface="Roboto"/>
              <a:ea typeface="Roboto"/>
              <a:cs typeface="Roboto"/>
              <a:sym typeface="Roboto"/>
            </a:endParaRPr>
          </a:p>
        </p:txBody>
      </p:sp>
      <p:sp>
        <p:nvSpPr>
          <p:cNvPr id="519" name="Google Shape;519;p33"/>
          <p:cNvSpPr/>
          <p:nvPr/>
        </p:nvSpPr>
        <p:spPr>
          <a:xfrm>
            <a:off x="4521925" y="1764927"/>
            <a:ext cx="3156000" cy="1158000"/>
          </a:xfrm>
          <a:prstGeom prst="rect">
            <a:avLst/>
          </a:prstGeom>
          <a:solidFill>
            <a:srgbClr val="9E9E9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2200" u="none" cap="none" strike="noStrike">
                <a:solidFill>
                  <a:srgbClr val="FFFFFF"/>
                </a:solidFill>
                <a:latin typeface="Roboto"/>
                <a:ea typeface="Roboto"/>
                <a:cs typeface="Roboto"/>
                <a:sym typeface="Roboto"/>
              </a:rPr>
              <a:t>eCommerce stalking</a:t>
            </a:r>
            <a:endParaRPr b="1" i="0" sz="2200" u="none" cap="none" strike="noStrike">
              <a:solidFill>
                <a:srgbClr val="FFFFFF"/>
              </a:solidFill>
              <a:latin typeface="Roboto"/>
              <a:ea typeface="Roboto"/>
              <a:cs typeface="Roboto"/>
              <a:sym typeface="Roboto"/>
            </a:endParaRPr>
          </a:p>
        </p:txBody>
      </p:sp>
      <p:sp>
        <p:nvSpPr>
          <p:cNvPr id="520" name="Google Shape;520;p33"/>
          <p:cNvSpPr/>
          <p:nvPr/>
        </p:nvSpPr>
        <p:spPr>
          <a:xfrm>
            <a:off x="8119875" y="1764927"/>
            <a:ext cx="3156000" cy="1158000"/>
          </a:xfrm>
          <a:prstGeom prst="rect">
            <a:avLst/>
          </a:prstGeom>
          <a:solidFill>
            <a:srgbClr val="0941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Mintel report reviews</a:t>
            </a:r>
            <a:endParaRPr b="1" i="0" sz="2200" u="none" cap="none" strike="noStrike">
              <a:solidFill>
                <a:srgbClr val="FFFFFF"/>
              </a:solidFill>
              <a:latin typeface="Roboto"/>
              <a:ea typeface="Roboto"/>
              <a:cs typeface="Roboto"/>
              <a:sym typeface="Roboto"/>
            </a:endParaRPr>
          </a:p>
        </p:txBody>
      </p:sp>
      <p:sp>
        <p:nvSpPr>
          <p:cNvPr id="521" name="Google Shape;521;p33"/>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rgbClr val="002856"/>
                </a:solidFill>
                <a:latin typeface="Roboto"/>
                <a:ea typeface="Roboto"/>
                <a:cs typeface="Roboto"/>
                <a:sym typeface="Roboto"/>
              </a:rPr>
              <a:t>Today, we’ll focus on Mintel because it’s most broadly applicable!</a:t>
            </a:r>
            <a:endParaRPr b="1" i="0" sz="3600" u="none" cap="none" strike="noStrike">
              <a:solidFill>
                <a:srgbClr val="002856"/>
              </a:solidFill>
              <a:latin typeface="Roboto"/>
              <a:ea typeface="Roboto"/>
              <a:cs typeface="Roboto"/>
              <a:sym typeface="Roboto"/>
            </a:endParaRPr>
          </a:p>
        </p:txBody>
      </p:sp>
      <p:sp>
        <p:nvSpPr>
          <p:cNvPr id="522" name="Google Shape;522;p33"/>
          <p:cNvSpPr/>
          <p:nvPr/>
        </p:nvSpPr>
        <p:spPr>
          <a:xfrm>
            <a:off x="2542000" y="3256977"/>
            <a:ext cx="3156000" cy="1158000"/>
          </a:xfrm>
          <a:prstGeom prst="rect">
            <a:avLst/>
          </a:prstGeom>
          <a:solidFill>
            <a:srgbClr val="9E9E9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Company websites</a:t>
            </a:r>
            <a:endParaRPr b="1" i="0" sz="2200" u="none" cap="none" strike="noStrike">
              <a:solidFill>
                <a:srgbClr val="FFFFFF"/>
              </a:solidFill>
              <a:latin typeface="Roboto"/>
              <a:ea typeface="Roboto"/>
              <a:cs typeface="Roboto"/>
              <a:sym typeface="Roboto"/>
            </a:endParaRPr>
          </a:p>
        </p:txBody>
      </p:sp>
      <p:sp>
        <p:nvSpPr>
          <p:cNvPr id="523" name="Google Shape;523;p33"/>
          <p:cNvSpPr/>
          <p:nvPr/>
        </p:nvSpPr>
        <p:spPr>
          <a:xfrm>
            <a:off x="6303175" y="3256977"/>
            <a:ext cx="3156000" cy="1158000"/>
          </a:xfrm>
          <a:prstGeom prst="rect">
            <a:avLst/>
          </a:prstGeom>
          <a:solidFill>
            <a:srgbClr val="9E9E9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Newsletters, Google alerts, etc.</a:t>
            </a:r>
            <a:endParaRPr b="1" i="0" sz="2200" u="none" cap="none" strike="noStrike">
              <a:solidFill>
                <a:srgbClr val="FFFFFF"/>
              </a:solidFill>
              <a:latin typeface="Roboto"/>
              <a:ea typeface="Roboto"/>
              <a:cs typeface="Roboto"/>
              <a:sym typeface="Roboto"/>
            </a:endParaRPr>
          </a:p>
        </p:txBody>
      </p:sp>
      <p:sp>
        <p:nvSpPr>
          <p:cNvPr id="524" name="Google Shape;524;p33"/>
          <p:cNvSpPr/>
          <p:nvPr/>
        </p:nvSpPr>
        <p:spPr>
          <a:xfrm>
            <a:off x="4270625" y="4672827"/>
            <a:ext cx="3156000" cy="1158000"/>
          </a:xfrm>
          <a:prstGeom prst="rect">
            <a:avLst/>
          </a:prstGeom>
          <a:solidFill>
            <a:srgbClr val="9E9E9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Roboto"/>
                <a:ea typeface="Roboto"/>
                <a:cs typeface="Roboto"/>
                <a:sym typeface="Roboto"/>
              </a:rPr>
              <a:t>Networking / informational interviews</a:t>
            </a:r>
            <a:endParaRPr b="1" i="0" sz="2200" u="none" cap="none" strike="noStrike">
              <a:solidFill>
                <a:srgbClr val="FFFFFF"/>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4"/>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31" name="Google Shape;531;p34"/>
          <p:cNvSpPr txBox="1"/>
          <p:nvPr>
            <p:ph idx="4294967295" type="title"/>
          </p:nvPr>
        </p:nvSpPr>
        <p:spPr>
          <a:xfrm>
            <a:off x="305775" y="174825"/>
            <a:ext cx="11167500" cy="9807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4400"/>
              <a:buNone/>
            </a:pPr>
            <a:r>
              <a:rPr lang="en-US"/>
              <a:t>Mintel 101</a:t>
            </a:r>
            <a:endParaRPr/>
          </a:p>
        </p:txBody>
      </p:sp>
      <p:sp>
        <p:nvSpPr>
          <p:cNvPr id="532" name="Google Shape;532;p34"/>
          <p:cNvSpPr txBox="1"/>
          <p:nvPr>
            <p:ph idx="4294967295" type="body"/>
          </p:nvPr>
        </p:nvSpPr>
        <p:spPr>
          <a:xfrm>
            <a:off x="305775" y="1155525"/>
            <a:ext cx="11390400" cy="503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US"/>
              <a:t>What is Mintel? </a:t>
            </a:r>
            <a:endParaRPr b="1"/>
          </a:p>
          <a:p>
            <a:pPr indent="0" lvl="0" marL="0" rtl="0" algn="l">
              <a:lnSpc>
                <a:spcPct val="100000"/>
              </a:lnSpc>
              <a:spcBef>
                <a:spcPts val="0"/>
              </a:spcBef>
              <a:spcAft>
                <a:spcPts val="0"/>
              </a:spcAft>
              <a:buSzPts val="2400"/>
              <a:buNone/>
            </a:pPr>
            <a:r>
              <a:t/>
            </a:r>
            <a:endParaRPr b="1" sz="1900"/>
          </a:p>
          <a:p>
            <a:pPr indent="0" lvl="0" marL="0" rtl="0" algn="l">
              <a:lnSpc>
                <a:spcPct val="100000"/>
              </a:lnSpc>
              <a:spcBef>
                <a:spcPts val="0"/>
              </a:spcBef>
              <a:spcAft>
                <a:spcPts val="0"/>
              </a:spcAft>
              <a:buSzPts val="2400"/>
              <a:buNone/>
            </a:pPr>
            <a:r>
              <a:rPr i="1" lang="en-US" sz="1900"/>
              <a:t>Mintel is a market research database that you can access through the Kresge library. </a:t>
            </a:r>
            <a:endParaRPr i="1" sz="1900"/>
          </a:p>
          <a:p>
            <a:pPr indent="-349250" lvl="0" marL="457200" rtl="0" algn="l">
              <a:lnSpc>
                <a:spcPct val="100000"/>
              </a:lnSpc>
              <a:spcBef>
                <a:spcPts val="0"/>
              </a:spcBef>
              <a:spcAft>
                <a:spcPts val="0"/>
              </a:spcAft>
              <a:buSzPts val="1900"/>
              <a:buChar char="▪"/>
            </a:pPr>
            <a:r>
              <a:rPr lang="en-US" sz="1900"/>
              <a:t>Contains industry reports, covering consumer behavior and relevant industry trends</a:t>
            </a:r>
            <a:endParaRPr sz="1900"/>
          </a:p>
          <a:p>
            <a:pPr indent="0" lvl="0" marL="0" rtl="0" algn="l">
              <a:lnSpc>
                <a:spcPct val="100000"/>
              </a:lnSpc>
              <a:spcBef>
                <a:spcPts val="0"/>
              </a:spcBef>
              <a:spcAft>
                <a:spcPts val="0"/>
              </a:spcAft>
              <a:buSzPts val="2400"/>
              <a:buNone/>
            </a:pPr>
            <a:r>
              <a:t/>
            </a:r>
            <a:endParaRPr sz="1900"/>
          </a:p>
          <a:p>
            <a:pPr indent="0" lvl="0" marL="0" rtl="0" algn="l">
              <a:lnSpc>
                <a:spcPct val="100000"/>
              </a:lnSpc>
              <a:spcBef>
                <a:spcPts val="0"/>
              </a:spcBef>
              <a:spcAft>
                <a:spcPts val="0"/>
              </a:spcAft>
              <a:buSzPts val="2400"/>
              <a:buNone/>
            </a:pPr>
            <a:r>
              <a:rPr b="1" lang="en-US"/>
              <a:t>How can Mintel help me?</a:t>
            </a:r>
            <a:endParaRPr b="1"/>
          </a:p>
          <a:p>
            <a:pPr indent="0" lvl="0" marL="0" rtl="0" algn="l">
              <a:lnSpc>
                <a:spcPct val="100000"/>
              </a:lnSpc>
              <a:spcBef>
                <a:spcPts val="0"/>
              </a:spcBef>
              <a:spcAft>
                <a:spcPts val="0"/>
              </a:spcAft>
              <a:buSzPts val="2400"/>
              <a:buNone/>
            </a:pPr>
            <a:r>
              <a:t/>
            </a:r>
            <a:endParaRPr b="1" sz="1900"/>
          </a:p>
          <a:p>
            <a:pPr indent="0" lvl="0" marL="0" rtl="0" algn="l">
              <a:lnSpc>
                <a:spcPct val="100000"/>
              </a:lnSpc>
              <a:spcBef>
                <a:spcPts val="0"/>
              </a:spcBef>
              <a:spcAft>
                <a:spcPts val="0"/>
              </a:spcAft>
              <a:buSzPts val="2400"/>
              <a:buNone/>
            </a:pPr>
            <a:r>
              <a:rPr i="1" lang="en-US" sz="1900"/>
              <a:t>Reading Mintel reports will help educate you on trends and the industry to better inform your casing!</a:t>
            </a:r>
            <a:endParaRPr i="1" sz="1900"/>
          </a:p>
          <a:p>
            <a:pPr indent="0" lvl="0" marL="0" rtl="0" algn="l">
              <a:lnSpc>
                <a:spcPct val="100000"/>
              </a:lnSpc>
              <a:spcBef>
                <a:spcPts val="0"/>
              </a:spcBef>
              <a:spcAft>
                <a:spcPts val="0"/>
              </a:spcAft>
              <a:buSzPts val="2400"/>
              <a:buNone/>
            </a:pPr>
            <a:r>
              <a:t/>
            </a:r>
            <a:endParaRPr sz="1900"/>
          </a:p>
          <a:p>
            <a:pPr indent="0" lvl="0" marL="0" rtl="0" algn="l">
              <a:lnSpc>
                <a:spcPct val="100000"/>
              </a:lnSpc>
              <a:spcBef>
                <a:spcPts val="0"/>
              </a:spcBef>
              <a:spcAft>
                <a:spcPts val="0"/>
              </a:spcAft>
              <a:buSzPts val="2400"/>
              <a:buNone/>
            </a:pPr>
            <a:r>
              <a:rPr b="1" lang="en-US"/>
              <a:t>What sections of a Mintel report are most relevant? </a:t>
            </a:r>
            <a:endParaRPr b="1"/>
          </a:p>
          <a:p>
            <a:pPr indent="0" lvl="0" marL="0" rtl="0" algn="l">
              <a:lnSpc>
                <a:spcPct val="100000"/>
              </a:lnSpc>
              <a:spcBef>
                <a:spcPts val="0"/>
              </a:spcBef>
              <a:spcAft>
                <a:spcPts val="0"/>
              </a:spcAft>
              <a:buSzPts val="2400"/>
              <a:buNone/>
            </a:pPr>
            <a:r>
              <a:t/>
            </a:r>
            <a:endParaRPr b="1" sz="1900"/>
          </a:p>
          <a:p>
            <a:pPr indent="-349250" lvl="0" marL="457200" rtl="0" algn="l">
              <a:lnSpc>
                <a:spcPct val="100000"/>
              </a:lnSpc>
              <a:spcBef>
                <a:spcPts val="0"/>
              </a:spcBef>
              <a:spcAft>
                <a:spcPts val="0"/>
              </a:spcAft>
              <a:buSzPts val="1900"/>
              <a:buChar char="▪"/>
            </a:pPr>
            <a:r>
              <a:rPr i="1" lang="en-US" sz="1900"/>
              <a:t>Executive Summary</a:t>
            </a:r>
            <a:endParaRPr i="1" sz="1900"/>
          </a:p>
          <a:p>
            <a:pPr indent="-349250" lvl="0" marL="457200" rtl="0" algn="l">
              <a:lnSpc>
                <a:spcPct val="100000"/>
              </a:lnSpc>
              <a:spcBef>
                <a:spcPts val="0"/>
              </a:spcBef>
              <a:spcAft>
                <a:spcPts val="0"/>
              </a:spcAft>
              <a:buSzPts val="1900"/>
              <a:buChar char="▪"/>
            </a:pPr>
            <a:r>
              <a:rPr i="1" lang="en-US" sz="1900"/>
              <a:t>The Consumer</a:t>
            </a:r>
            <a:endParaRPr i="1" sz="1900"/>
          </a:p>
          <a:p>
            <a:pPr indent="-349250" lvl="0" marL="457200" rtl="0" algn="l">
              <a:lnSpc>
                <a:spcPct val="100000"/>
              </a:lnSpc>
              <a:spcBef>
                <a:spcPts val="0"/>
              </a:spcBef>
              <a:spcAft>
                <a:spcPts val="0"/>
              </a:spcAft>
              <a:buSzPts val="1900"/>
              <a:buChar char="▪"/>
            </a:pPr>
            <a:r>
              <a:rPr i="1" lang="en-US" sz="1900"/>
              <a:t>Key Takeaways from other sections</a:t>
            </a:r>
            <a:endParaRPr i="1" sz="1900"/>
          </a:p>
          <a:p>
            <a:pPr indent="-349250" lvl="0" marL="457200" rtl="0" algn="l">
              <a:lnSpc>
                <a:spcPct val="100000"/>
              </a:lnSpc>
              <a:spcBef>
                <a:spcPts val="0"/>
              </a:spcBef>
              <a:spcAft>
                <a:spcPts val="0"/>
              </a:spcAft>
              <a:buSzPts val="1900"/>
              <a:buChar char="▪"/>
            </a:pPr>
            <a:r>
              <a:rPr i="1" lang="en-US" sz="1900"/>
              <a:t>“ctrl + f” company / competitors names</a:t>
            </a:r>
            <a:endParaRPr i="1" sz="1900"/>
          </a:p>
        </p:txBody>
      </p:sp>
      <p:sp>
        <p:nvSpPr>
          <p:cNvPr id="533" name="Google Shape;533;p34"/>
          <p:cNvSpPr txBox="1"/>
          <p:nvPr/>
        </p:nvSpPr>
        <p:spPr>
          <a:xfrm>
            <a:off x="7308000" y="5398425"/>
            <a:ext cx="4884000" cy="7884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400"/>
              <a:buFont typeface="Arial"/>
              <a:buNone/>
            </a:pPr>
            <a:r>
              <a:rPr b="0" i="1" lang="en-US" sz="2400" u="none" cap="none" strike="noStrike">
                <a:solidFill>
                  <a:srgbClr val="073763"/>
                </a:solidFill>
                <a:latin typeface="Georgia"/>
                <a:ea typeface="Georgia"/>
                <a:cs typeface="Georgia"/>
                <a:sym typeface="Georgia"/>
              </a:rPr>
              <a:t>Somebody please suggest a topic that we can look into!</a:t>
            </a:r>
            <a:endParaRPr b="0" i="1" sz="2400" u="none" cap="none" strike="noStrike">
              <a:solidFill>
                <a:srgbClr val="073763"/>
              </a:solidFill>
              <a:latin typeface="Georgia"/>
              <a:ea typeface="Georgia"/>
              <a:cs typeface="Georgia"/>
              <a:sym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5"/>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539" name="Google Shape;539;p35"/>
          <p:cNvSpPr/>
          <p:nvPr/>
        </p:nvSpPr>
        <p:spPr>
          <a:xfrm>
            <a:off x="0" y="0"/>
            <a:ext cx="12192000" cy="6201508"/>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Resources and Homework</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p37"/>
          <p:cNvPicPr preferRelativeResize="0"/>
          <p:nvPr/>
        </p:nvPicPr>
        <p:blipFill rotWithShape="1">
          <a:blip r:embed="rId3">
            <a:alphaModFix/>
          </a:blip>
          <a:srcRect b="0" l="0" r="0" t="0"/>
          <a:stretch/>
        </p:blipFill>
        <p:spPr>
          <a:xfrm>
            <a:off x="1588" y="1588"/>
            <a:ext cx="1588" cy="1588"/>
          </a:xfrm>
          <a:prstGeom prst="rect">
            <a:avLst/>
          </a:prstGeom>
          <a:noFill/>
          <a:ln>
            <a:noFill/>
          </a:ln>
        </p:spPr>
      </p:pic>
      <p:sp>
        <p:nvSpPr>
          <p:cNvPr id="545" name="Google Shape;545;p37"/>
          <p:cNvSpPr txBox="1"/>
          <p:nvPr>
            <p:ph idx="1" type="body"/>
          </p:nvPr>
        </p:nvSpPr>
        <p:spPr>
          <a:xfrm>
            <a:off x="920899" y="1512712"/>
            <a:ext cx="10341900" cy="45081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SzPts val="1600"/>
              <a:buFont typeface="Roboto"/>
              <a:buChar char="▪"/>
            </a:pPr>
            <a:r>
              <a:rPr b="1" lang="en-US" sz="1600">
                <a:latin typeface="Roboto"/>
                <a:ea typeface="Roboto"/>
                <a:cs typeface="Roboto"/>
                <a:sym typeface="Roboto"/>
              </a:rPr>
              <a:t>Practice, practice, practice</a:t>
            </a:r>
            <a:r>
              <a:rPr lang="en-US" sz="1600">
                <a:latin typeface="Roboto"/>
                <a:ea typeface="Roboto"/>
                <a:cs typeface="Roboto"/>
                <a:sym typeface="Roboto"/>
              </a:rPr>
              <a:t>: Find a buddy (or group of peers) to practice responses</a:t>
            </a:r>
            <a:endParaRPr sz="1600">
              <a:latin typeface="Roboto"/>
              <a:ea typeface="Roboto"/>
              <a:cs typeface="Roboto"/>
              <a:sym typeface="Roboto"/>
            </a:endParaRPr>
          </a:p>
          <a:p>
            <a:pPr indent="0" lvl="0" marL="457200" rtl="0" algn="l">
              <a:lnSpc>
                <a:spcPct val="115000"/>
              </a:lnSpc>
              <a:spcBef>
                <a:spcPts val="0"/>
              </a:spcBef>
              <a:spcAft>
                <a:spcPts val="0"/>
              </a:spcAft>
              <a:buNone/>
            </a:pPr>
            <a:r>
              <a:t/>
            </a:r>
            <a:endParaRPr sz="1600">
              <a:latin typeface="Roboto"/>
              <a:ea typeface="Roboto"/>
              <a:cs typeface="Roboto"/>
              <a:sym typeface="Roboto"/>
            </a:endParaRPr>
          </a:p>
          <a:p>
            <a:pPr indent="-368300" lvl="0" marL="457200" rtl="0" algn="l">
              <a:lnSpc>
                <a:spcPct val="115000"/>
              </a:lnSpc>
              <a:spcBef>
                <a:spcPts val="0"/>
              </a:spcBef>
              <a:spcAft>
                <a:spcPts val="0"/>
              </a:spcAft>
              <a:buSzPts val="1600"/>
              <a:buFont typeface="Roboto"/>
              <a:buChar char="▪"/>
            </a:pPr>
            <a:r>
              <a:rPr b="1" lang="en-US" sz="1600">
                <a:latin typeface="Roboto"/>
                <a:ea typeface="Roboto"/>
                <a:cs typeface="Roboto"/>
                <a:sym typeface="Roboto"/>
              </a:rPr>
              <a:t>Schedule weekly touchpoints</a:t>
            </a:r>
            <a:r>
              <a:rPr lang="en-US" sz="1600">
                <a:latin typeface="Roboto"/>
                <a:ea typeface="Roboto"/>
                <a:cs typeface="Roboto"/>
                <a:sym typeface="Roboto"/>
              </a:rPr>
              <a:t>: Identify a weekly meeting time with your buddy (or group) to practice interview responses</a:t>
            </a:r>
            <a:endParaRPr sz="1600">
              <a:latin typeface="Roboto"/>
              <a:ea typeface="Roboto"/>
              <a:cs typeface="Roboto"/>
              <a:sym typeface="Roboto"/>
            </a:endParaRPr>
          </a:p>
          <a:p>
            <a:pPr indent="0" lvl="0" marL="457200" rtl="0" algn="l">
              <a:lnSpc>
                <a:spcPct val="115000"/>
              </a:lnSpc>
              <a:spcBef>
                <a:spcPts val="0"/>
              </a:spcBef>
              <a:spcAft>
                <a:spcPts val="0"/>
              </a:spcAft>
              <a:buNone/>
            </a:pPr>
            <a:r>
              <a:t/>
            </a:r>
            <a:endParaRPr sz="1600">
              <a:latin typeface="Roboto"/>
              <a:ea typeface="Roboto"/>
              <a:cs typeface="Roboto"/>
              <a:sym typeface="Roboto"/>
            </a:endParaRPr>
          </a:p>
          <a:p>
            <a:pPr indent="-330200" lvl="0" marL="457200" rtl="0" algn="l">
              <a:lnSpc>
                <a:spcPct val="115000"/>
              </a:lnSpc>
              <a:spcBef>
                <a:spcPts val="0"/>
              </a:spcBef>
              <a:spcAft>
                <a:spcPts val="0"/>
              </a:spcAft>
              <a:buSzPts val="1600"/>
              <a:buFont typeface="Roboto"/>
              <a:buChar char="▪"/>
            </a:pPr>
            <a:r>
              <a:rPr b="1" lang="en-US" sz="1600">
                <a:latin typeface="Roboto"/>
                <a:ea typeface="Roboto"/>
                <a:cs typeface="Roboto"/>
                <a:sym typeface="Roboto"/>
              </a:rPr>
              <a:t>Review existing case questions</a:t>
            </a:r>
            <a:r>
              <a:rPr lang="en-US" sz="1600">
                <a:latin typeface="Roboto"/>
                <a:ea typeface="Roboto"/>
                <a:cs typeface="Roboto"/>
                <a:sym typeface="Roboto"/>
              </a:rPr>
              <a:t>: Brainstorm potential responses and apply relevant marketing tactics/levers for each type of question</a:t>
            </a:r>
            <a:endParaRPr sz="1600">
              <a:latin typeface="Roboto"/>
              <a:ea typeface="Roboto"/>
              <a:cs typeface="Roboto"/>
              <a:sym typeface="Roboto"/>
            </a:endParaRPr>
          </a:p>
          <a:p>
            <a:pPr indent="-330200" lvl="1" marL="914400" rtl="0" algn="l">
              <a:lnSpc>
                <a:spcPct val="115000"/>
              </a:lnSpc>
              <a:spcBef>
                <a:spcPts val="0"/>
              </a:spcBef>
              <a:spcAft>
                <a:spcPts val="0"/>
              </a:spcAft>
              <a:buSzPts val="1600"/>
              <a:buFont typeface="Roboto"/>
              <a:buChar char="–"/>
            </a:pPr>
            <a:r>
              <a:rPr lang="en-US" sz="1600">
                <a:latin typeface="Roboto"/>
                <a:ea typeface="Roboto"/>
                <a:cs typeface="Roboto"/>
                <a:sym typeface="Roboto"/>
              </a:rPr>
              <a:t>Beware of “studying for the test”; getting used to hearing a tough question for the first time is a muscle worth developing! </a:t>
            </a:r>
            <a:endParaRPr sz="1600">
              <a:latin typeface="Roboto"/>
              <a:ea typeface="Roboto"/>
              <a:cs typeface="Roboto"/>
              <a:sym typeface="Roboto"/>
            </a:endParaRPr>
          </a:p>
          <a:p>
            <a:pPr indent="0" lvl="0" marL="914400" rtl="0" algn="l">
              <a:lnSpc>
                <a:spcPct val="115000"/>
              </a:lnSpc>
              <a:spcBef>
                <a:spcPts val="0"/>
              </a:spcBef>
              <a:spcAft>
                <a:spcPts val="0"/>
              </a:spcAft>
              <a:buNone/>
            </a:pPr>
            <a:r>
              <a:t/>
            </a:r>
            <a:endParaRPr sz="1600">
              <a:latin typeface="Roboto"/>
              <a:ea typeface="Roboto"/>
              <a:cs typeface="Roboto"/>
              <a:sym typeface="Roboto"/>
            </a:endParaRPr>
          </a:p>
          <a:p>
            <a:pPr indent="-368300" lvl="0" marL="457200" rtl="0" algn="l">
              <a:lnSpc>
                <a:spcPct val="115000"/>
              </a:lnSpc>
              <a:spcBef>
                <a:spcPts val="0"/>
              </a:spcBef>
              <a:spcAft>
                <a:spcPts val="0"/>
              </a:spcAft>
              <a:buSzPts val="1600"/>
              <a:buFont typeface="Roboto"/>
              <a:buChar char="▪"/>
            </a:pPr>
            <a:r>
              <a:rPr b="1" lang="en-US" sz="1600">
                <a:latin typeface="Roboto"/>
                <a:ea typeface="Roboto"/>
                <a:cs typeface="Roboto"/>
                <a:sym typeface="Roboto"/>
              </a:rPr>
              <a:t>Keep b</a:t>
            </a:r>
            <a:r>
              <a:rPr b="1" lang="en-US" sz="1600">
                <a:latin typeface="Roboto"/>
                <a:ea typeface="Roboto"/>
                <a:cs typeface="Roboto"/>
                <a:sym typeface="Roboto"/>
              </a:rPr>
              <a:t>ooking appointments with peer coaches</a:t>
            </a:r>
            <a:r>
              <a:rPr lang="en-US" sz="1600">
                <a:latin typeface="Roboto"/>
                <a:ea typeface="Roboto"/>
                <a:cs typeface="Roboto"/>
                <a:sym typeface="Roboto"/>
              </a:rPr>
              <a:t>: Book time with your FACT group leader or CDO peer coaches to practice case questions (allowed 2 meetings/week)</a:t>
            </a:r>
            <a:endParaRPr sz="1600">
              <a:latin typeface="Roboto"/>
              <a:ea typeface="Roboto"/>
              <a:cs typeface="Roboto"/>
              <a:sym typeface="Roboto"/>
            </a:endParaRPr>
          </a:p>
          <a:p>
            <a:pPr indent="-330200" lvl="1" marL="914400" rtl="0" algn="l">
              <a:lnSpc>
                <a:spcPct val="115000"/>
              </a:lnSpc>
              <a:spcBef>
                <a:spcPts val="0"/>
              </a:spcBef>
              <a:spcAft>
                <a:spcPts val="0"/>
              </a:spcAft>
              <a:buSzPts val="1600"/>
              <a:buFont typeface="Roboto"/>
              <a:buChar char="–"/>
            </a:pPr>
            <a:r>
              <a:rPr lang="en-US" sz="1600">
                <a:latin typeface="Roboto"/>
                <a:ea typeface="Roboto"/>
                <a:cs typeface="Roboto"/>
                <a:sym typeface="Roboto"/>
              </a:rPr>
              <a:t>Your responses DO NOT need to be perfect before you meet with a FACT group leader or peer coach. This is the time to start getting comfortable with case questions and gain feedback and insights from peer coaches on different ways you can answer the</a:t>
            </a:r>
            <a:r>
              <a:rPr lang="en-US" sz="1600">
                <a:latin typeface="Roboto"/>
                <a:ea typeface="Roboto"/>
                <a:cs typeface="Roboto"/>
                <a:sym typeface="Roboto"/>
              </a:rPr>
              <a:t>m</a:t>
            </a:r>
            <a:endParaRPr sz="1600">
              <a:solidFill>
                <a:srgbClr val="FF0000"/>
              </a:solidFill>
              <a:latin typeface="Roboto"/>
              <a:ea typeface="Roboto"/>
              <a:cs typeface="Roboto"/>
              <a:sym typeface="Roboto"/>
            </a:endParaRPr>
          </a:p>
        </p:txBody>
      </p:sp>
      <p:sp>
        <p:nvSpPr>
          <p:cNvPr id="546" name="Google Shape;546;p37"/>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547" name="Google Shape;547;p37"/>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Homework</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6"/>
          <p:cNvSpPr txBox="1"/>
          <p:nvPr>
            <p:ph idx="1" type="body"/>
          </p:nvPr>
        </p:nvSpPr>
        <p:spPr>
          <a:xfrm>
            <a:off x="920900" y="1512700"/>
            <a:ext cx="5379900" cy="44016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480"/>
              </a:spcBef>
              <a:spcAft>
                <a:spcPts val="0"/>
              </a:spcAft>
              <a:buClr>
                <a:schemeClr val="dk1"/>
              </a:buClr>
              <a:buSzPts val="1800"/>
              <a:buFont typeface="Roboto"/>
              <a:buChar char="▪"/>
            </a:pPr>
            <a:r>
              <a:rPr b="1" lang="en-US" sz="1800" u="sng">
                <a:solidFill>
                  <a:schemeClr val="accent1"/>
                </a:solidFill>
                <a:latin typeface="Roboto"/>
                <a:ea typeface="Roboto"/>
                <a:cs typeface="Roboto"/>
                <a:sym typeface="Roboto"/>
                <a:hlinkClick r:id="rId3">
                  <a:extLst>
                    <a:ext uri="{A12FA001-AC4F-418D-AE19-62706E023703}">
                      <ahyp:hlinkClr val="tx"/>
                    </a:ext>
                  </a:extLst>
                </a:hlinkClick>
              </a:rPr>
              <a:t>CDO Interview Prep Microsite</a:t>
            </a:r>
            <a:endParaRPr b="1" sz="1800">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lang="en-US" sz="1800" u="sng">
                <a:solidFill>
                  <a:schemeClr val="accent1"/>
                </a:solidFill>
                <a:latin typeface="Roboto"/>
                <a:ea typeface="Roboto"/>
                <a:cs typeface="Roboto"/>
                <a:sym typeface="Roboto"/>
                <a:hlinkClick r:id="rId4">
                  <a:extLst>
                    <a:ext uri="{A12FA001-AC4F-418D-AE19-62706E023703}">
                      <ahyp:hlinkClr val="tx"/>
                    </a:ext>
                  </a:extLst>
                </a:hlinkClick>
              </a:rPr>
              <a:t>CDO Guide to Interview Prep</a:t>
            </a:r>
            <a:endParaRPr sz="1800">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lang="en-US" sz="1800" u="sng">
                <a:solidFill>
                  <a:schemeClr val="accent1"/>
                </a:solidFill>
                <a:latin typeface="Roboto"/>
                <a:ea typeface="Roboto"/>
                <a:cs typeface="Roboto"/>
                <a:sym typeface="Roboto"/>
                <a:hlinkClick r:id="rId5">
                  <a:extLst>
                    <a:ext uri="{A12FA001-AC4F-418D-AE19-62706E023703}">
                      <ahyp:hlinkClr val="tx"/>
                    </a:ext>
                  </a:extLst>
                </a:hlinkClick>
              </a:rPr>
              <a:t>Phone + Video Conference Interview Guide</a:t>
            </a:r>
            <a:endParaRPr sz="1800">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lang="en-US" sz="1800" u="sng">
                <a:solidFill>
                  <a:schemeClr val="accent1"/>
                </a:solidFill>
                <a:latin typeface="Roboto"/>
                <a:ea typeface="Roboto"/>
                <a:cs typeface="Roboto"/>
                <a:sym typeface="Roboto"/>
                <a:hlinkClick r:id="rId6">
                  <a:extLst>
                    <a:ext uri="{A12FA001-AC4F-418D-AE19-62706E023703}">
                      <ahyp:hlinkClr val="tx"/>
                    </a:ext>
                  </a:extLst>
                </a:hlinkClick>
              </a:rPr>
              <a:t>CDO Guide to Sample Networking &amp; Interview Questions</a:t>
            </a:r>
            <a:endParaRPr sz="1800">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lang="en-US" sz="1800" u="sng">
                <a:solidFill>
                  <a:schemeClr val="accent1"/>
                </a:solidFill>
                <a:latin typeface="Roboto"/>
                <a:ea typeface="Roboto"/>
                <a:cs typeface="Roboto"/>
                <a:sym typeface="Roboto"/>
                <a:hlinkClick r:id="rId7">
                  <a:extLst>
                    <a:ext uri="{A12FA001-AC4F-418D-AE19-62706E023703}">
                      <ahyp:hlinkClr val="tx"/>
                    </a:ext>
                  </a:extLst>
                </a:hlinkClick>
              </a:rPr>
              <a:t>CDO Interview History Bank</a:t>
            </a:r>
            <a:endParaRPr sz="1800" u="sng">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b="1" lang="en-US" sz="1800" u="sng">
                <a:solidFill>
                  <a:schemeClr val="accent1"/>
                </a:solidFill>
                <a:latin typeface="Roboto"/>
                <a:ea typeface="Roboto"/>
                <a:cs typeface="Roboto"/>
                <a:sym typeface="Roboto"/>
                <a:hlinkClick r:id="rId8">
                  <a:extLst>
                    <a:ext uri="{A12FA001-AC4F-418D-AE19-62706E023703}">
                      <ahyp:hlinkClr val="tx"/>
                    </a:ext>
                  </a:extLst>
                </a:hlinkClick>
              </a:rPr>
              <a:t>CDO Kraft Marketing Interview Guide</a:t>
            </a:r>
            <a:endParaRPr b="1" sz="1800" u="sng">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lang="en-US" sz="1800">
                <a:solidFill>
                  <a:schemeClr val="accent1"/>
                </a:solidFill>
                <a:latin typeface="Roboto"/>
                <a:ea typeface="Roboto"/>
                <a:cs typeface="Roboto"/>
                <a:sym typeface="Roboto"/>
              </a:rPr>
              <a:t>Lewis Lin’s books: </a:t>
            </a:r>
            <a:r>
              <a:rPr lang="en-US" sz="1800" u="sng">
                <a:solidFill>
                  <a:schemeClr val="accent1"/>
                </a:solidFill>
                <a:latin typeface="Roboto"/>
                <a:ea typeface="Roboto"/>
                <a:cs typeface="Roboto"/>
                <a:sym typeface="Roboto"/>
                <a:hlinkClick r:id="rId9">
                  <a:extLst>
                    <a:ext uri="{A12FA001-AC4F-418D-AE19-62706E023703}">
                      <ahyp:hlinkClr val="tx"/>
                    </a:ext>
                  </a:extLst>
                </a:hlinkClick>
              </a:rPr>
              <a:t>Rise Above the Noise</a:t>
            </a:r>
            <a:r>
              <a:rPr lang="en-US" sz="1800" u="sng">
                <a:solidFill>
                  <a:schemeClr val="accent1"/>
                </a:solidFill>
                <a:latin typeface="Roboto"/>
                <a:ea typeface="Roboto"/>
                <a:cs typeface="Roboto"/>
                <a:sym typeface="Roboto"/>
                <a:hlinkClick r:id="rId10">
                  <a:extLst>
                    <a:ext uri="{A12FA001-AC4F-418D-AE19-62706E023703}">
                      <ahyp:hlinkClr val="tx"/>
                    </a:ext>
                  </a:extLst>
                </a:hlinkClick>
              </a:rPr>
              <a:t> </a:t>
            </a:r>
            <a:r>
              <a:rPr lang="en-US" sz="1800">
                <a:solidFill>
                  <a:schemeClr val="accent1"/>
                </a:solidFill>
                <a:latin typeface="Roboto"/>
                <a:ea typeface="Roboto"/>
                <a:cs typeface="Roboto"/>
                <a:sym typeface="Roboto"/>
              </a:rPr>
              <a:t>and </a:t>
            </a:r>
            <a:r>
              <a:rPr lang="en-US" sz="1800" u="sng">
                <a:solidFill>
                  <a:schemeClr val="accent1"/>
                </a:solidFill>
                <a:latin typeface="Roboto"/>
                <a:ea typeface="Roboto"/>
                <a:cs typeface="Roboto"/>
                <a:sym typeface="Roboto"/>
                <a:hlinkClick r:id="rId11">
                  <a:extLst>
                    <a:ext uri="{A12FA001-AC4F-418D-AE19-62706E023703}">
                      <ahyp:hlinkClr val="tx"/>
                    </a:ext>
                  </a:extLst>
                </a:hlinkClick>
              </a:rPr>
              <a:t>The Marketing Interview</a:t>
            </a:r>
            <a:endParaRPr sz="1800" u="sng">
              <a:solidFill>
                <a:schemeClr val="accent1"/>
              </a:solidFill>
              <a:latin typeface="Roboto"/>
              <a:ea typeface="Roboto"/>
              <a:cs typeface="Roboto"/>
              <a:sym typeface="Roboto"/>
              <a:hlinkClick r:id="rId12">
                <a:extLst>
                  <a:ext uri="{A12FA001-AC4F-418D-AE19-62706E023703}">
                    <ahyp:hlinkClr val="tx"/>
                  </a:ext>
                </a:extLst>
              </a:hlinkClick>
            </a:endParaRPr>
          </a:p>
          <a:p>
            <a:pPr indent="-342900" lvl="0" marL="457200" marR="0" rtl="0" algn="l">
              <a:lnSpc>
                <a:spcPct val="100000"/>
              </a:lnSpc>
              <a:spcBef>
                <a:spcPts val="480"/>
              </a:spcBef>
              <a:spcAft>
                <a:spcPts val="0"/>
              </a:spcAft>
              <a:buClr>
                <a:schemeClr val="dk1"/>
              </a:buClr>
              <a:buSzPts val="1800"/>
              <a:buFont typeface="Roboto"/>
              <a:buChar char="▪"/>
            </a:pPr>
            <a:r>
              <a:rPr lang="en-US" sz="1800" u="sng">
                <a:solidFill>
                  <a:schemeClr val="accent1"/>
                </a:solidFill>
                <a:latin typeface="Roboto"/>
                <a:ea typeface="Roboto"/>
                <a:cs typeface="Roboto"/>
                <a:sym typeface="Roboto"/>
                <a:hlinkClick r:id="rId13">
                  <a:extLst>
                    <a:ext uri="{A12FA001-AC4F-418D-AE19-62706E023703}">
                      <ahyp:hlinkClr val="tx"/>
                    </a:ext>
                  </a:extLst>
                </a:hlinkClick>
              </a:rPr>
              <a:t>Columbia Market Sizing Overview</a:t>
            </a:r>
            <a:endParaRPr sz="1800" u="sng">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accent1"/>
              </a:buClr>
              <a:buSzPts val="1800"/>
              <a:buFont typeface="Roboto"/>
              <a:buChar char="▪"/>
            </a:pPr>
            <a:r>
              <a:rPr b="1" lang="en-US" sz="1800" u="sng">
                <a:solidFill>
                  <a:schemeClr val="hlink"/>
                </a:solidFill>
                <a:latin typeface="Roboto"/>
                <a:ea typeface="Roboto"/>
                <a:cs typeface="Roboto"/>
                <a:sym typeface="Roboto"/>
                <a:hlinkClick r:id="rId14"/>
              </a:rPr>
              <a:t>Mintel Database through Kresge</a:t>
            </a:r>
            <a:endParaRPr b="1" sz="1800" u="sng">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b="1" lang="en-US" sz="1800" u="sng">
                <a:solidFill>
                  <a:schemeClr val="hlink"/>
                </a:solidFill>
                <a:latin typeface="Roboto"/>
                <a:ea typeface="Roboto"/>
                <a:cs typeface="Roboto"/>
                <a:sym typeface="Roboto"/>
                <a:hlinkClick r:id="rId15"/>
              </a:rPr>
              <a:t>MMC Casing Guide</a:t>
            </a:r>
            <a:endParaRPr b="1" sz="1800">
              <a:solidFill>
                <a:schemeClr val="accent1"/>
              </a:solidFill>
              <a:latin typeface="Roboto"/>
              <a:ea typeface="Roboto"/>
              <a:cs typeface="Roboto"/>
              <a:sym typeface="Roboto"/>
            </a:endParaRPr>
          </a:p>
          <a:p>
            <a:pPr indent="-342900" lvl="0" marL="457200" marR="0" rtl="0" algn="l">
              <a:lnSpc>
                <a:spcPct val="100000"/>
              </a:lnSpc>
              <a:spcBef>
                <a:spcPts val="480"/>
              </a:spcBef>
              <a:spcAft>
                <a:spcPts val="0"/>
              </a:spcAft>
              <a:buClr>
                <a:schemeClr val="dk1"/>
              </a:buClr>
              <a:buSzPts val="1800"/>
              <a:buFont typeface="Roboto"/>
              <a:buChar char="▪"/>
            </a:pPr>
            <a:r>
              <a:rPr lang="en-US" sz="1800">
                <a:solidFill>
                  <a:schemeClr val="accent1"/>
                </a:solidFill>
                <a:latin typeface="Roboto"/>
                <a:ea typeface="Roboto"/>
                <a:cs typeface="Roboto"/>
                <a:sym typeface="Roboto"/>
              </a:rPr>
              <a:t>MMC MBA1 Interview Question Bank</a:t>
            </a:r>
            <a:endParaRPr sz="1800">
              <a:latin typeface="Roboto"/>
              <a:ea typeface="Roboto"/>
              <a:cs typeface="Roboto"/>
              <a:sym typeface="Roboto"/>
            </a:endParaRPr>
          </a:p>
        </p:txBody>
      </p:sp>
      <p:pic>
        <p:nvPicPr>
          <p:cNvPr id="553" name="Google Shape;553;p36"/>
          <p:cNvPicPr preferRelativeResize="0"/>
          <p:nvPr/>
        </p:nvPicPr>
        <p:blipFill rotWithShape="1">
          <a:blip r:embed="rId16">
            <a:alphaModFix/>
          </a:blip>
          <a:srcRect b="0" l="0" r="0" t="0"/>
          <a:stretch/>
        </p:blipFill>
        <p:spPr>
          <a:xfrm>
            <a:off x="1588" y="1588"/>
            <a:ext cx="1588" cy="1588"/>
          </a:xfrm>
          <a:prstGeom prst="rect">
            <a:avLst/>
          </a:prstGeom>
          <a:noFill/>
          <a:ln>
            <a:noFill/>
          </a:ln>
        </p:spPr>
      </p:pic>
      <p:sp>
        <p:nvSpPr>
          <p:cNvPr id="554" name="Google Shape;554;p36"/>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555" name="Google Shape;555;p36"/>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Resources</a:t>
            </a:r>
            <a:endParaRPr b="1" i="0" sz="3600" u="none" cap="none" strike="noStrike">
              <a:solidFill>
                <a:schemeClr val="accent1"/>
              </a:solidFill>
              <a:latin typeface="Roboto"/>
              <a:ea typeface="Roboto"/>
              <a:cs typeface="Roboto"/>
              <a:sym typeface="Roboto"/>
            </a:endParaRPr>
          </a:p>
        </p:txBody>
      </p:sp>
      <p:pic>
        <p:nvPicPr>
          <p:cNvPr descr="A person looking at the camera&#10;&#10;Description automatically generated" id="556" name="Google Shape;556;p36"/>
          <p:cNvPicPr preferRelativeResize="0"/>
          <p:nvPr/>
        </p:nvPicPr>
        <p:blipFill rotWithShape="1">
          <a:blip r:embed="rId17">
            <a:alphaModFix/>
          </a:blip>
          <a:srcRect b="0" l="0" r="0" t="0"/>
          <a:stretch/>
        </p:blipFill>
        <p:spPr>
          <a:xfrm>
            <a:off x="6563952" y="1774987"/>
            <a:ext cx="4777839" cy="2652888"/>
          </a:xfrm>
          <a:prstGeom prst="rect">
            <a:avLst/>
          </a:prstGeom>
          <a:noFill/>
          <a:ln>
            <a:noFill/>
          </a:ln>
          <a:effectLst>
            <a:outerShdw blurRad="50800" rotWithShape="0" algn="tl" dir="2700000" dist="38100">
              <a:srgbClr val="000000">
                <a:alpha val="40000"/>
              </a:srgbClr>
            </a:outerShdw>
          </a:effectLst>
        </p:spPr>
      </p:pic>
      <p:sp>
        <p:nvSpPr>
          <p:cNvPr id="557" name="Google Shape;557;p36"/>
          <p:cNvSpPr txBox="1"/>
          <p:nvPr/>
        </p:nvSpPr>
        <p:spPr>
          <a:xfrm>
            <a:off x="920900" y="5866629"/>
            <a:ext cx="10357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Roboto"/>
                <a:ea typeface="Roboto"/>
                <a:cs typeface="Roboto"/>
                <a:sym typeface="Roboto"/>
              </a:rPr>
              <a:t>Note: Viewing this PowerPoint in presentation mode or as a PDF will allow you to click on the embedded links above</a:t>
            </a:r>
            <a:endParaRPr b="0" i="1" sz="14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8"/>
          <p:cNvSpPr txBox="1"/>
          <p:nvPr>
            <p:ph idx="1" type="body"/>
          </p:nvPr>
        </p:nvSpPr>
        <p:spPr>
          <a:xfrm>
            <a:off x="920899" y="1610370"/>
            <a:ext cx="10357500" cy="4274700"/>
          </a:xfrm>
          <a:prstGeom prst="rect">
            <a:avLst/>
          </a:prstGeom>
          <a:noFill/>
          <a:ln>
            <a:noFill/>
          </a:ln>
        </p:spPr>
        <p:txBody>
          <a:bodyPr anchorCtr="0" anchor="t" bIns="45700" lIns="91425" spcFirstLastPara="1" rIns="91425" wrap="square" tIns="45700">
            <a:noAutofit/>
          </a:bodyPr>
          <a:lstStyle/>
          <a:p>
            <a:pPr indent="-381000" lvl="0" marL="457200" rtl="0" algn="l">
              <a:lnSpc>
                <a:spcPct val="150000"/>
              </a:lnSpc>
              <a:spcBef>
                <a:spcPts val="480"/>
              </a:spcBef>
              <a:spcAft>
                <a:spcPts val="0"/>
              </a:spcAft>
              <a:buClr>
                <a:srgbClr val="222222"/>
              </a:buClr>
              <a:buSzPts val="2400"/>
              <a:buFont typeface="Roboto"/>
              <a:buChar char="▪"/>
            </a:pPr>
            <a:r>
              <a:rPr b="1" lang="en-US">
                <a:solidFill>
                  <a:srgbClr val="222222"/>
                </a:solidFill>
                <a:latin typeface="Roboto"/>
                <a:ea typeface="Roboto"/>
                <a:cs typeface="Roboto"/>
                <a:sym typeface="Roboto"/>
              </a:rPr>
              <a:t>October 7th</a:t>
            </a:r>
            <a:r>
              <a:rPr lang="en-US">
                <a:solidFill>
                  <a:srgbClr val="222222"/>
                </a:solidFill>
                <a:latin typeface="Roboto"/>
                <a:ea typeface="Roboto"/>
                <a:cs typeface="Roboto"/>
                <a:sym typeface="Roboto"/>
              </a:rPr>
              <a:t>: Casing Workshop (4Ps) &amp; store-walks</a:t>
            </a:r>
            <a:endParaRPr>
              <a:solidFill>
                <a:srgbClr val="222222"/>
              </a:solidFill>
              <a:latin typeface="Roboto"/>
              <a:ea typeface="Roboto"/>
              <a:cs typeface="Roboto"/>
              <a:sym typeface="Roboto"/>
            </a:endParaRPr>
          </a:p>
          <a:p>
            <a:pPr indent="-342900" lvl="1" marL="914400" rtl="0" algn="l">
              <a:lnSpc>
                <a:spcPct val="150000"/>
              </a:lnSpc>
              <a:spcBef>
                <a:spcPts val="480"/>
              </a:spcBef>
              <a:spcAft>
                <a:spcPts val="0"/>
              </a:spcAft>
              <a:buClr>
                <a:srgbClr val="222222"/>
              </a:buClr>
              <a:buSzPts val="1800"/>
              <a:buFont typeface="Roboto"/>
              <a:buChar char="–"/>
            </a:pPr>
            <a:r>
              <a:rPr lang="en-US" sz="1800">
                <a:solidFill>
                  <a:srgbClr val="222222"/>
                </a:solidFill>
                <a:latin typeface="Roboto"/>
                <a:ea typeface="Roboto"/>
                <a:cs typeface="Roboto"/>
                <a:sym typeface="Roboto"/>
              </a:rPr>
              <a:t>Sign up on CampusGroups!</a:t>
            </a:r>
            <a:endParaRPr sz="1800">
              <a:solidFill>
                <a:srgbClr val="222222"/>
              </a:solidFill>
              <a:latin typeface="Roboto"/>
              <a:ea typeface="Roboto"/>
              <a:cs typeface="Roboto"/>
              <a:sym typeface="Roboto"/>
            </a:endParaRPr>
          </a:p>
          <a:p>
            <a:pPr indent="-381000" lvl="0" marL="457200" rtl="0" algn="l">
              <a:lnSpc>
                <a:spcPct val="150000"/>
              </a:lnSpc>
              <a:spcBef>
                <a:spcPts val="480"/>
              </a:spcBef>
              <a:spcAft>
                <a:spcPts val="0"/>
              </a:spcAft>
              <a:buClr>
                <a:srgbClr val="222222"/>
              </a:buClr>
              <a:buSzPts val="2400"/>
              <a:buFont typeface="Roboto"/>
              <a:buChar char="▪"/>
            </a:pPr>
            <a:r>
              <a:rPr b="1" lang="en-US">
                <a:solidFill>
                  <a:srgbClr val="222222"/>
                </a:solidFill>
                <a:latin typeface="Roboto"/>
                <a:ea typeface="Roboto"/>
                <a:cs typeface="Roboto"/>
                <a:sym typeface="Roboto"/>
              </a:rPr>
              <a:t>October 14th</a:t>
            </a:r>
            <a:r>
              <a:rPr lang="en-US">
                <a:solidFill>
                  <a:srgbClr val="222222"/>
                </a:solidFill>
                <a:latin typeface="Roboto"/>
                <a:ea typeface="Roboto"/>
                <a:cs typeface="Roboto"/>
                <a:sym typeface="Roboto"/>
              </a:rPr>
              <a:t>: NONE! Study for finals!</a:t>
            </a:r>
            <a:endParaRPr>
              <a:solidFill>
                <a:srgbClr val="222222"/>
              </a:solidFill>
              <a:latin typeface="Roboto"/>
              <a:ea typeface="Roboto"/>
              <a:cs typeface="Roboto"/>
              <a:sym typeface="Roboto"/>
            </a:endParaRPr>
          </a:p>
          <a:p>
            <a:pPr indent="-381000" lvl="0" marL="457200" rtl="0" algn="l">
              <a:lnSpc>
                <a:spcPct val="150000"/>
              </a:lnSpc>
              <a:spcBef>
                <a:spcPts val="480"/>
              </a:spcBef>
              <a:spcAft>
                <a:spcPts val="0"/>
              </a:spcAft>
              <a:buClr>
                <a:srgbClr val="222222"/>
              </a:buClr>
              <a:buSzPts val="2400"/>
              <a:buFont typeface="Roboto"/>
              <a:buChar char="▪"/>
            </a:pPr>
            <a:r>
              <a:rPr b="1" lang="en-US">
                <a:solidFill>
                  <a:srgbClr val="222222"/>
                </a:solidFill>
                <a:latin typeface="Roboto"/>
                <a:ea typeface="Roboto"/>
                <a:cs typeface="Roboto"/>
                <a:sym typeface="Roboto"/>
              </a:rPr>
              <a:t>October 21st</a:t>
            </a:r>
            <a:r>
              <a:rPr lang="en-US">
                <a:solidFill>
                  <a:srgbClr val="222222"/>
                </a:solidFill>
                <a:latin typeface="Roboto"/>
                <a:ea typeface="Roboto"/>
                <a:cs typeface="Roboto"/>
                <a:sym typeface="Roboto"/>
              </a:rPr>
              <a:t>: NONE! Enjoy fall break! </a:t>
            </a:r>
            <a:endParaRPr>
              <a:solidFill>
                <a:srgbClr val="222222"/>
              </a:solidFill>
              <a:latin typeface="Roboto"/>
              <a:ea typeface="Roboto"/>
              <a:cs typeface="Roboto"/>
              <a:sym typeface="Roboto"/>
            </a:endParaRPr>
          </a:p>
          <a:p>
            <a:pPr indent="-381000" lvl="0" marL="457200" rtl="0" algn="l">
              <a:lnSpc>
                <a:spcPct val="150000"/>
              </a:lnSpc>
              <a:spcBef>
                <a:spcPts val="480"/>
              </a:spcBef>
              <a:spcAft>
                <a:spcPts val="0"/>
              </a:spcAft>
              <a:buClr>
                <a:srgbClr val="222222"/>
              </a:buClr>
              <a:buSzPts val="2400"/>
              <a:buFont typeface="Roboto"/>
              <a:buChar char="▪"/>
            </a:pPr>
            <a:r>
              <a:rPr b="1" lang="en-US">
                <a:solidFill>
                  <a:srgbClr val="222222"/>
                </a:solidFill>
                <a:latin typeface="Roboto"/>
                <a:ea typeface="Roboto"/>
                <a:cs typeface="Roboto"/>
                <a:sym typeface="Roboto"/>
              </a:rPr>
              <a:t>October 28th:</a:t>
            </a:r>
            <a:r>
              <a:rPr lang="en-US">
                <a:solidFill>
                  <a:srgbClr val="222222"/>
                </a:solidFill>
                <a:latin typeface="Roboto"/>
                <a:ea typeface="Roboto"/>
                <a:cs typeface="Roboto"/>
                <a:sym typeface="Roboto"/>
              </a:rPr>
              <a:t> TOESS &amp; Market Sizing &amp; additional research</a:t>
            </a:r>
            <a:endParaRPr>
              <a:solidFill>
                <a:srgbClr val="222222"/>
              </a:solidFill>
              <a:latin typeface="Roboto"/>
              <a:ea typeface="Roboto"/>
              <a:cs typeface="Roboto"/>
              <a:sym typeface="Roboto"/>
            </a:endParaRPr>
          </a:p>
          <a:p>
            <a:pPr indent="-342900" lvl="1" marL="914400" rtl="0" algn="l">
              <a:lnSpc>
                <a:spcPct val="150000"/>
              </a:lnSpc>
              <a:spcBef>
                <a:spcPts val="480"/>
              </a:spcBef>
              <a:spcAft>
                <a:spcPts val="0"/>
              </a:spcAft>
              <a:buClr>
                <a:srgbClr val="222222"/>
              </a:buClr>
              <a:buSzPts val="1800"/>
              <a:buFont typeface="Roboto"/>
              <a:buChar char="–"/>
            </a:pPr>
            <a:r>
              <a:rPr lang="en-US" sz="1800">
                <a:solidFill>
                  <a:srgbClr val="222222"/>
                </a:solidFill>
                <a:latin typeface="Roboto"/>
                <a:ea typeface="Roboto"/>
                <a:cs typeface="Roboto"/>
                <a:sym typeface="Roboto"/>
              </a:rPr>
              <a:t>Let’s discuss!</a:t>
            </a:r>
            <a:endParaRPr sz="1800">
              <a:solidFill>
                <a:srgbClr val="222222"/>
              </a:solidFill>
              <a:latin typeface="Roboto"/>
              <a:ea typeface="Roboto"/>
              <a:cs typeface="Roboto"/>
              <a:sym typeface="Roboto"/>
            </a:endParaRPr>
          </a:p>
          <a:p>
            <a:pPr indent="-381000" lvl="0" marL="457200" rtl="0" algn="l">
              <a:lnSpc>
                <a:spcPct val="150000"/>
              </a:lnSpc>
              <a:spcBef>
                <a:spcPts val="480"/>
              </a:spcBef>
              <a:spcAft>
                <a:spcPts val="0"/>
              </a:spcAft>
              <a:buClr>
                <a:srgbClr val="222222"/>
              </a:buClr>
              <a:buSzPts val="2400"/>
              <a:buFont typeface="Roboto"/>
              <a:buChar char="▪"/>
            </a:pPr>
            <a:r>
              <a:rPr b="1" lang="en-US">
                <a:solidFill>
                  <a:srgbClr val="222222"/>
                </a:solidFill>
                <a:latin typeface="Roboto"/>
                <a:ea typeface="Roboto"/>
                <a:cs typeface="Roboto"/>
                <a:sym typeface="Roboto"/>
              </a:rPr>
              <a:t>November 5th: </a:t>
            </a:r>
            <a:r>
              <a:rPr lang="en-US">
                <a:solidFill>
                  <a:srgbClr val="222222"/>
                </a:solidFill>
                <a:latin typeface="Roboto"/>
                <a:ea typeface="Roboto"/>
                <a:cs typeface="Roboto"/>
                <a:sym typeface="Roboto"/>
              </a:rPr>
              <a:t>Symposium introduction</a:t>
            </a:r>
            <a:endParaRPr>
              <a:solidFill>
                <a:srgbClr val="222222"/>
              </a:solidFill>
              <a:latin typeface="Roboto"/>
              <a:ea typeface="Roboto"/>
              <a:cs typeface="Roboto"/>
              <a:sym typeface="Roboto"/>
            </a:endParaRPr>
          </a:p>
          <a:p>
            <a:pPr indent="-381000" lvl="0" marL="457200" rtl="0" algn="l">
              <a:lnSpc>
                <a:spcPct val="150000"/>
              </a:lnSpc>
              <a:spcBef>
                <a:spcPts val="480"/>
              </a:spcBef>
              <a:spcAft>
                <a:spcPts val="0"/>
              </a:spcAft>
              <a:buClr>
                <a:srgbClr val="222222"/>
              </a:buClr>
              <a:buSzPts val="2400"/>
              <a:buFont typeface="Roboto"/>
              <a:buChar char="▪"/>
            </a:pPr>
            <a:r>
              <a:rPr b="1" lang="en-US">
                <a:solidFill>
                  <a:srgbClr val="222222"/>
                </a:solidFill>
                <a:latin typeface="Roboto"/>
                <a:ea typeface="Roboto"/>
                <a:cs typeface="Roboto"/>
                <a:sym typeface="Roboto"/>
              </a:rPr>
              <a:t>November 12th</a:t>
            </a:r>
            <a:r>
              <a:rPr lang="en-US">
                <a:solidFill>
                  <a:srgbClr val="222222"/>
                </a:solidFill>
                <a:latin typeface="Roboto"/>
                <a:ea typeface="Roboto"/>
                <a:cs typeface="Roboto"/>
                <a:sym typeface="Roboto"/>
              </a:rPr>
              <a:t>: Preparing for Symposium</a:t>
            </a:r>
            <a:endParaRPr>
              <a:solidFill>
                <a:srgbClr val="222222"/>
              </a:solidFill>
              <a:latin typeface="Roboto"/>
              <a:ea typeface="Roboto"/>
              <a:cs typeface="Roboto"/>
              <a:sym typeface="Roboto"/>
            </a:endParaRPr>
          </a:p>
          <a:p>
            <a:pPr indent="0" lvl="0" marL="0" rtl="0" algn="ctr">
              <a:lnSpc>
                <a:spcPct val="150000"/>
              </a:lnSpc>
              <a:spcBef>
                <a:spcPts val="480"/>
              </a:spcBef>
              <a:spcAft>
                <a:spcPts val="0"/>
              </a:spcAft>
              <a:buSzPts val="2400"/>
              <a:buNone/>
            </a:pPr>
            <a:r>
              <a:rPr b="1" i="1" lang="en-US">
                <a:solidFill>
                  <a:srgbClr val="222222"/>
                </a:solidFill>
                <a:latin typeface="Roboto"/>
                <a:ea typeface="Roboto"/>
                <a:cs typeface="Roboto"/>
                <a:sym typeface="Roboto"/>
              </a:rPr>
              <a:t>November 16th-18th: Marketing Symposium</a:t>
            </a:r>
            <a:endParaRPr b="1" i="1">
              <a:solidFill>
                <a:srgbClr val="222222"/>
              </a:solidFill>
              <a:latin typeface="Roboto"/>
              <a:ea typeface="Roboto"/>
              <a:cs typeface="Roboto"/>
              <a:sym typeface="Roboto"/>
            </a:endParaRPr>
          </a:p>
        </p:txBody>
      </p:sp>
      <p:sp>
        <p:nvSpPr>
          <p:cNvPr id="564" name="Google Shape;564;p38"/>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65" name="Google Shape;565;p38"/>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Upcoming Friday Sessions</a:t>
            </a:r>
            <a:endParaRPr b="1" i="0" sz="3600" u="none" cap="none" strike="noStrike">
              <a:solidFill>
                <a:schemeClr val="accent1"/>
              </a:solidFill>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15fb597e686_0_4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571" name="Google Shape;571;g15fb597e686_0_41"/>
          <p:cNvSpPr/>
          <p:nvPr/>
        </p:nvSpPr>
        <p:spPr>
          <a:xfrm>
            <a:off x="0" y="0"/>
            <a:ext cx="12192000" cy="6201600"/>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a:solidFill>
                  <a:schemeClr val="lt1"/>
                </a:solidFill>
                <a:latin typeface="Roboto"/>
                <a:ea typeface="Roboto"/>
                <a:cs typeface="Roboto"/>
                <a:sym typeface="Roboto"/>
              </a:rPr>
              <a:t>What questions do you have?</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5" name="Shape 575"/>
        <p:cNvGrpSpPr/>
        <p:nvPr/>
      </p:nvGrpSpPr>
      <p:grpSpPr>
        <a:xfrm>
          <a:off x="0" y="0"/>
          <a:ext cx="0" cy="0"/>
          <a:chOff x="0" y="0"/>
          <a:chExt cx="0" cy="0"/>
        </a:xfrm>
      </p:grpSpPr>
      <p:sp>
        <p:nvSpPr>
          <p:cNvPr id="576" name="Google Shape;576;p39"/>
          <p:cNvSpPr txBox="1"/>
          <p:nvPr>
            <p:ph idx="12" type="sldNum"/>
          </p:nvPr>
        </p:nvSpPr>
        <p:spPr>
          <a:xfrm>
            <a:off x="3187909" y="6388887"/>
            <a:ext cx="5816183" cy="277768"/>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577" name="Google Shape;577;p39"/>
          <p:cNvSpPr/>
          <p:nvPr/>
        </p:nvSpPr>
        <p:spPr>
          <a:xfrm>
            <a:off x="0" y="0"/>
            <a:ext cx="12192000" cy="6201508"/>
          </a:xfrm>
          <a:prstGeom prst="rect">
            <a:avLst/>
          </a:prstGeom>
          <a:solidFill>
            <a:schemeClr val="accent1"/>
          </a:solidFill>
          <a:ln cap="flat" cmpd="sng" w="25400">
            <a:solidFill>
              <a:srgbClr val="001D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1" lang="en-US" sz="4000" u="none" cap="none" strike="noStrike">
                <a:solidFill>
                  <a:schemeClr val="lt1"/>
                </a:solidFill>
                <a:latin typeface="Roboto"/>
                <a:ea typeface="Roboto"/>
                <a:cs typeface="Roboto"/>
                <a:sym typeface="Roboto"/>
              </a:rPr>
              <a:t>Appendix</a:t>
            </a:r>
            <a:endParaRPr b="0" i="0" sz="4000" u="none" cap="none" strike="noStrike">
              <a:solidFill>
                <a:srgbClr val="000000"/>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1" name="Shape 581"/>
        <p:cNvGrpSpPr/>
        <p:nvPr/>
      </p:nvGrpSpPr>
      <p:grpSpPr>
        <a:xfrm>
          <a:off x="0" y="0"/>
          <a:ext cx="0" cy="0"/>
          <a:chOff x="0" y="0"/>
          <a:chExt cx="0" cy="0"/>
        </a:xfrm>
      </p:grpSpPr>
      <p:sp>
        <p:nvSpPr>
          <p:cNvPr id="582" name="Google Shape;582;p40"/>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pSp>
        <p:nvGrpSpPr>
          <p:cNvPr id="583" name="Google Shape;583;p40"/>
          <p:cNvGrpSpPr/>
          <p:nvPr/>
        </p:nvGrpSpPr>
        <p:grpSpPr>
          <a:xfrm>
            <a:off x="916857" y="1544562"/>
            <a:ext cx="10447591" cy="4370755"/>
            <a:chOff x="916857" y="1544562"/>
            <a:chExt cx="10447591" cy="4370755"/>
          </a:xfrm>
        </p:grpSpPr>
        <p:sp>
          <p:nvSpPr>
            <p:cNvPr id="584" name="Google Shape;584;p40"/>
            <p:cNvSpPr/>
            <p:nvPr/>
          </p:nvSpPr>
          <p:spPr>
            <a:xfrm>
              <a:off x="2988544" y="1544562"/>
              <a:ext cx="8375904" cy="815100"/>
            </a:xfrm>
            <a:prstGeom prst="rect">
              <a:avLst/>
            </a:prstGeom>
            <a:solidFill>
              <a:srgbClr val="CBE5F3">
                <a:alpha val="89019"/>
              </a:srgbClr>
            </a:solidFill>
            <a:ln cap="flat" cmpd="sng" w="25400">
              <a:solidFill>
                <a:srgbClr val="CBE5F3">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How should J&amp;J market organic baby powder?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How would you market a deodorant for pets under the Old Spice brand?</a:t>
              </a:r>
              <a:endParaRPr b="0" i="0" sz="1400" u="none" cap="none" strike="noStrike">
                <a:solidFill>
                  <a:srgbClr val="000000"/>
                </a:solidFill>
                <a:latin typeface="Roboto"/>
                <a:ea typeface="Roboto"/>
                <a:cs typeface="Roboto"/>
                <a:sym typeface="Roboto"/>
              </a:endParaRPr>
            </a:p>
          </p:txBody>
        </p:sp>
        <p:sp>
          <p:nvSpPr>
            <p:cNvPr id="585" name="Google Shape;585;p40"/>
            <p:cNvSpPr/>
            <p:nvPr/>
          </p:nvSpPr>
          <p:spPr>
            <a:xfrm>
              <a:off x="916857" y="1544562"/>
              <a:ext cx="2071800" cy="815100"/>
            </a:xfrm>
            <a:prstGeom prst="rect">
              <a:avLst/>
            </a:prstGeom>
            <a:solidFill>
              <a:schemeClr val="accent3"/>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New Product Launch</a:t>
              </a:r>
              <a:endParaRPr b="0" i="0" sz="1800" u="none" cap="none" strike="noStrike">
                <a:solidFill>
                  <a:schemeClr val="lt1"/>
                </a:solidFill>
                <a:latin typeface="Roboto"/>
                <a:ea typeface="Roboto"/>
                <a:cs typeface="Roboto"/>
                <a:sym typeface="Roboto"/>
              </a:endParaRPr>
            </a:p>
          </p:txBody>
        </p:sp>
        <p:sp>
          <p:nvSpPr>
            <p:cNvPr id="586" name="Google Shape;586;p40"/>
            <p:cNvSpPr/>
            <p:nvPr/>
          </p:nvSpPr>
          <p:spPr>
            <a:xfrm>
              <a:off x="2988544" y="2433476"/>
              <a:ext cx="8375904" cy="815100"/>
            </a:xfrm>
            <a:prstGeom prst="rect">
              <a:avLst/>
            </a:prstGeom>
            <a:solidFill>
              <a:srgbClr val="CADDEE">
                <a:alpha val="89019"/>
              </a:srgbClr>
            </a:solidFill>
            <a:ln cap="flat" cmpd="sng" w="25400">
              <a:solidFill>
                <a:srgbClr val="CADDEE">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You’re the brand manager of Hefty trash bags. Your sales have been flat the last three quarters, but your market share has dropped 5%. What do you do?</a:t>
              </a:r>
              <a:endParaRPr b="0" i="0" sz="1400" u="none" cap="none" strike="noStrike">
                <a:solidFill>
                  <a:srgbClr val="000000"/>
                </a:solidFill>
                <a:latin typeface="Roboto"/>
                <a:ea typeface="Roboto"/>
                <a:cs typeface="Roboto"/>
                <a:sym typeface="Roboto"/>
              </a:endParaRPr>
            </a:p>
          </p:txBody>
        </p:sp>
        <p:sp>
          <p:nvSpPr>
            <p:cNvPr id="587" name="Google Shape;587;p40"/>
            <p:cNvSpPr/>
            <p:nvPr/>
          </p:nvSpPr>
          <p:spPr>
            <a:xfrm>
              <a:off x="916857" y="2433476"/>
              <a:ext cx="2071800" cy="815100"/>
            </a:xfrm>
            <a:prstGeom prst="rect">
              <a:avLst/>
            </a:prstGeom>
            <a:solidFill>
              <a:srgbClr val="1BA0DE"/>
            </a:solidFill>
            <a:ln cap="flat" cmpd="sng" w="25400">
              <a:solidFill>
                <a:srgbClr val="1BA0D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Performance Analysis</a:t>
              </a:r>
              <a:endParaRPr b="0" i="0" sz="1800" u="none" cap="none" strike="noStrike">
                <a:solidFill>
                  <a:schemeClr val="lt1"/>
                </a:solidFill>
                <a:latin typeface="Roboto"/>
                <a:ea typeface="Roboto"/>
                <a:cs typeface="Roboto"/>
                <a:sym typeface="Roboto"/>
              </a:endParaRPr>
            </a:p>
          </p:txBody>
        </p:sp>
        <p:sp>
          <p:nvSpPr>
            <p:cNvPr id="588" name="Google Shape;588;p40"/>
            <p:cNvSpPr/>
            <p:nvPr/>
          </p:nvSpPr>
          <p:spPr>
            <a:xfrm>
              <a:off x="2988544" y="3322390"/>
              <a:ext cx="8375904" cy="815100"/>
            </a:xfrm>
            <a:prstGeom prst="rect">
              <a:avLst/>
            </a:prstGeom>
            <a:solidFill>
              <a:srgbClr val="C9D7EA">
                <a:alpha val="89019"/>
              </a:srgbClr>
            </a:solidFill>
            <a:ln cap="flat" cmpd="sng" w="25400">
              <a:solidFill>
                <a:srgbClr val="C9D7EA">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As the brand manager of Häagen-Dazs ice cream, should you be worried when P&amp;G launches a frozen, alcoholic sorbet?</a:t>
              </a:r>
              <a:endParaRPr b="0" i="0" sz="1400" u="none" cap="none" strike="noStrike">
                <a:solidFill>
                  <a:srgbClr val="000000"/>
                </a:solidFill>
                <a:latin typeface="Roboto"/>
                <a:ea typeface="Roboto"/>
                <a:cs typeface="Roboto"/>
                <a:sym typeface="Roboto"/>
              </a:endParaRPr>
            </a:p>
          </p:txBody>
        </p:sp>
        <p:sp>
          <p:nvSpPr>
            <p:cNvPr id="589" name="Google Shape;589;p40"/>
            <p:cNvSpPr/>
            <p:nvPr/>
          </p:nvSpPr>
          <p:spPr>
            <a:xfrm>
              <a:off x="916857" y="3322390"/>
              <a:ext cx="2071800" cy="815100"/>
            </a:xfrm>
            <a:prstGeom prst="rect">
              <a:avLst/>
            </a:prstGeom>
            <a:solidFill>
              <a:srgbClr val="1685CD"/>
            </a:solidFill>
            <a:ln cap="flat" cmpd="sng" w="25400">
              <a:solidFill>
                <a:srgbClr val="1685C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New Entrant</a:t>
              </a:r>
              <a:endParaRPr b="0" i="0" sz="1800" u="none" cap="none" strike="noStrike">
                <a:solidFill>
                  <a:schemeClr val="lt1"/>
                </a:solidFill>
                <a:latin typeface="Roboto"/>
                <a:ea typeface="Roboto"/>
                <a:cs typeface="Roboto"/>
                <a:sym typeface="Roboto"/>
              </a:endParaRPr>
            </a:p>
          </p:txBody>
        </p:sp>
        <p:sp>
          <p:nvSpPr>
            <p:cNvPr id="590" name="Google Shape;590;p40"/>
            <p:cNvSpPr/>
            <p:nvPr/>
          </p:nvSpPr>
          <p:spPr>
            <a:xfrm>
              <a:off x="2988544" y="4211304"/>
              <a:ext cx="8375904" cy="815100"/>
            </a:xfrm>
            <a:prstGeom prst="rect">
              <a:avLst/>
            </a:prstGeom>
            <a:solidFill>
              <a:srgbClr val="CAD2E5">
                <a:alpha val="89019"/>
              </a:srgbClr>
            </a:solidFill>
            <a:ln cap="flat" cmpd="sng" w="25400">
              <a:solidFill>
                <a:srgbClr val="CAD2E5">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How large is the US shampoo market?</a:t>
              </a:r>
              <a:endParaRPr b="0" i="0" sz="1400" u="none" cap="none" strike="noStrike">
                <a:solidFill>
                  <a:srgbClr val="000000"/>
                </a:solidFill>
                <a:latin typeface="Roboto"/>
                <a:ea typeface="Roboto"/>
                <a:cs typeface="Roboto"/>
                <a:sym typeface="Roboto"/>
              </a:endParaRPr>
            </a:p>
          </p:txBody>
        </p:sp>
        <p:sp>
          <p:nvSpPr>
            <p:cNvPr id="591" name="Google Shape;591;p40"/>
            <p:cNvSpPr/>
            <p:nvPr/>
          </p:nvSpPr>
          <p:spPr>
            <a:xfrm>
              <a:off x="916857" y="4211304"/>
              <a:ext cx="2071800" cy="815100"/>
            </a:xfrm>
            <a:prstGeom prst="rect">
              <a:avLst/>
            </a:prstGeom>
            <a:solidFill>
              <a:srgbClr val="116CBB"/>
            </a:solidFill>
            <a:ln cap="flat" cmpd="sng" w="25400">
              <a:solidFill>
                <a:srgbClr val="116C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Market Sizing</a:t>
              </a:r>
              <a:endParaRPr b="0" i="0" sz="1800" u="none" cap="none" strike="noStrike">
                <a:solidFill>
                  <a:schemeClr val="lt1"/>
                </a:solidFill>
                <a:latin typeface="Roboto"/>
                <a:ea typeface="Roboto"/>
                <a:cs typeface="Roboto"/>
                <a:sym typeface="Roboto"/>
              </a:endParaRPr>
            </a:p>
          </p:txBody>
        </p:sp>
        <p:sp>
          <p:nvSpPr>
            <p:cNvPr id="592" name="Google Shape;592;p40"/>
            <p:cNvSpPr/>
            <p:nvPr/>
          </p:nvSpPr>
          <p:spPr>
            <a:xfrm>
              <a:off x="2988544" y="5100217"/>
              <a:ext cx="8375904" cy="815100"/>
            </a:xfrm>
            <a:prstGeom prst="rect">
              <a:avLst/>
            </a:prstGeom>
            <a:solidFill>
              <a:srgbClr val="CACFDF">
                <a:alpha val="89019"/>
              </a:srgbClr>
            </a:solidFill>
            <a:ln cap="flat" cmpd="sng" w="25400">
              <a:solidFill>
                <a:srgbClr val="CACFDF">
                  <a:alpha val="89019"/>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What’s your favorite brand?</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Roboto"/>
                  <a:ea typeface="Roboto"/>
                  <a:cs typeface="Roboto"/>
                  <a:sym typeface="Roboto"/>
                </a:rPr>
                <a:t>What’s a great marketing campaign on TV right now?</a:t>
              </a:r>
              <a:endParaRPr b="0" i="0" sz="1600" u="none" cap="none" strike="noStrike">
                <a:solidFill>
                  <a:schemeClr val="dk1"/>
                </a:solidFill>
                <a:latin typeface="Roboto"/>
                <a:ea typeface="Roboto"/>
                <a:cs typeface="Roboto"/>
                <a:sym typeface="Roboto"/>
              </a:endParaRPr>
            </a:p>
          </p:txBody>
        </p:sp>
        <p:sp>
          <p:nvSpPr>
            <p:cNvPr id="593" name="Google Shape;593;p40"/>
            <p:cNvSpPr/>
            <p:nvPr/>
          </p:nvSpPr>
          <p:spPr>
            <a:xfrm>
              <a:off x="916857" y="5100217"/>
              <a:ext cx="2071800" cy="815100"/>
            </a:xfrm>
            <a:prstGeom prst="rect">
              <a:avLst/>
            </a:prstGeom>
            <a:solidFill>
              <a:srgbClr val="0D56A8"/>
            </a:solidFill>
            <a:ln cap="flat" cmpd="sng" w="25400">
              <a:solidFill>
                <a:srgbClr val="0D56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Marketing Analysis</a:t>
              </a:r>
              <a:endParaRPr b="0" i="0" sz="1800" u="none" cap="none" strike="noStrike">
                <a:solidFill>
                  <a:schemeClr val="lt1"/>
                </a:solidFill>
                <a:latin typeface="Roboto"/>
                <a:ea typeface="Roboto"/>
                <a:cs typeface="Roboto"/>
                <a:sym typeface="Roboto"/>
              </a:endParaRPr>
            </a:p>
          </p:txBody>
        </p:sp>
      </p:grpSp>
      <p:sp>
        <p:nvSpPr>
          <p:cNvPr id="594" name="Google Shape;594;p40"/>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Popular Case Themes</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8" name="Shape 598"/>
        <p:cNvGrpSpPr/>
        <p:nvPr/>
      </p:nvGrpSpPr>
      <p:grpSpPr>
        <a:xfrm>
          <a:off x="0" y="0"/>
          <a:ext cx="0" cy="0"/>
          <a:chOff x="0" y="0"/>
          <a:chExt cx="0" cy="0"/>
        </a:xfrm>
      </p:grpSpPr>
      <p:sp>
        <p:nvSpPr>
          <p:cNvPr id="599" name="Google Shape;599;p41"/>
          <p:cNvSpPr txBox="1"/>
          <p:nvPr>
            <p:ph idx="12" type="sldNum"/>
          </p:nvPr>
        </p:nvSpPr>
        <p:spPr>
          <a:xfrm>
            <a:off x="3187909" y="6388887"/>
            <a:ext cx="5816100" cy="277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pSp>
        <p:nvGrpSpPr>
          <p:cNvPr id="600" name="Google Shape;600;p41"/>
          <p:cNvGrpSpPr/>
          <p:nvPr/>
        </p:nvGrpSpPr>
        <p:grpSpPr>
          <a:xfrm>
            <a:off x="906917" y="1544562"/>
            <a:ext cx="10460550" cy="4380694"/>
            <a:chOff x="906917" y="1544562"/>
            <a:chExt cx="10460550" cy="4380694"/>
          </a:xfrm>
        </p:grpSpPr>
        <p:sp>
          <p:nvSpPr>
            <p:cNvPr id="601" name="Google Shape;601;p41"/>
            <p:cNvSpPr/>
            <p:nvPr/>
          </p:nvSpPr>
          <p:spPr>
            <a:xfrm>
              <a:off x="2653375" y="1544562"/>
              <a:ext cx="2377440" cy="815100"/>
            </a:xfrm>
            <a:prstGeom prst="chevron">
              <a:avLst>
                <a:gd fmla="val 50000" name="adj"/>
              </a:avLst>
            </a:prstGeom>
            <a:solidFill>
              <a:srgbClr val="CBE5F3">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C’s: understand the opportunity</a:t>
              </a:r>
              <a:endParaRPr b="0" i="0" sz="1400" u="none" cap="none" strike="noStrike">
                <a:solidFill>
                  <a:srgbClr val="000000"/>
                </a:solidFill>
                <a:latin typeface="Roboto"/>
                <a:ea typeface="Roboto"/>
                <a:cs typeface="Roboto"/>
                <a:sym typeface="Roboto"/>
              </a:endParaRPr>
            </a:p>
          </p:txBody>
        </p:sp>
        <p:sp>
          <p:nvSpPr>
            <p:cNvPr id="602" name="Google Shape;602;p41"/>
            <p:cNvSpPr/>
            <p:nvPr/>
          </p:nvSpPr>
          <p:spPr>
            <a:xfrm>
              <a:off x="906917" y="1544562"/>
              <a:ext cx="2011680" cy="815100"/>
            </a:xfrm>
            <a:prstGeom prst="homePlat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New Product Launch</a:t>
              </a:r>
              <a:endParaRPr b="0" i="0" sz="1800" u="none" cap="none" strike="noStrike">
                <a:solidFill>
                  <a:schemeClr val="lt1"/>
                </a:solidFill>
                <a:latin typeface="Roboto"/>
                <a:ea typeface="Roboto"/>
                <a:cs typeface="Roboto"/>
                <a:sym typeface="Roboto"/>
              </a:endParaRPr>
            </a:p>
          </p:txBody>
        </p:sp>
        <p:sp>
          <p:nvSpPr>
            <p:cNvPr id="603" name="Google Shape;603;p41"/>
            <p:cNvSpPr/>
            <p:nvPr/>
          </p:nvSpPr>
          <p:spPr>
            <a:xfrm>
              <a:off x="2653375" y="5110156"/>
              <a:ext cx="2377440" cy="815100"/>
            </a:xfrm>
            <a:prstGeom prst="chevron">
              <a:avLst>
                <a:gd fmla="val 50000" name="adj"/>
              </a:avLst>
            </a:prstGeom>
            <a:solidFill>
              <a:srgbClr val="CACFDF">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C’s: why brand is marketed well</a:t>
              </a:r>
              <a:endParaRPr b="0" i="0" sz="1400" u="none" cap="none" strike="noStrike">
                <a:solidFill>
                  <a:srgbClr val="000000"/>
                </a:solidFill>
                <a:latin typeface="Roboto"/>
                <a:ea typeface="Roboto"/>
                <a:cs typeface="Roboto"/>
                <a:sym typeface="Roboto"/>
              </a:endParaRPr>
            </a:p>
          </p:txBody>
        </p:sp>
        <p:sp>
          <p:nvSpPr>
            <p:cNvPr id="604" name="Google Shape;604;p41"/>
            <p:cNvSpPr/>
            <p:nvPr/>
          </p:nvSpPr>
          <p:spPr>
            <a:xfrm>
              <a:off x="906917" y="5110156"/>
              <a:ext cx="2011680" cy="815100"/>
            </a:xfrm>
            <a:prstGeom prst="homePlate">
              <a:avLst>
                <a:gd fmla="val 50000" name="adj"/>
              </a:avLst>
            </a:prstGeom>
            <a:solidFill>
              <a:srgbClr val="0D56A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Marketing Analysis</a:t>
              </a:r>
              <a:endParaRPr b="0" i="0" sz="1800" u="none" cap="none" strike="noStrike">
                <a:solidFill>
                  <a:schemeClr val="lt1"/>
                </a:solidFill>
                <a:latin typeface="Roboto"/>
                <a:ea typeface="Roboto"/>
                <a:cs typeface="Roboto"/>
                <a:sym typeface="Roboto"/>
              </a:endParaRPr>
            </a:p>
          </p:txBody>
        </p:sp>
        <p:sp>
          <p:nvSpPr>
            <p:cNvPr id="605" name="Google Shape;605;p41"/>
            <p:cNvSpPr/>
            <p:nvPr/>
          </p:nvSpPr>
          <p:spPr>
            <a:xfrm>
              <a:off x="2653375" y="4220466"/>
              <a:ext cx="2377440" cy="815100"/>
            </a:xfrm>
            <a:prstGeom prst="chevron">
              <a:avLst>
                <a:gd fmla="val 50000" name="adj"/>
              </a:avLst>
            </a:prstGeom>
            <a:solidFill>
              <a:srgbClr val="CAD2E5">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Breakdown the problem into data points</a:t>
              </a:r>
              <a:endParaRPr b="0" i="0" sz="1400" u="none" cap="none" strike="noStrike">
                <a:solidFill>
                  <a:srgbClr val="000000"/>
                </a:solidFill>
                <a:latin typeface="Roboto"/>
                <a:ea typeface="Roboto"/>
                <a:cs typeface="Roboto"/>
                <a:sym typeface="Roboto"/>
              </a:endParaRPr>
            </a:p>
          </p:txBody>
        </p:sp>
        <p:sp>
          <p:nvSpPr>
            <p:cNvPr id="606" name="Google Shape;606;p41"/>
            <p:cNvSpPr/>
            <p:nvPr/>
          </p:nvSpPr>
          <p:spPr>
            <a:xfrm>
              <a:off x="906917" y="4220466"/>
              <a:ext cx="2011680" cy="815100"/>
            </a:xfrm>
            <a:prstGeom prst="homePlate">
              <a:avLst>
                <a:gd fmla="val 50000" name="adj"/>
              </a:avLst>
            </a:prstGeom>
            <a:solidFill>
              <a:srgbClr val="116CB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Market Sizing</a:t>
              </a:r>
              <a:endParaRPr b="0" i="0" sz="1800" u="none" cap="none" strike="noStrike">
                <a:solidFill>
                  <a:schemeClr val="lt1"/>
                </a:solidFill>
                <a:latin typeface="Roboto"/>
                <a:ea typeface="Roboto"/>
                <a:cs typeface="Roboto"/>
                <a:sym typeface="Roboto"/>
              </a:endParaRPr>
            </a:p>
          </p:txBody>
        </p:sp>
        <p:sp>
          <p:nvSpPr>
            <p:cNvPr id="607" name="Google Shape;607;p41"/>
            <p:cNvSpPr/>
            <p:nvPr/>
          </p:nvSpPr>
          <p:spPr>
            <a:xfrm>
              <a:off x="4765592" y="4220466"/>
              <a:ext cx="2377440" cy="815100"/>
            </a:xfrm>
            <a:prstGeom prst="chevron">
              <a:avLst>
                <a:gd fmla="val 50000" name="adj"/>
              </a:avLst>
            </a:prstGeom>
            <a:solidFill>
              <a:srgbClr val="CAD2E5">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Make assumptions and validate with interviewer</a:t>
              </a:r>
              <a:endParaRPr b="0" i="0" sz="1400" u="none" cap="none" strike="noStrike">
                <a:solidFill>
                  <a:srgbClr val="000000"/>
                </a:solidFill>
                <a:latin typeface="Roboto"/>
                <a:ea typeface="Roboto"/>
                <a:cs typeface="Roboto"/>
                <a:sym typeface="Roboto"/>
              </a:endParaRPr>
            </a:p>
          </p:txBody>
        </p:sp>
        <p:sp>
          <p:nvSpPr>
            <p:cNvPr id="608" name="Google Shape;608;p41"/>
            <p:cNvSpPr/>
            <p:nvPr/>
          </p:nvSpPr>
          <p:spPr>
            <a:xfrm>
              <a:off x="6877810" y="4220466"/>
              <a:ext cx="2377440" cy="815100"/>
            </a:xfrm>
            <a:prstGeom prst="chevron">
              <a:avLst>
                <a:gd fmla="val 50000" name="adj"/>
              </a:avLst>
            </a:prstGeom>
            <a:solidFill>
              <a:srgbClr val="CAD2E5">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Round numbers and do math</a:t>
              </a:r>
              <a:endParaRPr b="0" i="0" sz="1400" u="none" cap="none" strike="noStrike">
                <a:solidFill>
                  <a:srgbClr val="000000"/>
                </a:solidFill>
                <a:latin typeface="Roboto"/>
                <a:ea typeface="Roboto"/>
                <a:cs typeface="Roboto"/>
                <a:sym typeface="Roboto"/>
              </a:endParaRPr>
            </a:p>
          </p:txBody>
        </p:sp>
        <p:sp>
          <p:nvSpPr>
            <p:cNvPr id="609" name="Google Shape;609;p41"/>
            <p:cNvSpPr/>
            <p:nvPr/>
          </p:nvSpPr>
          <p:spPr>
            <a:xfrm>
              <a:off x="8990027" y="4220466"/>
              <a:ext cx="2377440" cy="815100"/>
            </a:xfrm>
            <a:prstGeom prst="chevron">
              <a:avLst>
                <a:gd fmla="val 50000" name="adj"/>
              </a:avLst>
            </a:prstGeom>
            <a:solidFill>
              <a:srgbClr val="CAD2E5">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Gut-check, adjust as necessary</a:t>
              </a:r>
              <a:endParaRPr b="0" i="0" sz="1400" u="none" cap="none" strike="noStrike">
                <a:solidFill>
                  <a:srgbClr val="000000"/>
                </a:solidFill>
                <a:latin typeface="Roboto"/>
                <a:ea typeface="Roboto"/>
                <a:cs typeface="Roboto"/>
                <a:sym typeface="Roboto"/>
              </a:endParaRPr>
            </a:p>
          </p:txBody>
        </p:sp>
        <p:sp>
          <p:nvSpPr>
            <p:cNvPr id="610" name="Google Shape;610;p41"/>
            <p:cNvSpPr/>
            <p:nvPr/>
          </p:nvSpPr>
          <p:spPr>
            <a:xfrm>
              <a:off x="2653375" y="2434253"/>
              <a:ext cx="2377440" cy="815100"/>
            </a:xfrm>
            <a:prstGeom prst="chevron">
              <a:avLst>
                <a:gd fmla="val 50000" name="adj"/>
              </a:avLst>
            </a:prstGeom>
            <a:solidFill>
              <a:srgbClr val="CADDEE">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Clarify the prompt</a:t>
              </a:r>
              <a:endParaRPr b="0" i="0" sz="1400" u="none" cap="none" strike="noStrike">
                <a:solidFill>
                  <a:srgbClr val="000000"/>
                </a:solidFill>
                <a:latin typeface="Roboto"/>
                <a:ea typeface="Roboto"/>
                <a:cs typeface="Roboto"/>
                <a:sym typeface="Roboto"/>
              </a:endParaRPr>
            </a:p>
          </p:txBody>
        </p:sp>
        <p:sp>
          <p:nvSpPr>
            <p:cNvPr id="611" name="Google Shape;611;p41"/>
            <p:cNvSpPr/>
            <p:nvPr/>
          </p:nvSpPr>
          <p:spPr>
            <a:xfrm>
              <a:off x="906917" y="2441084"/>
              <a:ext cx="2011680" cy="815100"/>
            </a:xfrm>
            <a:prstGeom prst="homePlate">
              <a:avLst>
                <a:gd fmla="val 50000" name="adj"/>
              </a:avLst>
            </a:prstGeom>
            <a:solidFill>
              <a:srgbClr val="1BA0D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Performance Analysis</a:t>
              </a:r>
              <a:endParaRPr b="0" i="0" sz="1800" u="none" cap="none" strike="noStrike">
                <a:solidFill>
                  <a:schemeClr val="lt1"/>
                </a:solidFill>
                <a:latin typeface="Roboto"/>
                <a:ea typeface="Roboto"/>
                <a:cs typeface="Roboto"/>
                <a:sym typeface="Roboto"/>
              </a:endParaRPr>
            </a:p>
          </p:txBody>
        </p:sp>
        <p:sp>
          <p:nvSpPr>
            <p:cNvPr id="612" name="Google Shape;612;p41"/>
            <p:cNvSpPr/>
            <p:nvPr/>
          </p:nvSpPr>
          <p:spPr>
            <a:xfrm>
              <a:off x="4765592" y="2434253"/>
              <a:ext cx="2377440" cy="815100"/>
            </a:xfrm>
            <a:prstGeom prst="chevron">
              <a:avLst>
                <a:gd fmla="val 50000" name="adj"/>
              </a:avLst>
            </a:prstGeom>
            <a:solidFill>
              <a:srgbClr val="CEDF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Breakdown the problem into data points</a:t>
              </a:r>
              <a:endParaRPr b="0" i="0" sz="1400" u="none" cap="none" strike="noStrike">
                <a:solidFill>
                  <a:srgbClr val="000000"/>
                </a:solidFill>
                <a:latin typeface="Roboto"/>
                <a:ea typeface="Roboto"/>
                <a:cs typeface="Roboto"/>
                <a:sym typeface="Roboto"/>
              </a:endParaRPr>
            </a:p>
          </p:txBody>
        </p:sp>
        <p:sp>
          <p:nvSpPr>
            <p:cNvPr id="613" name="Google Shape;613;p41"/>
            <p:cNvSpPr/>
            <p:nvPr/>
          </p:nvSpPr>
          <p:spPr>
            <a:xfrm>
              <a:off x="6877810" y="2434253"/>
              <a:ext cx="2377440" cy="815100"/>
            </a:xfrm>
            <a:prstGeom prst="chevron">
              <a:avLst>
                <a:gd fmla="val 50000" name="adj"/>
              </a:avLst>
            </a:prstGeom>
            <a:solidFill>
              <a:srgbClr val="CEDF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Identify root cause</a:t>
              </a:r>
              <a:endParaRPr b="0" i="0" sz="1400" u="none" cap="none" strike="noStrike">
                <a:solidFill>
                  <a:srgbClr val="000000"/>
                </a:solidFill>
                <a:latin typeface="Roboto"/>
                <a:ea typeface="Roboto"/>
                <a:cs typeface="Roboto"/>
                <a:sym typeface="Roboto"/>
              </a:endParaRPr>
            </a:p>
          </p:txBody>
        </p:sp>
        <p:sp>
          <p:nvSpPr>
            <p:cNvPr id="614" name="Google Shape;614;p41"/>
            <p:cNvSpPr/>
            <p:nvPr/>
          </p:nvSpPr>
          <p:spPr>
            <a:xfrm>
              <a:off x="8990027" y="2434253"/>
              <a:ext cx="2377440" cy="815100"/>
            </a:xfrm>
            <a:prstGeom prst="chevron">
              <a:avLst>
                <a:gd fmla="val 50000" name="adj"/>
              </a:avLst>
            </a:prstGeom>
            <a:solidFill>
              <a:srgbClr val="CEDFE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P’s: develop a response</a:t>
              </a:r>
              <a:endParaRPr b="0" i="0" sz="1400" u="none" cap="none" strike="noStrike">
                <a:solidFill>
                  <a:srgbClr val="000000"/>
                </a:solidFill>
                <a:latin typeface="Roboto"/>
                <a:ea typeface="Roboto"/>
                <a:cs typeface="Roboto"/>
                <a:sym typeface="Roboto"/>
              </a:endParaRPr>
            </a:p>
          </p:txBody>
        </p:sp>
        <p:sp>
          <p:nvSpPr>
            <p:cNvPr id="615" name="Google Shape;615;p41"/>
            <p:cNvSpPr/>
            <p:nvPr/>
          </p:nvSpPr>
          <p:spPr>
            <a:xfrm>
              <a:off x="2653375" y="3330775"/>
              <a:ext cx="2377440" cy="815100"/>
            </a:xfrm>
            <a:prstGeom prst="chevron">
              <a:avLst>
                <a:gd fmla="val 50000" name="adj"/>
              </a:avLst>
            </a:prstGeom>
            <a:solidFill>
              <a:srgbClr val="C9D7EA">
                <a:alpha val="89019"/>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C’s: assess the threat</a:t>
              </a:r>
              <a:endParaRPr b="0" i="0" sz="1400" u="none" cap="none" strike="noStrike">
                <a:solidFill>
                  <a:srgbClr val="000000"/>
                </a:solidFill>
                <a:latin typeface="Roboto"/>
                <a:ea typeface="Roboto"/>
                <a:cs typeface="Roboto"/>
                <a:sym typeface="Roboto"/>
              </a:endParaRPr>
            </a:p>
          </p:txBody>
        </p:sp>
        <p:sp>
          <p:nvSpPr>
            <p:cNvPr id="616" name="Google Shape;616;p41"/>
            <p:cNvSpPr/>
            <p:nvPr/>
          </p:nvSpPr>
          <p:spPr>
            <a:xfrm>
              <a:off x="906917" y="3330775"/>
              <a:ext cx="2011680" cy="815100"/>
            </a:xfrm>
            <a:prstGeom prst="homePlate">
              <a:avLst>
                <a:gd fmla="val 50000" name="adj"/>
              </a:avLst>
            </a:prstGeom>
            <a:solidFill>
              <a:srgbClr val="1685C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New Entrant</a:t>
              </a:r>
              <a:endParaRPr b="0" i="0" sz="1800" u="none" cap="none" strike="noStrike">
                <a:solidFill>
                  <a:schemeClr val="lt1"/>
                </a:solidFill>
                <a:latin typeface="Roboto"/>
                <a:ea typeface="Roboto"/>
                <a:cs typeface="Roboto"/>
                <a:sym typeface="Roboto"/>
              </a:endParaRPr>
            </a:p>
          </p:txBody>
        </p:sp>
        <p:sp>
          <p:nvSpPr>
            <p:cNvPr id="617" name="Google Shape;617;p41"/>
            <p:cNvSpPr/>
            <p:nvPr/>
          </p:nvSpPr>
          <p:spPr>
            <a:xfrm>
              <a:off x="4765592" y="3330775"/>
              <a:ext cx="2377440" cy="815100"/>
            </a:xfrm>
            <a:prstGeom prst="chevron">
              <a:avLst>
                <a:gd fmla="val 50000" name="adj"/>
              </a:avLst>
            </a:prstGeom>
            <a:solidFill>
              <a:srgbClr val="CEDAE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If a threat, use P’s to plan response</a:t>
              </a:r>
              <a:endParaRPr b="0" i="0" sz="1400" u="none" cap="none" strike="noStrike">
                <a:solidFill>
                  <a:srgbClr val="000000"/>
                </a:solidFill>
                <a:latin typeface="Roboto"/>
                <a:ea typeface="Roboto"/>
                <a:cs typeface="Roboto"/>
                <a:sym typeface="Roboto"/>
              </a:endParaRPr>
            </a:p>
          </p:txBody>
        </p:sp>
        <p:sp>
          <p:nvSpPr>
            <p:cNvPr id="618" name="Google Shape;618;p41"/>
            <p:cNvSpPr/>
            <p:nvPr/>
          </p:nvSpPr>
          <p:spPr>
            <a:xfrm>
              <a:off x="6877810" y="3330775"/>
              <a:ext cx="2377440" cy="815100"/>
            </a:xfrm>
            <a:prstGeom prst="chevron">
              <a:avLst>
                <a:gd fmla="val 50000" name="adj"/>
              </a:avLst>
            </a:prstGeom>
            <a:solidFill>
              <a:srgbClr val="CEDAE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If not a threat, C’s to identify data to monitor</a:t>
              </a:r>
              <a:endParaRPr b="0" i="0" sz="1400" u="none" cap="none" strike="noStrike">
                <a:solidFill>
                  <a:srgbClr val="000000"/>
                </a:solidFill>
                <a:latin typeface="Roboto"/>
                <a:ea typeface="Roboto"/>
                <a:cs typeface="Roboto"/>
                <a:sym typeface="Roboto"/>
              </a:endParaRPr>
            </a:p>
          </p:txBody>
        </p:sp>
        <p:sp>
          <p:nvSpPr>
            <p:cNvPr id="619" name="Google Shape;619;p41"/>
            <p:cNvSpPr/>
            <p:nvPr/>
          </p:nvSpPr>
          <p:spPr>
            <a:xfrm>
              <a:off x="4765592" y="5110156"/>
              <a:ext cx="2377440" cy="815100"/>
            </a:xfrm>
            <a:prstGeom prst="chevron">
              <a:avLst>
                <a:gd fmla="val 50000" name="adj"/>
              </a:avLst>
            </a:prstGeom>
            <a:solidFill>
              <a:srgbClr val="CED3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P’s: demonstrate successful campaign</a:t>
              </a:r>
              <a:endParaRPr b="0" i="0" sz="1400" u="none" cap="none" strike="noStrike">
                <a:solidFill>
                  <a:srgbClr val="000000"/>
                </a:solidFill>
                <a:latin typeface="Roboto"/>
                <a:ea typeface="Roboto"/>
                <a:cs typeface="Roboto"/>
                <a:sym typeface="Roboto"/>
              </a:endParaRPr>
            </a:p>
          </p:txBody>
        </p:sp>
        <p:sp>
          <p:nvSpPr>
            <p:cNvPr id="620" name="Google Shape;620;p41"/>
            <p:cNvSpPr/>
            <p:nvPr/>
          </p:nvSpPr>
          <p:spPr>
            <a:xfrm>
              <a:off x="6877810" y="5110156"/>
              <a:ext cx="2377440" cy="815100"/>
            </a:xfrm>
            <a:prstGeom prst="chevron">
              <a:avLst>
                <a:gd fmla="val 50000" name="adj"/>
              </a:avLst>
            </a:prstGeom>
            <a:solidFill>
              <a:srgbClr val="CED3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TOESS: evaluate ad campaign</a:t>
              </a:r>
              <a:endParaRPr b="0" i="0" sz="1400" u="none" cap="none" strike="noStrike">
                <a:solidFill>
                  <a:srgbClr val="000000"/>
                </a:solidFill>
                <a:latin typeface="Roboto"/>
                <a:ea typeface="Roboto"/>
                <a:cs typeface="Roboto"/>
                <a:sym typeface="Roboto"/>
              </a:endParaRPr>
            </a:p>
          </p:txBody>
        </p:sp>
        <p:sp>
          <p:nvSpPr>
            <p:cNvPr id="621" name="Google Shape;621;p41"/>
            <p:cNvSpPr/>
            <p:nvPr/>
          </p:nvSpPr>
          <p:spPr>
            <a:xfrm>
              <a:off x="4765592" y="1544562"/>
              <a:ext cx="2377440" cy="815100"/>
            </a:xfrm>
            <a:prstGeom prst="chevron">
              <a:avLst>
                <a:gd fmla="val 50000" name="adj"/>
              </a:avLst>
            </a:prstGeom>
            <a:solidFill>
              <a:srgbClr val="CFE7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Roboto"/>
                  <a:ea typeface="Roboto"/>
                  <a:cs typeface="Roboto"/>
                  <a:sym typeface="Roboto"/>
                </a:rPr>
                <a:t>P’s: develop a marketing plan</a:t>
              </a:r>
              <a:endParaRPr b="0" i="0" sz="1400" u="none" cap="none" strike="noStrike">
                <a:solidFill>
                  <a:srgbClr val="000000"/>
                </a:solidFill>
                <a:latin typeface="Roboto"/>
                <a:ea typeface="Roboto"/>
                <a:cs typeface="Roboto"/>
                <a:sym typeface="Roboto"/>
              </a:endParaRPr>
            </a:p>
          </p:txBody>
        </p:sp>
      </p:grpSp>
      <p:sp>
        <p:nvSpPr>
          <p:cNvPr id="622" name="Google Shape;622;p41"/>
          <p:cNvSpPr txBox="1"/>
          <p:nvPr/>
        </p:nvSpPr>
        <p:spPr>
          <a:xfrm>
            <a:off x="920900" y="544525"/>
            <a:ext cx="10357500" cy="725700"/>
          </a:xfrm>
          <a:prstGeom prst="rect">
            <a:avLst/>
          </a:prstGeom>
          <a:noFill/>
          <a:ln>
            <a:noFill/>
          </a:ln>
        </p:spPr>
        <p:txBody>
          <a:bodyPr anchorCtr="0" anchor="b" bIns="45700" lIns="91425" spcFirstLastPara="1" rIns="91425" wrap="square" tIns="45700">
            <a:noAutofit/>
          </a:bodyPr>
          <a:lstStyle/>
          <a:p>
            <a:pPr indent="0" lvl="0" marL="0" marR="0" rtl="0" algn="l">
              <a:lnSpc>
                <a:spcPct val="80000"/>
              </a:lnSpc>
              <a:spcBef>
                <a:spcPts val="0"/>
              </a:spcBef>
              <a:spcAft>
                <a:spcPts val="0"/>
              </a:spcAft>
              <a:buClr>
                <a:srgbClr val="000000"/>
              </a:buClr>
              <a:buSzPts val="3600"/>
              <a:buFont typeface="Arial"/>
              <a:buNone/>
            </a:pPr>
            <a:r>
              <a:rPr b="1" i="0" lang="en-US" sz="3600" u="none" cap="none" strike="noStrike">
                <a:solidFill>
                  <a:schemeClr val="accent1"/>
                </a:solidFill>
                <a:latin typeface="Roboto"/>
                <a:ea typeface="Roboto"/>
                <a:cs typeface="Roboto"/>
                <a:sym typeface="Roboto"/>
              </a:rPr>
              <a:t>Application of the frameworks can vary</a:t>
            </a:r>
            <a:endParaRPr b="1" i="0" sz="3600" u="none" cap="none" strike="noStrike">
              <a:solidFill>
                <a:schemeClr val="accen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Ross Theme">
  <a:themeElements>
    <a:clrScheme name="Custom 17">
      <a:dk1>
        <a:srgbClr val="464646"/>
      </a:dk1>
      <a:lt1>
        <a:srgbClr val="FFFFFF"/>
      </a:lt1>
      <a:dk2>
        <a:srgbClr val="505050"/>
      </a:dk2>
      <a:lt2>
        <a:srgbClr val="EEECE1"/>
      </a:lt2>
      <a:accent1>
        <a:srgbClr val="002856"/>
      </a:accent1>
      <a:accent2>
        <a:srgbClr val="FFCB05"/>
      </a:accent2>
      <a:accent3>
        <a:srgbClr val="2FB6E3"/>
      </a:accent3>
      <a:accent4>
        <a:srgbClr val="0D57AA"/>
      </a:accent4>
      <a:accent5>
        <a:srgbClr val="DE642D"/>
      </a:accent5>
      <a:accent6>
        <a:srgbClr val="ECBC09"/>
      </a:accent6>
      <a:hlink>
        <a:srgbClr val="142F56"/>
      </a:hlink>
      <a:folHlink>
        <a:srgbClr val="3232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oss Theme">
  <a:themeElements>
    <a:clrScheme name="Custom 17">
      <a:dk1>
        <a:srgbClr val="464646"/>
      </a:dk1>
      <a:lt1>
        <a:srgbClr val="FFFFFF"/>
      </a:lt1>
      <a:dk2>
        <a:srgbClr val="505050"/>
      </a:dk2>
      <a:lt2>
        <a:srgbClr val="EEECE1"/>
      </a:lt2>
      <a:accent1>
        <a:srgbClr val="002856"/>
      </a:accent1>
      <a:accent2>
        <a:srgbClr val="FFCB05"/>
      </a:accent2>
      <a:accent3>
        <a:srgbClr val="2FB6E3"/>
      </a:accent3>
      <a:accent4>
        <a:srgbClr val="0D57AA"/>
      </a:accent4>
      <a:accent5>
        <a:srgbClr val="DE642D"/>
      </a:accent5>
      <a:accent6>
        <a:srgbClr val="ECBC09"/>
      </a:accent6>
      <a:hlink>
        <a:srgbClr val="142F56"/>
      </a:hlink>
      <a:folHlink>
        <a:srgbClr val="3232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oss Theme">
  <a:themeElements>
    <a:clrScheme name="Custom 17">
      <a:dk1>
        <a:srgbClr val="464646"/>
      </a:dk1>
      <a:lt1>
        <a:srgbClr val="FFFFFF"/>
      </a:lt1>
      <a:dk2>
        <a:srgbClr val="505050"/>
      </a:dk2>
      <a:lt2>
        <a:srgbClr val="EEECE1"/>
      </a:lt2>
      <a:accent1>
        <a:srgbClr val="002856"/>
      </a:accent1>
      <a:accent2>
        <a:srgbClr val="FFCB05"/>
      </a:accent2>
      <a:accent3>
        <a:srgbClr val="2FB6E3"/>
      </a:accent3>
      <a:accent4>
        <a:srgbClr val="0D57AA"/>
      </a:accent4>
      <a:accent5>
        <a:srgbClr val="DE642D"/>
      </a:accent5>
      <a:accent6>
        <a:srgbClr val="ECBC09"/>
      </a:accent6>
      <a:hlink>
        <a:srgbClr val="142F56"/>
      </a:hlink>
      <a:folHlink>
        <a:srgbClr val="3232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Ross Theme">
  <a:themeElements>
    <a:clrScheme name="Custom 17">
      <a:dk1>
        <a:srgbClr val="464646"/>
      </a:dk1>
      <a:lt1>
        <a:srgbClr val="FFFFFF"/>
      </a:lt1>
      <a:dk2>
        <a:srgbClr val="505050"/>
      </a:dk2>
      <a:lt2>
        <a:srgbClr val="EEECE1"/>
      </a:lt2>
      <a:accent1>
        <a:srgbClr val="002856"/>
      </a:accent1>
      <a:accent2>
        <a:srgbClr val="FFCB05"/>
      </a:accent2>
      <a:accent3>
        <a:srgbClr val="2FB6E3"/>
      </a:accent3>
      <a:accent4>
        <a:srgbClr val="0D57AA"/>
      </a:accent4>
      <a:accent5>
        <a:srgbClr val="DE642D"/>
      </a:accent5>
      <a:accent6>
        <a:srgbClr val="ECBC09"/>
      </a:accent6>
      <a:hlink>
        <a:srgbClr val="142F56"/>
      </a:hlink>
      <a:folHlink>
        <a:srgbClr val="3232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