
<file path=[Content_Types].xml><?xml version="1.0" encoding="utf-8"?>
<Types xmlns="http://schemas.openxmlformats.org/package/2006/content-types">
  <Default ContentType="image/jpeg" Extension="jpg"/>
  <Default ContentType="application/vnd.openxmlformats-officedocument.spreadsheetml.sheet" Extension="xlsx"/>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88.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ms-office.chartcolorstyle+xml" PartName="/ppt/charts/colors1.xml"/>
  <Override ContentType="application/vnd.ms-office.chartcolorstyle+xml" PartName="/ppt/charts/colors2.xml"/>
  <Override ContentType="application/vnd.ms-office.chartcolorstyle+xml" PartName="/ppt/charts/colors3.xml"/>
  <Override ContentType="application/vnd.openxmlformats-officedocument.theme+xml" PartName="/ppt/theme/theme1.xml"/>
  <Override ContentType="application/vnd.openxmlformats-officedocument.theme+xml" PartName="/ppt/theme/theme2.xml"/>
  <Override ContentType="application/vnd.openxmlformats-officedocument.drawingml.chart+xml" PartName="/ppt/charts/chart3.xml"/>
  <Override ContentType="application/vnd.openxmlformats-officedocument.drawingml.chart+xml" PartName="/ppt/charts/chart2.xml"/>
  <Override ContentType="application/vnd.openxmlformats-officedocument.drawingml.chart+xml" PartName="/ppt/charts/chart1.xml"/>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84.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binary" PartName="/ppt/metadata"/>
  <Override ContentType="application/vnd.openxmlformats-officedocument.presentationml.notesMaster+xml" PartName="/ppt/notesMasters/notesMaster1.xml"/>
  <Override ContentType="application/vnd.ms-office.chartstyle+xml" PartName="/ppt/charts/style3.xml"/>
  <Override ContentType="application/vnd.ms-office.chartstyle+xml" PartName="/ppt/charts/style1.xml"/>
  <Override ContentType="application/vnd.ms-office.chartstyle+xml" PartName="/ppt/charts/style2.xml"/>
  <Override ContentType="application/vnd.openxmlformats-officedocument.presentationml.presProps+xml" PartName="/ppt/pres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97" roundtripDataSignature="AMtx7mhXGSW5e47E4fzhrkY2hM/AS23s4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3C487A9-7F27-4D08-810F-A9A5B3B8D150}">
  <a:tblStyle styleId="{23C487A9-7F27-4D08-810F-A9A5B3B8D150}"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F4F4F4"/>
          </a:solidFill>
        </a:fill>
      </a:tcStyle>
    </a:wholeTbl>
    <a:band1H>
      <a:tcTxStyle b="off" i="off"/>
      <a:tcStyle>
        <a:fill>
          <a:solidFill>
            <a:srgbClr val="E8E8E8"/>
          </a:solidFill>
        </a:fill>
      </a:tcStyle>
    </a:band1H>
    <a:band2H>
      <a:tcTxStyle b="off" i="off"/>
    </a:band2H>
    <a:band1V>
      <a:tcTxStyle b="off" i="off"/>
      <a:tcStyle>
        <a:fill>
          <a:solidFill>
            <a:srgbClr val="E8E8E8"/>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 styleId="{C1FB10B7-FF90-4F46-8F30-8EB883CFDCC7}" styleName="Table_1">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95" Type="http://schemas.openxmlformats.org/officeDocument/2006/relationships/slide" Target="slides/slide90.xml"/><Relationship Id="rId94" Type="http://schemas.openxmlformats.org/officeDocument/2006/relationships/slide" Target="slides/slide89.xml"/><Relationship Id="rId97" Type="http://customschemas.google.com/relationships/presentationmetadata" Target="metadata"/><Relationship Id="rId96" Type="http://schemas.openxmlformats.org/officeDocument/2006/relationships/slide" Target="slides/slide91.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58" Type="http://schemas.openxmlformats.org/officeDocument/2006/relationships/slide" Target="slides/slide53.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oleObject" Target="file:///C:\Users\sonia\OneDrive%20-%20umich.edu\Ross\Consulting%20Club\Case%20-%20Math.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Royalties</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Royalties</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Hockey</c:v>
                </c:pt>
                <c:pt idx="1">
                  <c:v>Baseball</c:v>
                </c:pt>
                <c:pt idx="2">
                  <c:v>Football</c:v>
                </c:pt>
                <c:pt idx="3">
                  <c:v>Soccer</c:v>
                </c:pt>
              </c:strCache>
            </c:strRef>
          </c:cat>
          <c:val>
            <c:numRef>
              <c:f>Sheet1!$B$2:$B$5</c:f>
              <c:numCache>
                <c:formatCode>General</c:formatCode>
                <c:ptCount val="4"/>
                <c:pt idx="0">
                  <c:v>2</c:v>
                </c:pt>
                <c:pt idx="1">
                  <c:v>5</c:v>
                </c:pt>
                <c:pt idx="2">
                  <c:v>10</c:v>
                </c:pt>
                <c:pt idx="3">
                  <c:v>15</c:v>
                </c:pt>
              </c:numCache>
            </c:numRef>
          </c:val>
          <c:extLst>
            <c:ext xmlns:c16="http://schemas.microsoft.com/office/drawing/2014/chart" uri="{C3380CC4-5D6E-409C-BE32-E72D297353CC}">
              <c16:uniqueId val="{00000000-855A-4514-8486-C77D90449E26}"/>
            </c:ext>
          </c:extLst>
        </c:ser>
        <c:dLbls>
          <c:showLegendKey val="0"/>
          <c:showVal val="0"/>
          <c:showCatName val="0"/>
          <c:showSerName val="0"/>
          <c:showPercent val="0"/>
          <c:showBubbleSize val="0"/>
        </c:dLbls>
        <c:gapWidth val="219"/>
        <c:overlap val="-27"/>
        <c:axId val="250433384"/>
        <c:axId val="250434368"/>
      </c:barChart>
      <c:catAx>
        <c:axId val="2504333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50434368"/>
        <c:crosses val="autoZero"/>
        <c:auto val="1"/>
        <c:lblAlgn val="ctr"/>
        <c:lblOffset val="100"/>
        <c:noMultiLvlLbl val="0"/>
      </c:catAx>
      <c:valAx>
        <c:axId val="250434368"/>
        <c:scaling>
          <c:orientation val="minMax"/>
        </c:scaling>
        <c:delete val="0"/>
        <c:axPos val="l"/>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dirty="0"/>
                  <a:t>% of revenues</a:t>
                </a:r>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5043338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Sports fans</a:t>
            </a:r>
            <a:r>
              <a:rPr lang="en-US" baseline="0" dirty="0"/>
              <a:t> per city</a:t>
            </a:r>
            <a:endParaRPr lang="en-US"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stacked"/>
        <c:varyColors val="0"/>
        <c:ser>
          <c:idx val="0"/>
          <c:order val="0"/>
          <c:tx>
            <c:strRef>
              <c:f>Sheet1!$B$1</c:f>
              <c:strCache>
                <c:ptCount val="1"/>
                <c:pt idx="0">
                  <c:v>Hockey</c:v>
                </c:pt>
              </c:strCache>
            </c:strRef>
          </c:tx>
          <c:spPr>
            <a:solidFill>
              <a:schemeClr val="accent1"/>
            </a:solidFill>
            <a:ln>
              <a:noFill/>
            </a:ln>
            <a:effectLst/>
          </c:spPr>
          <c:invertIfNegative val="0"/>
          <c:cat>
            <c:strRef>
              <c:f>Sheet1!$A$2:$A$5</c:f>
              <c:strCache>
                <c:ptCount val="4"/>
                <c:pt idx="0">
                  <c:v>San Diego</c:v>
                </c:pt>
                <c:pt idx="1">
                  <c:v>Atlanta</c:v>
                </c:pt>
                <c:pt idx="2">
                  <c:v>Detroit</c:v>
                </c:pt>
                <c:pt idx="3">
                  <c:v>Houston</c:v>
                </c:pt>
              </c:strCache>
            </c:strRef>
          </c:cat>
          <c:val>
            <c:numRef>
              <c:f>Sheet1!$B$2:$B$5</c:f>
              <c:numCache>
                <c:formatCode>General</c:formatCode>
                <c:ptCount val="4"/>
                <c:pt idx="0">
                  <c:v>0.1</c:v>
                </c:pt>
                <c:pt idx="1">
                  <c:v>0.4</c:v>
                </c:pt>
                <c:pt idx="2">
                  <c:v>1.8</c:v>
                </c:pt>
                <c:pt idx="3">
                  <c:v>0.1</c:v>
                </c:pt>
              </c:numCache>
            </c:numRef>
          </c:val>
          <c:extLst>
            <c:ext xmlns:c16="http://schemas.microsoft.com/office/drawing/2014/chart" uri="{C3380CC4-5D6E-409C-BE32-E72D297353CC}">
              <c16:uniqueId val="{00000000-B84E-45BA-AA26-5543F3A149D7}"/>
            </c:ext>
          </c:extLst>
        </c:ser>
        <c:ser>
          <c:idx val="1"/>
          <c:order val="1"/>
          <c:tx>
            <c:strRef>
              <c:f>Sheet1!$C$1</c:f>
              <c:strCache>
                <c:ptCount val="1"/>
                <c:pt idx="0">
                  <c:v>Baseball</c:v>
                </c:pt>
              </c:strCache>
            </c:strRef>
          </c:tx>
          <c:spPr>
            <a:solidFill>
              <a:schemeClr val="accent2"/>
            </a:solidFill>
            <a:ln>
              <a:noFill/>
            </a:ln>
            <a:effectLst/>
          </c:spPr>
          <c:invertIfNegative val="0"/>
          <c:cat>
            <c:strRef>
              <c:f>Sheet1!$A$2:$A$5</c:f>
              <c:strCache>
                <c:ptCount val="4"/>
                <c:pt idx="0">
                  <c:v>San Diego</c:v>
                </c:pt>
                <c:pt idx="1">
                  <c:v>Atlanta</c:v>
                </c:pt>
                <c:pt idx="2">
                  <c:v>Detroit</c:v>
                </c:pt>
                <c:pt idx="3">
                  <c:v>Houston</c:v>
                </c:pt>
              </c:strCache>
            </c:strRef>
          </c:cat>
          <c:val>
            <c:numRef>
              <c:f>Sheet1!$C$2:$C$5</c:f>
              <c:numCache>
                <c:formatCode>General</c:formatCode>
                <c:ptCount val="4"/>
                <c:pt idx="0">
                  <c:v>0.9</c:v>
                </c:pt>
                <c:pt idx="1">
                  <c:v>1.1000000000000001</c:v>
                </c:pt>
                <c:pt idx="2">
                  <c:v>1.2</c:v>
                </c:pt>
                <c:pt idx="3">
                  <c:v>1.9</c:v>
                </c:pt>
              </c:numCache>
            </c:numRef>
          </c:val>
          <c:extLst>
            <c:ext xmlns:c16="http://schemas.microsoft.com/office/drawing/2014/chart" uri="{C3380CC4-5D6E-409C-BE32-E72D297353CC}">
              <c16:uniqueId val="{00000001-B84E-45BA-AA26-5543F3A149D7}"/>
            </c:ext>
          </c:extLst>
        </c:ser>
        <c:ser>
          <c:idx val="2"/>
          <c:order val="2"/>
          <c:tx>
            <c:strRef>
              <c:f>Sheet1!$D$1</c:f>
              <c:strCache>
                <c:ptCount val="1"/>
                <c:pt idx="0">
                  <c:v>Football</c:v>
                </c:pt>
              </c:strCache>
            </c:strRef>
          </c:tx>
          <c:spPr>
            <a:solidFill>
              <a:schemeClr val="accent3"/>
            </a:solidFill>
            <a:ln>
              <a:noFill/>
            </a:ln>
            <a:effectLst/>
          </c:spPr>
          <c:invertIfNegative val="0"/>
          <c:cat>
            <c:strRef>
              <c:f>Sheet1!$A$2:$A$5</c:f>
              <c:strCache>
                <c:ptCount val="4"/>
                <c:pt idx="0">
                  <c:v>San Diego</c:v>
                </c:pt>
                <c:pt idx="1">
                  <c:v>Atlanta</c:v>
                </c:pt>
                <c:pt idx="2">
                  <c:v>Detroit</c:v>
                </c:pt>
                <c:pt idx="3">
                  <c:v>Houston</c:v>
                </c:pt>
              </c:strCache>
            </c:strRef>
          </c:cat>
          <c:val>
            <c:numRef>
              <c:f>Sheet1!$D$2:$D$5</c:f>
              <c:numCache>
                <c:formatCode>General</c:formatCode>
                <c:ptCount val="4"/>
                <c:pt idx="0">
                  <c:v>1</c:v>
                </c:pt>
                <c:pt idx="1">
                  <c:v>2.5</c:v>
                </c:pt>
                <c:pt idx="2">
                  <c:v>1</c:v>
                </c:pt>
                <c:pt idx="3">
                  <c:v>2</c:v>
                </c:pt>
              </c:numCache>
            </c:numRef>
          </c:val>
          <c:extLst>
            <c:ext xmlns:c16="http://schemas.microsoft.com/office/drawing/2014/chart" uri="{C3380CC4-5D6E-409C-BE32-E72D297353CC}">
              <c16:uniqueId val="{00000002-B84E-45BA-AA26-5543F3A149D7}"/>
            </c:ext>
          </c:extLst>
        </c:ser>
        <c:ser>
          <c:idx val="3"/>
          <c:order val="3"/>
          <c:tx>
            <c:strRef>
              <c:f>Sheet1!$E$1</c:f>
              <c:strCache>
                <c:ptCount val="1"/>
                <c:pt idx="0">
                  <c:v>Soccer</c:v>
                </c:pt>
              </c:strCache>
            </c:strRef>
          </c:tx>
          <c:spPr>
            <a:solidFill>
              <a:schemeClr val="accent4"/>
            </a:solidFill>
            <a:ln>
              <a:noFill/>
            </a:ln>
            <a:effectLst/>
          </c:spPr>
          <c:invertIfNegative val="0"/>
          <c:cat>
            <c:strRef>
              <c:f>Sheet1!$A$2:$A$5</c:f>
              <c:strCache>
                <c:ptCount val="4"/>
                <c:pt idx="0">
                  <c:v>San Diego</c:v>
                </c:pt>
                <c:pt idx="1">
                  <c:v>Atlanta</c:v>
                </c:pt>
                <c:pt idx="2">
                  <c:v>Detroit</c:v>
                </c:pt>
                <c:pt idx="3">
                  <c:v>Houston</c:v>
                </c:pt>
              </c:strCache>
            </c:strRef>
          </c:cat>
          <c:val>
            <c:numRef>
              <c:f>Sheet1!$E$2:$E$5</c:f>
              <c:numCache>
                <c:formatCode>General</c:formatCode>
                <c:ptCount val="4"/>
                <c:pt idx="0">
                  <c:v>1</c:v>
                </c:pt>
                <c:pt idx="1">
                  <c:v>2</c:v>
                </c:pt>
                <c:pt idx="2">
                  <c:v>0.5</c:v>
                </c:pt>
                <c:pt idx="3">
                  <c:v>1.5</c:v>
                </c:pt>
              </c:numCache>
            </c:numRef>
          </c:val>
          <c:extLst>
            <c:ext xmlns:c16="http://schemas.microsoft.com/office/drawing/2014/chart" uri="{C3380CC4-5D6E-409C-BE32-E72D297353CC}">
              <c16:uniqueId val="{00000003-B84E-45BA-AA26-5543F3A149D7}"/>
            </c:ext>
          </c:extLst>
        </c:ser>
        <c:dLbls>
          <c:showLegendKey val="0"/>
          <c:showVal val="0"/>
          <c:showCatName val="0"/>
          <c:showSerName val="0"/>
          <c:showPercent val="0"/>
          <c:showBubbleSize val="0"/>
        </c:dLbls>
        <c:gapWidth val="150"/>
        <c:overlap val="100"/>
        <c:axId val="355981704"/>
        <c:axId val="355982032"/>
      </c:barChart>
      <c:catAx>
        <c:axId val="3559817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355982032"/>
        <c:crosses val="autoZero"/>
        <c:auto val="1"/>
        <c:lblAlgn val="ctr"/>
        <c:lblOffset val="100"/>
        <c:noMultiLvlLbl val="0"/>
      </c:catAx>
      <c:valAx>
        <c:axId val="35598203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dirty="0"/>
                  <a:t>Population (</a:t>
                </a:r>
                <a:r>
                  <a:rPr lang="en-US" dirty="0" err="1"/>
                  <a:t>millons</a:t>
                </a:r>
                <a:r>
                  <a:rPr lang="en-US" dirty="0"/>
                  <a:t>)</a:t>
                </a:r>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355981704"/>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920" b="1" i="0" u="none" strike="noStrike" kern="1200" cap="all" spc="120" normalizeH="0" baseline="0">
                <a:solidFill>
                  <a:schemeClr val="tx1">
                    <a:lumMod val="65000"/>
                    <a:lumOff val="35000"/>
                  </a:schemeClr>
                </a:solidFill>
                <a:latin typeface="+mn-lt"/>
                <a:ea typeface="+mn-ea"/>
                <a:cs typeface="+mn-cs"/>
              </a:defRPr>
            </a:pPr>
            <a:r>
              <a:rPr lang="en-US"/>
              <a:t>Customer mix by affiliation </a:t>
            </a:r>
          </a:p>
        </c:rich>
      </c:tx>
      <c:overlay val="0"/>
      <c:spPr>
        <a:noFill/>
        <a:ln>
          <a:noFill/>
        </a:ln>
        <a:effectLst/>
      </c:spPr>
      <c:txPr>
        <a:bodyPr rot="0" spcFirstLastPara="1" vertOverflow="ellipsis" vert="horz" wrap="square" anchor="ctr" anchorCtr="1"/>
        <a:lstStyle/>
        <a:p>
          <a:pPr>
            <a:defRPr sz="1920" b="1" i="0" u="none" strike="noStrike" kern="1200" cap="all" spc="120" normalizeH="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stacked"/>
        <c:varyColors val="0"/>
        <c:ser>
          <c:idx val="0"/>
          <c:order val="0"/>
          <c:tx>
            <c:strRef>
              <c:f>Sheet1!$E$16</c:f>
              <c:strCache>
                <c:ptCount val="1"/>
                <c:pt idx="0">
                  <c:v>Large </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600" b="0"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numRef>
              <c:f>Sheet1!$D$17:$D$21</c:f>
              <c:numCache>
                <c:formatCode>General</c:formatCode>
                <c:ptCount val="5"/>
                <c:pt idx="0">
                  <c:v>2012</c:v>
                </c:pt>
                <c:pt idx="1">
                  <c:v>2013</c:v>
                </c:pt>
                <c:pt idx="2">
                  <c:v>2014</c:v>
                </c:pt>
                <c:pt idx="3">
                  <c:v>2015</c:v>
                </c:pt>
                <c:pt idx="4">
                  <c:v>2016</c:v>
                </c:pt>
              </c:numCache>
            </c:numRef>
          </c:cat>
          <c:val>
            <c:numRef>
              <c:f>Sheet1!$E$17:$E$21</c:f>
              <c:numCache>
                <c:formatCode>0%</c:formatCode>
                <c:ptCount val="5"/>
                <c:pt idx="0">
                  <c:v>0.1</c:v>
                </c:pt>
                <c:pt idx="1">
                  <c:v>0.15</c:v>
                </c:pt>
                <c:pt idx="2">
                  <c:v>0.2</c:v>
                </c:pt>
                <c:pt idx="3">
                  <c:v>0.25</c:v>
                </c:pt>
                <c:pt idx="4">
                  <c:v>0.3</c:v>
                </c:pt>
              </c:numCache>
            </c:numRef>
          </c:val>
          <c:extLst>
            <c:ext xmlns:c16="http://schemas.microsoft.com/office/drawing/2014/chart" uri="{C3380CC4-5D6E-409C-BE32-E72D297353CC}">
              <c16:uniqueId val="{00000000-3DED-49FA-B457-00E902E30F90}"/>
            </c:ext>
          </c:extLst>
        </c:ser>
        <c:ser>
          <c:idx val="1"/>
          <c:order val="1"/>
          <c:tx>
            <c:strRef>
              <c:f>Sheet1!$F$16</c:f>
              <c:strCache>
                <c:ptCount val="1"/>
                <c:pt idx="0">
                  <c:v>Medium </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600" b="0"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numRef>
              <c:f>Sheet1!$D$17:$D$21</c:f>
              <c:numCache>
                <c:formatCode>General</c:formatCode>
                <c:ptCount val="5"/>
                <c:pt idx="0">
                  <c:v>2012</c:v>
                </c:pt>
                <c:pt idx="1">
                  <c:v>2013</c:v>
                </c:pt>
                <c:pt idx="2">
                  <c:v>2014</c:v>
                </c:pt>
                <c:pt idx="3">
                  <c:v>2015</c:v>
                </c:pt>
                <c:pt idx="4">
                  <c:v>2016</c:v>
                </c:pt>
              </c:numCache>
            </c:numRef>
          </c:cat>
          <c:val>
            <c:numRef>
              <c:f>Sheet1!$F$17:$F$21</c:f>
              <c:numCache>
                <c:formatCode>0%</c:formatCode>
                <c:ptCount val="5"/>
                <c:pt idx="0">
                  <c:v>0.2</c:v>
                </c:pt>
                <c:pt idx="1">
                  <c:v>0.25</c:v>
                </c:pt>
                <c:pt idx="2">
                  <c:v>0.3</c:v>
                </c:pt>
                <c:pt idx="3">
                  <c:v>0.35</c:v>
                </c:pt>
                <c:pt idx="4">
                  <c:v>0.4</c:v>
                </c:pt>
              </c:numCache>
            </c:numRef>
          </c:val>
          <c:extLst>
            <c:ext xmlns:c16="http://schemas.microsoft.com/office/drawing/2014/chart" uri="{C3380CC4-5D6E-409C-BE32-E72D297353CC}">
              <c16:uniqueId val="{00000001-3DED-49FA-B457-00E902E30F90}"/>
            </c:ext>
          </c:extLst>
        </c:ser>
        <c:ser>
          <c:idx val="2"/>
          <c:order val="2"/>
          <c:tx>
            <c:strRef>
              <c:f>Sheet1!$G$16</c:f>
              <c:strCache>
                <c:ptCount val="1"/>
                <c:pt idx="0">
                  <c:v>Small/Individual</c:v>
                </c:pt>
              </c:strCache>
            </c:strRef>
          </c:tx>
          <c:spPr>
            <a:solidFill>
              <a:schemeClr val="accent3"/>
            </a:solidFill>
            <a:ln>
              <a:noFill/>
            </a:ln>
            <a:effectLst/>
          </c:spPr>
          <c:invertIfNegative val="0"/>
          <c:dLbls>
            <c:spPr>
              <a:noFill/>
              <a:ln>
                <a:noFill/>
              </a:ln>
              <a:effectLst/>
            </c:spPr>
            <c:txPr>
              <a:bodyPr rot="0" spcFirstLastPara="1" vertOverflow="ellipsis" vert="horz" wrap="square" anchor="ctr" anchorCtr="1"/>
              <a:lstStyle/>
              <a:p>
                <a:pPr>
                  <a:defRPr sz="1600" b="0"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numRef>
              <c:f>Sheet1!$D$17:$D$21</c:f>
              <c:numCache>
                <c:formatCode>General</c:formatCode>
                <c:ptCount val="5"/>
                <c:pt idx="0">
                  <c:v>2012</c:v>
                </c:pt>
                <c:pt idx="1">
                  <c:v>2013</c:v>
                </c:pt>
                <c:pt idx="2">
                  <c:v>2014</c:v>
                </c:pt>
                <c:pt idx="3">
                  <c:v>2015</c:v>
                </c:pt>
                <c:pt idx="4">
                  <c:v>2016</c:v>
                </c:pt>
              </c:numCache>
            </c:numRef>
          </c:cat>
          <c:val>
            <c:numRef>
              <c:f>Sheet1!$G$17:$G$21</c:f>
              <c:numCache>
                <c:formatCode>0%</c:formatCode>
                <c:ptCount val="5"/>
                <c:pt idx="0">
                  <c:v>0.7</c:v>
                </c:pt>
                <c:pt idx="1">
                  <c:v>0.6</c:v>
                </c:pt>
                <c:pt idx="2">
                  <c:v>0.5</c:v>
                </c:pt>
                <c:pt idx="3">
                  <c:v>0.4</c:v>
                </c:pt>
                <c:pt idx="4">
                  <c:v>0.29999999999999993</c:v>
                </c:pt>
              </c:numCache>
            </c:numRef>
          </c:val>
          <c:extLst>
            <c:ext xmlns:c16="http://schemas.microsoft.com/office/drawing/2014/chart" uri="{C3380CC4-5D6E-409C-BE32-E72D297353CC}">
              <c16:uniqueId val="{00000002-3DED-49FA-B457-00E902E30F90}"/>
            </c:ext>
          </c:extLst>
        </c:ser>
        <c:dLbls>
          <c:dLblPos val="ctr"/>
          <c:showLegendKey val="0"/>
          <c:showVal val="1"/>
          <c:showCatName val="0"/>
          <c:showSerName val="0"/>
          <c:showPercent val="0"/>
          <c:showBubbleSize val="0"/>
        </c:dLbls>
        <c:gapWidth val="79"/>
        <c:overlap val="100"/>
        <c:axId val="398229928"/>
        <c:axId val="398231568"/>
      </c:barChart>
      <c:catAx>
        <c:axId val="398229928"/>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0" i="0" u="none" strike="noStrike" kern="1200" cap="all" spc="120" normalizeH="0" baseline="0">
                <a:solidFill>
                  <a:schemeClr val="tx1">
                    <a:lumMod val="65000"/>
                    <a:lumOff val="35000"/>
                  </a:schemeClr>
                </a:solidFill>
                <a:latin typeface="+mn-lt"/>
                <a:ea typeface="+mn-ea"/>
                <a:cs typeface="+mn-cs"/>
              </a:defRPr>
            </a:pPr>
            <a:endParaRPr lang="en-US"/>
          </a:p>
        </c:txPr>
        <c:crossAx val="398231568"/>
        <c:crosses val="autoZero"/>
        <c:auto val="1"/>
        <c:lblAlgn val="ctr"/>
        <c:lblOffset val="100"/>
        <c:noMultiLvlLbl val="0"/>
      </c:catAx>
      <c:valAx>
        <c:axId val="398231568"/>
        <c:scaling>
          <c:orientation val="minMax"/>
        </c:scaling>
        <c:delete val="1"/>
        <c:axPos val="l"/>
        <c:title>
          <c:tx>
            <c:rich>
              <a:bodyPr rot="-5400000" spcFirstLastPara="1" vertOverflow="ellipsis" vert="horz" wrap="square" anchor="ctr" anchorCtr="1"/>
              <a:lstStyle/>
              <a:p>
                <a:pPr>
                  <a:defRPr sz="1600" b="0" i="0" u="none" strike="noStrike" kern="1200" cap="all" baseline="0">
                    <a:solidFill>
                      <a:schemeClr val="tx1">
                        <a:lumMod val="65000"/>
                        <a:lumOff val="35000"/>
                      </a:schemeClr>
                    </a:solidFill>
                    <a:latin typeface="+mn-lt"/>
                    <a:ea typeface="+mn-ea"/>
                    <a:cs typeface="+mn-cs"/>
                  </a:defRPr>
                </a:pPr>
                <a:r>
                  <a:rPr lang="en-US"/>
                  <a:t>% of Members</a:t>
                </a:r>
              </a:p>
            </c:rich>
          </c:tx>
          <c:overlay val="0"/>
          <c:spPr>
            <a:noFill/>
            <a:ln>
              <a:noFill/>
            </a:ln>
            <a:effectLst/>
          </c:spPr>
          <c:txPr>
            <a:bodyPr rot="-5400000" spcFirstLastPara="1" vertOverflow="ellipsis" vert="horz" wrap="square" anchor="ctr" anchorCtr="1"/>
            <a:lstStyle/>
            <a:p>
              <a:pPr>
                <a:defRPr sz="1600" b="0" i="0" u="none" strike="noStrike" kern="1200" cap="all" baseline="0">
                  <a:solidFill>
                    <a:schemeClr val="tx1">
                      <a:lumMod val="65000"/>
                      <a:lumOff val="35000"/>
                    </a:schemeClr>
                  </a:solidFill>
                  <a:latin typeface="+mn-lt"/>
                  <a:ea typeface="+mn-ea"/>
                  <a:cs typeface="+mn-cs"/>
                </a:defRPr>
              </a:pPr>
              <a:endParaRPr lang="en-US"/>
            </a:p>
          </c:txPr>
        </c:title>
        <c:numFmt formatCode="0%" sourceLinked="1"/>
        <c:majorTickMark val="none"/>
        <c:minorTickMark val="none"/>
        <c:tickLblPos val="nextTo"/>
        <c:crossAx val="398229928"/>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sz="1600"/>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98">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800"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900" kern="1200"/>
  </cs:chartArea>
  <cs:dataLabel>
    <cs:lnRef idx="0"/>
    <cs:fillRef idx="0"/>
    <cs:effectRef idx="0"/>
    <cs:fontRef idx="minor">
      <a:schemeClr val="lt1"/>
    </cs:fontRef>
    <cs:defRPr sz="900"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8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900"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8" name="Google Shape;268;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4" name="Google Shape;274;p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2" name="Google Shape;282;p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3" name="Google Shape;303;p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5" name="Google Shape;315;p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5" name="Google Shape;325;p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3" name="Google Shape;333;p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p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4" name="Google Shape;364;p1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3" name="Google Shape;373;p1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5" name="Google Shape;385;p1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9" name="Google Shape;399;p1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1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9" name="Google Shape;419;p1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9" name="Google Shape;429;p1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9" name="Google Shape;439;p1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7" name="Google Shape;447;p1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9" name="Google Shape;459;p1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p2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p2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3" name="Google Shape;493;p2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1" name="Google Shape;501;p2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9" name="Google Shape;509;p2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7" name="Google Shape;517;p2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9" name="Google Shape;529;p2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1" name="Google Shape;541;p2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123,750</a:t>
            </a:r>
            <a:endParaRPr/>
          </a:p>
        </p:txBody>
      </p:sp>
      <p:sp>
        <p:nvSpPr>
          <p:cNvPr id="551" name="Google Shape;551;p3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0" name="Google Shape;560;p2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8" name="Google Shape;568;p2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8" name="Google Shape;578;p3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8" name="Google Shape;588;p3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0" name="Google Shape;600;p3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2" name="Google Shape;612;p3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2" name="Google Shape;622;p3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6" name="Google Shape;646;p3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0" name="Google Shape;660;p3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4" name="Google Shape;674;p3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0" name="Shape 680"/>
        <p:cNvGrpSpPr/>
        <p:nvPr/>
      </p:nvGrpSpPr>
      <p:grpSpPr>
        <a:xfrm>
          <a:off x="0" y="0"/>
          <a:ext cx="0" cy="0"/>
          <a:chOff x="0" y="0"/>
          <a:chExt cx="0" cy="0"/>
        </a:xfrm>
      </p:grpSpPr>
      <p:sp>
        <p:nvSpPr>
          <p:cNvPr id="681" name="Google Shape;681;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2" name="Google Shape;682;p3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2" name="Google Shape;692;p4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9" name="Google Shape;699;p4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6" name="Google Shape;706;p4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3" name="Google Shape;713;p4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0" name="Google Shape;720;p4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7" name="Google Shape;727;p4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4" name="Google Shape;734;p4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9" name="Shape 739"/>
        <p:cNvGrpSpPr/>
        <p:nvPr/>
      </p:nvGrpSpPr>
      <p:grpSpPr>
        <a:xfrm>
          <a:off x="0" y="0"/>
          <a:ext cx="0" cy="0"/>
          <a:chOff x="0" y="0"/>
          <a:chExt cx="0" cy="0"/>
        </a:xfrm>
      </p:grpSpPr>
      <p:sp>
        <p:nvSpPr>
          <p:cNvPr id="740" name="Google Shape;740;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1" name="Google Shape;741;p4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8" name="Google Shape;748;p4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6" name="Shape 756"/>
        <p:cNvGrpSpPr/>
        <p:nvPr/>
      </p:nvGrpSpPr>
      <p:grpSpPr>
        <a:xfrm>
          <a:off x="0" y="0"/>
          <a:ext cx="0" cy="0"/>
          <a:chOff x="0" y="0"/>
          <a:chExt cx="0" cy="0"/>
        </a:xfrm>
      </p:grpSpPr>
      <p:sp>
        <p:nvSpPr>
          <p:cNvPr id="757" name="Google Shape;757;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8" name="Google Shape;758;p4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p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6" name="Google Shape;766;p5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4" name="Shape 774"/>
        <p:cNvGrpSpPr/>
        <p:nvPr/>
      </p:nvGrpSpPr>
      <p:grpSpPr>
        <a:xfrm>
          <a:off x="0" y="0"/>
          <a:ext cx="0" cy="0"/>
          <a:chOff x="0" y="0"/>
          <a:chExt cx="0" cy="0"/>
        </a:xfrm>
      </p:grpSpPr>
      <p:sp>
        <p:nvSpPr>
          <p:cNvPr id="775" name="Google Shape;775;p5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6" name="Google Shape;776;p5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2" name="Shape 782"/>
        <p:cNvGrpSpPr/>
        <p:nvPr/>
      </p:nvGrpSpPr>
      <p:grpSpPr>
        <a:xfrm>
          <a:off x="0" y="0"/>
          <a:ext cx="0" cy="0"/>
          <a:chOff x="0" y="0"/>
          <a:chExt cx="0" cy="0"/>
        </a:xfrm>
      </p:grpSpPr>
      <p:sp>
        <p:nvSpPr>
          <p:cNvPr id="783" name="Google Shape;783;p5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4" name="Google Shape;784;p5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2" name="Shape 792"/>
        <p:cNvGrpSpPr/>
        <p:nvPr/>
      </p:nvGrpSpPr>
      <p:grpSpPr>
        <a:xfrm>
          <a:off x="0" y="0"/>
          <a:ext cx="0" cy="0"/>
          <a:chOff x="0" y="0"/>
          <a:chExt cx="0" cy="0"/>
        </a:xfrm>
      </p:grpSpPr>
      <p:sp>
        <p:nvSpPr>
          <p:cNvPr id="793" name="Google Shape;793;p5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4" name="Google Shape;794;p5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p5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6" name="Google Shape;806;p5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p5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6" name="Google Shape;816;p5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p5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9" name="Google Shape;839;p5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5" name="Shape 845"/>
        <p:cNvGrpSpPr/>
        <p:nvPr/>
      </p:nvGrpSpPr>
      <p:grpSpPr>
        <a:xfrm>
          <a:off x="0" y="0"/>
          <a:ext cx="0" cy="0"/>
          <a:chOff x="0" y="0"/>
          <a:chExt cx="0" cy="0"/>
        </a:xfrm>
      </p:grpSpPr>
      <p:sp>
        <p:nvSpPr>
          <p:cNvPr id="846" name="Google Shape;846;p5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7" name="Google Shape;847;p5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5" name="Shape 855"/>
        <p:cNvGrpSpPr/>
        <p:nvPr/>
      </p:nvGrpSpPr>
      <p:grpSpPr>
        <a:xfrm>
          <a:off x="0" y="0"/>
          <a:ext cx="0" cy="0"/>
          <a:chOff x="0" y="0"/>
          <a:chExt cx="0" cy="0"/>
        </a:xfrm>
      </p:grpSpPr>
      <p:sp>
        <p:nvSpPr>
          <p:cNvPr id="856" name="Google Shape;856;p5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7" name="Google Shape;857;p5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0" name="Shape 870"/>
        <p:cNvGrpSpPr/>
        <p:nvPr/>
      </p:nvGrpSpPr>
      <p:grpSpPr>
        <a:xfrm>
          <a:off x="0" y="0"/>
          <a:ext cx="0" cy="0"/>
          <a:chOff x="0" y="0"/>
          <a:chExt cx="0" cy="0"/>
        </a:xfrm>
      </p:grpSpPr>
      <p:sp>
        <p:nvSpPr>
          <p:cNvPr id="871" name="Google Shape;871;p5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2" name="Google Shape;872;p5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0" name="Shape 880"/>
        <p:cNvGrpSpPr/>
        <p:nvPr/>
      </p:nvGrpSpPr>
      <p:grpSpPr>
        <a:xfrm>
          <a:off x="0" y="0"/>
          <a:ext cx="0" cy="0"/>
          <a:chOff x="0" y="0"/>
          <a:chExt cx="0" cy="0"/>
        </a:xfrm>
      </p:grpSpPr>
      <p:sp>
        <p:nvSpPr>
          <p:cNvPr id="881" name="Google Shape;881;p6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2" name="Google Shape;882;p6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p6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0" name="Google Shape;890;p6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p6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0" name="Google Shape;900;p6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6" name="Shape 906"/>
        <p:cNvGrpSpPr/>
        <p:nvPr/>
      </p:nvGrpSpPr>
      <p:grpSpPr>
        <a:xfrm>
          <a:off x="0" y="0"/>
          <a:ext cx="0" cy="0"/>
          <a:chOff x="0" y="0"/>
          <a:chExt cx="0" cy="0"/>
        </a:xfrm>
      </p:grpSpPr>
      <p:sp>
        <p:nvSpPr>
          <p:cNvPr id="907" name="Google Shape;907;p6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8" name="Google Shape;908;p6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4" name="Shape 914"/>
        <p:cNvGrpSpPr/>
        <p:nvPr/>
      </p:nvGrpSpPr>
      <p:grpSpPr>
        <a:xfrm>
          <a:off x="0" y="0"/>
          <a:ext cx="0" cy="0"/>
          <a:chOff x="0" y="0"/>
          <a:chExt cx="0" cy="0"/>
        </a:xfrm>
      </p:grpSpPr>
      <p:sp>
        <p:nvSpPr>
          <p:cNvPr id="915" name="Google Shape;915;p6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6" name="Google Shape;916;p6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6" name="Shape 926"/>
        <p:cNvGrpSpPr/>
        <p:nvPr/>
      </p:nvGrpSpPr>
      <p:grpSpPr>
        <a:xfrm>
          <a:off x="0" y="0"/>
          <a:ext cx="0" cy="0"/>
          <a:chOff x="0" y="0"/>
          <a:chExt cx="0" cy="0"/>
        </a:xfrm>
      </p:grpSpPr>
      <p:sp>
        <p:nvSpPr>
          <p:cNvPr id="927" name="Google Shape;927;p6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8" name="Google Shape;928;p6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6" name="Shape 936"/>
        <p:cNvGrpSpPr/>
        <p:nvPr/>
      </p:nvGrpSpPr>
      <p:grpSpPr>
        <a:xfrm>
          <a:off x="0" y="0"/>
          <a:ext cx="0" cy="0"/>
          <a:chOff x="0" y="0"/>
          <a:chExt cx="0" cy="0"/>
        </a:xfrm>
      </p:grpSpPr>
      <p:sp>
        <p:nvSpPr>
          <p:cNvPr id="937" name="Google Shape;937;p6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8" name="Google Shape;938;p6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4" name="Shape 944"/>
        <p:cNvGrpSpPr/>
        <p:nvPr/>
      </p:nvGrpSpPr>
      <p:grpSpPr>
        <a:xfrm>
          <a:off x="0" y="0"/>
          <a:ext cx="0" cy="0"/>
          <a:chOff x="0" y="0"/>
          <a:chExt cx="0" cy="0"/>
        </a:xfrm>
      </p:grpSpPr>
      <p:sp>
        <p:nvSpPr>
          <p:cNvPr id="945" name="Google Shape;945;p6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6" name="Google Shape;946;p6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p6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0" name="Google Shape;960;p6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6" name="Shape 966"/>
        <p:cNvGrpSpPr/>
        <p:nvPr/>
      </p:nvGrpSpPr>
      <p:grpSpPr>
        <a:xfrm>
          <a:off x="0" y="0"/>
          <a:ext cx="0" cy="0"/>
          <a:chOff x="0" y="0"/>
          <a:chExt cx="0" cy="0"/>
        </a:xfrm>
      </p:grpSpPr>
      <p:sp>
        <p:nvSpPr>
          <p:cNvPr id="967" name="Google Shape;967;p6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8" name="Google Shape;968;p6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6" name="Shape 976"/>
        <p:cNvGrpSpPr/>
        <p:nvPr/>
      </p:nvGrpSpPr>
      <p:grpSpPr>
        <a:xfrm>
          <a:off x="0" y="0"/>
          <a:ext cx="0" cy="0"/>
          <a:chOff x="0" y="0"/>
          <a:chExt cx="0" cy="0"/>
        </a:xfrm>
      </p:grpSpPr>
      <p:sp>
        <p:nvSpPr>
          <p:cNvPr id="977" name="Google Shape;977;p7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8" name="Google Shape;978;p7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6" name="Shape 986"/>
        <p:cNvGrpSpPr/>
        <p:nvPr/>
      </p:nvGrpSpPr>
      <p:grpSpPr>
        <a:xfrm>
          <a:off x="0" y="0"/>
          <a:ext cx="0" cy="0"/>
          <a:chOff x="0" y="0"/>
          <a:chExt cx="0" cy="0"/>
        </a:xfrm>
      </p:grpSpPr>
      <p:sp>
        <p:nvSpPr>
          <p:cNvPr id="987" name="Google Shape;987;p7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8" name="Google Shape;988;p7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p7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0" name="Google Shape;1000;p7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8" name="Shape 1008"/>
        <p:cNvGrpSpPr/>
        <p:nvPr/>
      </p:nvGrpSpPr>
      <p:grpSpPr>
        <a:xfrm>
          <a:off x="0" y="0"/>
          <a:ext cx="0" cy="0"/>
          <a:chOff x="0" y="0"/>
          <a:chExt cx="0" cy="0"/>
        </a:xfrm>
      </p:grpSpPr>
      <p:sp>
        <p:nvSpPr>
          <p:cNvPr id="1009" name="Google Shape;1009;p7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0" name="Google Shape;1010;p7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8" name="Shape 1018"/>
        <p:cNvGrpSpPr/>
        <p:nvPr/>
      </p:nvGrpSpPr>
      <p:grpSpPr>
        <a:xfrm>
          <a:off x="0" y="0"/>
          <a:ext cx="0" cy="0"/>
          <a:chOff x="0" y="0"/>
          <a:chExt cx="0" cy="0"/>
        </a:xfrm>
      </p:grpSpPr>
      <p:sp>
        <p:nvSpPr>
          <p:cNvPr id="1019" name="Google Shape;1019;p7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0" name="Google Shape;1020;p7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5" name="Shape 1025"/>
        <p:cNvGrpSpPr/>
        <p:nvPr/>
      </p:nvGrpSpPr>
      <p:grpSpPr>
        <a:xfrm>
          <a:off x="0" y="0"/>
          <a:ext cx="0" cy="0"/>
          <a:chOff x="0" y="0"/>
          <a:chExt cx="0" cy="0"/>
        </a:xfrm>
      </p:grpSpPr>
      <p:sp>
        <p:nvSpPr>
          <p:cNvPr id="1026" name="Google Shape;1026;p7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7" name="Google Shape;1027;p7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5" name="Shape 1035"/>
        <p:cNvGrpSpPr/>
        <p:nvPr/>
      </p:nvGrpSpPr>
      <p:grpSpPr>
        <a:xfrm>
          <a:off x="0" y="0"/>
          <a:ext cx="0" cy="0"/>
          <a:chOff x="0" y="0"/>
          <a:chExt cx="0" cy="0"/>
        </a:xfrm>
      </p:grpSpPr>
      <p:sp>
        <p:nvSpPr>
          <p:cNvPr id="1036" name="Google Shape;1036;p7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7" name="Google Shape;1037;p7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6" name="Shape 1046"/>
        <p:cNvGrpSpPr/>
        <p:nvPr/>
      </p:nvGrpSpPr>
      <p:grpSpPr>
        <a:xfrm>
          <a:off x="0" y="0"/>
          <a:ext cx="0" cy="0"/>
          <a:chOff x="0" y="0"/>
          <a:chExt cx="0" cy="0"/>
        </a:xfrm>
      </p:grpSpPr>
      <p:sp>
        <p:nvSpPr>
          <p:cNvPr id="1047" name="Google Shape;1047;p7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8" name="Google Shape;1048;p7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6" name="Shape 1056"/>
        <p:cNvGrpSpPr/>
        <p:nvPr/>
      </p:nvGrpSpPr>
      <p:grpSpPr>
        <a:xfrm>
          <a:off x="0" y="0"/>
          <a:ext cx="0" cy="0"/>
          <a:chOff x="0" y="0"/>
          <a:chExt cx="0" cy="0"/>
        </a:xfrm>
      </p:grpSpPr>
      <p:sp>
        <p:nvSpPr>
          <p:cNvPr id="1057" name="Google Shape;1057;p7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8" name="Google Shape;1058;p7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8" name="Shape 1068"/>
        <p:cNvGrpSpPr/>
        <p:nvPr/>
      </p:nvGrpSpPr>
      <p:grpSpPr>
        <a:xfrm>
          <a:off x="0" y="0"/>
          <a:ext cx="0" cy="0"/>
          <a:chOff x="0" y="0"/>
          <a:chExt cx="0" cy="0"/>
        </a:xfrm>
      </p:grpSpPr>
      <p:sp>
        <p:nvSpPr>
          <p:cNvPr id="1069" name="Google Shape;1069;p7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0" name="Google Shape;1070;p7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8" name="Shape 1078"/>
        <p:cNvGrpSpPr/>
        <p:nvPr/>
      </p:nvGrpSpPr>
      <p:grpSpPr>
        <a:xfrm>
          <a:off x="0" y="0"/>
          <a:ext cx="0" cy="0"/>
          <a:chOff x="0" y="0"/>
          <a:chExt cx="0" cy="0"/>
        </a:xfrm>
      </p:grpSpPr>
      <p:sp>
        <p:nvSpPr>
          <p:cNvPr id="1079" name="Google Shape;1079;p8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0" name="Google Shape;1080;p8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8" name="Shape 1088"/>
        <p:cNvGrpSpPr/>
        <p:nvPr/>
      </p:nvGrpSpPr>
      <p:grpSpPr>
        <a:xfrm>
          <a:off x="0" y="0"/>
          <a:ext cx="0" cy="0"/>
          <a:chOff x="0" y="0"/>
          <a:chExt cx="0" cy="0"/>
        </a:xfrm>
      </p:grpSpPr>
      <p:sp>
        <p:nvSpPr>
          <p:cNvPr id="1089" name="Google Shape;1089;p8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0" name="Google Shape;1090;p8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0" name="Shape 1100"/>
        <p:cNvGrpSpPr/>
        <p:nvPr/>
      </p:nvGrpSpPr>
      <p:grpSpPr>
        <a:xfrm>
          <a:off x="0" y="0"/>
          <a:ext cx="0" cy="0"/>
          <a:chOff x="0" y="0"/>
          <a:chExt cx="0" cy="0"/>
        </a:xfrm>
      </p:grpSpPr>
      <p:sp>
        <p:nvSpPr>
          <p:cNvPr id="1101" name="Google Shape;1101;p8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2" name="Google Shape;1102;p8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8" name="Shape 1108"/>
        <p:cNvGrpSpPr/>
        <p:nvPr/>
      </p:nvGrpSpPr>
      <p:grpSpPr>
        <a:xfrm>
          <a:off x="0" y="0"/>
          <a:ext cx="0" cy="0"/>
          <a:chOff x="0" y="0"/>
          <a:chExt cx="0" cy="0"/>
        </a:xfrm>
      </p:grpSpPr>
      <p:sp>
        <p:nvSpPr>
          <p:cNvPr id="1109" name="Google Shape;1109;p8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0" name="Google Shape;1110;p8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6" name="Shape 1116"/>
        <p:cNvGrpSpPr/>
        <p:nvPr/>
      </p:nvGrpSpPr>
      <p:grpSpPr>
        <a:xfrm>
          <a:off x="0" y="0"/>
          <a:ext cx="0" cy="0"/>
          <a:chOff x="0" y="0"/>
          <a:chExt cx="0" cy="0"/>
        </a:xfrm>
      </p:grpSpPr>
      <p:sp>
        <p:nvSpPr>
          <p:cNvPr id="1117" name="Google Shape;1117;p8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8" name="Google Shape;1118;p8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3" name="Shape 1123"/>
        <p:cNvGrpSpPr/>
        <p:nvPr/>
      </p:nvGrpSpPr>
      <p:grpSpPr>
        <a:xfrm>
          <a:off x="0" y="0"/>
          <a:ext cx="0" cy="0"/>
          <a:chOff x="0" y="0"/>
          <a:chExt cx="0" cy="0"/>
        </a:xfrm>
      </p:grpSpPr>
      <p:sp>
        <p:nvSpPr>
          <p:cNvPr id="1124" name="Google Shape;1124;p8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5" name="Google Shape;1125;p8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0" name="Shape 1130"/>
        <p:cNvGrpSpPr/>
        <p:nvPr/>
      </p:nvGrpSpPr>
      <p:grpSpPr>
        <a:xfrm>
          <a:off x="0" y="0"/>
          <a:ext cx="0" cy="0"/>
          <a:chOff x="0" y="0"/>
          <a:chExt cx="0" cy="0"/>
        </a:xfrm>
      </p:grpSpPr>
      <p:sp>
        <p:nvSpPr>
          <p:cNvPr id="1131" name="Google Shape;1131;p8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2" name="Google Shape;1132;p8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2" name="Shape 1142"/>
        <p:cNvGrpSpPr/>
        <p:nvPr/>
      </p:nvGrpSpPr>
      <p:grpSpPr>
        <a:xfrm>
          <a:off x="0" y="0"/>
          <a:ext cx="0" cy="0"/>
          <a:chOff x="0" y="0"/>
          <a:chExt cx="0" cy="0"/>
        </a:xfrm>
      </p:grpSpPr>
      <p:sp>
        <p:nvSpPr>
          <p:cNvPr id="1143" name="Google Shape;1143;p8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4" name="Google Shape;1144;p8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0" name="Shape 1150"/>
        <p:cNvGrpSpPr/>
        <p:nvPr/>
      </p:nvGrpSpPr>
      <p:grpSpPr>
        <a:xfrm>
          <a:off x="0" y="0"/>
          <a:ext cx="0" cy="0"/>
          <a:chOff x="0" y="0"/>
          <a:chExt cx="0" cy="0"/>
        </a:xfrm>
      </p:grpSpPr>
      <p:sp>
        <p:nvSpPr>
          <p:cNvPr id="1151" name="Google Shape;1151;p8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2" name="Google Shape;1152;p8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0" name="Shape 1160"/>
        <p:cNvGrpSpPr/>
        <p:nvPr/>
      </p:nvGrpSpPr>
      <p:grpSpPr>
        <a:xfrm>
          <a:off x="0" y="0"/>
          <a:ext cx="0" cy="0"/>
          <a:chOff x="0" y="0"/>
          <a:chExt cx="0" cy="0"/>
        </a:xfrm>
      </p:grpSpPr>
      <p:sp>
        <p:nvSpPr>
          <p:cNvPr id="1161" name="Google Shape;1161;p8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2" name="Google Shape;1162;p8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9" name="Shape 1169"/>
        <p:cNvGrpSpPr/>
        <p:nvPr/>
      </p:nvGrpSpPr>
      <p:grpSpPr>
        <a:xfrm>
          <a:off x="0" y="0"/>
          <a:ext cx="0" cy="0"/>
          <a:chOff x="0" y="0"/>
          <a:chExt cx="0" cy="0"/>
        </a:xfrm>
      </p:grpSpPr>
      <p:sp>
        <p:nvSpPr>
          <p:cNvPr id="1170" name="Google Shape;1170;p9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1" name="Google Shape;1171;p9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6" name="Shape 1176"/>
        <p:cNvGrpSpPr/>
        <p:nvPr/>
      </p:nvGrpSpPr>
      <p:grpSpPr>
        <a:xfrm>
          <a:off x="0" y="0"/>
          <a:ext cx="0" cy="0"/>
          <a:chOff x="0" y="0"/>
          <a:chExt cx="0" cy="0"/>
        </a:xfrm>
      </p:grpSpPr>
      <p:sp>
        <p:nvSpPr>
          <p:cNvPr id="1177" name="Google Shape;1177;p9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8" name="Google Shape;1178;p9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showMasterSp="0">
  <p:cSld name="Cover Slide">
    <p:spTree>
      <p:nvGrpSpPr>
        <p:cNvPr id="15" name="Shape 15"/>
        <p:cNvGrpSpPr/>
        <p:nvPr/>
      </p:nvGrpSpPr>
      <p:grpSpPr>
        <a:xfrm>
          <a:off x="0" y="0"/>
          <a:ext cx="0" cy="0"/>
          <a:chOff x="0" y="0"/>
          <a:chExt cx="0" cy="0"/>
        </a:xfrm>
      </p:grpSpPr>
      <p:pic>
        <p:nvPicPr>
          <p:cNvPr descr="Image result for ross school of business front entry" id="16" name="Google Shape;16;p93"/>
          <p:cNvPicPr preferRelativeResize="0"/>
          <p:nvPr/>
        </p:nvPicPr>
        <p:blipFill rotWithShape="1">
          <a:blip r:embed="rId2">
            <a:alphaModFix/>
          </a:blip>
          <a:srcRect b="0" l="0" r="0" t="0"/>
          <a:stretch/>
        </p:blipFill>
        <p:spPr>
          <a:xfrm>
            <a:off x="5396" y="1173021"/>
            <a:ext cx="9138604" cy="5699226"/>
          </a:xfrm>
          <a:prstGeom prst="rect">
            <a:avLst/>
          </a:prstGeom>
          <a:noFill/>
          <a:ln>
            <a:noFill/>
          </a:ln>
        </p:spPr>
      </p:pic>
      <p:grpSp>
        <p:nvGrpSpPr>
          <p:cNvPr id="17" name="Google Shape;17;p93"/>
          <p:cNvGrpSpPr/>
          <p:nvPr/>
        </p:nvGrpSpPr>
        <p:grpSpPr>
          <a:xfrm>
            <a:off x="1" y="-1"/>
            <a:ext cx="9143999" cy="2152074"/>
            <a:chOff x="497339" y="110111"/>
            <a:chExt cx="10873727" cy="1173615"/>
          </a:xfrm>
        </p:grpSpPr>
        <p:sp>
          <p:nvSpPr>
            <p:cNvPr id="18" name="Google Shape;18;p93"/>
            <p:cNvSpPr/>
            <p:nvPr/>
          </p:nvSpPr>
          <p:spPr>
            <a:xfrm>
              <a:off x="1387006" y="110111"/>
              <a:ext cx="9984060" cy="1173615"/>
            </a:xfrm>
            <a:prstGeom prst="rect">
              <a:avLst/>
            </a:prstGeom>
            <a:solidFill>
              <a:srgbClr val="5F5F5F"/>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sp>
          <p:nvSpPr>
            <p:cNvPr id="19" name="Google Shape;19;p93"/>
            <p:cNvSpPr/>
            <p:nvPr/>
          </p:nvSpPr>
          <p:spPr>
            <a:xfrm>
              <a:off x="925694" y="590284"/>
              <a:ext cx="9605128" cy="514695"/>
            </a:xfrm>
            <a:prstGeom prst="rect">
              <a:avLst/>
            </a:prstGeom>
            <a:solidFill>
              <a:schemeClr val="accent2"/>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sp>
          <p:nvSpPr>
            <p:cNvPr id="20" name="Google Shape;20;p93"/>
            <p:cNvSpPr/>
            <p:nvPr/>
          </p:nvSpPr>
          <p:spPr>
            <a:xfrm>
              <a:off x="497339" y="112923"/>
              <a:ext cx="10873727" cy="636885"/>
            </a:xfrm>
            <a:prstGeom prst="rect">
              <a:avLst/>
            </a:prstGeom>
            <a:solidFill>
              <a:srgbClr val="162051"/>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grpSp>
      <p:sp>
        <p:nvSpPr>
          <p:cNvPr id="21" name="Google Shape;21;p93"/>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rgbClr val="D8D8D8"/>
              </a:buClr>
              <a:buSzPts val="2800"/>
              <a:buFont typeface="Calibri"/>
              <a:buNone/>
              <a:defRPr sz="2800">
                <a:solidFill>
                  <a:srgbClr val="D8D8D8"/>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descr="Image result for University of michigan Banner" id="22" name="Google Shape;22;p93"/>
          <p:cNvPicPr preferRelativeResize="0"/>
          <p:nvPr/>
        </p:nvPicPr>
        <p:blipFill rotWithShape="1">
          <a:blip r:embed="rId3">
            <a:alphaModFix/>
          </a:blip>
          <a:srcRect b="0" l="0" r="0" t="0"/>
          <a:stretch/>
        </p:blipFill>
        <p:spPr>
          <a:xfrm>
            <a:off x="6521116" y="6385601"/>
            <a:ext cx="2222834" cy="368935"/>
          </a:xfrm>
          <a:prstGeom prst="rect">
            <a:avLst/>
          </a:prstGeom>
          <a:noFill/>
          <a:ln>
            <a:noFill/>
          </a:ln>
        </p:spPr>
      </p:pic>
      <p:grpSp>
        <p:nvGrpSpPr>
          <p:cNvPr id="23" name="Google Shape;23;p93"/>
          <p:cNvGrpSpPr/>
          <p:nvPr/>
        </p:nvGrpSpPr>
        <p:grpSpPr>
          <a:xfrm>
            <a:off x="-1" y="4969042"/>
            <a:ext cx="3248527" cy="1888958"/>
            <a:chOff x="-1" y="4969042"/>
            <a:chExt cx="3248527" cy="1888958"/>
          </a:xfrm>
        </p:grpSpPr>
        <p:grpSp>
          <p:nvGrpSpPr>
            <p:cNvPr id="24" name="Google Shape;24;p93"/>
            <p:cNvGrpSpPr/>
            <p:nvPr/>
          </p:nvGrpSpPr>
          <p:grpSpPr>
            <a:xfrm>
              <a:off x="-1" y="4969042"/>
              <a:ext cx="3248527" cy="1888958"/>
              <a:chOff x="-1" y="4969042"/>
              <a:chExt cx="3248527" cy="1888958"/>
            </a:xfrm>
          </p:grpSpPr>
          <p:sp>
            <p:nvSpPr>
              <p:cNvPr id="25" name="Google Shape;25;p93"/>
              <p:cNvSpPr/>
              <p:nvPr/>
            </p:nvSpPr>
            <p:spPr>
              <a:xfrm>
                <a:off x="-1" y="5907505"/>
                <a:ext cx="3248527" cy="950495"/>
              </a:xfrm>
              <a:prstGeom prst="rtTriangle">
                <a:avLst/>
              </a:prstGeom>
              <a:solidFill>
                <a:schemeClr val="accent5"/>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sp>
            <p:nvSpPr>
              <p:cNvPr id="26" name="Google Shape;26;p93"/>
              <p:cNvSpPr/>
              <p:nvPr/>
            </p:nvSpPr>
            <p:spPr>
              <a:xfrm>
                <a:off x="0" y="6124074"/>
                <a:ext cx="3104147" cy="733926"/>
              </a:xfrm>
              <a:prstGeom prst="rtTriangle">
                <a:avLst/>
              </a:prstGeom>
              <a:solidFill>
                <a:srgbClr val="162051"/>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sp>
            <p:nvSpPr>
              <p:cNvPr id="27" name="Google Shape;27;p93"/>
              <p:cNvSpPr/>
              <p:nvPr/>
            </p:nvSpPr>
            <p:spPr>
              <a:xfrm>
                <a:off x="0" y="4969042"/>
                <a:ext cx="503321" cy="1888958"/>
              </a:xfrm>
              <a:prstGeom prst="rtTriangle">
                <a:avLst/>
              </a:prstGeom>
              <a:solidFill>
                <a:schemeClr val="lt2"/>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grpSp>
        <p:sp>
          <p:nvSpPr>
            <p:cNvPr id="28" name="Google Shape;28;p93"/>
            <p:cNvSpPr txBox="1"/>
            <p:nvPr/>
          </p:nvSpPr>
          <p:spPr>
            <a:xfrm>
              <a:off x="515348" y="6497876"/>
              <a:ext cx="988599" cy="33606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F2F2F2"/>
                  </a:solidFill>
                  <a:latin typeface="Arial"/>
                  <a:ea typeface="Arial"/>
                  <a:cs typeface="Arial"/>
                  <a:sym typeface="Arial"/>
                </a:rPr>
                <a:t>Consulting Club </a:t>
              </a:r>
              <a:r>
                <a:rPr b="1" i="0" lang="en-US" sz="1000" u="none" cap="none" strike="noStrike">
                  <a:solidFill>
                    <a:schemeClr val="accent2"/>
                  </a:solidFill>
                  <a:latin typeface="Arial"/>
                  <a:ea typeface="Arial"/>
                  <a:cs typeface="Arial"/>
                  <a:sym typeface="Arial"/>
                </a:rPr>
                <a:t>@</a:t>
              </a:r>
              <a:r>
                <a:rPr b="1" i="0" lang="en-US" sz="1000" u="none" cap="none" strike="noStrike">
                  <a:solidFill>
                    <a:srgbClr val="F2F2F2"/>
                  </a:solidFill>
                  <a:latin typeface="Arial"/>
                  <a:ea typeface="Arial"/>
                  <a:cs typeface="Arial"/>
                  <a:sym typeface="Arial"/>
                </a:rPr>
                <a:t> Ross</a:t>
              </a:r>
              <a:endParaRPr b="1" i="0" sz="1000" u="none" cap="none" strike="noStrike">
                <a:solidFill>
                  <a:srgbClr val="F2F2F2"/>
                </a:solidFill>
                <a:latin typeface="Arial"/>
                <a:ea typeface="Arial"/>
                <a:cs typeface="Arial"/>
                <a:sym typeface="Arial"/>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wo under Text">
  <p:cSld name="Content: Two under Text">
    <p:spTree>
      <p:nvGrpSpPr>
        <p:cNvPr id="29" name="Shape 29"/>
        <p:cNvGrpSpPr/>
        <p:nvPr/>
      </p:nvGrpSpPr>
      <p:grpSpPr>
        <a:xfrm>
          <a:off x="0" y="0"/>
          <a:ext cx="0" cy="0"/>
          <a:chOff x="0" y="0"/>
          <a:chExt cx="0" cy="0"/>
        </a:xfrm>
      </p:grpSpPr>
      <p:grpSp>
        <p:nvGrpSpPr>
          <p:cNvPr id="30" name="Google Shape;30;p94"/>
          <p:cNvGrpSpPr/>
          <p:nvPr/>
        </p:nvGrpSpPr>
        <p:grpSpPr>
          <a:xfrm>
            <a:off x="-1" y="4969042"/>
            <a:ext cx="3248527" cy="1888958"/>
            <a:chOff x="-1" y="4969042"/>
            <a:chExt cx="3248527" cy="1888958"/>
          </a:xfrm>
        </p:grpSpPr>
        <p:sp>
          <p:nvSpPr>
            <p:cNvPr id="31" name="Google Shape;31;p94"/>
            <p:cNvSpPr/>
            <p:nvPr/>
          </p:nvSpPr>
          <p:spPr>
            <a:xfrm>
              <a:off x="-1" y="5907505"/>
              <a:ext cx="3248527" cy="950495"/>
            </a:xfrm>
            <a:prstGeom prst="rtTriangle">
              <a:avLst/>
            </a:prstGeom>
            <a:solidFill>
              <a:schemeClr val="accent5"/>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sp>
          <p:nvSpPr>
            <p:cNvPr id="32" name="Google Shape;32;p94"/>
            <p:cNvSpPr/>
            <p:nvPr/>
          </p:nvSpPr>
          <p:spPr>
            <a:xfrm>
              <a:off x="0" y="6124074"/>
              <a:ext cx="3104147" cy="733926"/>
            </a:xfrm>
            <a:prstGeom prst="rtTriangle">
              <a:avLst/>
            </a:prstGeom>
            <a:solidFill>
              <a:srgbClr val="162051"/>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sp>
          <p:nvSpPr>
            <p:cNvPr id="33" name="Google Shape;33;p94"/>
            <p:cNvSpPr/>
            <p:nvPr/>
          </p:nvSpPr>
          <p:spPr>
            <a:xfrm>
              <a:off x="0" y="4969042"/>
              <a:ext cx="503321" cy="1888958"/>
            </a:xfrm>
            <a:prstGeom prst="rtTriangle">
              <a:avLst/>
            </a:prstGeom>
            <a:solidFill>
              <a:schemeClr val="lt2"/>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grpSp>
      <p:grpSp>
        <p:nvGrpSpPr>
          <p:cNvPr id="34" name="Google Shape;34;p94"/>
          <p:cNvGrpSpPr/>
          <p:nvPr/>
        </p:nvGrpSpPr>
        <p:grpSpPr>
          <a:xfrm>
            <a:off x="368302" y="93134"/>
            <a:ext cx="8375648" cy="737045"/>
            <a:chOff x="491067" y="93134"/>
            <a:chExt cx="11167531" cy="922866"/>
          </a:xfrm>
        </p:grpSpPr>
        <p:sp>
          <p:nvSpPr>
            <p:cNvPr id="35" name="Google Shape;35;p94"/>
            <p:cNvSpPr/>
            <p:nvPr/>
          </p:nvSpPr>
          <p:spPr>
            <a:xfrm>
              <a:off x="863598" y="194737"/>
              <a:ext cx="10795000" cy="520943"/>
            </a:xfrm>
            <a:prstGeom prst="rect">
              <a:avLst/>
            </a:prstGeom>
            <a:solidFill>
              <a:srgbClr val="5F5F5F"/>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sp>
          <p:nvSpPr>
            <p:cNvPr id="36" name="Google Shape;36;p94"/>
            <p:cNvSpPr/>
            <p:nvPr/>
          </p:nvSpPr>
          <p:spPr>
            <a:xfrm>
              <a:off x="745068" y="330202"/>
              <a:ext cx="10761133" cy="685798"/>
            </a:xfrm>
            <a:prstGeom prst="rect">
              <a:avLst/>
            </a:prstGeom>
            <a:solidFill>
              <a:schemeClr val="accent2"/>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sp>
          <p:nvSpPr>
            <p:cNvPr id="37" name="Google Shape;37;p94"/>
            <p:cNvSpPr/>
            <p:nvPr/>
          </p:nvSpPr>
          <p:spPr>
            <a:xfrm>
              <a:off x="491067" y="93134"/>
              <a:ext cx="10786532" cy="685800"/>
            </a:xfrm>
            <a:prstGeom prst="rect">
              <a:avLst/>
            </a:prstGeom>
            <a:solidFill>
              <a:srgbClr val="162051"/>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grpSp>
      <p:sp>
        <p:nvSpPr>
          <p:cNvPr id="38" name="Google Shape;38;p94"/>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rgbClr val="D8D8D8"/>
              </a:buClr>
              <a:buSzPts val="2800"/>
              <a:buFont typeface="Calibri"/>
              <a:buNone/>
              <a:defRPr sz="2800">
                <a:solidFill>
                  <a:srgbClr val="D8D8D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descr="Image result for University of michigan Banner" id="39" name="Google Shape;39;p94"/>
          <p:cNvPicPr preferRelativeResize="0"/>
          <p:nvPr/>
        </p:nvPicPr>
        <p:blipFill rotWithShape="1">
          <a:blip r:embed="rId2">
            <a:alphaModFix/>
          </a:blip>
          <a:srcRect b="0" l="0" r="0" t="0"/>
          <a:stretch/>
        </p:blipFill>
        <p:spPr>
          <a:xfrm>
            <a:off x="6521116" y="6385601"/>
            <a:ext cx="2222834" cy="368935"/>
          </a:xfrm>
          <a:prstGeom prst="rect">
            <a:avLst/>
          </a:prstGeom>
          <a:noFill/>
          <a:ln>
            <a:noFill/>
          </a:ln>
        </p:spPr>
      </p:pic>
      <p:sp>
        <p:nvSpPr>
          <p:cNvPr id="40" name="Google Shape;40;p94"/>
          <p:cNvSpPr txBox="1"/>
          <p:nvPr>
            <p:ph idx="1" type="body"/>
          </p:nvPr>
        </p:nvSpPr>
        <p:spPr>
          <a:xfrm>
            <a:off x="381001" y="1283365"/>
            <a:ext cx="8341656" cy="4985087"/>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lvl1pPr indent="-228600" lvl="0" marL="457200" algn="l">
              <a:lnSpc>
                <a:spcPct val="100000"/>
              </a:lnSpc>
              <a:spcBef>
                <a:spcPts val="0"/>
              </a:spcBef>
              <a:spcAft>
                <a:spcPts val="0"/>
              </a:spcAft>
              <a:buSzPts val="1400"/>
              <a:buFont typeface="Calibri"/>
              <a:buNone/>
              <a:defRPr sz="1400">
                <a:solidFill>
                  <a:schemeClr val="accent5"/>
                </a:solidFill>
                <a:latin typeface="Calibri"/>
                <a:ea typeface="Calibri"/>
                <a:cs typeface="Calibri"/>
                <a:sym typeface="Calibri"/>
              </a:defRPr>
            </a:lvl1pPr>
            <a:lvl2pPr indent="-317500" lvl="1" marL="9144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2pPr>
            <a:lvl3pPr indent="-317500" lvl="2" marL="13716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3pPr>
            <a:lvl4pPr indent="-317500" lvl="3" marL="18288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4pPr>
            <a:lvl5pPr indent="-317500" lvl="4" marL="22860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5pPr>
            <a:lvl6pPr indent="-342900" lvl="5" marL="2743200" algn="l">
              <a:lnSpc>
                <a:spcPct val="100000"/>
              </a:lnSpc>
              <a:spcBef>
                <a:spcPts val="300"/>
              </a:spcBef>
              <a:spcAft>
                <a:spcPts val="0"/>
              </a:spcAft>
              <a:buSzPts val="1800"/>
              <a:buAutoNum type="arabicPeriod"/>
              <a:defRPr/>
            </a:lvl6pPr>
            <a:lvl7pPr indent="-342900" lvl="6" marL="3200400" algn="l">
              <a:lnSpc>
                <a:spcPct val="100000"/>
              </a:lnSpc>
              <a:spcBef>
                <a:spcPts val="900"/>
              </a:spcBef>
              <a:spcAft>
                <a:spcPts val="0"/>
              </a:spcAft>
              <a:buClr>
                <a:schemeClr val="dk1"/>
              </a:buClr>
              <a:buSzPts val="1800"/>
              <a:buAutoNum type="alphaLcPeriod"/>
              <a:defRPr/>
            </a:lvl7pPr>
            <a:lvl8pPr indent="-342900" lvl="7" marL="3657600" algn="l">
              <a:lnSpc>
                <a:spcPct val="100000"/>
              </a:lnSpc>
              <a:spcBef>
                <a:spcPts val="900"/>
              </a:spcBef>
              <a:spcAft>
                <a:spcPts val="0"/>
              </a:spcAft>
              <a:buClr>
                <a:schemeClr val="dk1"/>
              </a:buClr>
              <a:buSzPts val="1800"/>
              <a:buAutoNum type="romanLcPeriod"/>
              <a:defRPr/>
            </a:lvl8pPr>
            <a:lvl9pPr indent="-228600" lvl="8" marL="4114800" algn="l">
              <a:lnSpc>
                <a:spcPct val="100000"/>
              </a:lnSpc>
              <a:spcBef>
                <a:spcPts val="900"/>
              </a:spcBef>
              <a:spcAft>
                <a:spcPts val="900"/>
              </a:spcAft>
              <a:buClr>
                <a:schemeClr val="dk2"/>
              </a:buClr>
              <a:buSzPts val="1800"/>
              <a:buNone/>
              <a:defRPr/>
            </a:lvl9pPr>
          </a:lstStyle>
          <a:p/>
        </p:txBody>
      </p:sp>
      <p:sp>
        <p:nvSpPr>
          <p:cNvPr id="41" name="Google Shape;41;p94"/>
          <p:cNvSpPr/>
          <p:nvPr/>
        </p:nvSpPr>
        <p:spPr>
          <a:xfrm>
            <a:off x="368301" y="962526"/>
            <a:ext cx="8375649" cy="337879"/>
          </a:xfrm>
          <a:prstGeom prst="rect">
            <a:avLst/>
          </a:prstGeom>
          <a:solidFill>
            <a:srgbClr val="162051"/>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2F2F2"/>
              </a:solidFill>
              <a:latin typeface="Calibri"/>
              <a:ea typeface="Calibri"/>
              <a:cs typeface="Calibri"/>
              <a:sym typeface="Calibri"/>
            </a:endParaRPr>
          </a:p>
        </p:txBody>
      </p:sp>
      <p:sp>
        <p:nvSpPr>
          <p:cNvPr id="42" name="Google Shape;42;p94"/>
          <p:cNvSpPr txBox="1"/>
          <p:nvPr>
            <p:ph idx="2" type="body"/>
          </p:nvPr>
        </p:nvSpPr>
        <p:spPr>
          <a:xfrm>
            <a:off x="503321" y="1022905"/>
            <a:ext cx="8126332" cy="2775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800"/>
              <a:buFont typeface="Calibri"/>
              <a:buNone/>
              <a:defRPr sz="1800">
                <a:solidFill>
                  <a:srgbClr val="E5E5E5"/>
                </a:solidFill>
                <a:latin typeface="Calibri"/>
                <a:ea typeface="Calibri"/>
                <a:cs typeface="Calibri"/>
                <a:sym typeface="Calibri"/>
              </a:defRPr>
            </a:lvl1pPr>
            <a:lvl2pPr indent="-228600" lvl="1" marL="914400" algn="l">
              <a:lnSpc>
                <a:spcPct val="100000"/>
              </a:lnSpc>
              <a:spcBef>
                <a:spcPts val="900"/>
              </a:spcBef>
              <a:spcAft>
                <a:spcPts val="0"/>
              </a:spcAft>
              <a:buSzPts val="1800"/>
              <a:buNone/>
              <a:defRPr sz="1800">
                <a:solidFill>
                  <a:srgbClr val="E5E5E5"/>
                </a:solidFill>
                <a:latin typeface="Calibri"/>
                <a:ea typeface="Calibri"/>
                <a:cs typeface="Calibri"/>
                <a:sym typeface="Calibri"/>
              </a:defRPr>
            </a:lvl2pPr>
            <a:lvl3pPr indent="-228600" lvl="2" marL="1371600" algn="l">
              <a:lnSpc>
                <a:spcPct val="100000"/>
              </a:lnSpc>
              <a:spcBef>
                <a:spcPts val="900"/>
              </a:spcBef>
              <a:spcAft>
                <a:spcPts val="0"/>
              </a:spcAft>
              <a:buSzPts val="1800"/>
              <a:buNone/>
              <a:defRPr sz="1800">
                <a:solidFill>
                  <a:srgbClr val="E5E5E5"/>
                </a:solidFill>
                <a:latin typeface="Calibri"/>
                <a:ea typeface="Calibri"/>
                <a:cs typeface="Calibri"/>
                <a:sym typeface="Calibri"/>
              </a:defRPr>
            </a:lvl3pPr>
            <a:lvl4pPr indent="-228600" lvl="3" marL="1828800" algn="l">
              <a:lnSpc>
                <a:spcPct val="100000"/>
              </a:lnSpc>
              <a:spcBef>
                <a:spcPts val="900"/>
              </a:spcBef>
              <a:spcAft>
                <a:spcPts val="0"/>
              </a:spcAft>
              <a:buSzPts val="1800"/>
              <a:buNone/>
              <a:defRPr sz="1800">
                <a:solidFill>
                  <a:srgbClr val="E5E5E5"/>
                </a:solidFill>
                <a:latin typeface="Calibri"/>
                <a:ea typeface="Calibri"/>
                <a:cs typeface="Calibri"/>
                <a:sym typeface="Calibri"/>
              </a:defRPr>
            </a:lvl4pPr>
            <a:lvl5pPr indent="-228600" lvl="4" marL="2286000" algn="l">
              <a:lnSpc>
                <a:spcPct val="100000"/>
              </a:lnSpc>
              <a:spcBef>
                <a:spcPts val="900"/>
              </a:spcBef>
              <a:spcAft>
                <a:spcPts val="0"/>
              </a:spcAft>
              <a:buSzPts val="1800"/>
              <a:buNone/>
              <a:defRPr sz="1800">
                <a:solidFill>
                  <a:srgbClr val="E5E5E5"/>
                </a:solidFill>
                <a:latin typeface="Calibri"/>
                <a:ea typeface="Calibri"/>
                <a:cs typeface="Calibri"/>
                <a:sym typeface="Calibri"/>
              </a:defRPr>
            </a:lvl5pPr>
            <a:lvl6pPr indent="-342900" lvl="5" marL="2743200" algn="l">
              <a:lnSpc>
                <a:spcPct val="100000"/>
              </a:lnSpc>
              <a:spcBef>
                <a:spcPts val="900"/>
              </a:spcBef>
              <a:spcAft>
                <a:spcPts val="0"/>
              </a:spcAft>
              <a:buSzPts val="1800"/>
              <a:buAutoNum type="arabicPeriod"/>
              <a:defRPr/>
            </a:lvl6pPr>
            <a:lvl7pPr indent="-342900" lvl="6" marL="3200400" algn="l">
              <a:lnSpc>
                <a:spcPct val="100000"/>
              </a:lnSpc>
              <a:spcBef>
                <a:spcPts val="900"/>
              </a:spcBef>
              <a:spcAft>
                <a:spcPts val="0"/>
              </a:spcAft>
              <a:buClr>
                <a:schemeClr val="dk1"/>
              </a:buClr>
              <a:buSzPts val="1800"/>
              <a:buAutoNum type="alphaLcPeriod"/>
              <a:defRPr/>
            </a:lvl7pPr>
            <a:lvl8pPr indent="-342900" lvl="7" marL="3657600" algn="l">
              <a:lnSpc>
                <a:spcPct val="100000"/>
              </a:lnSpc>
              <a:spcBef>
                <a:spcPts val="900"/>
              </a:spcBef>
              <a:spcAft>
                <a:spcPts val="0"/>
              </a:spcAft>
              <a:buClr>
                <a:schemeClr val="dk1"/>
              </a:buClr>
              <a:buSzPts val="1800"/>
              <a:buAutoNum type="romanLcPeriod"/>
              <a:defRPr/>
            </a:lvl8pPr>
            <a:lvl9pPr indent="-228600" lvl="8" marL="4114800" algn="l">
              <a:lnSpc>
                <a:spcPct val="100000"/>
              </a:lnSpc>
              <a:spcBef>
                <a:spcPts val="900"/>
              </a:spcBef>
              <a:spcAft>
                <a:spcPts val="900"/>
              </a:spcAft>
              <a:buClr>
                <a:schemeClr val="dk2"/>
              </a:buClr>
              <a:buSzPts val="1800"/>
              <a:buNone/>
              <a:defRPr/>
            </a:lvl9pPr>
          </a:lstStyle>
          <a:p/>
        </p:txBody>
      </p:sp>
      <p:sp>
        <p:nvSpPr>
          <p:cNvPr id="43" name="Google Shape;43;p94"/>
          <p:cNvSpPr txBox="1"/>
          <p:nvPr/>
        </p:nvSpPr>
        <p:spPr>
          <a:xfrm>
            <a:off x="515348" y="6497876"/>
            <a:ext cx="988599" cy="33606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F2F2F2"/>
                </a:solidFill>
                <a:latin typeface="Arial"/>
                <a:ea typeface="Arial"/>
                <a:cs typeface="Arial"/>
                <a:sym typeface="Arial"/>
              </a:rPr>
              <a:t>Consulting Club </a:t>
            </a:r>
            <a:r>
              <a:rPr b="1" i="0" lang="en-US" sz="1000" u="none" cap="none" strike="noStrike">
                <a:solidFill>
                  <a:schemeClr val="accent2"/>
                </a:solidFill>
                <a:latin typeface="Arial"/>
                <a:ea typeface="Arial"/>
                <a:cs typeface="Arial"/>
                <a:sym typeface="Arial"/>
              </a:rPr>
              <a:t>@</a:t>
            </a:r>
            <a:r>
              <a:rPr b="1" i="0" lang="en-US" sz="1000" u="none" cap="none" strike="noStrike">
                <a:solidFill>
                  <a:srgbClr val="F2F2F2"/>
                </a:solidFill>
                <a:latin typeface="Arial"/>
                <a:ea typeface="Arial"/>
                <a:cs typeface="Arial"/>
                <a:sym typeface="Arial"/>
              </a:rPr>
              <a:t> Ross</a:t>
            </a:r>
            <a:endParaRPr b="1" i="0" sz="1000" u="none" cap="none" strike="noStrike">
              <a:solidFill>
                <a:srgbClr val="F2F2F2"/>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hree">
  <p:cSld name="Content: Three">
    <p:spTree>
      <p:nvGrpSpPr>
        <p:cNvPr id="44" name="Shape 44"/>
        <p:cNvGrpSpPr/>
        <p:nvPr/>
      </p:nvGrpSpPr>
      <p:grpSpPr>
        <a:xfrm>
          <a:off x="0" y="0"/>
          <a:ext cx="0" cy="0"/>
          <a:chOff x="0" y="0"/>
          <a:chExt cx="0" cy="0"/>
        </a:xfrm>
      </p:grpSpPr>
      <p:grpSp>
        <p:nvGrpSpPr>
          <p:cNvPr id="45" name="Google Shape;45;p95"/>
          <p:cNvGrpSpPr/>
          <p:nvPr/>
        </p:nvGrpSpPr>
        <p:grpSpPr>
          <a:xfrm>
            <a:off x="-1" y="4969042"/>
            <a:ext cx="3248527" cy="1888958"/>
            <a:chOff x="-1" y="4969042"/>
            <a:chExt cx="3248527" cy="1888958"/>
          </a:xfrm>
        </p:grpSpPr>
        <p:sp>
          <p:nvSpPr>
            <p:cNvPr id="46" name="Google Shape;46;p95"/>
            <p:cNvSpPr/>
            <p:nvPr/>
          </p:nvSpPr>
          <p:spPr>
            <a:xfrm>
              <a:off x="-1" y="5907505"/>
              <a:ext cx="3248527" cy="950495"/>
            </a:xfrm>
            <a:prstGeom prst="rtTriangle">
              <a:avLst/>
            </a:prstGeom>
            <a:solidFill>
              <a:schemeClr val="accent5"/>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sp>
          <p:nvSpPr>
            <p:cNvPr id="47" name="Google Shape;47;p95"/>
            <p:cNvSpPr/>
            <p:nvPr/>
          </p:nvSpPr>
          <p:spPr>
            <a:xfrm>
              <a:off x="0" y="6124074"/>
              <a:ext cx="3104147" cy="733926"/>
            </a:xfrm>
            <a:prstGeom prst="rtTriangle">
              <a:avLst/>
            </a:prstGeom>
            <a:solidFill>
              <a:srgbClr val="162051"/>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sp>
          <p:nvSpPr>
            <p:cNvPr id="48" name="Google Shape;48;p95"/>
            <p:cNvSpPr/>
            <p:nvPr/>
          </p:nvSpPr>
          <p:spPr>
            <a:xfrm>
              <a:off x="0" y="4969042"/>
              <a:ext cx="503321" cy="1888958"/>
            </a:xfrm>
            <a:prstGeom prst="rtTriangle">
              <a:avLst/>
            </a:prstGeom>
            <a:solidFill>
              <a:schemeClr val="lt2"/>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grpSp>
      <p:grpSp>
        <p:nvGrpSpPr>
          <p:cNvPr id="49" name="Google Shape;49;p95"/>
          <p:cNvGrpSpPr/>
          <p:nvPr/>
        </p:nvGrpSpPr>
        <p:grpSpPr>
          <a:xfrm>
            <a:off x="368302" y="93134"/>
            <a:ext cx="8375648" cy="737045"/>
            <a:chOff x="491067" y="93134"/>
            <a:chExt cx="11167531" cy="922866"/>
          </a:xfrm>
        </p:grpSpPr>
        <p:sp>
          <p:nvSpPr>
            <p:cNvPr id="50" name="Google Shape;50;p95"/>
            <p:cNvSpPr/>
            <p:nvPr/>
          </p:nvSpPr>
          <p:spPr>
            <a:xfrm>
              <a:off x="863598" y="194737"/>
              <a:ext cx="10795000" cy="520943"/>
            </a:xfrm>
            <a:prstGeom prst="rect">
              <a:avLst/>
            </a:prstGeom>
            <a:solidFill>
              <a:srgbClr val="5F5F5F"/>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sp>
          <p:nvSpPr>
            <p:cNvPr id="51" name="Google Shape;51;p95"/>
            <p:cNvSpPr/>
            <p:nvPr/>
          </p:nvSpPr>
          <p:spPr>
            <a:xfrm>
              <a:off x="745068" y="330202"/>
              <a:ext cx="10761133" cy="685798"/>
            </a:xfrm>
            <a:prstGeom prst="rect">
              <a:avLst/>
            </a:prstGeom>
            <a:solidFill>
              <a:schemeClr val="accent2"/>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sp>
          <p:nvSpPr>
            <p:cNvPr id="52" name="Google Shape;52;p95"/>
            <p:cNvSpPr/>
            <p:nvPr/>
          </p:nvSpPr>
          <p:spPr>
            <a:xfrm>
              <a:off x="491067" y="93134"/>
              <a:ext cx="10786532" cy="685800"/>
            </a:xfrm>
            <a:prstGeom prst="rect">
              <a:avLst/>
            </a:prstGeom>
            <a:solidFill>
              <a:srgbClr val="162051"/>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grpSp>
      <p:sp>
        <p:nvSpPr>
          <p:cNvPr id="53" name="Google Shape;53;p95"/>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rgbClr val="D8D8D8"/>
              </a:buClr>
              <a:buSzPts val="2800"/>
              <a:buFont typeface="Calibri"/>
              <a:buNone/>
              <a:defRPr sz="2800">
                <a:solidFill>
                  <a:srgbClr val="D8D8D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descr="Image result for University of michigan Banner" id="54" name="Google Shape;54;p95"/>
          <p:cNvPicPr preferRelativeResize="0"/>
          <p:nvPr/>
        </p:nvPicPr>
        <p:blipFill rotWithShape="1">
          <a:blip r:embed="rId2">
            <a:alphaModFix/>
          </a:blip>
          <a:srcRect b="0" l="0" r="0" t="0"/>
          <a:stretch/>
        </p:blipFill>
        <p:spPr>
          <a:xfrm>
            <a:off x="6521116" y="6385601"/>
            <a:ext cx="2222834" cy="368935"/>
          </a:xfrm>
          <a:prstGeom prst="rect">
            <a:avLst/>
          </a:prstGeom>
          <a:noFill/>
          <a:ln>
            <a:noFill/>
          </a:ln>
        </p:spPr>
      </p:pic>
      <p:sp>
        <p:nvSpPr>
          <p:cNvPr id="55" name="Google Shape;55;p95"/>
          <p:cNvSpPr txBox="1"/>
          <p:nvPr>
            <p:ph idx="1" type="body"/>
          </p:nvPr>
        </p:nvSpPr>
        <p:spPr>
          <a:xfrm>
            <a:off x="379884" y="1353373"/>
            <a:ext cx="2687781" cy="4924496"/>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lvl1pPr indent="-228600" lvl="0" marL="457200" algn="l">
              <a:lnSpc>
                <a:spcPct val="100000"/>
              </a:lnSpc>
              <a:spcBef>
                <a:spcPts val="0"/>
              </a:spcBef>
              <a:spcAft>
                <a:spcPts val="0"/>
              </a:spcAft>
              <a:buSzPts val="1400"/>
              <a:buFont typeface="Calibri"/>
              <a:buNone/>
              <a:defRPr sz="1400">
                <a:solidFill>
                  <a:schemeClr val="accent5"/>
                </a:solidFill>
                <a:latin typeface="Calibri"/>
                <a:ea typeface="Calibri"/>
                <a:cs typeface="Calibri"/>
                <a:sym typeface="Calibri"/>
              </a:defRPr>
            </a:lvl1pPr>
            <a:lvl2pPr indent="-317500" lvl="1" marL="9144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2pPr>
            <a:lvl3pPr indent="-317500" lvl="2" marL="13716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3pPr>
            <a:lvl4pPr indent="-317500" lvl="3" marL="18288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4pPr>
            <a:lvl5pPr indent="-317500" lvl="4" marL="22860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5pPr>
            <a:lvl6pPr indent="-342900" lvl="5" marL="2743200" algn="l">
              <a:lnSpc>
                <a:spcPct val="100000"/>
              </a:lnSpc>
              <a:spcBef>
                <a:spcPts val="300"/>
              </a:spcBef>
              <a:spcAft>
                <a:spcPts val="0"/>
              </a:spcAft>
              <a:buSzPts val="1800"/>
              <a:buAutoNum type="arabicPeriod"/>
              <a:defRPr/>
            </a:lvl6pPr>
            <a:lvl7pPr indent="-342900" lvl="6" marL="3200400" algn="l">
              <a:lnSpc>
                <a:spcPct val="100000"/>
              </a:lnSpc>
              <a:spcBef>
                <a:spcPts val="900"/>
              </a:spcBef>
              <a:spcAft>
                <a:spcPts val="0"/>
              </a:spcAft>
              <a:buClr>
                <a:schemeClr val="dk1"/>
              </a:buClr>
              <a:buSzPts val="1800"/>
              <a:buAutoNum type="alphaLcPeriod"/>
              <a:defRPr/>
            </a:lvl7pPr>
            <a:lvl8pPr indent="-342900" lvl="7" marL="3657600" algn="l">
              <a:lnSpc>
                <a:spcPct val="100000"/>
              </a:lnSpc>
              <a:spcBef>
                <a:spcPts val="900"/>
              </a:spcBef>
              <a:spcAft>
                <a:spcPts val="0"/>
              </a:spcAft>
              <a:buClr>
                <a:schemeClr val="dk1"/>
              </a:buClr>
              <a:buSzPts val="1800"/>
              <a:buAutoNum type="romanLcPeriod"/>
              <a:defRPr/>
            </a:lvl8pPr>
            <a:lvl9pPr indent="-228600" lvl="8" marL="4114800" algn="l">
              <a:lnSpc>
                <a:spcPct val="100000"/>
              </a:lnSpc>
              <a:spcBef>
                <a:spcPts val="900"/>
              </a:spcBef>
              <a:spcAft>
                <a:spcPts val="900"/>
              </a:spcAft>
              <a:buClr>
                <a:schemeClr val="dk2"/>
              </a:buClr>
              <a:buSzPts val="1800"/>
              <a:buNone/>
              <a:defRPr/>
            </a:lvl9pPr>
          </a:lstStyle>
          <a:p/>
        </p:txBody>
      </p:sp>
      <p:sp>
        <p:nvSpPr>
          <p:cNvPr id="56" name="Google Shape;56;p95"/>
          <p:cNvSpPr txBox="1"/>
          <p:nvPr>
            <p:ph idx="2" type="body"/>
          </p:nvPr>
        </p:nvSpPr>
        <p:spPr>
          <a:xfrm>
            <a:off x="3208531" y="1353374"/>
            <a:ext cx="2690077" cy="4924494"/>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lvl1pPr indent="-228600" lvl="0" marL="457200" algn="l">
              <a:lnSpc>
                <a:spcPct val="100000"/>
              </a:lnSpc>
              <a:spcBef>
                <a:spcPts val="0"/>
              </a:spcBef>
              <a:spcAft>
                <a:spcPts val="0"/>
              </a:spcAft>
              <a:buSzPts val="1400"/>
              <a:buFont typeface="Calibri"/>
              <a:buNone/>
              <a:defRPr sz="1400">
                <a:solidFill>
                  <a:schemeClr val="accent5"/>
                </a:solidFill>
                <a:latin typeface="Calibri"/>
                <a:ea typeface="Calibri"/>
                <a:cs typeface="Calibri"/>
                <a:sym typeface="Calibri"/>
              </a:defRPr>
            </a:lvl1pPr>
            <a:lvl2pPr indent="-317500" lvl="1" marL="9144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2pPr>
            <a:lvl3pPr indent="-317500" lvl="2" marL="13716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3pPr>
            <a:lvl4pPr indent="-317500" lvl="3" marL="18288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4pPr>
            <a:lvl5pPr indent="-317500" lvl="4" marL="22860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5pPr>
            <a:lvl6pPr indent="-342900" lvl="5" marL="2743200" algn="l">
              <a:lnSpc>
                <a:spcPct val="100000"/>
              </a:lnSpc>
              <a:spcBef>
                <a:spcPts val="300"/>
              </a:spcBef>
              <a:spcAft>
                <a:spcPts val="0"/>
              </a:spcAft>
              <a:buSzPts val="1800"/>
              <a:buAutoNum type="arabicPeriod"/>
              <a:defRPr/>
            </a:lvl6pPr>
            <a:lvl7pPr indent="-342900" lvl="6" marL="3200400" algn="l">
              <a:lnSpc>
                <a:spcPct val="100000"/>
              </a:lnSpc>
              <a:spcBef>
                <a:spcPts val="900"/>
              </a:spcBef>
              <a:spcAft>
                <a:spcPts val="0"/>
              </a:spcAft>
              <a:buClr>
                <a:schemeClr val="dk1"/>
              </a:buClr>
              <a:buSzPts val="1800"/>
              <a:buAutoNum type="alphaLcPeriod"/>
              <a:defRPr/>
            </a:lvl7pPr>
            <a:lvl8pPr indent="-342900" lvl="7" marL="3657600" algn="l">
              <a:lnSpc>
                <a:spcPct val="100000"/>
              </a:lnSpc>
              <a:spcBef>
                <a:spcPts val="900"/>
              </a:spcBef>
              <a:spcAft>
                <a:spcPts val="0"/>
              </a:spcAft>
              <a:buClr>
                <a:schemeClr val="dk1"/>
              </a:buClr>
              <a:buSzPts val="1800"/>
              <a:buAutoNum type="romanLcPeriod"/>
              <a:defRPr/>
            </a:lvl8pPr>
            <a:lvl9pPr indent="-228600" lvl="8" marL="4114800" algn="l">
              <a:lnSpc>
                <a:spcPct val="100000"/>
              </a:lnSpc>
              <a:spcBef>
                <a:spcPts val="900"/>
              </a:spcBef>
              <a:spcAft>
                <a:spcPts val="900"/>
              </a:spcAft>
              <a:buClr>
                <a:schemeClr val="dk2"/>
              </a:buClr>
              <a:buSzPts val="1800"/>
              <a:buNone/>
              <a:defRPr/>
            </a:lvl9pPr>
          </a:lstStyle>
          <a:p/>
        </p:txBody>
      </p:sp>
      <p:sp>
        <p:nvSpPr>
          <p:cNvPr id="57" name="Google Shape;57;p95"/>
          <p:cNvSpPr/>
          <p:nvPr/>
        </p:nvSpPr>
        <p:spPr>
          <a:xfrm>
            <a:off x="368302" y="998617"/>
            <a:ext cx="2704560" cy="354757"/>
          </a:xfrm>
          <a:prstGeom prst="rect">
            <a:avLst/>
          </a:prstGeom>
          <a:solidFill>
            <a:srgbClr val="162051"/>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2F2F2"/>
              </a:solidFill>
              <a:latin typeface="Calibri"/>
              <a:ea typeface="Calibri"/>
              <a:cs typeface="Calibri"/>
              <a:sym typeface="Calibri"/>
            </a:endParaRPr>
          </a:p>
        </p:txBody>
      </p:sp>
      <p:sp>
        <p:nvSpPr>
          <p:cNvPr id="58" name="Google Shape;58;p95"/>
          <p:cNvSpPr/>
          <p:nvPr/>
        </p:nvSpPr>
        <p:spPr>
          <a:xfrm>
            <a:off x="3193350" y="998618"/>
            <a:ext cx="2710545" cy="354757"/>
          </a:xfrm>
          <a:prstGeom prst="rect">
            <a:avLst/>
          </a:prstGeom>
          <a:solidFill>
            <a:srgbClr val="162051"/>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2F2F2"/>
              </a:solidFill>
              <a:latin typeface="Calibri"/>
              <a:ea typeface="Calibri"/>
              <a:cs typeface="Calibri"/>
              <a:sym typeface="Calibri"/>
            </a:endParaRPr>
          </a:p>
        </p:txBody>
      </p:sp>
      <p:sp>
        <p:nvSpPr>
          <p:cNvPr id="59" name="Google Shape;59;p95"/>
          <p:cNvSpPr txBox="1"/>
          <p:nvPr>
            <p:ph idx="3" type="body"/>
          </p:nvPr>
        </p:nvSpPr>
        <p:spPr>
          <a:xfrm>
            <a:off x="6039474" y="1353374"/>
            <a:ext cx="2690077" cy="4924494"/>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lvl1pPr indent="-228600" lvl="0" marL="457200" algn="l">
              <a:lnSpc>
                <a:spcPct val="100000"/>
              </a:lnSpc>
              <a:spcBef>
                <a:spcPts val="0"/>
              </a:spcBef>
              <a:spcAft>
                <a:spcPts val="0"/>
              </a:spcAft>
              <a:buSzPts val="1400"/>
              <a:buFont typeface="Calibri"/>
              <a:buNone/>
              <a:defRPr sz="1400">
                <a:solidFill>
                  <a:schemeClr val="accent5"/>
                </a:solidFill>
                <a:latin typeface="Calibri"/>
                <a:ea typeface="Calibri"/>
                <a:cs typeface="Calibri"/>
                <a:sym typeface="Calibri"/>
              </a:defRPr>
            </a:lvl1pPr>
            <a:lvl2pPr indent="-317500" lvl="1" marL="9144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2pPr>
            <a:lvl3pPr indent="-317500" lvl="2" marL="13716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3pPr>
            <a:lvl4pPr indent="-317500" lvl="3" marL="18288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4pPr>
            <a:lvl5pPr indent="-317500" lvl="4" marL="22860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5pPr>
            <a:lvl6pPr indent="-342900" lvl="5" marL="2743200" algn="l">
              <a:lnSpc>
                <a:spcPct val="100000"/>
              </a:lnSpc>
              <a:spcBef>
                <a:spcPts val="300"/>
              </a:spcBef>
              <a:spcAft>
                <a:spcPts val="0"/>
              </a:spcAft>
              <a:buSzPts val="1800"/>
              <a:buAutoNum type="arabicPeriod"/>
              <a:defRPr/>
            </a:lvl6pPr>
            <a:lvl7pPr indent="-342900" lvl="6" marL="3200400" algn="l">
              <a:lnSpc>
                <a:spcPct val="100000"/>
              </a:lnSpc>
              <a:spcBef>
                <a:spcPts val="900"/>
              </a:spcBef>
              <a:spcAft>
                <a:spcPts val="0"/>
              </a:spcAft>
              <a:buClr>
                <a:schemeClr val="dk1"/>
              </a:buClr>
              <a:buSzPts val="1800"/>
              <a:buAutoNum type="alphaLcPeriod"/>
              <a:defRPr/>
            </a:lvl7pPr>
            <a:lvl8pPr indent="-342900" lvl="7" marL="3657600" algn="l">
              <a:lnSpc>
                <a:spcPct val="100000"/>
              </a:lnSpc>
              <a:spcBef>
                <a:spcPts val="900"/>
              </a:spcBef>
              <a:spcAft>
                <a:spcPts val="0"/>
              </a:spcAft>
              <a:buClr>
                <a:schemeClr val="dk1"/>
              </a:buClr>
              <a:buSzPts val="1800"/>
              <a:buAutoNum type="romanLcPeriod"/>
              <a:defRPr/>
            </a:lvl8pPr>
            <a:lvl9pPr indent="-228600" lvl="8" marL="4114800" algn="l">
              <a:lnSpc>
                <a:spcPct val="100000"/>
              </a:lnSpc>
              <a:spcBef>
                <a:spcPts val="900"/>
              </a:spcBef>
              <a:spcAft>
                <a:spcPts val="900"/>
              </a:spcAft>
              <a:buClr>
                <a:schemeClr val="dk2"/>
              </a:buClr>
              <a:buSzPts val="1800"/>
              <a:buNone/>
              <a:defRPr/>
            </a:lvl9pPr>
          </a:lstStyle>
          <a:p/>
        </p:txBody>
      </p:sp>
      <p:sp>
        <p:nvSpPr>
          <p:cNvPr id="60" name="Google Shape;60;p95"/>
          <p:cNvSpPr/>
          <p:nvPr/>
        </p:nvSpPr>
        <p:spPr>
          <a:xfrm>
            <a:off x="6024384" y="998618"/>
            <a:ext cx="2710545" cy="354757"/>
          </a:xfrm>
          <a:prstGeom prst="rect">
            <a:avLst/>
          </a:prstGeom>
          <a:solidFill>
            <a:srgbClr val="162051"/>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2F2F2"/>
              </a:solidFill>
              <a:latin typeface="Calibri"/>
              <a:ea typeface="Calibri"/>
              <a:cs typeface="Calibri"/>
              <a:sym typeface="Calibri"/>
            </a:endParaRPr>
          </a:p>
        </p:txBody>
      </p:sp>
      <p:sp>
        <p:nvSpPr>
          <p:cNvPr id="61" name="Google Shape;61;p95"/>
          <p:cNvSpPr txBox="1"/>
          <p:nvPr>
            <p:ph idx="4" type="body"/>
          </p:nvPr>
        </p:nvSpPr>
        <p:spPr>
          <a:xfrm>
            <a:off x="503321" y="1075872"/>
            <a:ext cx="2549163" cy="2775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800"/>
              <a:buFont typeface="Calibri"/>
              <a:buNone/>
              <a:defRPr sz="1800">
                <a:solidFill>
                  <a:srgbClr val="E5E5E5"/>
                </a:solidFill>
                <a:latin typeface="Calibri"/>
                <a:ea typeface="Calibri"/>
                <a:cs typeface="Calibri"/>
                <a:sym typeface="Calibri"/>
              </a:defRPr>
            </a:lvl1pPr>
            <a:lvl2pPr indent="-228600" lvl="1" marL="914400" algn="l">
              <a:lnSpc>
                <a:spcPct val="100000"/>
              </a:lnSpc>
              <a:spcBef>
                <a:spcPts val="900"/>
              </a:spcBef>
              <a:spcAft>
                <a:spcPts val="0"/>
              </a:spcAft>
              <a:buSzPts val="1800"/>
              <a:buNone/>
              <a:defRPr sz="1800">
                <a:solidFill>
                  <a:srgbClr val="E5E5E5"/>
                </a:solidFill>
                <a:latin typeface="Calibri"/>
                <a:ea typeface="Calibri"/>
                <a:cs typeface="Calibri"/>
                <a:sym typeface="Calibri"/>
              </a:defRPr>
            </a:lvl2pPr>
            <a:lvl3pPr indent="-228600" lvl="2" marL="1371600" algn="l">
              <a:lnSpc>
                <a:spcPct val="100000"/>
              </a:lnSpc>
              <a:spcBef>
                <a:spcPts val="900"/>
              </a:spcBef>
              <a:spcAft>
                <a:spcPts val="0"/>
              </a:spcAft>
              <a:buSzPts val="1800"/>
              <a:buNone/>
              <a:defRPr sz="1800">
                <a:solidFill>
                  <a:srgbClr val="E5E5E5"/>
                </a:solidFill>
                <a:latin typeface="Calibri"/>
                <a:ea typeface="Calibri"/>
                <a:cs typeface="Calibri"/>
                <a:sym typeface="Calibri"/>
              </a:defRPr>
            </a:lvl3pPr>
            <a:lvl4pPr indent="-228600" lvl="3" marL="1828800" algn="l">
              <a:lnSpc>
                <a:spcPct val="100000"/>
              </a:lnSpc>
              <a:spcBef>
                <a:spcPts val="900"/>
              </a:spcBef>
              <a:spcAft>
                <a:spcPts val="0"/>
              </a:spcAft>
              <a:buSzPts val="1800"/>
              <a:buNone/>
              <a:defRPr sz="1800">
                <a:solidFill>
                  <a:srgbClr val="E5E5E5"/>
                </a:solidFill>
                <a:latin typeface="Calibri"/>
                <a:ea typeface="Calibri"/>
                <a:cs typeface="Calibri"/>
                <a:sym typeface="Calibri"/>
              </a:defRPr>
            </a:lvl4pPr>
            <a:lvl5pPr indent="-228600" lvl="4" marL="2286000" algn="l">
              <a:lnSpc>
                <a:spcPct val="100000"/>
              </a:lnSpc>
              <a:spcBef>
                <a:spcPts val="900"/>
              </a:spcBef>
              <a:spcAft>
                <a:spcPts val="0"/>
              </a:spcAft>
              <a:buSzPts val="1800"/>
              <a:buNone/>
              <a:defRPr sz="1800">
                <a:solidFill>
                  <a:srgbClr val="E5E5E5"/>
                </a:solidFill>
                <a:latin typeface="Calibri"/>
                <a:ea typeface="Calibri"/>
                <a:cs typeface="Calibri"/>
                <a:sym typeface="Calibri"/>
              </a:defRPr>
            </a:lvl5pPr>
            <a:lvl6pPr indent="-342900" lvl="5" marL="2743200" algn="l">
              <a:lnSpc>
                <a:spcPct val="100000"/>
              </a:lnSpc>
              <a:spcBef>
                <a:spcPts val="900"/>
              </a:spcBef>
              <a:spcAft>
                <a:spcPts val="0"/>
              </a:spcAft>
              <a:buSzPts val="1800"/>
              <a:buAutoNum type="arabicPeriod"/>
              <a:defRPr/>
            </a:lvl6pPr>
            <a:lvl7pPr indent="-342900" lvl="6" marL="3200400" algn="l">
              <a:lnSpc>
                <a:spcPct val="100000"/>
              </a:lnSpc>
              <a:spcBef>
                <a:spcPts val="900"/>
              </a:spcBef>
              <a:spcAft>
                <a:spcPts val="0"/>
              </a:spcAft>
              <a:buClr>
                <a:schemeClr val="dk1"/>
              </a:buClr>
              <a:buSzPts val="1800"/>
              <a:buAutoNum type="alphaLcPeriod"/>
              <a:defRPr/>
            </a:lvl7pPr>
            <a:lvl8pPr indent="-342900" lvl="7" marL="3657600" algn="l">
              <a:lnSpc>
                <a:spcPct val="100000"/>
              </a:lnSpc>
              <a:spcBef>
                <a:spcPts val="900"/>
              </a:spcBef>
              <a:spcAft>
                <a:spcPts val="0"/>
              </a:spcAft>
              <a:buClr>
                <a:schemeClr val="dk1"/>
              </a:buClr>
              <a:buSzPts val="1800"/>
              <a:buAutoNum type="romanLcPeriod"/>
              <a:defRPr/>
            </a:lvl8pPr>
            <a:lvl9pPr indent="-228600" lvl="8" marL="4114800" algn="l">
              <a:lnSpc>
                <a:spcPct val="100000"/>
              </a:lnSpc>
              <a:spcBef>
                <a:spcPts val="900"/>
              </a:spcBef>
              <a:spcAft>
                <a:spcPts val="900"/>
              </a:spcAft>
              <a:buClr>
                <a:schemeClr val="dk2"/>
              </a:buClr>
              <a:buSzPts val="1800"/>
              <a:buNone/>
              <a:defRPr/>
            </a:lvl9pPr>
          </a:lstStyle>
          <a:p/>
        </p:txBody>
      </p:sp>
      <p:sp>
        <p:nvSpPr>
          <p:cNvPr id="62" name="Google Shape;62;p95"/>
          <p:cNvSpPr txBox="1"/>
          <p:nvPr>
            <p:ph idx="5" type="body"/>
          </p:nvPr>
        </p:nvSpPr>
        <p:spPr>
          <a:xfrm>
            <a:off x="3319646" y="1075872"/>
            <a:ext cx="2549163" cy="2775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800"/>
              <a:buFont typeface="Calibri"/>
              <a:buNone/>
              <a:defRPr sz="1800">
                <a:solidFill>
                  <a:srgbClr val="E5E5E5"/>
                </a:solidFill>
                <a:latin typeface="Calibri"/>
                <a:ea typeface="Calibri"/>
                <a:cs typeface="Calibri"/>
                <a:sym typeface="Calibri"/>
              </a:defRPr>
            </a:lvl1pPr>
            <a:lvl2pPr indent="-228600" lvl="1" marL="914400" algn="l">
              <a:lnSpc>
                <a:spcPct val="100000"/>
              </a:lnSpc>
              <a:spcBef>
                <a:spcPts val="900"/>
              </a:spcBef>
              <a:spcAft>
                <a:spcPts val="0"/>
              </a:spcAft>
              <a:buSzPts val="1800"/>
              <a:buNone/>
              <a:defRPr sz="1800">
                <a:solidFill>
                  <a:srgbClr val="E5E5E5"/>
                </a:solidFill>
                <a:latin typeface="Calibri"/>
                <a:ea typeface="Calibri"/>
                <a:cs typeface="Calibri"/>
                <a:sym typeface="Calibri"/>
              </a:defRPr>
            </a:lvl2pPr>
            <a:lvl3pPr indent="-228600" lvl="2" marL="1371600" algn="l">
              <a:lnSpc>
                <a:spcPct val="100000"/>
              </a:lnSpc>
              <a:spcBef>
                <a:spcPts val="900"/>
              </a:spcBef>
              <a:spcAft>
                <a:spcPts val="0"/>
              </a:spcAft>
              <a:buSzPts val="1800"/>
              <a:buNone/>
              <a:defRPr sz="1800">
                <a:solidFill>
                  <a:srgbClr val="E5E5E5"/>
                </a:solidFill>
                <a:latin typeface="Calibri"/>
                <a:ea typeface="Calibri"/>
                <a:cs typeface="Calibri"/>
                <a:sym typeface="Calibri"/>
              </a:defRPr>
            </a:lvl3pPr>
            <a:lvl4pPr indent="-228600" lvl="3" marL="1828800" algn="l">
              <a:lnSpc>
                <a:spcPct val="100000"/>
              </a:lnSpc>
              <a:spcBef>
                <a:spcPts val="900"/>
              </a:spcBef>
              <a:spcAft>
                <a:spcPts val="0"/>
              </a:spcAft>
              <a:buSzPts val="1800"/>
              <a:buNone/>
              <a:defRPr sz="1800">
                <a:solidFill>
                  <a:srgbClr val="E5E5E5"/>
                </a:solidFill>
                <a:latin typeface="Calibri"/>
                <a:ea typeface="Calibri"/>
                <a:cs typeface="Calibri"/>
                <a:sym typeface="Calibri"/>
              </a:defRPr>
            </a:lvl4pPr>
            <a:lvl5pPr indent="-228600" lvl="4" marL="2286000" algn="l">
              <a:lnSpc>
                <a:spcPct val="100000"/>
              </a:lnSpc>
              <a:spcBef>
                <a:spcPts val="900"/>
              </a:spcBef>
              <a:spcAft>
                <a:spcPts val="0"/>
              </a:spcAft>
              <a:buSzPts val="1800"/>
              <a:buNone/>
              <a:defRPr sz="1800">
                <a:solidFill>
                  <a:srgbClr val="E5E5E5"/>
                </a:solidFill>
                <a:latin typeface="Calibri"/>
                <a:ea typeface="Calibri"/>
                <a:cs typeface="Calibri"/>
                <a:sym typeface="Calibri"/>
              </a:defRPr>
            </a:lvl5pPr>
            <a:lvl6pPr indent="-342900" lvl="5" marL="2743200" algn="l">
              <a:lnSpc>
                <a:spcPct val="100000"/>
              </a:lnSpc>
              <a:spcBef>
                <a:spcPts val="900"/>
              </a:spcBef>
              <a:spcAft>
                <a:spcPts val="0"/>
              </a:spcAft>
              <a:buSzPts val="1800"/>
              <a:buAutoNum type="arabicPeriod"/>
              <a:defRPr/>
            </a:lvl6pPr>
            <a:lvl7pPr indent="-342900" lvl="6" marL="3200400" algn="l">
              <a:lnSpc>
                <a:spcPct val="100000"/>
              </a:lnSpc>
              <a:spcBef>
                <a:spcPts val="900"/>
              </a:spcBef>
              <a:spcAft>
                <a:spcPts val="0"/>
              </a:spcAft>
              <a:buClr>
                <a:schemeClr val="dk1"/>
              </a:buClr>
              <a:buSzPts val="1800"/>
              <a:buAutoNum type="alphaLcPeriod"/>
              <a:defRPr/>
            </a:lvl7pPr>
            <a:lvl8pPr indent="-342900" lvl="7" marL="3657600" algn="l">
              <a:lnSpc>
                <a:spcPct val="100000"/>
              </a:lnSpc>
              <a:spcBef>
                <a:spcPts val="900"/>
              </a:spcBef>
              <a:spcAft>
                <a:spcPts val="0"/>
              </a:spcAft>
              <a:buClr>
                <a:schemeClr val="dk1"/>
              </a:buClr>
              <a:buSzPts val="1800"/>
              <a:buAutoNum type="romanLcPeriod"/>
              <a:defRPr/>
            </a:lvl8pPr>
            <a:lvl9pPr indent="-228600" lvl="8" marL="4114800" algn="l">
              <a:lnSpc>
                <a:spcPct val="100000"/>
              </a:lnSpc>
              <a:spcBef>
                <a:spcPts val="900"/>
              </a:spcBef>
              <a:spcAft>
                <a:spcPts val="900"/>
              </a:spcAft>
              <a:buClr>
                <a:schemeClr val="dk2"/>
              </a:buClr>
              <a:buSzPts val="1800"/>
              <a:buNone/>
              <a:defRPr/>
            </a:lvl9pPr>
          </a:lstStyle>
          <a:p/>
        </p:txBody>
      </p:sp>
      <p:sp>
        <p:nvSpPr>
          <p:cNvPr id="63" name="Google Shape;63;p95"/>
          <p:cNvSpPr txBox="1"/>
          <p:nvPr>
            <p:ph idx="6" type="body"/>
          </p:nvPr>
        </p:nvSpPr>
        <p:spPr>
          <a:xfrm>
            <a:off x="6125605" y="1075872"/>
            <a:ext cx="2549163" cy="2775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800"/>
              <a:buFont typeface="Calibri"/>
              <a:buNone/>
              <a:defRPr sz="1800">
                <a:solidFill>
                  <a:srgbClr val="E5E5E5"/>
                </a:solidFill>
                <a:latin typeface="Calibri"/>
                <a:ea typeface="Calibri"/>
                <a:cs typeface="Calibri"/>
                <a:sym typeface="Calibri"/>
              </a:defRPr>
            </a:lvl1pPr>
            <a:lvl2pPr indent="-228600" lvl="1" marL="914400" algn="l">
              <a:lnSpc>
                <a:spcPct val="100000"/>
              </a:lnSpc>
              <a:spcBef>
                <a:spcPts val="900"/>
              </a:spcBef>
              <a:spcAft>
                <a:spcPts val="0"/>
              </a:spcAft>
              <a:buSzPts val="1800"/>
              <a:buNone/>
              <a:defRPr sz="1800">
                <a:solidFill>
                  <a:srgbClr val="E5E5E5"/>
                </a:solidFill>
                <a:latin typeface="Calibri"/>
                <a:ea typeface="Calibri"/>
                <a:cs typeface="Calibri"/>
                <a:sym typeface="Calibri"/>
              </a:defRPr>
            </a:lvl2pPr>
            <a:lvl3pPr indent="-228600" lvl="2" marL="1371600" algn="l">
              <a:lnSpc>
                <a:spcPct val="100000"/>
              </a:lnSpc>
              <a:spcBef>
                <a:spcPts val="900"/>
              </a:spcBef>
              <a:spcAft>
                <a:spcPts val="0"/>
              </a:spcAft>
              <a:buSzPts val="1800"/>
              <a:buNone/>
              <a:defRPr sz="1800">
                <a:solidFill>
                  <a:srgbClr val="E5E5E5"/>
                </a:solidFill>
                <a:latin typeface="Calibri"/>
                <a:ea typeface="Calibri"/>
                <a:cs typeface="Calibri"/>
                <a:sym typeface="Calibri"/>
              </a:defRPr>
            </a:lvl3pPr>
            <a:lvl4pPr indent="-228600" lvl="3" marL="1828800" algn="l">
              <a:lnSpc>
                <a:spcPct val="100000"/>
              </a:lnSpc>
              <a:spcBef>
                <a:spcPts val="900"/>
              </a:spcBef>
              <a:spcAft>
                <a:spcPts val="0"/>
              </a:spcAft>
              <a:buSzPts val="1800"/>
              <a:buNone/>
              <a:defRPr sz="1800">
                <a:solidFill>
                  <a:srgbClr val="E5E5E5"/>
                </a:solidFill>
                <a:latin typeface="Calibri"/>
                <a:ea typeface="Calibri"/>
                <a:cs typeface="Calibri"/>
                <a:sym typeface="Calibri"/>
              </a:defRPr>
            </a:lvl4pPr>
            <a:lvl5pPr indent="-228600" lvl="4" marL="2286000" algn="l">
              <a:lnSpc>
                <a:spcPct val="100000"/>
              </a:lnSpc>
              <a:spcBef>
                <a:spcPts val="900"/>
              </a:spcBef>
              <a:spcAft>
                <a:spcPts val="0"/>
              </a:spcAft>
              <a:buSzPts val="1800"/>
              <a:buNone/>
              <a:defRPr sz="1800">
                <a:solidFill>
                  <a:srgbClr val="E5E5E5"/>
                </a:solidFill>
                <a:latin typeface="Calibri"/>
                <a:ea typeface="Calibri"/>
                <a:cs typeface="Calibri"/>
                <a:sym typeface="Calibri"/>
              </a:defRPr>
            </a:lvl5pPr>
            <a:lvl6pPr indent="-342900" lvl="5" marL="2743200" algn="l">
              <a:lnSpc>
                <a:spcPct val="100000"/>
              </a:lnSpc>
              <a:spcBef>
                <a:spcPts val="900"/>
              </a:spcBef>
              <a:spcAft>
                <a:spcPts val="0"/>
              </a:spcAft>
              <a:buSzPts val="1800"/>
              <a:buAutoNum type="arabicPeriod"/>
              <a:defRPr/>
            </a:lvl6pPr>
            <a:lvl7pPr indent="-342900" lvl="6" marL="3200400" algn="l">
              <a:lnSpc>
                <a:spcPct val="100000"/>
              </a:lnSpc>
              <a:spcBef>
                <a:spcPts val="900"/>
              </a:spcBef>
              <a:spcAft>
                <a:spcPts val="0"/>
              </a:spcAft>
              <a:buClr>
                <a:schemeClr val="dk1"/>
              </a:buClr>
              <a:buSzPts val="1800"/>
              <a:buAutoNum type="alphaLcPeriod"/>
              <a:defRPr/>
            </a:lvl7pPr>
            <a:lvl8pPr indent="-342900" lvl="7" marL="3657600" algn="l">
              <a:lnSpc>
                <a:spcPct val="100000"/>
              </a:lnSpc>
              <a:spcBef>
                <a:spcPts val="900"/>
              </a:spcBef>
              <a:spcAft>
                <a:spcPts val="0"/>
              </a:spcAft>
              <a:buClr>
                <a:schemeClr val="dk1"/>
              </a:buClr>
              <a:buSzPts val="1800"/>
              <a:buAutoNum type="romanLcPeriod"/>
              <a:defRPr/>
            </a:lvl8pPr>
            <a:lvl9pPr indent="-228600" lvl="8" marL="4114800" algn="l">
              <a:lnSpc>
                <a:spcPct val="100000"/>
              </a:lnSpc>
              <a:spcBef>
                <a:spcPts val="900"/>
              </a:spcBef>
              <a:spcAft>
                <a:spcPts val="900"/>
              </a:spcAft>
              <a:buClr>
                <a:schemeClr val="dk2"/>
              </a:buClr>
              <a:buSzPts val="1800"/>
              <a:buNone/>
              <a:defRPr/>
            </a:lvl9pPr>
          </a:lstStyle>
          <a:p/>
        </p:txBody>
      </p:sp>
      <p:sp>
        <p:nvSpPr>
          <p:cNvPr id="64" name="Google Shape;64;p95"/>
          <p:cNvSpPr txBox="1"/>
          <p:nvPr/>
        </p:nvSpPr>
        <p:spPr>
          <a:xfrm>
            <a:off x="515348" y="6497876"/>
            <a:ext cx="988599" cy="33606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F2F2F2"/>
                </a:solidFill>
                <a:latin typeface="Arial"/>
                <a:ea typeface="Arial"/>
                <a:cs typeface="Arial"/>
                <a:sym typeface="Arial"/>
              </a:rPr>
              <a:t>Consulting Club </a:t>
            </a:r>
            <a:r>
              <a:rPr b="1" i="0" lang="en-US" sz="1000" u="none" cap="none" strike="noStrike">
                <a:solidFill>
                  <a:schemeClr val="accent2"/>
                </a:solidFill>
                <a:latin typeface="Arial"/>
                <a:ea typeface="Arial"/>
                <a:cs typeface="Arial"/>
                <a:sym typeface="Arial"/>
              </a:rPr>
              <a:t>@</a:t>
            </a:r>
            <a:r>
              <a:rPr b="1" i="0" lang="en-US" sz="1000" u="none" cap="none" strike="noStrike">
                <a:solidFill>
                  <a:srgbClr val="F2F2F2"/>
                </a:solidFill>
                <a:latin typeface="Arial"/>
                <a:ea typeface="Arial"/>
                <a:cs typeface="Arial"/>
                <a:sym typeface="Arial"/>
              </a:rPr>
              <a:t> Ross</a:t>
            </a:r>
            <a:endParaRPr b="1" i="0" sz="1000" u="none" cap="none" strike="noStrike">
              <a:solidFill>
                <a:srgbClr val="F2F2F2"/>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One">
  <p:cSld name="Content: One">
    <p:spTree>
      <p:nvGrpSpPr>
        <p:cNvPr id="65" name="Shape 65"/>
        <p:cNvGrpSpPr/>
        <p:nvPr/>
      </p:nvGrpSpPr>
      <p:grpSpPr>
        <a:xfrm>
          <a:off x="0" y="0"/>
          <a:ext cx="0" cy="0"/>
          <a:chOff x="0" y="0"/>
          <a:chExt cx="0" cy="0"/>
        </a:xfrm>
      </p:grpSpPr>
      <p:grpSp>
        <p:nvGrpSpPr>
          <p:cNvPr id="66" name="Google Shape;66;p96"/>
          <p:cNvGrpSpPr/>
          <p:nvPr/>
        </p:nvGrpSpPr>
        <p:grpSpPr>
          <a:xfrm>
            <a:off x="-1" y="4969042"/>
            <a:ext cx="3248527" cy="1888958"/>
            <a:chOff x="-1" y="4969042"/>
            <a:chExt cx="3248527" cy="1888958"/>
          </a:xfrm>
        </p:grpSpPr>
        <p:sp>
          <p:nvSpPr>
            <p:cNvPr id="67" name="Google Shape;67;p96"/>
            <p:cNvSpPr/>
            <p:nvPr/>
          </p:nvSpPr>
          <p:spPr>
            <a:xfrm>
              <a:off x="-1" y="5907505"/>
              <a:ext cx="3248527" cy="950495"/>
            </a:xfrm>
            <a:prstGeom prst="rtTriangle">
              <a:avLst/>
            </a:prstGeom>
            <a:solidFill>
              <a:schemeClr val="accent5"/>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sp>
          <p:nvSpPr>
            <p:cNvPr id="68" name="Google Shape;68;p96"/>
            <p:cNvSpPr/>
            <p:nvPr/>
          </p:nvSpPr>
          <p:spPr>
            <a:xfrm>
              <a:off x="0" y="6124074"/>
              <a:ext cx="3104147" cy="733926"/>
            </a:xfrm>
            <a:prstGeom prst="rtTriangle">
              <a:avLst/>
            </a:prstGeom>
            <a:solidFill>
              <a:srgbClr val="162051"/>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sp>
          <p:nvSpPr>
            <p:cNvPr id="69" name="Google Shape;69;p96"/>
            <p:cNvSpPr/>
            <p:nvPr/>
          </p:nvSpPr>
          <p:spPr>
            <a:xfrm>
              <a:off x="0" y="4969042"/>
              <a:ext cx="503321" cy="1888958"/>
            </a:xfrm>
            <a:prstGeom prst="rtTriangle">
              <a:avLst/>
            </a:prstGeom>
            <a:solidFill>
              <a:schemeClr val="lt2"/>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grpSp>
      <p:sp>
        <p:nvSpPr>
          <p:cNvPr id="70" name="Google Shape;70;p96"/>
          <p:cNvSpPr txBox="1"/>
          <p:nvPr>
            <p:ph idx="1" type="body"/>
          </p:nvPr>
        </p:nvSpPr>
        <p:spPr>
          <a:xfrm>
            <a:off x="381001" y="1283366"/>
            <a:ext cx="8341656" cy="2182282"/>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lvl1pPr indent="-228600" lvl="0" marL="457200" algn="l">
              <a:lnSpc>
                <a:spcPct val="100000"/>
              </a:lnSpc>
              <a:spcBef>
                <a:spcPts val="0"/>
              </a:spcBef>
              <a:spcAft>
                <a:spcPts val="0"/>
              </a:spcAft>
              <a:buSzPts val="1400"/>
              <a:buFont typeface="Calibri"/>
              <a:buNone/>
              <a:defRPr sz="1400">
                <a:solidFill>
                  <a:schemeClr val="accent5"/>
                </a:solidFill>
                <a:latin typeface="Calibri"/>
                <a:ea typeface="Calibri"/>
                <a:cs typeface="Calibri"/>
                <a:sym typeface="Calibri"/>
              </a:defRPr>
            </a:lvl1pPr>
            <a:lvl2pPr indent="-317500" lvl="1" marL="9144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2pPr>
            <a:lvl3pPr indent="-317500" lvl="2" marL="13716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3pPr>
            <a:lvl4pPr indent="-317500" lvl="3" marL="18288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4pPr>
            <a:lvl5pPr indent="-317500" lvl="4" marL="22860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5pPr>
            <a:lvl6pPr indent="-342900" lvl="5" marL="2743200" algn="l">
              <a:lnSpc>
                <a:spcPct val="100000"/>
              </a:lnSpc>
              <a:spcBef>
                <a:spcPts val="300"/>
              </a:spcBef>
              <a:spcAft>
                <a:spcPts val="0"/>
              </a:spcAft>
              <a:buSzPts val="1800"/>
              <a:buAutoNum type="arabicPeriod"/>
              <a:defRPr/>
            </a:lvl6pPr>
            <a:lvl7pPr indent="-342900" lvl="6" marL="3200400" algn="l">
              <a:lnSpc>
                <a:spcPct val="100000"/>
              </a:lnSpc>
              <a:spcBef>
                <a:spcPts val="900"/>
              </a:spcBef>
              <a:spcAft>
                <a:spcPts val="0"/>
              </a:spcAft>
              <a:buClr>
                <a:schemeClr val="dk1"/>
              </a:buClr>
              <a:buSzPts val="1800"/>
              <a:buAutoNum type="alphaLcPeriod"/>
              <a:defRPr/>
            </a:lvl7pPr>
            <a:lvl8pPr indent="-342900" lvl="7" marL="3657600" algn="l">
              <a:lnSpc>
                <a:spcPct val="100000"/>
              </a:lnSpc>
              <a:spcBef>
                <a:spcPts val="900"/>
              </a:spcBef>
              <a:spcAft>
                <a:spcPts val="0"/>
              </a:spcAft>
              <a:buClr>
                <a:schemeClr val="dk1"/>
              </a:buClr>
              <a:buSzPts val="1800"/>
              <a:buAutoNum type="romanLcPeriod"/>
              <a:defRPr/>
            </a:lvl8pPr>
            <a:lvl9pPr indent="-228600" lvl="8" marL="4114800" algn="l">
              <a:lnSpc>
                <a:spcPct val="100000"/>
              </a:lnSpc>
              <a:spcBef>
                <a:spcPts val="900"/>
              </a:spcBef>
              <a:spcAft>
                <a:spcPts val="900"/>
              </a:spcAft>
              <a:buClr>
                <a:schemeClr val="dk2"/>
              </a:buClr>
              <a:buSzPts val="1800"/>
              <a:buNone/>
              <a:defRPr/>
            </a:lvl9pPr>
          </a:lstStyle>
          <a:p/>
        </p:txBody>
      </p:sp>
      <p:sp>
        <p:nvSpPr>
          <p:cNvPr id="71" name="Google Shape;71;p96"/>
          <p:cNvSpPr txBox="1"/>
          <p:nvPr>
            <p:ph idx="2" type="body"/>
          </p:nvPr>
        </p:nvSpPr>
        <p:spPr>
          <a:xfrm>
            <a:off x="368302" y="3910260"/>
            <a:ext cx="4107445" cy="2367609"/>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lvl1pPr indent="-228600" lvl="0" marL="457200" algn="l">
              <a:lnSpc>
                <a:spcPct val="100000"/>
              </a:lnSpc>
              <a:spcBef>
                <a:spcPts val="0"/>
              </a:spcBef>
              <a:spcAft>
                <a:spcPts val="0"/>
              </a:spcAft>
              <a:buSzPts val="1400"/>
              <a:buFont typeface="Calibri"/>
              <a:buNone/>
              <a:defRPr sz="1400">
                <a:solidFill>
                  <a:schemeClr val="accent5"/>
                </a:solidFill>
                <a:latin typeface="Calibri"/>
                <a:ea typeface="Calibri"/>
                <a:cs typeface="Calibri"/>
                <a:sym typeface="Calibri"/>
              </a:defRPr>
            </a:lvl1pPr>
            <a:lvl2pPr indent="-317500" lvl="1" marL="9144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2pPr>
            <a:lvl3pPr indent="-317500" lvl="2" marL="13716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3pPr>
            <a:lvl4pPr indent="-317500" lvl="3" marL="18288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4pPr>
            <a:lvl5pPr indent="-317500" lvl="4" marL="22860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5pPr>
            <a:lvl6pPr indent="-342900" lvl="5" marL="2743200" algn="l">
              <a:lnSpc>
                <a:spcPct val="100000"/>
              </a:lnSpc>
              <a:spcBef>
                <a:spcPts val="300"/>
              </a:spcBef>
              <a:spcAft>
                <a:spcPts val="0"/>
              </a:spcAft>
              <a:buSzPts val="1800"/>
              <a:buAutoNum type="arabicPeriod"/>
              <a:defRPr/>
            </a:lvl6pPr>
            <a:lvl7pPr indent="-342900" lvl="6" marL="3200400" algn="l">
              <a:lnSpc>
                <a:spcPct val="100000"/>
              </a:lnSpc>
              <a:spcBef>
                <a:spcPts val="900"/>
              </a:spcBef>
              <a:spcAft>
                <a:spcPts val="0"/>
              </a:spcAft>
              <a:buClr>
                <a:schemeClr val="dk1"/>
              </a:buClr>
              <a:buSzPts val="1800"/>
              <a:buAutoNum type="alphaLcPeriod"/>
              <a:defRPr/>
            </a:lvl7pPr>
            <a:lvl8pPr indent="-342900" lvl="7" marL="3657600" algn="l">
              <a:lnSpc>
                <a:spcPct val="100000"/>
              </a:lnSpc>
              <a:spcBef>
                <a:spcPts val="900"/>
              </a:spcBef>
              <a:spcAft>
                <a:spcPts val="0"/>
              </a:spcAft>
              <a:buClr>
                <a:schemeClr val="dk1"/>
              </a:buClr>
              <a:buSzPts val="1800"/>
              <a:buAutoNum type="romanLcPeriod"/>
              <a:defRPr/>
            </a:lvl8pPr>
            <a:lvl9pPr indent="-228600" lvl="8" marL="4114800" algn="l">
              <a:lnSpc>
                <a:spcPct val="100000"/>
              </a:lnSpc>
              <a:spcBef>
                <a:spcPts val="900"/>
              </a:spcBef>
              <a:spcAft>
                <a:spcPts val="900"/>
              </a:spcAft>
              <a:buClr>
                <a:schemeClr val="dk2"/>
              </a:buClr>
              <a:buSzPts val="1800"/>
              <a:buNone/>
              <a:defRPr/>
            </a:lvl9pPr>
          </a:lstStyle>
          <a:p/>
        </p:txBody>
      </p:sp>
      <p:sp>
        <p:nvSpPr>
          <p:cNvPr id="72" name="Google Shape;72;p96"/>
          <p:cNvSpPr txBox="1"/>
          <p:nvPr>
            <p:ph idx="3" type="body"/>
          </p:nvPr>
        </p:nvSpPr>
        <p:spPr>
          <a:xfrm>
            <a:off x="4596063" y="3910260"/>
            <a:ext cx="4110955" cy="2367608"/>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lvl1pPr indent="-228600" lvl="0" marL="457200" algn="l">
              <a:lnSpc>
                <a:spcPct val="100000"/>
              </a:lnSpc>
              <a:spcBef>
                <a:spcPts val="0"/>
              </a:spcBef>
              <a:spcAft>
                <a:spcPts val="0"/>
              </a:spcAft>
              <a:buSzPts val="1400"/>
              <a:buFont typeface="Calibri"/>
              <a:buNone/>
              <a:defRPr sz="1400">
                <a:solidFill>
                  <a:schemeClr val="accent5"/>
                </a:solidFill>
                <a:latin typeface="Calibri"/>
                <a:ea typeface="Calibri"/>
                <a:cs typeface="Calibri"/>
                <a:sym typeface="Calibri"/>
              </a:defRPr>
            </a:lvl1pPr>
            <a:lvl2pPr indent="-317500" lvl="1" marL="9144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2pPr>
            <a:lvl3pPr indent="-317500" lvl="2" marL="13716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3pPr>
            <a:lvl4pPr indent="-317500" lvl="3" marL="18288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4pPr>
            <a:lvl5pPr indent="-317500" lvl="4" marL="22860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5pPr>
            <a:lvl6pPr indent="-342900" lvl="5" marL="2743200" algn="l">
              <a:lnSpc>
                <a:spcPct val="100000"/>
              </a:lnSpc>
              <a:spcBef>
                <a:spcPts val="300"/>
              </a:spcBef>
              <a:spcAft>
                <a:spcPts val="0"/>
              </a:spcAft>
              <a:buSzPts val="1800"/>
              <a:buAutoNum type="arabicPeriod"/>
              <a:defRPr/>
            </a:lvl6pPr>
            <a:lvl7pPr indent="-342900" lvl="6" marL="3200400" algn="l">
              <a:lnSpc>
                <a:spcPct val="100000"/>
              </a:lnSpc>
              <a:spcBef>
                <a:spcPts val="900"/>
              </a:spcBef>
              <a:spcAft>
                <a:spcPts val="0"/>
              </a:spcAft>
              <a:buClr>
                <a:schemeClr val="dk1"/>
              </a:buClr>
              <a:buSzPts val="1800"/>
              <a:buAutoNum type="alphaLcPeriod"/>
              <a:defRPr/>
            </a:lvl7pPr>
            <a:lvl8pPr indent="-342900" lvl="7" marL="3657600" algn="l">
              <a:lnSpc>
                <a:spcPct val="100000"/>
              </a:lnSpc>
              <a:spcBef>
                <a:spcPts val="900"/>
              </a:spcBef>
              <a:spcAft>
                <a:spcPts val="0"/>
              </a:spcAft>
              <a:buClr>
                <a:schemeClr val="dk1"/>
              </a:buClr>
              <a:buSzPts val="1800"/>
              <a:buAutoNum type="romanLcPeriod"/>
              <a:defRPr/>
            </a:lvl8pPr>
            <a:lvl9pPr indent="-228600" lvl="8" marL="4114800" algn="l">
              <a:lnSpc>
                <a:spcPct val="100000"/>
              </a:lnSpc>
              <a:spcBef>
                <a:spcPts val="900"/>
              </a:spcBef>
              <a:spcAft>
                <a:spcPts val="900"/>
              </a:spcAft>
              <a:buClr>
                <a:schemeClr val="dk2"/>
              </a:buClr>
              <a:buSzPts val="1800"/>
              <a:buNone/>
              <a:defRPr/>
            </a:lvl9pPr>
          </a:lstStyle>
          <a:p/>
        </p:txBody>
      </p:sp>
      <p:grpSp>
        <p:nvGrpSpPr>
          <p:cNvPr id="73" name="Google Shape;73;p96"/>
          <p:cNvGrpSpPr/>
          <p:nvPr/>
        </p:nvGrpSpPr>
        <p:grpSpPr>
          <a:xfrm>
            <a:off x="368302" y="69070"/>
            <a:ext cx="8375648" cy="737045"/>
            <a:chOff x="491067" y="93134"/>
            <a:chExt cx="11167531" cy="922866"/>
          </a:xfrm>
        </p:grpSpPr>
        <p:sp>
          <p:nvSpPr>
            <p:cNvPr id="74" name="Google Shape;74;p96"/>
            <p:cNvSpPr/>
            <p:nvPr/>
          </p:nvSpPr>
          <p:spPr>
            <a:xfrm>
              <a:off x="863598" y="194737"/>
              <a:ext cx="10795000" cy="520943"/>
            </a:xfrm>
            <a:prstGeom prst="rect">
              <a:avLst/>
            </a:prstGeom>
            <a:solidFill>
              <a:srgbClr val="5F5F5F"/>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sp>
          <p:nvSpPr>
            <p:cNvPr id="75" name="Google Shape;75;p96"/>
            <p:cNvSpPr/>
            <p:nvPr/>
          </p:nvSpPr>
          <p:spPr>
            <a:xfrm>
              <a:off x="745068" y="330202"/>
              <a:ext cx="10761133" cy="685798"/>
            </a:xfrm>
            <a:prstGeom prst="rect">
              <a:avLst/>
            </a:prstGeom>
            <a:solidFill>
              <a:schemeClr val="accent2"/>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sp>
          <p:nvSpPr>
            <p:cNvPr id="76" name="Google Shape;76;p96"/>
            <p:cNvSpPr/>
            <p:nvPr/>
          </p:nvSpPr>
          <p:spPr>
            <a:xfrm>
              <a:off x="491067" y="93134"/>
              <a:ext cx="10786532" cy="685800"/>
            </a:xfrm>
            <a:prstGeom prst="rect">
              <a:avLst/>
            </a:prstGeom>
            <a:solidFill>
              <a:srgbClr val="162051"/>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grpSp>
      <p:sp>
        <p:nvSpPr>
          <p:cNvPr id="77" name="Google Shape;77;p96"/>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rgbClr val="D8D8D8"/>
              </a:buClr>
              <a:buSzPts val="2800"/>
              <a:buFont typeface="Calibri"/>
              <a:buNone/>
              <a:defRPr sz="2800">
                <a:solidFill>
                  <a:srgbClr val="D8D8D8"/>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descr="Image result for University of michigan Banner" id="78" name="Google Shape;78;p96"/>
          <p:cNvPicPr preferRelativeResize="0"/>
          <p:nvPr/>
        </p:nvPicPr>
        <p:blipFill rotWithShape="1">
          <a:blip r:embed="rId2">
            <a:alphaModFix/>
          </a:blip>
          <a:srcRect b="0" l="0" r="0" t="0"/>
          <a:stretch/>
        </p:blipFill>
        <p:spPr>
          <a:xfrm>
            <a:off x="6521116" y="6385601"/>
            <a:ext cx="2222834" cy="368935"/>
          </a:xfrm>
          <a:prstGeom prst="rect">
            <a:avLst/>
          </a:prstGeom>
          <a:noFill/>
          <a:ln>
            <a:noFill/>
          </a:ln>
        </p:spPr>
      </p:pic>
      <p:sp>
        <p:nvSpPr>
          <p:cNvPr id="79" name="Google Shape;79;p96"/>
          <p:cNvSpPr/>
          <p:nvPr/>
        </p:nvSpPr>
        <p:spPr>
          <a:xfrm>
            <a:off x="356269" y="3573381"/>
            <a:ext cx="4133088" cy="354757"/>
          </a:xfrm>
          <a:prstGeom prst="rect">
            <a:avLst/>
          </a:prstGeom>
          <a:solidFill>
            <a:srgbClr val="162051"/>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2F2F2"/>
              </a:solidFill>
              <a:latin typeface="Calibri"/>
              <a:ea typeface="Calibri"/>
              <a:cs typeface="Calibri"/>
              <a:sym typeface="Calibri"/>
            </a:endParaRPr>
          </a:p>
        </p:txBody>
      </p:sp>
      <p:sp>
        <p:nvSpPr>
          <p:cNvPr id="80" name="Google Shape;80;p96"/>
          <p:cNvSpPr/>
          <p:nvPr/>
        </p:nvSpPr>
        <p:spPr>
          <a:xfrm>
            <a:off x="4580424" y="3573381"/>
            <a:ext cx="4142232" cy="354757"/>
          </a:xfrm>
          <a:prstGeom prst="rect">
            <a:avLst/>
          </a:prstGeom>
          <a:solidFill>
            <a:srgbClr val="162051"/>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2F2F2"/>
              </a:solidFill>
              <a:latin typeface="Calibri"/>
              <a:ea typeface="Calibri"/>
              <a:cs typeface="Calibri"/>
              <a:sym typeface="Calibri"/>
            </a:endParaRPr>
          </a:p>
        </p:txBody>
      </p:sp>
      <p:sp>
        <p:nvSpPr>
          <p:cNvPr id="81" name="Google Shape;81;p96"/>
          <p:cNvSpPr/>
          <p:nvPr/>
        </p:nvSpPr>
        <p:spPr>
          <a:xfrm>
            <a:off x="356269" y="945487"/>
            <a:ext cx="8375649" cy="337879"/>
          </a:xfrm>
          <a:prstGeom prst="rect">
            <a:avLst/>
          </a:prstGeom>
          <a:solidFill>
            <a:srgbClr val="162051"/>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2F2F2"/>
              </a:solidFill>
              <a:latin typeface="Calibri"/>
              <a:ea typeface="Calibri"/>
              <a:cs typeface="Calibri"/>
              <a:sym typeface="Calibri"/>
            </a:endParaRPr>
          </a:p>
        </p:txBody>
      </p:sp>
      <p:sp>
        <p:nvSpPr>
          <p:cNvPr id="82" name="Google Shape;82;p96"/>
          <p:cNvSpPr txBox="1"/>
          <p:nvPr>
            <p:ph idx="4" type="body"/>
          </p:nvPr>
        </p:nvSpPr>
        <p:spPr>
          <a:xfrm>
            <a:off x="465670" y="996952"/>
            <a:ext cx="8209098" cy="2775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800"/>
              <a:buFont typeface="Calibri"/>
              <a:buNone/>
              <a:defRPr sz="1800">
                <a:solidFill>
                  <a:srgbClr val="E5E5E5"/>
                </a:solidFill>
                <a:latin typeface="Calibri"/>
                <a:ea typeface="Calibri"/>
                <a:cs typeface="Calibri"/>
                <a:sym typeface="Calibri"/>
              </a:defRPr>
            </a:lvl1pPr>
            <a:lvl2pPr indent="-228600" lvl="1" marL="914400" algn="l">
              <a:lnSpc>
                <a:spcPct val="100000"/>
              </a:lnSpc>
              <a:spcBef>
                <a:spcPts val="900"/>
              </a:spcBef>
              <a:spcAft>
                <a:spcPts val="0"/>
              </a:spcAft>
              <a:buSzPts val="1800"/>
              <a:buNone/>
              <a:defRPr sz="1800">
                <a:solidFill>
                  <a:srgbClr val="E5E5E5"/>
                </a:solidFill>
                <a:latin typeface="Calibri"/>
                <a:ea typeface="Calibri"/>
                <a:cs typeface="Calibri"/>
                <a:sym typeface="Calibri"/>
              </a:defRPr>
            </a:lvl2pPr>
            <a:lvl3pPr indent="-228600" lvl="2" marL="1371600" algn="l">
              <a:lnSpc>
                <a:spcPct val="100000"/>
              </a:lnSpc>
              <a:spcBef>
                <a:spcPts val="900"/>
              </a:spcBef>
              <a:spcAft>
                <a:spcPts val="0"/>
              </a:spcAft>
              <a:buSzPts val="1800"/>
              <a:buNone/>
              <a:defRPr sz="1800">
                <a:solidFill>
                  <a:srgbClr val="E5E5E5"/>
                </a:solidFill>
                <a:latin typeface="Calibri"/>
                <a:ea typeface="Calibri"/>
                <a:cs typeface="Calibri"/>
                <a:sym typeface="Calibri"/>
              </a:defRPr>
            </a:lvl3pPr>
            <a:lvl4pPr indent="-228600" lvl="3" marL="1828800" algn="l">
              <a:lnSpc>
                <a:spcPct val="100000"/>
              </a:lnSpc>
              <a:spcBef>
                <a:spcPts val="900"/>
              </a:spcBef>
              <a:spcAft>
                <a:spcPts val="0"/>
              </a:spcAft>
              <a:buSzPts val="1800"/>
              <a:buNone/>
              <a:defRPr sz="1800">
                <a:solidFill>
                  <a:srgbClr val="E5E5E5"/>
                </a:solidFill>
                <a:latin typeface="Calibri"/>
                <a:ea typeface="Calibri"/>
                <a:cs typeface="Calibri"/>
                <a:sym typeface="Calibri"/>
              </a:defRPr>
            </a:lvl4pPr>
            <a:lvl5pPr indent="-228600" lvl="4" marL="2286000" algn="l">
              <a:lnSpc>
                <a:spcPct val="100000"/>
              </a:lnSpc>
              <a:spcBef>
                <a:spcPts val="900"/>
              </a:spcBef>
              <a:spcAft>
                <a:spcPts val="0"/>
              </a:spcAft>
              <a:buSzPts val="1800"/>
              <a:buNone/>
              <a:defRPr sz="1800">
                <a:solidFill>
                  <a:srgbClr val="E5E5E5"/>
                </a:solidFill>
                <a:latin typeface="Calibri"/>
                <a:ea typeface="Calibri"/>
                <a:cs typeface="Calibri"/>
                <a:sym typeface="Calibri"/>
              </a:defRPr>
            </a:lvl5pPr>
            <a:lvl6pPr indent="-342900" lvl="5" marL="2743200" algn="l">
              <a:lnSpc>
                <a:spcPct val="100000"/>
              </a:lnSpc>
              <a:spcBef>
                <a:spcPts val="900"/>
              </a:spcBef>
              <a:spcAft>
                <a:spcPts val="0"/>
              </a:spcAft>
              <a:buSzPts val="1800"/>
              <a:buAutoNum type="arabicPeriod"/>
              <a:defRPr/>
            </a:lvl6pPr>
            <a:lvl7pPr indent="-342900" lvl="6" marL="3200400" algn="l">
              <a:lnSpc>
                <a:spcPct val="100000"/>
              </a:lnSpc>
              <a:spcBef>
                <a:spcPts val="900"/>
              </a:spcBef>
              <a:spcAft>
                <a:spcPts val="0"/>
              </a:spcAft>
              <a:buClr>
                <a:schemeClr val="dk1"/>
              </a:buClr>
              <a:buSzPts val="1800"/>
              <a:buAutoNum type="alphaLcPeriod"/>
              <a:defRPr/>
            </a:lvl7pPr>
            <a:lvl8pPr indent="-342900" lvl="7" marL="3657600" algn="l">
              <a:lnSpc>
                <a:spcPct val="100000"/>
              </a:lnSpc>
              <a:spcBef>
                <a:spcPts val="900"/>
              </a:spcBef>
              <a:spcAft>
                <a:spcPts val="0"/>
              </a:spcAft>
              <a:buClr>
                <a:schemeClr val="dk1"/>
              </a:buClr>
              <a:buSzPts val="1800"/>
              <a:buAutoNum type="romanLcPeriod"/>
              <a:defRPr/>
            </a:lvl8pPr>
            <a:lvl9pPr indent="-228600" lvl="8" marL="4114800" algn="l">
              <a:lnSpc>
                <a:spcPct val="100000"/>
              </a:lnSpc>
              <a:spcBef>
                <a:spcPts val="900"/>
              </a:spcBef>
              <a:spcAft>
                <a:spcPts val="900"/>
              </a:spcAft>
              <a:buClr>
                <a:schemeClr val="dk2"/>
              </a:buClr>
              <a:buSzPts val="1800"/>
              <a:buNone/>
              <a:defRPr/>
            </a:lvl9pPr>
          </a:lstStyle>
          <a:p/>
        </p:txBody>
      </p:sp>
      <p:sp>
        <p:nvSpPr>
          <p:cNvPr id="83" name="Google Shape;83;p96"/>
          <p:cNvSpPr txBox="1"/>
          <p:nvPr>
            <p:ph idx="5" type="body"/>
          </p:nvPr>
        </p:nvSpPr>
        <p:spPr>
          <a:xfrm>
            <a:off x="465670" y="3621892"/>
            <a:ext cx="4010077" cy="2775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800"/>
              <a:buFont typeface="Calibri"/>
              <a:buNone/>
              <a:defRPr sz="1800">
                <a:solidFill>
                  <a:srgbClr val="E5E5E5"/>
                </a:solidFill>
                <a:latin typeface="Calibri"/>
                <a:ea typeface="Calibri"/>
                <a:cs typeface="Calibri"/>
                <a:sym typeface="Calibri"/>
              </a:defRPr>
            </a:lvl1pPr>
            <a:lvl2pPr indent="-228600" lvl="1" marL="914400" algn="l">
              <a:lnSpc>
                <a:spcPct val="100000"/>
              </a:lnSpc>
              <a:spcBef>
                <a:spcPts val="900"/>
              </a:spcBef>
              <a:spcAft>
                <a:spcPts val="0"/>
              </a:spcAft>
              <a:buSzPts val="1800"/>
              <a:buNone/>
              <a:defRPr sz="1800">
                <a:solidFill>
                  <a:srgbClr val="E5E5E5"/>
                </a:solidFill>
                <a:latin typeface="Calibri"/>
                <a:ea typeface="Calibri"/>
                <a:cs typeface="Calibri"/>
                <a:sym typeface="Calibri"/>
              </a:defRPr>
            </a:lvl2pPr>
            <a:lvl3pPr indent="-228600" lvl="2" marL="1371600" algn="l">
              <a:lnSpc>
                <a:spcPct val="100000"/>
              </a:lnSpc>
              <a:spcBef>
                <a:spcPts val="900"/>
              </a:spcBef>
              <a:spcAft>
                <a:spcPts val="0"/>
              </a:spcAft>
              <a:buSzPts val="1800"/>
              <a:buNone/>
              <a:defRPr sz="1800">
                <a:solidFill>
                  <a:srgbClr val="E5E5E5"/>
                </a:solidFill>
                <a:latin typeface="Calibri"/>
                <a:ea typeface="Calibri"/>
                <a:cs typeface="Calibri"/>
                <a:sym typeface="Calibri"/>
              </a:defRPr>
            </a:lvl3pPr>
            <a:lvl4pPr indent="-228600" lvl="3" marL="1828800" algn="l">
              <a:lnSpc>
                <a:spcPct val="100000"/>
              </a:lnSpc>
              <a:spcBef>
                <a:spcPts val="900"/>
              </a:spcBef>
              <a:spcAft>
                <a:spcPts val="0"/>
              </a:spcAft>
              <a:buSzPts val="1800"/>
              <a:buNone/>
              <a:defRPr sz="1800">
                <a:solidFill>
                  <a:srgbClr val="E5E5E5"/>
                </a:solidFill>
                <a:latin typeface="Calibri"/>
                <a:ea typeface="Calibri"/>
                <a:cs typeface="Calibri"/>
                <a:sym typeface="Calibri"/>
              </a:defRPr>
            </a:lvl4pPr>
            <a:lvl5pPr indent="-228600" lvl="4" marL="2286000" algn="l">
              <a:lnSpc>
                <a:spcPct val="100000"/>
              </a:lnSpc>
              <a:spcBef>
                <a:spcPts val="900"/>
              </a:spcBef>
              <a:spcAft>
                <a:spcPts val="0"/>
              </a:spcAft>
              <a:buSzPts val="1800"/>
              <a:buNone/>
              <a:defRPr sz="1800">
                <a:solidFill>
                  <a:srgbClr val="E5E5E5"/>
                </a:solidFill>
                <a:latin typeface="Calibri"/>
                <a:ea typeface="Calibri"/>
                <a:cs typeface="Calibri"/>
                <a:sym typeface="Calibri"/>
              </a:defRPr>
            </a:lvl5pPr>
            <a:lvl6pPr indent="-342900" lvl="5" marL="2743200" algn="l">
              <a:lnSpc>
                <a:spcPct val="100000"/>
              </a:lnSpc>
              <a:spcBef>
                <a:spcPts val="900"/>
              </a:spcBef>
              <a:spcAft>
                <a:spcPts val="0"/>
              </a:spcAft>
              <a:buSzPts val="1800"/>
              <a:buAutoNum type="arabicPeriod"/>
              <a:defRPr/>
            </a:lvl6pPr>
            <a:lvl7pPr indent="-342900" lvl="6" marL="3200400" algn="l">
              <a:lnSpc>
                <a:spcPct val="100000"/>
              </a:lnSpc>
              <a:spcBef>
                <a:spcPts val="900"/>
              </a:spcBef>
              <a:spcAft>
                <a:spcPts val="0"/>
              </a:spcAft>
              <a:buClr>
                <a:schemeClr val="dk1"/>
              </a:buClr>
              <a:buSzPts val="1800"/>
              <a:buAutoNum type="alphaLcPeriod"/>
              <a:defRPr/>
            </a:lvl7pPr>
            <a:lvl8pPr indent="-342900" lvl="7" marL="3657600" algn="l">
              <a:lnSpc>
                <a:spcPct val="100000"/>
              </a:lnSpc>
              <a:spcBef>
                <a:spcPts val="900"/>
              </a:spcBef>
              <a:spcAft>
                <a:spcPts val="0"/>
              </a:spcAft>
              <a:buClr>
                <a:schemeClr val="dk1"/>
              </a:buClr>
              <a:buSzPts val="1800"/>
              <a:buAutoNum type="romanLcPeriod"/>
              <a:defRPr/>
            </a:lvl8pPr>
            <a:lvl9pPr indent="-228600" lvl="8" marL="4114800" algn="l">
              <a:lnSpc>
                <a:spcPct val="100000"/>
              </a:lnSpc>
              <a:spcBef>
                <a:spcPts val="900"/>
              </a:spcBef>
              <a:spcAft>
                <a:spcPts val="900"/>
              </a:spcAft>
              <a:buClr>
                <a:schemeClr val="dk2"/>
              </a:buClr>
              <a:buSzPts val="1800"/>
              <a:buNone/>
              <a:defRPr/>
            </a:lvl9pPr>
          </a:lstStyle>
          <a:p/>
        </p:txBody>
      </p:sp>
      <p:sp>
        <p:nvSpPr>
          <p:cNvPr id="84" name="Google Shape;84;p96"/>
          <p:cNvSpPr txBox="1"/>
          <p:nvPr>
            <p:ph idx="6" type="body"/>
          </p:nvPr>
        </p:nvSpPr>
        <p:spPr>
          <a:xfrm>
            <a:off x="4664691" y="3621892"/>
            <a:ext cx="4010077" cy="2775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800"/>
              <a:buFont typeface="Calibri"/>
              <a:buNone/>
              <a:defRPr sz="1800">
                <a:solidFill>
                  <a:srgbClr val="E5E5E5"/>
                </a:solidFill>
                <a:latin typeface="Calibri"/>
                <a:ea typeface="Calibri"/>
                <a:cs typeface="Calibri"/>
                <a:sym typeface="Calibri"/>
              </a:defRPr>
            </a:lvl1pPr>
            <a:lvl2pPr indent="-228600" lvl="1" marL="914400" algn="l">
              <a:lnSpc>
                <a:spcPct val="100000"/>
              </a:lnSpc>
              <a:spcBef>
                <a:spcPts val="900"/>
              </a:spcBef>
              <a:spcAft>
                <a:spcPts val="0"/>
              </a:spcAft>
              <a:buSzPts val="1800"/>
              <a:buNone/>
              <a:defRPr sz="1800">
                <a:solidFill>
                  <a:srgbClr val="E5E5E5"/>
                </a:solidFill>
                <a:latin typeface="Calibri"/>
                <a:ea typeface="Calibri"/>
                <a:cs typeface="Calibri"/>
                <a:sym typeface="Calibri"/>
              </a:defRPr>
            </a:lvl2pPr>
            <a:lvl3pPr indent="-228600" lvl="2" marL="1371600" algn="l">
              <a:lnSpc>
                <a:spcPct val="100000"/>
              </a:lnSpc>
              <a:spcBef>
                <a:spcPts val="900"/>
              </a:spcBef>
              <a:spcAft>
                <a:spcPts val="0"/>
              </a:spcAft>
              <a:buSzPts val="1800"/>
              <a:buNone/>
              <a:defRPr sz="1800">
                <a:solidFill>
                  <a:srgbClr val="E5E5E5"/>
                </a:solidFill>
                <a:latin typeface="Calibri"/>
                <a:ea typeface="Calibri"/>
                <a:cs typeface="Calibri"/>
                <a:sym typeface="Calibri"/>
              </a:defRPr>
            </a:lvl3pPr>
            <a:lvl4pPr indent="-228600" lvl="3" marL="1828800" algn="l">
              <a:lnSpc>
                <a:spcPct val="100000"/>
              </a:lnSpc>
              <a:spcBef>
                <a:spcPts val="900"/>
              </a:spcBef>
              <a:spcAft>
                <a:spcPts val="0"/>
              </a:spcAft>
              <a:buSzPts val="1800"/>
              <a:buNone/>
              <a:defRPr sz="1800">
                <a:solidFill>
                  <a:srgbClr val="E5E5E5"/>
                </a:solidFill>
                <a:latin typeface="Calibri"/>
                <a:ea typeface="Calibri"/>
                <a:cs typeface="Calibri"/>
                <a:sym typeface="Calibri"/>
              </a:defRPr>
            </a:lvl4pPr>
            <a:lvl5pPr indent="-228600" lvl="4" marL="2286000" algn="l">
              <a:lnSpc>
                <a:spcPct val="100000"/>
              </a:lnSpc>
              <a:spcBef>
                <a:spcPts val="900"/>
              </a:spcBef>
              <a:spcAft>
                <a:spcPts val="0"/>
              </a:spcAft>
              <a:buSzPts val="1800"/>
              <a:buNone/>
              <a:defRPr sz="1800">
                <a:solidFill>
                  <a:srgbClr val="E5E5E5"/>
                </a:solidFill>
                <a:latin typeface="Calibri"/>
                <a:ea typeface="Calibri"/>
                <a:cs typeface="Calibri"/>
                <a:sym typeface="Calibri"/>
              </a:defRPr>
            </a:lvl5pPr>
            <a:lvl6pPr indent="-342900" lvl="5" marL="2743200" algn="l">
              <a:lnSpc>
                <a:spcPct val="100000"/>
              </a:lnSpc>
              <a:spcBef>
                <a:spcPts val="900"/>
              </a:spcBef>
              <a:spcAft>
                <a:spcPts val="0"/>
              </a:spcAft>
              <a:buSzPts val="1800"/>
              <a:buAutoNum type="arabicPeriod"/>
              <a:defRPr/>
            </a:lvl6pPr>
            <a:lvl7pPr indent="-342900" lvl="6" marL="3200400" algn="l">
              <a:lnSpc>
                <a:spcPct val="100000"/>
              </a:lnSpc>
              <a:spcBef>
                <a:spcPts val="900"/>
              </a:spcBef>
              <a:spcAft>
                <a:spcPts val="0"/>
              </a:spcAft>
              <a:buClr>
                <a:schemeClr val="dk1"/>
              </a:buClr>
              <a:buSzPts val="1800"/>
              <a:buAutoNum type="alphaLcPeriod"/>
              <a:defRPr/>
            </a:lvl7pPr>
            <a:lvl8pPr indent="-342900" lvl="7" marL="3657600" algn="l">
              <a:lnSpc>
                <a:spcPct val="100000"/>
              </a:lnSpc>
              <a:spcBef>
                <a:spcPts val="900"/>
              </a:spcBef>
              <a:spcAft>
                <a:spcPts val="0"/>
              </a:spcAft>
              <a:buClr>
                <a:schemeClr val="dk1"/>
              </a:buClr>
              <a:buSzPts val="1800"/>
              <a:buAutoNum type="romanLcPeriod"/>
              <a:defRPr/>
            </a:lvl8pPr>
            <a:lvl9pPr indent="-228600" lvl="8" marL="4114800" algn="l">
              <a:lnSpc>
                <a:spcPct val="100000"/>
              </a:lnSpc>
              <a:spcBef>
                <a:spcPts val="900"/>
              </a:spcBef>
              <a:spcAft>
                <a:spcPts val="900"/>
              </a:spcAft>
              <a:buClr>
                <a:schemeClr val="dk2"/>
              </a:buClr>
              <a:buSzPts val="1800"/>
              <a:buNone/>
              <a:defRPr/>
            </a:lvl9pPr>
          </a:lstStyle>
          <a:p/>
        </p:txBody>
      </p:sp>
      <p:sp>
        <p:nvSpPr>
          <p:cNvPr id="85" name="Google Shape;85;p96"/>
          <p:cNvSpPr txBox="1"/>
          <p:nvPr/>
        </p:nvSpPr>
        <p:spPr>
          <a:xfrm>
            <a:off x="515348" y="6497876"/>
            <a:ext cx="988599" cy="33606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F2F2F2"/>
                </a:solidFill>
                <a:latin typeface="Arial"/>
                <a:ea typeface="Arial"/>
                <a:cs typeface="Arial"/>
                <a:sym typeface="Arial"/>
              </a:rPr>
              <a:t>Consulting Club </a:t>
            </a:r>
            <a:r>
              <a:rPr b="1" i="0" lang="en-US" sz="1000" u="none" cap="none" strike="noStrike">
                <a:solidFill>
                  <a:schemeClr val="accent2"/>
                </a:solidFill>
                <a:latin typeface="Arial"/>
                <a:ea typeface="Arial"/>
                <a:cs typeface="Arial"/>
                <a:sym typeface="Arial"/>
              </a:rPr>
              <a:t>@</a:t>
            </a:r>
            <a:r>
              <a:rPr b="1" i="0" lang="en-US" sz="1000" u="none" cap="none" strike="noStrike">
                <a:solidFill>
                  <a:srgbClr val="F2F2F2"/>
                </a:solidFill>
                <a:latin typeface="Arial"/>
                <a:ea typeface="Arial"/>
                <a:cs typeface="Arial"/>
                <a:sym typeface="Arial"/>
              </a:rPr>
              <a:t> Ross</a:t>
            </a:r>
            <a:endParaRPr b="1" i="0" sz="1000" u="none" cap="none" strike="noStrike">
              <a:solidFill>
                <a:srgbClr val="F2F2F2"/>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wo">
  <p:cSld name="Content: Two">
    <p:spTree>
      <p:nvGrpSpPr>
        <p:cNvPr id="86" name="Shape 86"/>
        <p:cNvGrpSpPr/>
        <p:nvPr/>
      </p:nvGrpSpPr>
      <p:grpSpPr>
        <a:xfrm>
          <a:off x="0" y="0"/>
          <a:ext cx="0" cy="0"/>
          <a:chOff x="0" y="0"/>
          <a:chExt cx="0" cy="0"/>
        </a:xfrm>
      </p:grpSpPr>
      <p:grpSp>
        <p:nvGrpSpPr>
          <p:cNvPr id="87" name="Google Shape;87;p97"/>
          <p:cNvGrpSpPr/>
          <p:nvPr/>
        </p:nvGrpSpPr>
        <p:grpSpPr>
          <a:xfrm>
            <a:off x="-1" y="4969042"/>
            <a:ext cx="3248527" cy="1888958"/>
            <a:chOff x="-1" y="4969042"/>
            <a:chExt cx="3248527" cy="1888958"/>
          </a:xfrm>
        </p:grpSpPr>
        <p:sp>
          <p:nvSpPr>
            <p:cNvPr id="88" name="Google Shape;88;p97"/>
            <p:cNvSpPr/>
            <p:nvPr/>
          </p:nvSpPr>
          <p:spPr>
            <a:xfrm>
              <a:off x="-1" y="5907505"/>
              <a:ext cx="3248527" cy="950495"/>
            </a:xfrm>
            <a:prstGeom prst="rtTriangle">
              <a:avLst/>
            </a:prstGeom>
            <a:solidFill>
              <a:schemeClr val="accent5"/>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sp>
          <p:nvSpPr>
            <p:cNvPr id="89" name="Google Shape;89;p97"/>
            <p:cNvSpPr/>
            <p:nvPr/>
          </p:nvSpPr>
          <p:spPr>
            <a:xfrm>
              <a:off x="0" y="6124074"/>
              <a:ext cx="3104147" cy="733926"/>
            </a:xfrm>
            <a:prstGeom prst="rtTriangle">
              <a:avLst/>
            </a:prstGeom>
            <a:solidFill>
              <a:srgbClr val="162051"/>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sp>
          <p:nvSpPr>
            <p:cNvPr id="90" name="Google Shape;90;p97"/>
            <p:cNvSpPr/>
            <p:nvPr/>
          </p:nvSpPr>
          <p:spPr>
            <a:xfrm>
              <a:off x="0" y="4969042"/>
              <a:ext cx="503321" cy="1888958"/>
            </a:xfrm>
            <a:prstGeom prst="rtTriangle">
              <a:avLst/>
            </a:prstGeom>
            <a:solidFill>
              <a:schemeClr val="lt2"/>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grpSp>
      <p:grpSp>
        <p:nvGrpSpPr>
          <p:cNvPr id="91" name="Google Shape;91;p97"/>
          <p:cNvGrpSpPr/>
          <p:nvPr/>
        </p:nvGrpSpPr>
        <p:grpSpPr>
          <a:xfrm>
            <a:off x="368302" y="93134"/>
            <a:ext cx="8375648" cy="737045"/>
            <a:chOff x="491067" y="93134"/>
            <a:chExt cx="11167531" cy="922866"/>
          </a:xfrm>
        </p:grpSpPr>
        <p:sp>
          <p:nvSpPr>
            <p:cNvPr id="92" name="Google Shape;92;p97"/>
            <p:cNvSpPr/>
            <p:nvPr/>
          </p:nvSpPr>
          <p:spPr>
            <a:xfrm>
              <a:off x="863598" y="194737"/>
              <a:ext cx="10795000" cy="520943"/>
            </a:xfrm>
            <a:prstGeom prst="rect">
              <a:avLst/>
            </a:prstGeom>
            <a:solidFill>
              <a:srgbClr val="5F5F5F"/>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sp>
          <p:nvSpPr>
            <p:cNvPr id="93" name="Google Shape;93;p97"/>
            <p:cNvSpPr/>
            <p:nvPr/>
          </p:nvSpPr>
          <p:spPr>
            <a:xfrm>
              <a:off x="745068" y="330202"/>
              <a:ext cx="10761133" cy="685798"/>
            </a:xfrm>
            <a:prstGeom prst="rect">
              <a:avLst/>
            </a:prstGeom>
            <a:solidFill>
              <a:schemeClr val="accent2"/>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sp>
          <p:nvSpPr>
            <p:cNvPr id="94" name="Google Shape;94;p97"/>
            <p:cNvSpPr/>
            <p:nvPr/>
          </p:nvSpPr>
          <p:spPr>
            <a:xfrm>
              <a:off x="491067" y="93134"/>
              <a:ext cx="10786532" cy="685800"/>
            </a:xfrm>
            <a:prstGeom prst="rect">
              <a:avLst/>
            </a:prstGeom>
            <a:solidFill>
              <a:srgbClr val="162051"/>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grpSp>
      <p:sp>
        <p:nvSpPr>
          <p:cNvPr id="95" name="Google Shape;95;p97"/>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rgbClr val="D8D8D8"/>
              </a:buClr>
              <a:buSzPts val="2800"/>
              <a:buFont typeface="Calibri"/>
              <a:buNone/>
              <a:defRPr sz="2800">
                <a:solidFill>
                  <a:srgbClr val="D8D8D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descr="Image result for University of michigan Banner" id="96" name="Google Shape;96;p97"/>
          <p:cNvPicPr preferRelativeResize="0"/>
          <p:nvPr/>
        </p:nvPicPr>
        <p:blipFill rotWithShape="1">
          <a:blip r:embed="rId2">
            <a:alphaModFix/>
          </a:blip>
          <a:srcRect b="0" l="0" r="0" t="0"/>
          <a:stretch/>
        </p:blipFill>
        <p:spPr>
          <a:xfrm>
            <a:off x="6521116" y="6385601"/>
            <a:ext cx="2222834" cy="368935"/>
          </a:xfrm>
          <a:prstGeom prst="rect">
            <a:avLst/>
          </a:prstGeom>
          <a:noFill/>
          <a:ln>
            <a:noFill/>
          </a:ln>
        </p:spPr>
      </p:pic>
      <p:sp>
        <p:nvSpPr>
          <p:cNvPr id="97" name="Google Shape;97;p97"/>
          <p:cNvSpPr txBox="1"/>
          <p:nvPr>
            <p:ph idx="1" type="body"/>
          </p:nvPr>
        </p:nvSpPr>
        <p:spPr>
          <a:xfrm>
            <a:off x="368302" y="1059576"/>
            <a:ext cx="4107445" cy="5215494"/>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lvl1pPr indent="-228600" lvl="0" marL="457200" algn="l">
              <a:lnSpc>
                <a:spcPct val="100000"/>
              </a:lnSpc>
              <a:spcBef>
                <a:spcPts val="0"/>
              </a:spcBef>
              <a:spcAft>
                <a:spcPts val="0"/>
              </a:spcAft>
              <a:buSzPts val="1400"/>
              <a:buFont typeface="Calibri"/>
              <a:buNone/>
              <a:defRPr sz="1400">
                <a:solidFill>
                  <a:schemeClr val="accent5"/>
                </a:solidFill>
                <a:latin typeface="Calibri"/>
                <a:ea typeface="Calibri"/>
                <a:cs typeface="Calibri"/>
                <a:sym typeface="Calibri"/>
              </a:defRPr>
            </a:lvl1pPr>
            <a:lvl2pPr indent="-317500" lvl="1" marL="9144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2pPr>
            <a:lvl3pPr indent="-317500" lvl="2" marL="13716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3pPr>
            <a:lvl4pPr indent="-317500" lvl="3" marL="18288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4pPr>
            <a:lvl5pPr indent="-317500" lvl="4" marL="22860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5pPr>
            <a:lvl6pPr indent="-342900" lvl="5" marL="2743200" algn="l">
              <a:lnSpc>
                <a:spcPct val="100000"/>
              </a:lnSpc>
              <a:spcBef>
                <a:spcPts val="300"/>
              </a:spcBef>
              <a:spcAft>
                <a:spcPts val="0"/>
              </a:spcAft>
              <a:buSzPts val="1800"/>
              <a:buAutoNum type="arabicPeriod"/>
              <a:defRPr/>
            </a:lvl6pPr>
            <a:lvl7pPr indent="-342900" lvl="6" marL="3200400" algn="l">
              <a:lnSpc>
                <a:spcPct val="100000"/>
              </a:lnSpc>
              <a:spcBef>
                <a:spcPts val="900"/>
              </a:spcBef>
              <a:spcAft>
                <a:spcPts val="0"/>
              </a:spcAft>
              <a:buClr>
                <a:schemeClr val="dk1"/>
              </a:buClr>
              <a:buSzPts val="1800"/>
              <a:buAutoNum type="alphaLcPeriod"/>
              <a:defRPr/>
            </a:lvl7pPr>
            <a:lvl8pPr indent="-342900" lvl="7" marL="3657600" algn="l">
              <a:lnSpc>
                <a:spcPct val="100000"/>
              </a:lnSpc>
              <a:spcBef>
                <a:spcPts val="900"/>
              </a:spcBef>
              <a:spcAft>
                <a:spcPts val="0"/>
              </a:spcAft>
              <a:buClr>
                <a:schemeClr val="dk1"/>
              </a:buClr>
              <a:buSzPts val="1800"/>
              <a:buAutoNum type="romanLcPeriod"/>
              <a:defRPr/>
            </a:lvl8pPr>
            <a:lvl9pPr indent="-228600" lvl="8" marL="4114800" algn="l">
              <a:lnSpc>
                <a:spcPct val="100000"/>
              </a:lnSpc>
              <a:spcBef>
                <a:spcPts val="900"/>
              </a:spcBef>
              <a:spcAft>
                <a:spcPts val="900"/>
              </a:spcAft>
              <a:buClr>
                <a:schemeClr val="dk2"/>
              </a:buClr>
              <a:buSzPts val="1800"/>
              <a:buNone/>
              <a:defRPr/>
            </a:lvl9pPr>
          </a:lstStyle>
          <a:p/>
        </p:txBody>
      </p:sp>
      <p:sp>
        <p:nvSpPr>
          <p:cNvPr id="98" name="Google Shape;98;p97"/>
          <p:cNvSpPr txBox="1"/>
          <p:nvPr>
            <p:ph idx="2" type="body"/>
          </p:nvPr>
        </p:nvSpPr>
        <p:spPr>
          <a:xfrm>
            <a:off x="4596063" y="1302453"/>
            <a:ext cx="4110955" cy="4972617"/>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lvl1pPr indent="-228600" lvl="0" marL="457200" algn="l">
              <a:lnSpc>
                <a:spcPct val="100000"/>
              </a:lnSpc>
              <a:spcBef>
                <a:spcPts val="0"/>
              </a:spcBef>
              <a:spcAft>
                <a:spcPts val="0"/>
              </a:spcAft>
              <a:buSzPts val="1400"/>
              <a:buFont typeface="Calibri"/>
              <a:buNone/>
              <a:defRPr sz="1400">
                <a:solidFill>
                  <a:schemeClr val="accent5"/>
                </a:solidFill>
                <a:latin typeface="Calibri"/>
                <a:ea typeface="Calibri"/>
                <a:cs typeface="Calibri"/>
                <a:sym typeface="Calibri"/>
              </a:defRPr>
            </a:lvl1pPr>
            <a:lvl2pPr indent="-317500" lvl="1" marL="9144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2pPr>
            <a:lvl3pPr indent="-317500" lvl="2" marL="13716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3pPr>
            <a:lvl4pPr indent="-317500" lvl="3" marL="18288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4pPr>
            <a:lvl5pPr indent="-317500" lvl="4" marL="22860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5pPr>
            <a:lvl6pPr indent="-342900" lvl="5" marL="2743200" algn="l">
              <a:lnSpc>
                <a:spcPct val="100000"/>
              </a:lnSpc>
              <a:spcBef>
                <a:spcPts val="300"/>
              </a:spcBef>
              <a:spcAft>
                <a:spcPts val="0"/>
              </a:spcAft>
              <a:buSzPts val="1800"/>
              <a:buAutoNum type="arabicPeriod"/>
              <a:defRPr/>
            </a:lvl6pPr>
            <a:lvl7pPr indent="-342900" lvl="6" marL="3200400" algn="l">
              <a:lnSpc>
                <a:spcPct val="100000"/>
              </a:lnSpc>
              <a:spcBef>
                <a:spcPts val="900"/>
              </a:spcBef>
              <a:spcAft>
                <a:spcPts val="0"/>
              </a:spcAft>
              <a:buClr>
                <a:schemeClr val="dk1"/>
              </a:buClr>
              <a:buSzPts val="1800"/>
              <a:buAutoNum type="alphaLcPeriod"/>
              <a:defRPr/>
            </a:lvl7pPr>
            <a:lvl8pPr indent="-342900" lvl="7" marL="3657600" algn="l">
              <a:lnSpc>
                <a:spcPct val="100000"/>
              </a:lnSpc>
              <a:spcBef>
                <a:spcPts val="900"/>
              </a:spcBef>
              <a:spcAft>
                <a:spcPts val="0"/>
              </a:spcAft>
              <a:buClr>
                <a:schemeClr val="dk1"/>
              </a:buClr>
              <a:buSzPts val="1800"/>
              <a:buAutoNum type="romanLcPeriod"/>
              <a:defRPr/>
            </a:lvl8pPr>
            <a:lvl9pPr indent="-228600" lvl="8" marL="4114800" algn="l">
              <a:lnSpc>
                <a:spcPct val="100000"/>
              </a:lnSpc>
              <a:spcBef>
                <a:spcPts val="900"/>
              </a:spcBef>
              <a:spcAft>
                <a:spcPts val="900"/>
              </a:spcAft>
              <a:buClr>
                <a:schemeClr val="dk2"/>
              </a:buClr>
              <a:buSzPts val="1800"/>
              <a:buNone/>
              <a:defRPr/>
            </a:lvl9pPr>
          </a:lstStyle>
          <a:p/>
        </p:txBody>
      </p:sp>
      <p:sp>
        <p:nvSpPr>
          <p:cNvPr id="99" name="Google Shape;99;p97"/>
          <p:cNvSpPr/>
          <p:nvPr/>
        </p:nvSpPr>
        <p:spPr>
          <a:xfrm>
            <a:off x="4580424" y="959729"/>
            <a:ext cx="4142232" cy="354757"/>
          </a:xfrm>
          <a:prstGeom prst="rect">
            <a:avLst/>
          </a:prstGeom>
          <a:solidFill>
            <a:srgbClr val="162051"/>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2F2F2"/>
              </a:solidFill>
              <a:latin typeface="Calibri"/>
              <a:ea typeface="Calibri"/>
              <a:cs typeface="Calibri"/>
              <a:sym typeface="Calibri"/>
            </a:endParaRPr>
          </a:p>
        </p:txBody>
      </p:sp>
      <p:sp>
        <p:nvSpPr>
          <p:cNvPr id="100" name="Google Shape;100;p97"/>
          <p:cNvSpPr/>
          <p:nvPr/>
        </p:nvSpPr>
        <p:spPr>
          <a:xfrm>
            <a:off x="356269" y="959729"/>
            <a:ext cx="4133088" cy="354757"/>
          </a:xfrm>
          <a:prstGeom prst="rect">
            <a:avLst/>
          </a:prstGeom>
          <a:solidFill>
            <a:srgbClr val="162051"/>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2F2F2"/>
              </a:solidFill>
              <a:latin typeface="Calibri"/>
              <a:ea typeface="Calibri"/>
              <a:cs typeface="Calibri"/>
              <a:sym typeface="Calibri"/>
            </a:endParaRPr>
          </a:p>
        </p:txBody>
      </p:sp>
      <p:sp>
        <p:nvSpPr>
          <p:cNvPr id="101" name="Google Shape;101;p97"/>
          <p:cNvSpPr txBox="1"/>
          <p:nvPr>
            <p:ph idx="3" type="body"/>
          </p:nvPr>
        </p:nvSpPr>
        <p:spPr>
          <a:xfrm>
            <a:off x="465670" y="1015291"/>
            <a:ext cx="4010077" cy="2775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800"/>
              <a:buFont typeface="Calibri"/>
              <a:buNone/>
              <a:defRPr sz="1800">
                <a:solidFill>
                  <a:srgbClr val="E5E5E5"/>
                </a:solidFill>
                <a:latin typeface="Calibri"/>
                <a:ea typeface="Calibri"/>
                <a:cs typeface="Calibri"/>
                <a:sym typeface="Calibri"/>
              </a:defRPr>
            </a:lvl1pPr>
            <a:lvl2pPr indent="-228600" lvl="1" marL="914400" algn="l">
              <a:lnSpc>
                <a:spcPct val="100000"/>
              </a:lnSpc>
              <a:spcBef>
                <a:spcPts val="900"/>
              </a:spcBef>
              <a:spcAft>
                <a:spcPts val="0"/>
              </a:spcAft>
              <a:buSzPts val="1800"/>
              <a:buNone/>
              <a:defRPr sz="1800">
                <a:solidFill>
                  <a:srgbClr val="E5E5E5"/>
                </a:solidFill>
                <a:latin typeface="Calibri"/>
                <a:ea typeface="Calibri"/>
                <a:cs typeface="Calibri"/>
                <a:sym typeface="Calibri"/>
              </a:defRPr>
            </a:lvl2pPr>
            <a:lvl3pPr indent="-228600" lvl="2" marL="1371600" algn="l">
              <a:lnSpc>
                <a:spcPct val="100000"/>
              </a:lnSpc>
              <a:spcBef>
                <a:spcPts val="900"/>
              </a:spcBef>
              <a:spcAft>
                <a:spcPts val="0"/>
              </a:spcAft>
              <a:buSzPts val="1800"/>
              <a:buNone/>
              <a:defRPr sz="1800">
                <a:solidFill>
                  <a:srgbClr val="E5E5E5"/>
                </a:solidFill>
                <a:latin typeface="Calibri"/>
                <a:ea typeface="Calibri"/>
                <a:cs typeface="Calibri"/>
                <a:sym typeface="Calibri"/>
              </a:defRPr>
            </a:lvl3pPr>
            <a:lvl4pPr indent="-228600" lvl="3" marL="1828800" algn="l">
              <a:lnSpc>
                <a:spcPct val="100000"/>
              </a:lnSpc>
              <a:spcBef>
                <a:spcPts val="900"/>
              </a:spcBef>
              <a:spcAft>
                <a:spcPts val="0"/>
              </a:spcAft>
              <a:buSzPts val="1800"/>
              <a:buNone/>
              <a:defRPr sz="1800">
                <a:solidFill>
                  <a:srgbClr val="E5E5E5"/>
                </a:solidFill>
                <a:latin typeface="Calibri"/>
                <a:ea typeface="Calibri"/>
                <a:cs typeface="Calibri"/>
                <a:sym typeface="Calibri"/>
              </a:defRPr>
            </a:lvl4pPr>
            <a:lvl5pPr indent="-228600" lvl="4" marL="2286000" algn="l">
              <a:lnSpc>
                <a:spcPct val="100000"/>
              </a:lnSpc>
              <a:spcBef>
                <a:spcPts val="900"/>
              </a:spcBef>
              <a:spcAft>
                <a:spcPts val="0"/>
              </a:spcAft>
              <a:buSzPts val="1800"/>
              <a:buNone/>
              <a:defRPr sz="1800">
                <a:solidFill>
                  <a:srgbClr val="E5E5E5"/>
                </a:solidFill>
                <a:latin typeface="Calibri"/>
                <a:ea typeface="Calibri"/>
                <a:cs typeface="Calibri"/>
                <a:sym typeface="Calibri"/>
              </a:defRPr>
            </a:lvl5pPr>
            <a:lvl6pPr indent="-342900" lvl="5" marL="2743200" algn="l">
              <a:lnSpc>
                <a:spcPct val="100000"/>
              </a:lnSpc>
              <a:spcBef>
                <a:spcPts val="900"/>
              </a:spcBef>
              <a:spcAft>
                <a:spcPts val="0"/>
              </a:spcAft>
              <a:buSzPts val="1800"/>
              <a:buAutoNum type="arabicPeriod"/>
              <a:defRPr/>
            </a:lvl6pPr>
            <a:lvl7pPr indent="-342900" lvl="6" marL="3200400" algn="l">
              <a:lnSpc>
                <a:spcPct val="100000"/>
              </a:lnSpc>
              <a:spcBef>
                <a:spcPts val="900"/>
              </a:spcBef>
              <a:spcAft>
                <a:spcPts val="0"/>
              </a:spcAft>
              <a:buClr>
                <a:schemeClr val="dk1"/>
              </a:buClr>
              <a:buSzPts val="1800"/>
              <a:buAutoNum type="alphaLcPeriod"/>
              <a:defRPr/>
            </a:lvl7pPr>
            <a:lvl8pPr indent="-342900" lvl="7" marL="3657600" algn="l">
              <a:lnSpc>
                <a:spcPct val="100000"/>
              </a:lnSpc>
              <a:spcBef>
                <a:spcPts val="900"/>
              </a:spcBef>
              <a:spcAft>
                <a:spcPts val="0"/>
              </a:spcAft>
              <a:buClr>
                <a:schemeClr val="dk1"/>
              </a:buClr>
              <a:buSzPts val="1800"/>
              <a:buAutoNum type="romanLcPeriod"/>
              <a:defRPr/>
            </a:lvl8pPr>
            <a:lvl9pPr indent="-228600" lvl="8" marL="4114800" algn="l">
              <a:lnSpc>
                <a:spcPct val="100000"/>
              </a:lnSpc>
              <a:spcBef>
                <a:spcPts val="900"/>
              </a:spcBef>
              <a:spcAft>
                <a:spcPts val="900"/>
              </a:spcAft>
              <a:buClr>
                <a:schemeClr val="dk2"/>
              </a:buClr>
              <a:buSzPts val="1800"/>
              <a:buNone/>
              <a:defRPr/>
            </a:lvl9pPr>
          </a:lstStyle>
          <a:p/>
        </p:txBody>
      </p:sp>
      <p:sp>
        <p:nvSpPr>
          <p:cNvPr id="102" name="Google Shape;102;p97"/>
          <p:cNvSpPr txBox="1"/>
          <p:nvPr>
            <p:ph idx="4" type="body"/>
          </p:nvPr>
        </p:nvSpPr>
        <p:spPr>
          <a:xfrm>
            <a:off x="4695825" y="1016486"/>
            <a:ext cx="4010077" cy="2775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800"/>
              <a:buFont typeface="Calibri"/>
              <a:buNone/>
              <a:defRPr sz="1800">
                <a:solidFill>
                  <a:srgbClr val="E5E5E5"/>
                </a:solidFill>
                <a:latin typeface="Calibri"/>
                <a:ea typeface="Calibri"/>
                <a:cs typeface="Calibri"/>
                <a:sym typeface="Calibri"/>
              </a:defRPr>
            </a:lvl1pPr>
            <a:lvl2pPr indent="-228600" lvl="1" marL="914400" algn="l">
              <a:lnSpc>
                <a:spcPct val="100000"/>
              </a:lnSpc>
              <a:spcBef>
                <a:spcPts val="900"/>
              </a:spcBef>
              <a:spcAft>
                <a:spcPts val="0"/>
              </a:spcAft>
              <a:buSzPts val="1800"/>
              <a:buNone/>
              <a:defRPr sz="1800">
                <a:solidFill>
                  <a:srgbClr val="E5E5E5"/>
                </a:solidFill>
                <a:latin typeface="Calibri"/>
                <a:ea typeface="Calibri"/>
                <a:cs typeface="Calibri"/>
                <a:sym typeface="Calibri"/>
              </a:defRPr>
            </a:lvl2pPr>
            <a:lvl3pPr indent="-228600" lvl="2" marL="1371600" algn="l">
              <a:lnSpc>
                <a:spcPct val="100000"/>
              </a:lnSpc>
              <a:spcBef>
                <a:spcPts val="900"/>
              </a:spcBef>
              <a:spcAft>
                <a:spcPts val="0"/>
              </a:spcAft>
              <a:buSzPts val="1800"/>
              <a:buNone/>
              <a:defRPr sz="1800">
                <a:solidFill>
                  <a:srgbClr val="E5E5E5"/>
                </a:solidFill>
                <a:latin typeface="Calibri"/>
                <a:ea typeface="Calibri"/>
                <a:cs typeface="Calibri"/>
                <a:sym typeface="Calibri"/>
              </a:defRPr>
            </a:lvl3pPr>
            <a:lvl4pPr indent="-228600" lvl="3" marL="1828800" algn="l">
              <a:lnSpc>
                <a:spcPct val="100000"/>
              </a:lnSpc>
              <a:spcBef>
                <a:spcPts val="900"/>
              </a:spcBef>
              <a:spcAft>
                <a:spcPts val="0"/>
              </a:spcAft>
              <a:buSzPts val="1800"/>
              <a:buNone/>
              <a:defRPr sz="1800">
                <a:solidFill>
                  <a:srgbClr val="E5E5E5"/>
                </a:solidFill>
                <a:latin typeface="Calibri"/>
                <a:ea typeface="Calibri"/>
                <a:cs typeface="Calibri"/>
                <a:sym typeface="Calibri"/>
              </a:defRPr>
            </a:lvl4pPr>
            <a:lvl5pPr indent="-228600" lvl="4" marL="2286000" algn="l">
              <a:lnSpc>
                <a:spcPct val="100000"/>
              </a:lnSpc>
              <a:spcBef>
                <a:spcPts val="900"/>
              </a:spcBef>
              <a:spcAft>
                <a:spcPts val="0"/>
              </a:spcAft>
              <a:buSzPts val="1800"/>
              <a:buNone/>
              <a:defRPr sz="1800">
                <a:solidFill>
                  <a:srgbClr val="E5E5E5"/>
                </a:solidFill>
                <a:latin typeface="Calibri"/>
                <a:ea typeface="Calibri"/>
                <a:cs typeface="Calibri"/>
                <a:sym typeface="Calibri"/>
              </a:defRPr>
            </a:lvl5pPr>
            <a:lvl6pPr indent="-342900" lvl="5" marL="2743200" algn="l">
              <a:lnSpc>
                <a:spcPct val="100000"/>
              </a:lnSpc>
              <a:spcBef>
                <a:spcPts val="900"/>
              </a:spcBef>
              <a:spcAft>
                <a:spcPts val="0"/>
              </a:spcAft>
              <a:buSzPts val="1800"/>
              <a:buAutoNum type="arabicPeriod"/>
              <a:defRPr/>
            </a:lvl6pPr>
            <a:lvl7pPr indent="-342900" lvl="6" marL="3200400" algn="l">
              <a:lnSpc>
                <a:spcPct val="100000"/>
              </a:lnSpc>
              <a:spcBef>
                <a:spcPts val="900"/>
              </a:spcBef>
              <a:spcAft>
                <a:spcPts val="0"/>
              </a:spcAft>
              <a:buClr>
                <a:schemeClr val="dk1"/>
              </a:buClr>
              <a:buSzPts val="1800"/>
              <a:buAutoNum type="alphaLcPeriod"/>
              <a:defRPr/>
            </a:lvl7pPr>
            <a:lvl8pPr indent="-342900" lvl="7" marL="3657600" algn="l">
              <a:lnSpc>
                <a:spcPct val="100000"/>
              </a:lnSpc>
              <a:spcBef>
                <a:spcPts val="900"/>
              </a:spcBef>
              <a:spcAft>
                <a:spcPts val="0"/>
              </a:spcAft>
              <a:buClr>
                <a:schemeClr val="dk1"/>
              </a:buClr>
              <a:buSzPts val="1800"/>
              <a:buAutoNum type="romanLcPeriod"/>
              <a:defRPr/>
            </a:lvl8pPr>
            <a:lvl9pPr indent="-228600" lvl="8" marL="4114800" algn="l">
              <a:lnSpc>
                <a:spcPct val="100000"/>
              </a:lnSpc>
              <a:spcBef>
                <a:spcPts val="900"/>
              </a:spcBef>
              <a:spcAft>
                <a:spcPts val="900"/>
              </a:spcAft>
              <a:buClr>
                <a:schemeClr val="dk2"/>
              </a:buClr>
              <a:buSzPts val="1800"/>
              <a:buNone/>
              <a:defRPr/>
            </a:lvl9pPr>
          </a:lstStyle>
          <a:p/>
        </p:txBody>
      </p:sp>
      <p:sp>
        <p:nvSpPr>
          <p:cNvPr id="103" name="Google Shape;103;p97"/>
          <p:cNvSpPr txBox="1"/>
          <p:nvPr/>
        </p:nvSpPr>
        <p:spPr>
          <a:xfrm>
            <a:off x="515348" y="6497876"/>
            <a:ext cx="988599" cy="33606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F2F2F2"/>
                </a:solidFill>
                <a:latin typeface="Arial"/>
                <a:ea typeface="Arial"/>
                <a:cs typeface="Arial"/>
                <a:sym typeface="Arial"/>
              </a:rPr>
              <a:t>Consulting Club </a:t>
            </a:r>
            <a:r>
              <a:rPr b="1" i="0" lang="en-US" sz="1000" u="none" cap="none" strike="noStrike">
                <a:solidFill>
                  <a:schemeClr val="accent2"/>
                </a:solidFill>
                <a:latin typeface="Arial"/>
                <a:ea typeface="Arial"/>
                <a:cs typeface="Arial"/>
                <a:sym typeface="Arial"/>
              </a:rPr>
              <a:t>@</a:t>
            </a:r>
            <a:r>
              <a:rPr b="1" i="0" lang="en-US" sz="1000" u="none" cap="none" strike="noStrike">
                <a:solidFill>
                  <a:srgbClr val="F2F2F2"/>
                </a:solidFill>
                <a:latin typeface="Arial"/>
                <a:ea typeface="Arial"/>
                <a:cs typeface="Arial"/>
                <a:sym typeface="Arial"/>
              </a:rPr>
              <a:t> Ross</a:t>
            </a:r>
            <a:endParaRPr b="1" i="0" sz="1000" u="none" cap="none" strike="noStrike">
              <a:solidFill>
                <a:srgbClr val="F2F2F2"/>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Only">
  <p:cSld name="Cover Only">
    <p:spTree>
      <p:nvGrpSpPr>
        <p:cNvPr id="104" name="Shape 104"/>
        <p:cNvGrpSpPr/>
        <p:nvPr/>
      </p:nvGrpSpPr>
      <p:grpSpPr>
        <a:xfrm>
          <a:off x="0" y="0"/>
          <a:ext cx="0" cy="0"/>
          <a:chOff x="0" y="0"/>
          <a:chExt cx="0" cy="0"/>
        </a:xfrm>
      </p:grpSpPr>
      <p:grpSp>
        <p:nvGrpSpPr>
          <p:cNvPr id="105" name="Google Shape;105;p98"/>
          <p:cNvGrpSpPr/>
          <p:nvPr/>
        </p:nvGrpSpPr>
        <p:grpSpPr>
          <a:xfrm>
            <a:off x="-1" y="4969042"/>
            <a:ext cx="3248527" cy="1888958"/>
            <a:chOff x="-1" y="4969042"/>
            <a:chExt cx="3248527" cy="1888958"/>
          </a:xfrm>
        </p:grpSpPr>
        <p:sp>
          <p:nvSpPr>
            <p:cNvPr id="106" name="Google Shape;106;p98"/>
            <p:cNvSpPr/>
            <p:nvPr/>
          </p:nvSpPr>
          <p:spPr>
            <a:xfrm>
              <a:off x="-1" y="5907505"/>
              <a:ext cx="3248527" cy="950495"/>
            </a:xfrm>
            <a:prstGeom prst="rtTriangle">
              <a:avLst/>
            </a:prstGeom>
            <a:solidFill>
              <a:schemeClr val="accent5"/>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sp>
          <p:nvSpPr>
            <p:cNvPr id="107" name="Google Shape;107;p98"/>
            <p:cNvSpPr/>
            <p:nvPr/>
          </p:nvSpPr>
          <p:spPr>
            <a:xfrm>
              <a:off x="0" y="6124074"/>
              <a:ext cx="3104147" cy="733926"/>
            </a:xfrm>
            <a:prstGeom prst="rtTriangle">
              <a:avLst/>
            </a:prstGeom>
            <a:solidFill>
              <a:srgbClr val="162051"/>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sp>
          <p:nvSpPr>
            <p:cNvPr id="108" name="Google Shape;108;p98"/>
            <p:cNvSpPr/>
            <p:nvPr/>
          </p:nvSpPr>
          <p:spPr>
            <a:xfrm>
              <a:off x="0" y="4969042"/>
              <a:ext cx="503321" cy="1888958"/>
            </a:xfrm>
            <a:prstGeom prst="rtTriangle">
              <a:avLst/>
            </a:prstGeom>
            <a:solidFill>
              <a:schemeClr val="lt2"/>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grpSp>
      <p:grpSp>
        <p:nvGrpSpPr>
          <p:cNvPr id="109" name="Google Shape;109;p98"/>
          <p:cNvGrpSpPr/>
          <p:nvPr/>
        </p:nvGrpSpPr>
        <p:grpSpPr>
          <a:xfrm>
            <a:off x="368302" y="93134"/>
            <a:ext cx="8375648" cy="737045"/>
            <a:chOff x="491067" y="93134"/>
            <a:chExt cx="11167531" cy="922866"/>
          </a:xfrm>
        </p:grpSpPr>
        <p:sp>
          <p:nvSpPr>
            <p:cNvPr id="110" name="Google Shape;110;p98"/>
            <p:cNvSpPr/>
            <p:nvPr/>
          </p:nvSpPr>
          <p:spPr>
            <a:xfrm>
              <a:off x="863598" y="194737"/>
              <a:ext cx="10795000" cy="520943"/>
            </a:xfrm>
            <a:prstGeom prst="rect">
              <a:avLst/>
            </a:prstGeom>
            <a:solidFill>
              <a:srgbClr val="5F5F5F"/>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sp>
          <p:nvSpPr>
            <p:cNvPr id="111" name="Google Shape;111;p98"/>
            <p:cNvSpPr/>
            <p:nvPr/>
          </p:nvSpPr>
          <p:spPr>
            <a:xfrm>
              <a:off x="745068" y="330202"/>
              <a:ext cx="10761133" cy="685798"/>
            </a:xfrm>
            <a:prstGeom prst="rect">
              <a:avLst/>
            </a:prstGeom>
            <a:solidFill>
              <a:schemeClr val="accent2"/>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sp>
          <p:nvSpPr>
            <p:cNvPr id="112" name="Google Shape;112;p98"/>
            <p:cNvSpPr/>
            <p:nvPr/>
          </p:nvSpPr>
          <p:spPr>
            <a:xfrm>
              <a:off x="491067" y="93134"/>
              <a:ext cx="10786532" cy="685800"/>
            </a:xfrm>
            <a:prstGeom prst="rect">
              <a:avLst/>
            </a:prstGeom>
            <a:solidFill>
              <a:srgbClr val="162051"/>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grpSp>
      <p:sp>
        <p:nvSpPr>
          <p:cNvPr id="113" name="Google Shape;113;p98"/>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rgbClr val="D8D8D8"/>
              </a:buClr>
              <a:buSzPts val="2800"/>
              <a:buFont typeface="Calibri"/>
              <a:buNone/>
              <a:defRPr sz="2800">
                <a:solidFill>
                  <a:srgbClr val="D8D8D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descr="Image result for University of michigan Banner" id="114" name="Google Shape;114;p98"/>
          <p:cNvPicPr preferRelativeResize="0"/>
          <p:nvPr/>
        </p:nvPicPr>
        <p:blipFill rotWithShape="1">
          <a:blip r:embed="rId2">
            <a:alphaModFix/>
          </a:blip>
          <a:srcRect b="0" l="0" r="0" t="0"/>
          <a:stretch/>
        </p:blipFill>
        <p:spPr>
          <a:xfrm>
            <a:off x="6521116" y="6385601"/>
            <a:ext cx="2222834" cy="368935"/>
          </a:xfrm>
          <a:prstGeom prst="rect">
            <a:avLst/>
          </a:prstGeom>
          <a:noFill/>
          <a:ln>
            <a:noFill/>
          </a:ln>
        </p:spPr>
      </p:pic>
      <p:sp>
        <p:nvSpPr>
          <p:cNvPr id="115" name="Google Shape;115;p98"/>
          <p:cNvSpPr txBox="1"/>
          <p:nvPr/>
        </p:nvSpPr>
        <p:spPr>
          <a:xfrm>
            <a:off x="515348" y="6497876"/>
            <a:ext cx="988599" cy="33606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F2F2F2"/>
                </a:solidFill>
                <a:latin typeface="Arial"/>
                <a:ea typeface="Arial"/>
                <a:cs typeface="Arial"/>
                <a:sym typeface="Arial"/>
              </a:rPr>
              <a:t>Consulting Club </a:t>
            </a:r>
            <a:r>
              <a:rPr b="1" i="0" lang="en-US" sz="1000" u="none" cap="none" strike="noStrike">
                <a:solidFill>
                  <a:schemeClr val="accent2"/>
                </a:solidFill>
                <a:latin typeface="Arial"/>
                <a:ea typeface="Arial"/>
                <a:cs typeface="Arial"/>
                <a:sym typeface="Arial"/>
              </a:rPr>
              <a:t>@</a:t>
            </a:r>
            <a:r>
              <a:rPr b="1" i="0" lang="en-US" sz="1000" u="none" cap="none" strike="noStrike">
                <a:solidFill>
                  <a:srgbClr val="F2F2F2"/>
                </a:solidFill>
                <a:latin typeface="Arial"/>
                <a:ea typeface="Arial"/>
                <a:cs typeface="Arial"/>
                <a:sym typeface="Arial"/>
              </a:rPr>
              <a:t> Ross</a:t>
            </a:r>
            <a:endParaRPr b="1" i="0" sz="1000" u="none" cap="none" strike="noStrike">
              <a:solidFill>
                <a:srgbClr val="F2F2F2"/>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Content: One">
  <p:cSld name="3_Content: One">
    <p:spTree>
      <p:nvGrpSpPr>
        <p:cNvPr id="116" name="Shape 116"/>
        <p:cNvGrpSpPr/>
        <p:nvPr/>
      </p:nvGrpSpPr>
      <p:grpSpPr>
        <a:xfrm>
          <a:off x="0" y="0"/>
          <a:ext cx="0" cy="0"/>
          <a:chOff x="0" y="0"/>
          <a:chExt cx="0" cy="0"/>
        </a:xfrm>
      </p:grpSpPr>
      <p:grpSp>
        <p:nvGrpSpPr>
          <p:cNvPr id="117" name="Google Shape;117;p99"/>
          <p:cNvGrpSpPr/>
          <p:nvPr/>
        </p:nvGrpSpPr>
        <p:grpSpPr>
          <a:xfrm>
            <a:off x="-1" y="4969042"/>
            <a:ext cx="3248527" cy="1888958"/>
            <a:chOff x="-1" y="4969042"/>
            <a:chExt cx="3248527" cy="1888958"/>
          </a:xfrm>
        </p:grpSpPr>
        <p:sp>
          <p:nvSpPr>
            <p:cNvPr id="118" name="Google Shape;118;p99"/>
            <p:cNvSpPr/>
            <p:nvPr/>
          </p:nvSpPr>
          <p:spPr>
            <a:xfrm>
              <a:off x="-1" y="5907505"/>
              <a:ext cx="3248527" cy="950495"/>
            </a:xfrm>
            <a:prstGeom prst="rtTriangle">
              <a:avLst/>
            </a:prstGeom>
            <a:solidFill>
              <a:schemeClr val="accent5"/>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sp>
          <p:nvSpPr>
            <p:cNvPr id="119" name="Google Shape;119;p99"/>
            <p:cNvSpPr/>
            <p:nvPr/>
          </p:nvSpPr>
          <p:spPr>
            <a:xfrm>
              <a:off x="0" y="6124074"/>
              <a:ext cx="3104147" cy="733926"/>
            </a:xfrm>
            <a:prstGeom prst="rtTriangle">
              <a:avLst/>
            </a:prstGeom>
            <a:solidFill>
              <a:srgbClr val="162051"/>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sp>
          <p:nvSpPr>
            <p:cNvPr id="120" name="Google Shape;120;p99"/>
            <p:cNvSpPr/>
            <p:nvPr/>
          </p:nvSpPr>
          <p:spPr>
            <a:xfrm>
              <a:off x="0" y="4969042"/>
              <a:ext cx="503321" cy="1888958"/>
            </a:xfrm>
            <a:prstGeom prst="rtTriangle">
              <a:avLst/>
            </a:prstGeom>
            <a:solidFill>
              <a:schemeClr val="lt2"/>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grpSp>
      <p:sp>
        <p:nvSpPr>
          <p:cNvPr id="121" name="Google Shape;121;p99"/>
          <p:cNvSpPr txBox="1"/>
          <p:nvPr>
            <p:ph idx="1" type="body"/>
          </p:nvPr>
        </p:nvSpPr>
        <p:spPr>
          <a:xfrm>
            <a:off x="368302" y="3983413"/>
            <a:ext cx="4107445" cy="2289372"/>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lvl1pPr indent="-228600" lvl="0" marL="457200" algn="l">
              <a:lnSpc>
                <a:spcPct val="100000"/>
              </a:lnSpc>
              <a:spcBef>
                <a:spcPts val="0"/>
              </a:spcBef>
              <a:spcAft>
                <a:spcPts val="0"/>
              </a:spcAft>
              <a:buSzPts val="1400"/>
              <a:buFont typeface="Calibri"/>
              <a:buNone/>
              <a:defRPr sz="1400">
                <a:solidFill>
                  <a:schemeClr val="accent5"/>
                </a:solidFill>
                <a:latin typeface="Calibri"/>
                <a:ea typeface="Calibri"/>
                <a:cs typeface="Calibri"/>
                <a:sym typeface="Calibri"/>
              </a:defRPr>
            </a:lvl1pPr>
            <a:lvl2pPr indent="-317500" lvl="1" marL="9144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2pPr>
            <a:lvl3pPr indent="-317500" lvl="2" marL="13716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3pPr>
            <a:lvl4pPr indent="-317500" lvl="3" marL="18288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4pPr>
            <a:lvl5pPr indent="-317500" lvl="4" marL="22860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5pPr>
            <a:lvl6pPr indent="-342900" lvl="5" marL="2743200" algn="l">
              <a:lnSpc>
                <a:spcPct val="100000"/>
              </a:lnSpc>
              <a:spcBef>
                <a:spcPts val="300"/>
              </a:spcBef>
              <a:spcAft>
                <a:spcPts val="0"/>
              </a:spcAft>
              <a:buSzPts val="1800"/>
              <a:buAutoNum type="arabicPeriod"/>
              <a:defRPr/>
            </a:lvl6pPr>
            <a:lvl7pPr indent="-342900" lvl="6" marL="3200400" algn="l">
              <a:lnSpc>
                <a:spcPct val="100000"/>
              </a:lnSpc>
              <a:spcBef>
                <a:spcPts val="900"/>
              </a:spcBef>
              <a:spcAft>
                <a:spcPts val="0"/>
              </a:spcAft>
              <a:buClr>
                <a:schemeClr val="dk1"/>
              </a:buClr>
              <a:buSzPts val="1800"/>
              <a:buAutoNum type="alphaLcPeriod"/>
              <a:defRPr/>
            </a:lvl7pPr>
            <a:lvl8pPr indent="-342900" lvl="7" marL="3657600" algn="l">
              <a:lnSpc>
                <a:spcPct val="100000"/>
              </a:lnSpc>
              <a:spcBef>
                <a:spcPts val="900"/>
              </a:spcBef>
              <a:spcAft>
                <a:spcPts val="0"/>
              </a:spcAft>
              <a:buClr>
                <a:schemeClr val="dk1"/>
              </a:buClr>
              <a:buSzPts val="1800"/>
              <a:buAutoNum type="romanLcPeriod"/>
              <a:defRPr/>
            </a:lvl8pPr>
            <a:lvl9pPr indent="-228600" lvl="8" marL="4114800" algn="l">
              <a:lnSpc>
                <a:spcPct val="100000"/>
              </a:lnSpc>
              <a:spcBef>
                <a:spcPts val="900"/>
              </a:spcBef>
              <a:spcAft>
                <a:spcPts val="900"/>
              </a:spcAft>
              <a:buClr>
                <a:schemeClr val="dk2"/>
              </a:buClr>
              <a:buSzPts val="1800"/>
              <a:buNone/>
              <a:defRPr/>
            </a:lvl9pPr>
          </a:lstStyle>
          <a:p/>
        </p:txBody>
      </p:sp>
      <p:sp>
        <p:nvSpPr>
          <p:cNvPr id="122" name="Google Shape;122;p99"/>
          <p:cNvSpPr txBox="1"/>
          <p:nvPr>
            <p:ph idx="2" type="body"/>
          </p:nvPr>
        </p:nvSpPr>
        <p:spPr>
          <a:xfrm>
            <a:off x="4596063" y="3983412"/>
            <a:ext cx="4110955" cy="2289373"/>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lvl1pPr indent="-228600" lvl="0" marL="457200" algn="l">
              <a:lnSpc>
                <a:spcPct val="100000"/>
              </a:lnSpc>
              <a:spcBef>
                <a:spcPts val="0"/>
              </a:spcBef>
              <a:spcAft>
                <a:spcPts val="0"/>
              </a:spcAft>
              <a:buSzPts val="1400"/>
              <a:buFont typeface="Calibri"/>
              <a:buNone/>
              <a:defRPr sz="1400">
                <a:solidFill>
                  <a:schemeClr val="accent5"/>
                </a:solidFill>
                <a:latin typeface="Calibri"/>
                <a:ea typeface="Calibri"/>
                <a:cs typeface="Calibri"/>
                <a:sym typeface="Calibri"/>
              </a:defRPr>
            </a:lvl1pPr>
            <a:lvl2pPr indent="-317500" lvl="1" marL="9144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2pPr>
            <a:lvl3pPr indent="-317500" lvl="2" marL="13716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3pPr>
            <a:lvl4pPr indent="-317500" lvl="3" marL="18288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4pPr>
            <a:lvl5pPr indent="-317500" lvl="4" marL="22860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5pPr>
            <a:lvl6pPr indent="-342900" lvl="5" marL="2743200" algn="l">
              <a:lnSpc>
                <a:spcPct val="100000"/>
              </a:lnSpc>
              <a:spcBef>
                <a:spcPts val="300"/>
              </a:spcBef>
              <a:spcAft>
                <a:spcPts val="0"/>
              </a:spcAft>
              <a:buSzPts val="1800"/>
              <a:buAutoNum type="arabicPeriod"/>
              <a:defRPr/>
            </a:lvl6pPr>
            <a:lvl7pPr indent="-342900" lvl="6" marL="3200400" algn="l">
              <a:lnSpc>
                <a:spcPct val="100000"/>
              </a:lnSpc>
              <a:spcBef>
                <a:spcPts val="900"/>
              </a:spcBef>
              <a:spcAft>
                <a:spcPts val="0"/>
              </a:spcAft>
              <a:buClr>
                <a:schemeClr val="dk1"/>
              </a:buClr>
              <a:buSzPts val="1800"/>
              <a:buAutoNum type="alphaLcPeriod"/>
              <a:defRPr/>
            </a:lvl7pPr>
            <a:lvl8pPr indent="-342900" lvl="7" marL="3657600" algn="l">
              <a:lnSpc>
                <a:spcPct val="100000"/>
              </a:lnSpc>
              <a:spcBef>
                <a:spcPts val="900"/>
              </a:spcBef>
              <a:spcAft>
                <a:spcPts val="0"/>
              </a:spcAft>
              <a:buClr>
                <a:schemeClr val="dk1"/>
              </a:buClr>
              <a:buSzPts val="1800"/>
              <a:buAutoNum type="romanLcPeriod"/>
              <a:defRPr/>
            </a:lvl8pPr>
            <a:lvl9pPr indent="-228600" lvl="8" marL="4114800" algn="l">
              <a:lnSpc>
                <a:spcPct val="100000"/>
              </a:lnSpc>
              <a:spcBef>
                <a:spcPts val="900"/>
              </a:spcBef>
              <a:spcAft>
                <a:spcPts val="900"/>
              </a:spcAft>
              <a:buClr>
                <a:schemeClr val="dk2"/>
              </a:buClr>
              <a:buSzPts val="1800"/>
              <a:buNone/>
              <a:defRPr/>
            </a:lvl9pPr>
          </a:lstStyle>
          <a:p/>
        </p:txBody>
      </p:sp>
      <p:grpSp>
        <p:nvGrpSpPr>
          <p:cNvPr id="123" name="Google Shape;123;p99"/>
          <p:cNvGrpSpPr/>
          <p:nvPr/>
        </p:nvGrpSpPr>
        <p:grpSpPr>
          <a:xfrm>
            <a:off x="368302" y="69070"/>
            <a:ext cx="8375648" cy="737045"/>
            <a:chOff x="491067" y="93134"/>
            <a:chExt cx="11167531" cy="922866"/>
          </a:xfrm>
        </p:grpSpPr>
        <p:sp>
          <p:nvSpPr>
            <p:cNvPr id="124" name="Google Shape;124;p99"/>
            <p:cNvSpPr/>
            <p:nvPr/>
          </p:nvSpPr>
          <p:spPr>
            <a:xfrm>
              <a:off x="863598" y="194737"/>
              <a:ext cx="10795000" cy="520943"/>
            </a:xfrm>
            <a:prstGeom prst="rect">
              <a:avLst/>
            </a:prstGeom>
            <a:solidFill>
              <a:srgbClr val="5F5F5F"/>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sp>
          <p:nvSpPr>
            <p:cNvPr id="125" name="Google Shape;125;p99"/>
            <p:cNvSpPr/>
            <p:nvPr/>
          </p:nvSpPr>
          <p:spPr>
            <a:xfrm>
              <a:off x="745068" y="330202"/>
              <a:ext cx="10761133" cy="685798"/>
            </a:xfrm>
            <a:prstGeom prst="rect">
              <a:avLst/>
            </a:prstGeom>
            <a:solidFill>
              <a:schemeClr val="accent2"/>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sp>
          <p:nvSpPr>
            <p:cNvPr id="126" name="Google Shape;126;p99"/>
            <p:cNvSpPr/>
            <p:nvPr/>
          </p:nvSpPr>
          <p:spPr>
            <a:xfrm>
              <a:off x="491067" y="93134"/>
              <a:ext cx="10786532" cy="685800"/>
            </a:xfrm>
            <a:prstGeom prst="rect">
              <a:avLst/>
            </a:prstGeom>
            <a:solidFill>
              <a:srgbClr val="162051"/>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grpSp>
      <p:sp>
        <p:nvSpPr>
          <p:cNvPr id="127" name="Google Shape;127;p99"/>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rgbClr val="D8D8D8"/>
              </a:buClr>
              <a:buSzPts val="2800"/>
              <a:buFont typeface="Calibri"/>
              <a:buNone/>
              <a:defRPr sz="2800">
                <a:solidFill>
                  <a:srgbClr val="D8D8D8"/>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descr="Image result for University of michigan Banner" id="128" name="Google Shape;128;p99"/>
          <p:cNvPicPr preferRelativeResize="0"/>
          <p:nvPr/>
        </p:nvPicPr>
        <p:blipFill rotWithShape="1">
          <a:blip r:embed="rId2">
            <a:alphaModFix/>
          </a:blip>
          <a:srcRect b="0" l="0" r="0" t="0"/>
          <a:stretch/>
        </p:blipFill>
        <p:spPr>
          <a:xfrm>
            <a:off x="6521116" y="6385601"/>
            <a:ext cx="2222834" cy="368935"/>
          </a:xfrm>
          <a:prstGeom prst="rect">
            <a:avLst/>
          </a:prstGeom>
          <a:noFill/>
          <a:ln>
            <a:noFill/>
          </a:ln>
        </p:spPr>
      </p:pic>
      <p:sp>
        <p:nvSpPr>
          <p:cNvPr id="129" name="Google Shape;129;p99"/>
          <p:cNvSpPr/>
          <p:nvPr/>
        </p:nvSpPr>
        <p:spPr>
          <a:xfrm>
            <a:off x="356269" y="3646533"/>
            <a:ext cx="4133088" cy="354757"/>
          </a:xfrm>
          <a:prstGeom prst="rect">
            <a:avLst/>
          </a:prstGeom>
          <a:solidFill>
            <a:srgbClr val="162051"/>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2F2F2"/>
              </a:solidFill>
              <a:latin typeface="Calibri"/>
              <a:ea typeface="Calibri"/>
              <a:cs typeface="Calibri"/>
              <a:sym typeface="Calibri"/>
            </a:endParaRPr>
          </a:p>
        </p:txBody>
      </p:sp>
      <p:sp>
        <p:nvSpPr>
          <p:cNvPr id="130" name="Google Shape;130;p99"/>
          <p:cNvSpPr/>
          <p:nvPr/>
        </p:nvSpPr>
        <p:spPr>
          <a:xfrm>
            <a:off x="4580424" y="3646533"/>
            <a:ext cx="4142232" cy="354757"/>
          </a:xfrm>
          <a:prstGeom prst="rect">
            <a:avLst/>
          </a:prstGeom>
          <a:solidFill>
            <a:srgbClr val="162051"/>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2F2F2"/>
              </a:solidFill>
              <a:latin typeface="Calibri"/>
              <a:ea typeface="Calibri"/>
              <a:cs typeface="Calibri"/>
              <a:sym typeface="Calibri"/>
            </a:endParaRPr>
          </a:p>
        </p:txBody>
      </p:sp>
      <p:sp>
        <p:nvSpPr>
          <p:cNvPr id="131" name="Google Shape;131;p99"/>
          <p:cNvSpPr txBox="1"/>
          <p:nvPr>
            <p:ph idx="3" type="body"/>
          </p:nvPr>
        </p:nvSpPr>
        <p:spPr>
          <a:xfrm>
            <a:off x="465670" y="3695044"/>
            <a:ext cx="4010077" cy="2775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800"/>
              <a:buFont typeface="Calibri"/>
              <a:buNone/>
              <a:defRPr sz="1800">
                <a:solidFill>
                  <a:srgbClr val="E5E5E5"/>
                </a:solidFill>
                <a:latin typeface="Calibri"/>
                <a:ea typeface="Calibri"/>
                <a:cs typeface="Calibri"/>
                <a:sym typeface="Calibri"/>
              </a:defRPr>
            </a:lvl1pPr>
            <a:lvl2pPr indent="-228600" lvl="1" marL="914400" algn="l">
              <a:lnSpc>
                <a:spcPct val="100000"/>
              </a:lnSpc>
              <a:spcBef>
                <a:spcPts val="900"/>
              </a:spcBef>
              <a:spcAft>
                <a:spcPts val="0"/>
              </a:spcAft>
              <a:buSzPts val="1800"/>
              <a:buNone/>
              <a:defRPr sz="1800">
                <a:solidFill>
                  <a:srgbClr val="E5E5E5"/>
                </a:solidFill>
                <a:latin typeface="Calibri"/>
                <a:ea typeface="Calibri"/>
                <a:cs typeface="Calibri"/>
                <a:sym typeface="Calibri"/>
              </a:defRPr>
            </a:lvl2pPr>
            <a:lvl3pPr indent="-228600" lvl="2" marL="1371600" algn="l">
              <a:lnSpc>
                <a:spcPct val="100000"/>
              </a:lnSpc>
              <a:spcBef>
                <a:spcPts val="900"/>
              </a:spcBef>
              <a:spcAft>
                <a:spcPts val="0"/>
              </a:spcAft>
              <a:buSzPts val="1800"/>
              <a:buNone/>
              <a:defRPr sz="1800">
                <a:solidFill>
                  <a:srgbClr val="E5E5E5"/>
                </a:solidFill>
                <a:latin typeface="Calibri"/>
                <a:ea typeface="Calibri"/>
                <a:cs typeface="Calibri"/>
                <a:sym typeface="Calibri"/>
              </a:defRPr>
            </a:lvl3pPr>
            <a:lvl4pPr indent="-228600" lvl="3" marL="1828800" algn="l">
              <a:lnSpc>
                <a:spcPct val="100000"/>
              </a:lnSpc>
              <a:spcBef>
                <a:spcPts val="900"/>
              </a:spcBef>
              <a:spcAft>
                <a:spcPts val="0"/>
              </a:spcAft>
              <a:buSzPts val="1800"/>
              <a:buNone/>
              <a:defRPr sz="1800">
                <a:solidFill>
                  <a:srgbClr val="E5E5E5"/>
                </a:solidFill>
                <a:latin typeface="Calibri"/>
                <a:ea typeface="Calibri"/>
                <a:cs typeface="Calibri"/>
                <a:sym typeface="Calibri"/>
              </a:defRPr>
            </a:lvl4pPr>
            <a:lvl5pPr indent="-228600" lvl="4" marL="2286000" algn="l">
              <a:lnSpc>
                <a:spcPct val="100000"/>
              </a:lnSpc>
              <a:spcBef>
                <a:spcPts val="900"/>
              </a:spcBef>
              <a:spcAft>
                <a:spcPts val="0"/>
              </a:spcAft>
              <a:buSzPts val="1800"/>
              <a:buNone/>
              <a:defRPr sz="1800">
                <a:solidFill>
                  <a:srgbClr val="E5E5E5"/>
                </a:solidFill>
                <a:latin typeface="Calibri"/>
                <a:ea typeface="Calibri"/>
                <a:cs typeface="Calibri"/>
                <a:sym typeface="Calibri"/>
              </a:defRPr>
            </a:lvl5pPr>
            <a:lvl6pPr indent="-342900" lvl="5" marL="2743200" algn="l">
              <a:lnSpc>
                <a:spcPct val="100000"/>
              </a:lnSpc>
              <a:spcBef>
                <a:spcPts val="900"/>
              </a:spcBef>
              <a:spcAft>
                <a:spcPts val="0"/>
              </a:spcAft>
              <a:buSzPts val="1800"/>
              <a:buAutoNum type="arabicPeriod"/>
              <a:defRPr/>
            </a:lvl6pPr>
            <a:lvl7pPr indent="-342900" lvl="6" marL="3200400" algn="l">
              <a:lnSpc>
                <a:spcPct val="100000"/>
              </a:lnSpc>
              <a:spcBef>
                <a:spcPts val="900"/>
              </a:spcBef>
              <a:spcAft>
                <a:spcPts val="0"/>
              </a:spcAft>
              <a:buClr>
                <a:schemeClr val="dk1"/>
              </a:buClr>
              <a:buSzPts val="1800"/>
              <a:buAutoNum type="alphaLcPeriod"/>
              <a:defRPr/>
            </a:lvl7pPr>
            <a:lvl8pPr indent="-342900" lvl="7" marL="3657600" algn="l">
              <a:lnSpc>
                <a:spcPct val="100000"/>
              </a:lnSpc>
              <a:spcBef>
                <a:spcPts val="900"/>
              </a:spcBef>
              <a:spcAft>
                <a:spcPts val="0"/>
              </a:spcAft>
              <a:buClr>
                <a:schemeClr val="dk1"/>
              </a:buClr>
              <a:buSzPts val="1800"/>
              <a:buAutoNum type="romanLcPeriod"/>
              <a:defRPr/>
            </a:lvl8pPr>
            <a:lvl9pPr indent="-228600" lvl="8" marL="4114800" algn="l">
              <a:lnSpc>
                <a:spcPct val="100000"/>
              </a:lnSpc>
              <a:spcBef>
                <a:spcPts val="900"/>
              </a:spcBef>
              <a:spcAft>
                <a:spcPts val="900"/>
              </a:spcAft>
              <a:buClr>
                <a:schemeClr val="dk2"/>
              </a:buClr>
              <a:buSzPts val="1800"/>
              <a:buNone/>
              <a:defRPr/>
            </a:lvl9pPr>
          </a:lstStyle>
          <a:p/>
        </p:txBody>
      </p:sp>
      <p:sp>
        <p:nvSpPr>
          <p:cNvPr id="132" name="Google Shape;132;p99"/>
          <p:cNvSpPr txBox="1"/>
          <p:nvPr>
            <p:ph idx="4" type="body"/>
          </p:nvPr>
        </p:nvSpPr>
        <p:spPr>
          <a:xfrm>
            <a:off x="4664691" y="3695044"/>
            <a:ext cx="4010077" cy="2775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800"/>
              <a:buFont typeface="Calibri"/>
              <a:buNone/>
              <a:defRPr sz="1800">
                <a:solidFill>
                  <a:srgbClr val="E5E5E5"/>
                </a:solidFill>
                <a:latin typeface="Calibri"/>
                <a:ea typeface="Calibri"/>
                <a:cs typeface="Calibri"/>
                <a:sym typeface="Calibri"/>
              </a:defRPr>
            </a:lvl1pPr>
            <a:lvl2pPr indent="-228600" lvl="1" marL="914400" algn="l">
              <a:lnSpc>
                <a:spcPct val="100000"/>
              </a:lnSpc>
              <a:spcBef>
                <a:spcPts val="900"/>
              </a:spcBef>
              <a:spcAft>
                <a:spcPts val="0"/>
              </a:spcAft>
              <a:buSzPts val="1800"/>
              <a:buNone/>
              <a:defRPr sz="1800">
                <a:solidFill>
                  <a:srgbClr val="E5E5E5"/>
                </a:solidFill>
                <a:latin typeface="Calibri"/>
                <a:ea typeface="Calibri"/>
                <a:cs typeface="Calibri"/>
                <a:sym typeface="Calibri"/>
              </a:defRPr>
            </a:lvl2pPr>
            <a:lvl3pPr indent="-228600" lvl="2" marL="1371600" algn="l">
              <a:lnSpc>
                <a:spcPct val="100000"/>
              </a:lnSpc>
              <a:spcBef>
                <a:spcPts val="900"/>
              </a:spcBef>
              <a:spcAft>
                <a:spcPts val="0"/>
              </a:spcAft>
              <a:buSzPts val="1800"/>
              <a:buNone/>
              <a:defRPr sz="1800">
                <a:solidFill>
                  <a:srgbClr val="E5E5E5"/>
                </a:solidFill>
                <a:latin typeface="Calibri"/>
                <a:ea typeface="Calibri"/>
                <a:cs typeface="Calibri"/>
                <a:sym typeface="Calibri"/>
              </a:defRPr>
            </a:lvl3pPr>
            <a:lvl4pPr indent="-228600" lvl="3" marL="1828800" algn="l">
              <a:lnSpc>
                <a:spcPct val="100000"/>
              </a:lnSpc>
              <a:spcBef>
                <a:spcPts val="900"/>
              </a:spcBef>
              <a:spcAft>
                <a:spcPts val="0"/>
              </a:spcAft>
              <a:buSzPts val="1800"/>
              <a:buNone/>
              <a:defRPr sz="1800">
                <a:solidFill>
                  <a:srgbClr val="E5E5E5"/>
                </a:solidFill>
                <a:latin typeface="Calibri"/>
                <a:ea typeface="Calibri"/>
                <a:cs typeface="Calibri"/>
                <a:sym typeface="Calibri"/>
              </a:defRPr>
            </a:lvl4pPr>
            <a:lvl5pPr indent="-228600" lvl="4" marL="2286000" algn="l">
              <a:lnSpc>
                <a:spcPct val="100000"/>
              </a:lnSpc>
              <a:spcBef>
                <a:spcPts val="900"/>
              </a:spcBef>
              <a:spcAft>
                <a:spcPts val="0"/>
              </a:spcAft>
              <a:buSzPts val="1800"/>
              <a:buNone/>
              <a:defRPr sz="1800">
                <a:solidFill>
                  <a:srgbClr val="E5E5E5"/>
                </a:solidFill>
                <a:latin typeface="Calibri"/>
                <a:ea typeface="Calibri"/>
                <a:cs typeface="Calibri"/>
                <a:sym typeface="Calibri"/>
              </a:defRPr>
            </a:lvl5pPr>
            <a:lvl6pPr indent="-342900" lvl="5" marL="2743200" algn="l">
              <a:lnSpc>
                <a:spcPct val="100000"/>
              </a:lnSpc>
              <a:spcBef>
                <a:spcPts val="900"/>
              </a:spcBef>
              <a:spcAft>
                <a:spcPts val="0"/>
              </a:spcAft>
              <a:buSzPts val="1800"/>
              <a:buAutoNum type="arabicPeriod"/>
              <a:defRPr/>
            </a:lvl6pPr>
            <a:lvl7pPr indent="-342900" lvl="6" marL="3200400" algn="l">
              <a:lnSpc>
                <a:spcPct val="100000"/>
              </a:lnSpc>
              <a:spcBef>
                <a:spcPts val="900"/>
              </a:spcBef>
              <a:spcAft>
                <a:spcPts val="0"/>
              </a:spcAft>
              <a:buClr>
                <a:schemeClr val="dk1"/>
              </a:buClr>
              <a:buSzPts val="1800"/>
              <a:buAutoNum type="alphaLcPeriod"/>
              <a:defRPr/>
            </a:lvl7pPr>
            <a:lvl8pPr indent="-342900" lvl="7" marL="3657600" algn="l">
              <a:lnSpc>
                <a:spcPct val="100000"/>
              </a:lnSpc>
              <a:spcBef>
                <a:spcPts val="900"/>
              </a:spcBef>
              <a:spcAft>
                <a:spcPts val="0"/>
              </a:spcAft>
              <a:buClr>
                <a:schemeClr val="dk1"/>
              </a:buClr>
              <a:buSzPts val="1800"/>
              <a:buAutoNum type="romanLcPeriod"/>
              <a:defRPr/>
            </a:lvl8pPr>
            <a:lvl9pPr indent="-228600" lvl="8" marL="4114800" algn="l">
              <a:lnSpc>
                <a:spcPct val="100000"/>
              </a:lnSpc>
              <a:spcBef>
                <a:spcPts val="900"/>
              </a:spcBef>
              <a:spcAft>
                <a:spcPts val="900"/>
              </a:spcAft>
              <a:buClr>
                <a:schemeClr val="dk2"/>
              </a:buClr>
              <a:buSzPts val="1800"/>
              <a:buNone/>
              <a:defRPr/>
            </a:lvl9pPr>
          </a:lstStyle>
          <a:p/>
        </p:txBody>
      </p:sp>
      <p:sp>
        <p:nvSpPr>
          <p:cNvPr id="133" name="Google Shape;133;p99"/>
          <p:cNvSpPr txBox="1"/>
          <p:nvPr/>
        </p:nvSpPr>
        <p:spPr>
          <a:xfrm>
            <a:off x="515348" y="6497876"/>
            <a:ext cx="988599" cy="33606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F2F2F2"/>
                </a:solidFill>
                <a:latin typeface="Arial"/>
                <a:ea typeface="Arial"/>
                <a:cs typeface="Arial"/>
                <a:sym typeface="Arial"/>
              </a:rPr>
              <a:t>Consulting Club </a:t>
            </a:r>
            <a:r>
              <a:rPr b="1" i="0" lang="en-US" sz="1000" u="none" cap="none" strike="noStrike">
                <a:solidFill>
                  <a:schemeClr val="accent2"/>
                </a:solidFill>
                <a:latin typeface="Arial"/>
                <a:ea typeface="Arial"/>
                <a:cs typeface="Arial"/>
                <a:sym typeface="Arial"/>
              </a:rPr>
              <a:t>@</a:t>
            </a:r>
            <a:r>
              <a:rPr b="1" i="0" lang="en-US" sz="1000" u="none" cap="none" strike="noStrike">
                <a:solidFill>
                  <a:srgbClr val="F2F2F2"/>
                </a:solidFill>
                <a:latin typeface="Arial"/>
                <a:ea typeface="Arial"/>
                <a:cs typeface="Arial"/>
                <a:sym typeface="Arial"/>
              </a:rPr>
              <a:t> Ross</a:t>
            </a:r>
            <a:endParaRPr b="1" i="0" sz="1000" u="none" cap="none" strike="noStrike">
              <a:solidFill>
                <a:srgbClr val="F2F2F2"/>
              </a:solidFill>
              <a:latin typeface="Arial"/>
              <a:ea typeface="Arial"/>
              <a:cs typeface="Arial"/>
              <a:sym typeface="Arial"/>
            </a:endParaRPr>
          </a:p>
        </p:txBody>
      </p:sp>
      <p:sp>
        <p:nvSpPr>
          <p:cNvPr id="134" name="Google Shape;134;p99"/>
          <p:cNvSpPr txBox="1"/>
          <p:nvPr>
            <p:ph idx="5" type="body"/>
          </p:nvPr>
        </p:nvSpPr>
        <p:spPr>
          <a:xfrm>
            <a:off x="368302" y="1261135"/>
            <a:ext cx="4107445" cy="2289372"/>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lvl1pPr indent="-228600" lvl="0" marL="457200" algn="l">
              <a:lnSpc>
                <a:spcPct val="100000"/>
              </a:lnSpc>
              <a:spcBef>
                <a:spcPts val="0"/>
              </a:spcBef>
              <a:spcAft>
                <a:spcPts val="0"/>
              </a:spcAft>
              <a:buSzPts val="1400"/>
              <a:buFont typeface="Calibri"/>
              <a:buNone/>
              <a:defRPr sz="1400">
                <a:solidFill>
                  <a:schemeClr val="accent5"/>
                </a:solidFill>
                <a:latin typeface="Calibri"/>
                <a:ea typeface="Calibri"/>
                <a:cs typeface="Calibri"/>
                <a:sym typeface="Calibri"/>
              </a:defRPr>
            </a:lvl1pPr>
            <a:lvl2pPr indent="-317500" lvl="1" marL="9144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2pPr>
            <a:lvl3pPr indent="-317500" lvl="2" marL="13716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3pPr>
            <a:lvl4pPr indent="-317500" lvl="3" marL="18288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4pPr>
            <a:lvl5pPr indent="-317500" lvl="4" marL="22860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5pPr>
            <a:lvl6pPr indent="-342900" lvl="5" marL="2743200" algn="l">
              <a:lnSpc>
                <a:spcPct val="100000"/>
              </a:lnSpc>
              <a:spcBef>
                <a:spcPts val="300"/>
              </a:spcBef>
              <a:spcAft>
                <a:spcPts val="0"/>
              </a:spcAft>
              <a:buSzPts val="1800"/>
              <a:buAutoNum type="arabicPeriod"/>
              <a:defRPr/>
            </a:lvl6pPr>
            <a:lvl7pPr indent="-342900" lvl="6" marL="3200400" algn="l">
              <a:lnSpc>
                <a:spcPct val="100000"/>
              </a:lnSpc>
              <a:spcBef>
                <a:spcPts val="900"/>
              </a:spcBef>
              <a:spcAft>
                <a:spcPts val="0"/>
              </a:spcAft>
              <a:buClr>
                <a:schemeClr val="dk1"/>
              </a:buClr>
              <a:buSzPts val="1800"/>
              <a:buAutoNum type="alphaLcPeriod"/>
              <a:defRPr/>
            </a:lvl7pPr>
            <a:lvl8pPr indent="-342900" lvl="7" marL="3657600" algn="l">
              <a:lnSpc>
                <a:spcPct val="100000"/>
              </a:lnSpc>
              <a:spcBef>
                <a:spcPts val="900"/>
              </a:spcBef>
              <a:spcAft>
                <a:spcPts val="0"/>
              </a:spcAft>
              <a:buClr>
                <a:schemeClr val="dk1"/>
              </a:buClr>
              <a:buSzPts val="1800"/>
              <a:buAutoNum type="romanLcPeriod"/>
              <a:defRPr/>
            </a:lvl8pPr>
            <a:lvl9pPr indent="-228600" lvl="8" marL="4114800" algn="l">
              <a:lnSpc>
                <a:spcPct val="100000"/>
              </a:lnSpc>
              <a:spcBef>
                <a:spcPts val="900"/>
              </a:spcBef>
              <a:spcAft>
                <a:spcPts val="900"/>
              </a:spcAft>
              <a:buClr>
                <a:schemeClr val="dk2"/>
              </a:buClr>
              <a:buSzPts val="1800"/>
              <a:buNone/>
              <a:defRPr/>
            </a:lvl9pPr>
          </a:lstStyle>
          <a:p/>
        </p:txBody>
      </p:sp>
      <p:sp>
        <p:nvSpPr>
          <p:cNvPr id="135" name="Google Shape;135;p99"/>
          <p:cNvSpPr txBox="1"/>
          <p:nvPr>
            <p:ph idx="6" type="body"/>
          </p:nvPr>
        </p:nvSpPr>
        <p:spPr>
          <a:xfrm>
            <a:off x="4596063" y="1261134"/>
            <a:ext cx="4110955" cy="2289373"/>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lvl1pPr indent="-228600" lvl="0" marL="457200" algn="l">
              <a:lnSpc>
                <a:spcPct val="100000"/>
              </a:lnSpc>
              <a:spcBef>
                <a:spcPts val="0"/>
              </a:spcBef>
              <a:spcAft>
                <a:spcPts val="0"/>
              </a:spcAft>
              <a:buSzPts val="1400"/>
              <a:buFont typeface="Calibri"/>
              <a:buNone/>
              <a:defRPr sz="1400">
                <a:solidFill>
                  <a:schemeClr val="accent5"/>
                </a:solidFill>
                <a:latin typeface="Calibri"/>
                <a:ea typeface="Calibri"/>
                <a:cs typeface="Calibri"/>
                <a:sym typeface="Calibri"/>
              </a:defRPr>
            </a:lvl1pPr>
            <a:lvl2pPr indent="-317500" lvl="1" marL="9144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2pPr>
            <a:lvl3pPr indent="-317500" lvl="2" marL="13716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3pPr>
            <a:lvl4pPr indent="-317500" lvl="3" marL="18288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4pPr>
            <a:lvl5pPr indent="-317500" lvl="4" marL="22860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5pPr>
            <a:lvl6pPr indent="-342900" lvl="5" marL="2743200" algn="l">
              <a:lnSpc>
                <a:spcPct val="100000"/>
              </a:lnSpc>
              <a:spcBef>
                <a:spcPts val="300"/>
              </a:spcBef>
              <a:spcAft>
                <a:spcPts val="0"/>
              </a:spcAft>
              <a:buSzPts val="1800"/>
              <a:buAutoNum type="arabicPeriod"/>
              <a:defRPr/>
            </a:lvl6pPr>
            <a:lvl7pPr indent="-342900" lvl="6" marL="3200400" algn="l">
              <a:lnSpc>
                <a:spcPct val="100000"/>
              </a:lnSpc>
              <a:spcBef>
                <a:spcPts val="900"/>
              </a:spcBef>
              <a:spcAft>
                <a:spcPts val="0"/>
              </a:spcAft>
              <a:buClr>
                <a:schemeClr val="dk1"/>
              </a:buClr>
              <a:buSzPts val="1800"/>
              <a:buAutoNum type="alphaLcPeriod"/>
              <a:defRPr/>
            </a:lvl7pPr>
            <a:lvl8pPr indent="-342900" lvl="7" marL="3657600" algn="l">
              <a:lnSpc>
                <a:spcPct val="100000"/>
              </a:lnSpc>
              <a:spcBef>
                <a:spcPts val="900"/>
              </a:spcBef>
              <a:spcAft>
                <a:spcPts val="0"/>
              </a:spcAft>
              <a:buClr>
                <a:schemeClr val="dk1"/>
              </a:buClr>
              <a:buSzPts val="1800"/>
              <a:buAutoNum type="romanLcPeriod"/>
              <a:defRPr/>
            </a:lvl8pPr>
            <a:lvl9pPr indent="-228600" lvl="8" marL="4114800" algn="l">
              <a:lnSpc>
                <a:spcPct val="100000"/>
              </a:lnSpc>
              <a:spcBef>
                <a:spcPts val="900"/>
              </a:spcBef>
              <a:spcAft>
                <a:spcPts val="900"/>
              </a:spcAft>
              <a:buClr>
                <a:schemeClr val="dk2"/>
              </a:buClr>
              <a:buSzPts val="1800"/>
              <a:buNone/>
              <a:defRPr/>
            </a:lvl9pPr>
          </a:lstStyle>
          <a:p/>
        </p:txBody>
      </p:sp>
      <p:sp>
        <p:nvSpPr>
          <p:cNvPr id="136" name="Google Shape;136;p99"/>
          <p:cNvSpPr/>
          <p:nvPr/>
        </p:nvSpPr>
        <p:spPr>
          <a:xfrm>
            <a:off x="356269" y="924255"/>
            <a:ext cx="4133088" cy="354757"/>
          </a:xfrm>
          <a:prstGeom prst="rect">
            <a:avLst/>
          </a:prstGeom>
          <a:solidFill>
            <a:srgbClr val="162051"/>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2F2F2"/>
              </a:solidFill>
              <a:latin typeface="Calibri"/>
              <a:ea typeface="Calibri"/>
              <a:cs typeface="Calibri"/>
              <a:sym typeface="Calibri"/>
            </a:endParaRPr>
          </a:p>
        </p:txBody>
      </p:sp>
      <p:sp>
        <p:nvSpPr>
          <p:cNvPr id="137" name="Google Shape;137;p99"/>
          <p:cNvSpPr/>
          <p:nvPr/>
        </p:nvSpPr>
        <p:spPr>
          <a:xfrm>
            <a:off x="4580424" y="924255"/>
            <a:ext cx="4142232" cy="354757"/>
          </a:xfrm>
          <a:prstGeom prst="rect">
            <a:avLst/>
          </a:prstGeom>
          <a:solidFill>
            <a:srgbClr val="162051"/>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2F2F2"/>
              </a:solidFill>
              <a:latin typeface="Calibri"/>
              <a:ea typeface="Calibri"/>
              <a:cs typeface="Calibri"/>
              <a:sym typeface="Calibri"/>
            </a:endParaRPr>
          </a:p>
        </p:txBody>
      </p:sp>
      <p:sp>
        <p:nvSpPr>
          <p:cNvPr id="138" name="Google Shape;138;p99"/>
          <p:cNvSpPr txBox="1"/>
          <p:nvPr>
            <p:ph idx="7" type="body"/>
          </p:nvPr>
        </p:nvSpPr>
        <p:spPr>
          <a:xfrm>
            <a:off x="465670" y="972766"/>
            <a:ext cx="4010077" cy="2775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800"/>
              <a:buFont typeface="Calibri"/>
              <a:buNone/>
              <a:defRPr sz="1800">
                <a:solidFill>
                  <a:srgbClr val="E5E5E5"/>
                </a:solidFill>
                <a:latin typeface="Calibri"/>
                <a:ea typeface="Calibri"/>
                <a:cs typeface="Calibri"/>
                <a:sym typeface="Calibri"/>
              </a:defRPr>
            </a:lvl1pPr>
            <a:lvl2pPr indent="-228600" lvl="1" marL="914400" algn="l">
              <a:lnSpc>
                <a:spcPct val="100000"/>
              </a:lnSpc>
              <a:spcBef>
                <a:spcPts val="900"/>
              </a:spcBef>
              <a:spcAft>
                <a:spcPts val="0"/>
              </a:spcAft>
              <a:buSzPts val="1800"/>
              <a:buNone/>
              <a:defRPr sz="1800">
                <a:solidFill>
                  <a:srgbClr val="E5E5E5"/>
                </a:solidFill>
                <a:latin typeface="Calibri"/>
                <a:ea typeface="Calibri"/>
                <a:cs typeface="Calibri"/>
                <a:sym typeface="Calibri"/>
              </a:defRPr>
            </a:lvl2pPr>
            <a:lvl3pPr indent="-228600" lvl="2" marL="1371600" algn="l">
              <a:lnSpc>
                <a:spcPct val="100000"/>
              </a:lnSpc>
              <a:spcBef>
                <a:spcPts val="900"/>
              </a:spcBef>
              <a:spcAft>
                <a:spcPts val="0"/>
              </a:spcAft>
              <a:buSzPts val="1800"/>
              <a:buNone/>
              <a:defRPr sz="1800">
                <a:solidFill>
                  <a:srgbClr val="E5E5E5"/>
                </a:solidFill>
                <a:latin typeface="Calibri"/>
                <a:ea typeface="Calibri"/>
                <a:cs typeface="Calibri"/>
                <a:sym typeface="Calibri"/>
              </a:defRPr>
            </a:lvl3pPr>
            <a:lvl4pPr indent="-228600" lvl="3" marL="1828800" algn="l">
              <a:lnSpc>
                <a:spcPct val="100000"/>
              </a:lnSpc>
              <a:spcBef>
                <a:spcPts val="900"/>
              </a:spcBef>
              <a:spcAft>
                <a:spcPts val="0"/>
              </a:spcAft>
              <a:buSzPts val="1800"/>
              <a:buNone/>
              <a:defRPr sz="1800">
                <a:solidFill>
                  <a:srgbClr val="E5E5E5"/>
                </a:solidFill>
                <a:latin typeface="Calibri"/>
                <a:ea typeface="Calibri"/>
                <a:cs typeface="Calibri"/>
                <a:sym typeface="Calibri"/>
              </a:defRPr>
            </a:lvl4pPr>
            <a:lvl5pPr indent="-228600" lvl="4" marL="2286000" algn="l">
              <a:lnSpc>
                <a:spcPct val="100000"/>
              </a:lnSpc>
              <a:spcBef>
                <a:spcPts val="900"/>
              </a:spcBef>
              <a:spcAft>
                <a:spcPts val="0"/>
              </a:spcAft>
              <a:buSzPts val="1800"/>
              <a:buNone/>
              <a:defRPr sz="1800">
                <a:solidFill>
                  <a:srgbClr val="E5E5E5"/>
                </a:solidFill>
                <a:latin typeface="Calibri"/>
                <a:ea typeface="Calibri"/>
                <a:cs typeface="Calibri"/>
                <a:sym typeface="Calibri"/>
              </a:defRPr>
            </a:lvl5pPr>
            <a:lvl6pPr indent="-342900" lvl="5" marL="2743200" algn="l">
              <a:lnSpc>
                <a:spcPct val="100000"/>
              </a:lnSpc>
              <a:spcBef>
                <a:spcPts val="900"/>
              </a:spcBef>
              <a:spcAft>
                <a:spcPts val="0"/>
              </a:spcAft>
              <a:buSzPts val="1800"/>
              <a:buAutoNum type="arabicPeriod"/>
              <a:defRPr/>
            </a:lvl6pPr>
            <a:lvl7pPr indent="-342900" lvl="6" marL="3200400" algn="l">
              <a:lnSpc>
                <a:spcPct val="100000"/>
              </a:lnSpc>
              <a:spcBef>
                <a:spcPts val="900"/>
              </a:spcBef>
              <a:spcAft>
                <a:spcPts val="0"/>
              </a:spcAft>
              <a:buClr>
                <a:schemeClr val="dk1"/>
              </a:buClr>
              <a:buSzPts val="1800"/>
              <a:buAutoNum type="alphaLcPeriod"/>
              <a:defRPr/>
            </a:lvl7pPr>
            <a:lvl8pPr indent="-342900" lvl="7" marL="3657600" algn="l">
              <a:lnSpc>
                <a:spcPct val="100000"/>
              </a:lnSpc>
              <a:spcBef>
                <a:spcPts val="900"/>
              </a:spcBef>
              <a:spcAft>
                <a:spcPts val="0"/>
              </a:spcAft>
              <a:buClr>
                <a:schemeClr val="dk1"/>
              </a:buClr>
              <a:buSzPts val="1800"/>
              <a:buAutoNum type="romanLcPeriod"/>
              <a:defRPr/>
            </a:lvl8pPr>
            <a:lvl9pPr indent="-228600" lvl="8" marL="4114800" algn="l">
              <a:lnSpc>
                <a:spcPct val="100000"/>
              </a:lnSpc>
              <a:spcBef>
                <a:spcPts val="900"/>
              </a:spcBef>
              <a:spcAft>
                <a:spcPts val="900"/>
              </a:spcAft>
              <a:buClr>
                <a:schemeClr val="dk2"/>
              </a:buClr>
              <a:buSzPts val="1800"/>
              <a:buNone/>
              <a:defRPr/>
            </a:lvl9pPr>
          </a:lstStyle>
          <a:p/>
        </p:txBody>
      </p:sp>
      <p:sp>
        <p:nvSpPr>
          <p:cNvPr id="139" name="Google Shape;139;p99"/>
          <p:cNvSpPr txBox="1"/>
          <p:nvPr>
            <p:ph idx="8" type="body"/>
          </p:nvPr>
        </p:nvSpPr>
        <p:spPr>
          <a:xfrm>
            <a:off x="4664691" y="972766"/>
            <a:ext cx="4010077" cy="2775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800"/>
              <a:buFont typeface="Calibri"/>
              <a:buNone/>
              <a:defRPr sz="1800">
                <a:solidFill>
                  <a:srgbClr val="E5E5E5"/>
                </a:solidFill>
                <a:latin typeface="Calibri"/>
                <a:ea typeface="Calibri"/>
                <a:cs typeface="Calibri"/>
                <a:sym typeface="Calibri"/>
              </a:defRPr>
            </a:lvl1pPr>
            <a:lvl2pPr indent="-228600" lvl="1" marL="914400" algn="l">
              <a:lnSpc>
                <a:spcPct val="100000"/>
              </a:lnSpc>
              <a:spcBef>
                <a:spcPts val="900"/>
              </a:spcBef>
              <a:spcAft>
                <a:spcPts val="0"/>
              </a:spcAft>
              <a:buSzPts val="1800"/>
              <a:buNone/>
              <a:defRPr sz="1800">
                <a:solidFill>
                  <a:srgbClr val="E5E5E5"/>
                </a:solidFill>
                <a:latin typeface="Calibri"/>
                <a:ea typeface="Calibri"/>
                <a:cs typeface="Calibri"/>
                <a:sym typeface="Calibri"/>
              </a:defRPr>
            </a:lvl2pPr>
            <a:lvl3pPr indent="-228600" lvl="2" marL="1371600" algn="l">
              <a:lnSpc>
                <a:spcPct val="100000"/>
              </a:lnSpc>
              <a:spcBef>
                <a:spcPts val="900"/>
              </a:spcBef>
              <a:spcAft>
                <a:spcPts val="0"/>
              </a:spcAft>
              <a:buSzPts val="1800"/>
              <a:buNone/>
              <a:defRPr sz="1800">
                <a:solidFill>
                  <a:srgbClr val="E5E5E5"/>
                </a:solidFill>
                <a:latin typeface="Calibri"/>
                <a:ea typeface="Calibri"/>
                <a:cs typeface="Calibri"/>
                <a:sym typeface="Calibri"/>
              </a:defRPr>
            </a:lvl3pPr>
            <a:lvl4pPr indent="-228600" lvl="3" marL="1828800" algn="l">
              <a:lnSpc>
                <a:spcPct val="100000"/>
              </a:lnSpc>
              <a:spcBef>
                <a:spcPts val="900"/>
              </a:spcBef>
              <a:spcAft>
                <a:spcPts val="0"/>
              </a:spcAft>
              <a:buSzPts val="1800"/>
              <a:buNone/>
              <a:defRPr sz="1800">
                <a:solidFill>
                  <a:srgbClr val="E5E5E5"/>
                </a:solidFill>
                <a:latin typeface="Calibri"/>
                <a:ea typeface="Calibri"/>
                <a:cs typeface="Calibri"/>
                <a:sym typeface="Calibri"/>
              </a:defRPr>
            </a:lvl4pPr>
            <a:lvl5pPr indent="-228600" lvl="4" marL="2286000" algn="l">
              <a:lnSpc>
                <a:spcPct val="100000"/>
              </a:lnSpc>
              <a:spcBef>
                <a:spcPts val="900"/>
              </a:spcBef>
              <a:spcAft>
                <a:spcPts val="0"/>
              </a:spcAft>
              <a:buSzPts val="1800"/>
              <a:buNone/>
              <a:defRPr sz="1800">
                <a:solidFill>
                  <a:srgbClr val="E5E5E5"/>
                </a:solidFill>
                <a:latin typeface="Calibri"/>
                <a:ea typeface="Calibri"/>
                <a:cs typeface="Calibri"/>
                <a:sym typeface="Calibri"/>
              </a:defRPr>
            </a:lvl5pPr>
            <a:lvl6pPr indent="-342900" lvl="5" marL="2743200" algn="l">
              <a:lnSpc>
                <a:spcPct val="100000"/>
              </a:lnSpc>
              <a:spcBef>
                <a:spcPts val="900"/>
              </a:spcBef>
              <a:spcAft>
                <a:spcPts val="0"/>
              </a:spcAft>
              <a:buSzPts val="1800"/>
              <a:buAutoNum type="arabicPeriod"/>
              <a:defRPr/>
            </a:lvl6pPr>
            <a:lvl7pPr indent="-342900" lvl="6" marL="3200400" algn="l">
              <a:lnSpc>
                <a:spcPct val="100000"/>
              </a:lnSpc>
              <a:spcBef>
                <a:spcPts val="900"/>
              </a:spcBef>
              <a:spcAft>
                <a:spcPts val="0"/>
              </a:spcAft>
              <a:buClr>
                <a:schemeClr val="dk1"/>
              </a:buClr>
              <a:buSzPts val="1800"/>
              <a:buAutoNum type="alphaLcPeriod"/>
              <a:defRPr/>
            </a:lvl7pPr>
            <a:lvl8pPr indent="-342900" lvl="7" marL="3657600" algn="l">
              <a:lnSpc>
                <a:spcPct val="100000"/>
              </a:lnSpc>
              <a:spcBef>
                <a:spcPts val="900"/>
              </a:spcBef>
              <a:spcAft>
                <a:spcPts val="0"/>
              </a:spcAft>
              <a:buClr>
                <a:schemeClr val="dk1"/>
              </a:buClr>
              <a:buSzPts val="1800"/>
              <a:buAutoNum type="romanLcPeriod"/>
              <a:defRPr/>
            </a:lvl8pPr>
            <a:lvl9pPr indent="-228600" lvl="8" marL="4114800" algn="l">
              <a:lnSpc>
                <a:spcPct val="100000"/>
              </a:lnSpc>
              <a:spcBef>
                <a:spcPts val="900"/>
              </a:spcBef>
              <a:spcAft>
                <a:spcPts val="900"/>
              </a:spcAft>
              <a:buClr>
                <a:schemeClr val="dk2"/>
              </a:buClr>
              <a:buSzPts val="18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ntent: Two and Left Text">
  <p:cSld name="1_Content: Two and Left Text">
    <p:spTree>
      <p:nvGrpSpPr>
        <p:cNvPr id="140" name="Shape 140"/>
        <p:cNvGrpSpPr/>
        <p:nvPr/>
      </p:nvGrpSpPr>
      <p:grpSpPr>
        <a:xfrm>
          <a:off x="0" y="0"/>
          <a:ext cx="0" cy="0"/>
          <a:chOff x="0" y="0"/>
          <a:chExt cx="0" cy="0"/>
        </a:xfrm>
      </p:grpSpPr>
      <p:grpSp>
        <p:nvGrpSpPr>
          <p:cNvPr id="141" name="Google Shape;141;p100"/>
          <p:cNvGrpSpPr/>
          <p:nvPr/>
        </p:nvGrpSpPr>
        <p:grpSpPr>
          <a:xfrm>
            <a:off x="-1" y="4969042"/>
            <a:ext cx="3248527" cy="1888958"/>
            <a:chOff x="-1" y="4969042"/>
            <a:chExt cx="3248527" cy="1888958"/>
          </a:xfrm>
        </p:grpSpPr>
        <p:sp>
          <p:nvSpPr>
            <p:cNvPr id="142" name="Google Shape;142;p100"/>
            <p:cNvSpPr/>
            <p:nvPr/>
          </p:nvSpPr>
          <p:spPr>
            <a:xfrm>
              <a:off x="-1" y="5907505"/>
              <a:ext cx="3248527" cy="950495"/>
            </a:xfrm>
            <a:prstGeom prst="rtTriangle">
              <a:avLst/>
            </a:prstGeom>
            <a:solidFill>
              <a:schemeClr val="accent5"/>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sp>
          <p:nvSpPr>
            <p:cNvPr id="143" name="Google Shape;143;p100"/>
            <p:cNvSpPr/>
            <p:nvPr/>
          </p:nvSpPr>
          <p:spPr>
            <a:xfrm>
              <a:off x="0" y="6124074"/>
              <a:ext cx="3104147" cy="733926"/>
            </a:xfrm>
            <a:prstGeom prst="rtTriangle">
              <a:avLst/>
            </a:prstGeom>
            <a:solidFill>
              <a:srgbClr val="162051"/>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sp>
          <p:nvSpPr>
            <p:cNvPr id="144" name="Google Shape;144;p100"/>
            <p:cNvSpPr/>
            <p:nvPr/>
          </p:nvSpPr>
          <p:spPr>
            <a:xfrm>
              <a:off x="0" y="4969042"/>
              <a:ext cx="503321" cy="1888958"/>
            </a:xfrm>
            <a:prstGeom prst="rtTriangle">
              <a:avLst/>
            </a:prstGeom>
            <a:solidFill>
              <a:schemeClr val="lt2"/>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grpSp>
      <p:grpSp>
        <p:nvGrpSpPr>
          <p:cNvPr id="145" name="Google Shape;145;p100"/>
          <p:cNvGrpSpPr/>
          <p:nvPr/>
        </p:nvGrpSpPr>
        <p:grpSpPr>
          <a:xfrm>
            <a:off x="368302" y="93134"/>
            <a:ext cx="8375648" cy="737045"/>
            <a:chOff x="491067" y="93134"/>
            <a:chExt cx="11167531" cy="922866"/>
          </a:xfrm>
        </p:grpSpPr>
        <p:sp>
          <p:nvSpPr>
            <p:cNvPr id="146" name="Google Shape;146;p100"/>
            <p:cNvSpPr/>
            <p:nvPr/>
          </p:nvSpPr>
          <p:spPr>
            <a:xfrm>
              <a:off x="863598" y="194737"/>
              <a:ext cx="10795000" cy="520943"/>
            </a:xfrm>
            <a:prstGeom prst="rect">
              <a:avLst/>
            </a:prstGeom>
            <a:solidFill>
              <a:srgbClr val="5F5F5F"/>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sp>
          <p:nvSpPr>
            <p:cNvPr id="147" name="Google Shape;147;p100"/>
            <p:cNvSpPr/>
            <p:nvPr/>
          </p:nvSpPr>
          <p:spPr>
            <a:xfrm>
              <a:off x="745068" y="330202"/>
              <a:ext cx="10761133" cy="685798"/>
            </a:xfrm>
            <a:prstGeom prst="rect">
              <a:avLst/>
            </a:prstGeom>
            <a:solidFill>
              <a:schemeClr val="accent2"/>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sp>
          <p:nvSpPr>
            <p:cNvPr id="148" name="Google Shape;148;p100"/>
            <p:cNvSpPr/>
            <p:nvPr/>
          </p:nvSpPr>
          <p:spPr>
            <a:xfrm>
              <a:off x="491067" y="93134"/>
              <a:ext cx="10786532" cy="685800"/>
            </a:xfrm>
            <a:prstGeom prst="rect">
              <a:avLst/>
            </a:prstGeom>
            <a:solidFill>
              <a:srgbClr val="162051"/>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grpSp>
      <p:sp>
        <p:nvSpPr>
          <p:cNvPr id="149" name="Google Shape;149;p100"/>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rgbClr val="D8D8D8"/>
              </a:buClr>
              <a:buSzPts val="2800"/>
              <a:buFont typeface="Calibri"/>
              <a:buNone/>
              <a:defRPr sz="2800">
                <a:solidFill>
                  <a:srgbClr val="D8D8D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descr="Image result for University of michigan Banner" id="150" name="Google Shape;150;p100"/>
          <p:cNvPicPr preferRelativeResize="0"/>
          <p:nvPr/>
        </p:nvPicPr>
        <p:blipFill rotWithShape="1">
          <a:blip r:embed="rId2">
            <a:alphaModFix/>
          </a:blip>
          <a:srcRect b="0" l="0" r="0" t="0"/>
          <a:stretch/>
        </p:blipFill>
        <p:spPr>
          <a:xfrm>
            <a:off x="6521116" y="6385601"/>
            <a:ext cx="2222834" cy="368935"/>
          </a:xfrm>
          <a:prstGeom prst="rect">
            <a:avLst/>
          </a:prstGeom>
          <a:noFill/>
          <a:ln>
            <a:noFill/>
          </a:ln>
        </p:spPr>
      </p:pic>
      <p:sp>
        <p:nvSpPr>
          <p:cNvPr id="151" name="Google Shape;151;p100"/>
          <p:cNvSpPr txBox="1"/>
          <p:nvPr>
            <p:ph idx="1" type="body"/>
          </p:nvPr>
        </p:nvSpPr>
        <p:spPr>
          <a:xfrm>
            <a:off x="6046770" y="1353373"/>
            <a:ext cx="2687781" cy="4924496"/>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lvl1pPr indent="-228600" lvl="0" marL="457200" algn="l">
              <a:lnSpc>
                <a:spcPct val="100000"/>
              </a:lnSpc>
              <a:spcBef>
                <a:spcPts val="0"/>
              </a:spcBef>
              <a:spcAft>
                <a:spcPts val="0"/>
              </a:spcAft>
              <a:buSzPts val="1400"/>
              <a:buFont typeface="Calibri"/>
              <a:buNone/>
              <a:defRPr sz="1400">
                <a:solidFill>
                  <a:schemeClr val="accent5"/>
                </a:solidFill>
                <a:latin typeface="Calibri"/>
                <a:ea typeface="Calibri"/>
                <a:cs typeface="Calibri"/>
                <a:sym typeface="Calibri"/>
              </a:defRPr>
            </a:lvl1pPr>
            <a:lvl2pPr indent="-317500" lvl="1" marL="9144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2pPr>
            <a:lvl3pPr indent="-317500" lvl="2" marL="13716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3pPr>
            <a:lvl4pPr indent="-317500" lvl="3" marL="18288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4pPr>
            <a:lvl5pPr indent="-317500" lvl="4" marL="22860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5pPr>
            <a:lvl6pPr indent="-342900" lvl="5" marL="2743200" algn="l">
              <a:lnSpc>
                <a:spcPct val="100000"/>
              </a:lnSpc>
              <a:spcBef>
                <a:spcPts val="300"/>
              </a:spcBef>
              <a:spcAft>
                <a:spcPts val="0"/>
              </a:spcAft>
              <a:buSzPts val="1800"/>
              <a:buAutoNum type="arabicPeriod"/>
              <a:defRPr/>
            </a:lvl6pPr>
            <a:lvl7pPr indent="-342900" lvl="6" marL="3200400" algn="l">
              <a:lnSpc>
                <a:spcPct val="100000"/>
              </a:lnSpc>
              <a:spcBef>
                <a:spcPts val="900"/>
              </a:spcBef>
              <a:spcAft>
                <a:spcPts val="0"/>
              </a:spcAft>
              <a:buClr>
                <a:schemeClr val="dk1"/>
              </a:buClr>
              <a:buSzPts val="1800"/>
              <a:buAutoNum type="alphaLcPeriod"/>
              <a:defRPr/>
            </a:lvl7pPr>
            <a:lvl8pPr indent="-342900" lvl="7" marL="3657600" algn="l">
              <a:lnSpc>
                <a:spcPct val="100000"/>
              </a:lnSpc>
              <a:spcBef>
                <a:spcPts val="900"/>
              </a:spcBef>
              <a:spcAft>
                <a:spcPts val="0"/>
              </a:spcAft>
              <a:buClr>
                <a:schemeClr val="dk1"/>
              </a:buClr>
              <a:buSzPts val="1800"/>
              <a:buAutoNum type="romanLcPeriod"/>
              <a:defRPr/>
            </a:lvl8pPr>
            <a:lvl9pPr indent="-228600" lvl="8" marL="4114800" algn="l">
              <a:lnSpc>
                <a:spcPct val="100000"/>
              </a:lnSpc>
              <a:spcBef>
                <a:spcPts val="900"/>
              </a:spcBef>
              <a:spcAft>
                <a:spcPts val="900"/>
              </a:spcAft>
              <a:buClr>
                <a:schemeClr val="dk2"/>
              </a:buClr>
              <a:buSzPts val="1800"/>
              <a:buNone/>
              <a:defRPr/>
            </a:lvl9pPr>
          </a:lstStyle>
          <a:p/>
        </p:txBody>
      </p:sp>
      <p:sp>
        <p:nvSpPr>
          <p:cNvPr id="152" name="Google Shape;152;p100"/>
          <p:cNvSpPr/>
          <p:nvPr/>
        </p:nvSpPr>
        <p:spPr>
          <a:xfrm>
            <a:off x="6035188" y="998617"/>
            <a:ext cx="2704560" cy="354757"/>
          </a:xfrm>
          <a:prstGeom prst="rect">
            <a:avLst/>
          </a:prstGeom>
          <a:solidFill>
            <a:srgbClr val="162051"/>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2F2F2"/>
              </a:solidFill>
              <a:latin typeface="Calibri"/>
              <a:ea typeface="Calibri"/>
              <a:cs typeface="Calibri"/>
              <a:sym typeface="Calibri"/>
            </a:endParaRPr>
          </a:p>
        </p:txBody>
      </p:sp>
      <p:sp>
        <p:nvSpPr>
          <p:cNvPr id="153" name="Google Shape;153;p100"/>
          <p:cNvSpPr txBox="1"/>
          <p:nvPr>
            <p:ph idx="2" type="body"/>
          </p:nvPr>
        </p:nvSpPr>
        <p:spPr>
          <a:xfrm>
            <a:off x="375872" y="1353373"/>
            <a:ext cx="5540655" cy="4924496"/>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lvl1pPr indent="-228600" lvl="0" marL="457200" algn="l">
              <a:lnSpc>
                <a:spcPct val="100000"/>
              </a:lnSpc>
              <a:spcBef>
                <a:spcPts val="0"/>
              </a:spcBef>
              <a:spcAft>
                <a:spcPts val="0"/>
              </a:spcAft>
              <a:buSzPts val="1400"/>
              <a:buFont typeface="Calibri"/>
              <a:buNone/>
              <a:defRPr sz="1400">
                <a:solidFill>
                  <a:schemeClr val="accent5"/>
                </a:solidFill>
                <a:latin typeface="Calibri"/>
                <a:ea typeface="Calibri"/>
                <a:cs typeface="Calibri"/>
                <a:sym typeface="Calibri"/>
              </a:defRPr>
            </a:lvl1pPr>
            <a:lvl2pPr indent="-317500" lvl="1" marL="9144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2pPr>
            <a:lvl3pPr indent="-317500" lvl="2" marL="13716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3pPr>
            <a:lvl4pPr indent="-317500" lvl="3" marL="18288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4pPr>
            <a:lvl5pPr indent="-317500" lvl="4" marL="22860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5pPr>
            <a:lvl6pPr indent="-342900" lvl="5" marL="2743200" algn="l">
              <a:lnSpc>
                <a:spcPct val="100000"/>
              </a:lnSpc>
              <a:spcBef>
                <a:spcPts val="300"/>
              </a:spcBef>
              <a:spcAft>
                <a:spcPts val="0"/>
              </a:spcAft>
              <a:buSzPts val="1800"/>
              <a:buAutoNum type="arabicPeriod"/>
              <a:defRPr/>
            </a:lvl6pPr>
            <a:lvl7pPr indent="-342900" lvl="6" marL="3200400" algn="l">
              <a:lnSpc>
                <a:spcPct val="100000"/>
              </a:lnSpc>
              <a:spcBef>
                <a:spcPts val="900"/>
              </a:spcBef>
              <a:spcAft>
                <a:spcPts val="0"/>
              </a:spcAft>
              <a:buClr>
                <a:schemeClr val="dk1"/>
              </a:buClr>
              <a:buSzPts val="1800"/>
              <a:buAutoNum type="alphaLcPeriod"/>
              <a:defRPr/>
            </a:lvl7pPr>
            <a:lvl8pPr indent="-342900" lvl="7" marL="3657600" algn="l">
              <a:lnSpc>
                <a:spcPct val="100000"/>
              </a:lnSpc>
              <a:spcBef>
                <a:spcPts val="900"/>
              </a:spcBef>
              <a:spcAft>
                <a:spcPts val="0"/>
              </a:spcAft>
              <a:buClr>
                <a:schemeClr val="dk1"/>
              </a:buClr>
              <a:buSzPts val="1800"/>
              <a:buAutoNum type="romanLcPeriod"/>
              <a:defRPr/>
            </a:lvl8pPr>
            <a:lvl9pPr indent="-228600" lvl="8" marL="4114800" algn="l">
              <a:lnSpc>
                <a:spcPct val="100000"/>
              </a:lnSpc>
              <a:spcBef>
                <a:spcPts val="900"/>
              </a:spcBef>
              <a:spcAft>
                <a:spcPts val="900"/>
              </a:spcAft>
              <a:buClr>
                <a:schemeClr val="dk2"/>
              </a:buClr>
              <a:buSzPts val="1800"/>
              <a:buNone/>
              <a:defRPr/>
            </a:lvl9pPr>
          </a:lstStyle>
          <a:p/>
        </p:txBody>
      </p:sp>
      <p:sp>
        <p:nvSpPr>
          <p:cNvPr id="154" name="Google Shape;154;p100"/>
          <p:cNvSpPr/>
          <p:nvPr/>
        </p:nvSpPr>
        <p:spPr>
          <a:xfrm>
            <a:off x="364290" y="998617"/>
            <a:ext cx="5575244" cy="354757"/>
          </a:xfrm>
          <a:prstGeom prst="rect">
            <a:avLst/>
          </a:prstGeom>
          <a:solidFill>
            <a:srgbClr val="162051"/>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2F2F2"/>
              </a:solidFill>
              <a:latin typeface="Calibri"/>
              <a:ea typeface="Calibri"/>
              <a:cs typeface="Calibri"/>
              <a:sym typeface="Calibri"/>
            </a:endParaRPr>
          </a:p>
        </p:txBody>
      </p:sp>
      <p:sp>
        <p:nvSpPr>
          <p:cNvPr id="155" name="Google Shape;155;p100"/>
          <p:cNvSpPr txBox="1"/>
          <p:nvPr>
            <p:ph idx="3" type="body"/>
          </p:nvPr>
        </p:nvSpPr>
        <p:spPr>
          <a:xfrm>
            <a:off x="439818" y="1084638"/>
            <a:ext cx="5412762" cy="277497"/>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800"/>
              <a:buFont typeface="Calibri"/>
              <a:buNone/>
              <a:defRPr sz="1800">
                <a:solidFill>
                  <a:srgbClr val="E5E5E5"/>
                </a:solidFill>
                <a:latin typeface="Calibri"/>
                <a:ea typeface="Calibri"/>
                <a:cs typeface="Calibri"/>
                <a:sym typeface="Calibri"/>
              </a:defRPr>
            </a:lvl1pPr>
            <a:lvl2pPr indent="-228600" lvl="1" marL="914400" algn="l">
              <a:lnSpc>
                <a:spcPct val="100000"/>
              </a:lnSpc>
              <a:spcBef>
                <a:spcPts val="900"/>
              </a:spcBef>
              <a:spcAft>
                <a:spcPts val="0"/>
              </a:spcAft>
              <a:buSzPts val="1800"/>
              <a:buNone/>
              <a:defRPr sz="1800">
                <a:solidFill>
                  <a:srgbClr val="E5E5E5"/>
                </a:solidFill>
                <a:latin typeface="Calibri"/>
                <a:ea typeface="Calibri"/>
                <a:cs typeface="Calibri"/>
                <a:sym typeface="Calibri"/>
              </a:defRPr>
            </a:lvl2pPr>
            <a:lvl3pPr indent="-228600" lvl="2" marL="1371600" algn="l">
              <a:lnSpc>
                <a:spcPct val="100000"/>
              </a:lnSpc>
              <a:spcBef>
                <a:spcPts val="900"/>
              </a:spcBef>
              <a:spcAft>
                <a:spcPts val="0"/>
              </a:spcAft>
              <a:buSzPts val="1800"/>
              <a:buNone/>
              <a:defRPr sz="1800">
                <a:solidFill>
                  <a:srgbClr val="E5E5E5"/>
                </a:solidFill>
                <a:latin typeface="Calibri"/>
                <a:ea typeface="Calibri"/>
                <a:cs typeface="Calibri"/>
                <a:sym typeface="Calibri"/>
              </a:defRPr>
            </a:lvl3pPr>
            <a:lvl4pPr indent="-228600" lvl="3" marL="1828800" algn="l">
              <a:lnSpc>
                <a:spcPct val="100000"/>
              </a:lnSpc>
              <a:spcBef>
                <a:spcPts val="900"/>
              </a:spcBef>
              <a:spcAft>
                <a:spcPts val="0"/>
              </a:spcAft>
              <a:buSzPts val="1800"/>
              <a:buNone/>
              <a:defRPr sz="1800">
                <a:solidFill>
                  <a:srgbClr val="E5E5E5"/>
                </a:solidFill>
                <a:latin typeface="Calibri"/>
                <a:ea typeface="Calibri"/>
                <a:cs typeface="Calibri"/>
                <a:sym typeface="Calibri"/>
              </a:defRPr>
            </a:lvl4pPr>
            <a:lvl5pPr indent="-228600" lvl="4" marL="2286000" algn="l">
              <a:lnSpc>
                <a:spcPct val="100000"/>
              </a:lnSpc>
              <a:spcBef>
                <a:spcPts val="900"/>
              </a:spcBef>
              <a:spcAft>
                <a:spcPts val="0"/>
              </a:spcAft>
              <a:buSzPts val="1800"/>
              <a:buNone/>
              <a:defRPr sz="1800">
                <a:solidFill>
                  <a:srgbClr val="E5E5E5"/>
                </a:solidFill>
                <a:latin typeface="Calibri"/>
                <a:ea typeface="Calibri"/>
                <a:cs typeface="Calibri"/>
                <a:sym typeface="Calibri"/>
              </a:defRPr>
            </a:lvl5pPr>
            <a:lvl6pPr indent="-342900" lvl="5" marL="2743200" algn="l">
              <a:lnSpc>
                <a:spcPct val="100000"/>
              </a:lnSpc>
              <a:spcBef>
                <a:spcPts val="900"/>
              </a:spcBef>
              <a:spcAft>
                <a:spcPts val="0"/>
              </a:spcAft>
              <a:buSzPts val="1800"/>
              <a:buAutoNum type="arabicPeriod"/>
              <a:defRPr/>
            </a:lvl6pPr>
            <a:lvl7pPr indent="-342900" lvl="6" marL="3200400" algn="l">
              <a:lnSpc>
                <a:spcPct val="100000"/>
              </a:lnSpc>
              <a:spcBef>
                <a:spcPts val="900"/>
              </a:spcBef>
              <a:spcAft>
                <a:spcPts val="0"/>
              </a:spcAft>
              <a:buClr>
                <a:schemeClr val="dk1"/>
              </a:buClr>
              <a:buSzPts val="1800"/>
              <a:buAutoNum type="alphaLcPeriod"/>
              <a:defRPr/>
            </a:lvl7pPr>
            <a:lvl8pPr indent="-342900" lvl="7" marL="3657600" algn="l">
              <a:lnSpc>
                <a:spcPct val="100000"/>
              </a:lnSpc>
              <a:spcBef>
                <a:spcPts val="900"/>
              </a:spcBef>
              <a:spcAft>
                <a:spcPts val="0"/>
              </a:spcAft>
              <a:buClr>
                <a:schemeClr val="dk1"/>
              </a:buClr>
              <a:buSzPts val="1800"/>
              <a:buAutoNum type="romanLcPeriod"/>
              <a:defRPr/>
            </a:lvl8pPr>
            <a:lvl9pPr indent="-228600" lvl="8" marL="4114800" algn="l">
              <a:lnSpc>
                <a:spcPct val="100000"/>
              </a:lnSpc>
              <a:spcBef>
                <a:spcPts val="900"/>
              </a:spcBef>
              <a:spcAft>
                <a:spcPts val="900"/>
              </a:spcAft>
              <a:buClr>
                <a:schemeClr val="dk2"/>
              </a:buClr>
              <a:buSzPts val="1800"/>
              <a:buNone/>
              <a:defRPr/>
            </a:lvl9pPr>
          </a:lstStyle>
          <a:p/>
        </p:txBody>
      </p:sp>
      <p:sp>
        <p:nvSpPr>
          <p:cNvPr id="156" name="Google Shape;156;p100"/>
          <p:cNvSpPr txBox="1"/>
          <p:nvPr>
            <p:ph idx="4" type="body"/>
          </p:nvPr>
        </p:nvSpPr>
        <p:spPr>
          <a:xfrm>
            <a:off x="6135406" y="1084638"/>
            <a:ext cx="2599145" cy="277497"/>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800"/>
              <a:buFont typeface="Calibri"/>
              <a:buNone/>
              <a:defRPr sz="1800">
                <a:solidFill>
                  <a:srgbClr val="E5E5E5"/>
                </a:solidFill>
                <a:latin typeface="Calibri"/>
                <a:ea typeface="Calibri"/>
                <a:cs typeface="Calibri"/>
                <a:sym typeface="Calibri"/>
              </a:defRPr>
            </a:lvl1pPr>
            <a:lvl2pPr indent="-228600" lvl="1" marL="914400" algn="l">
              <a:lnSpc>
                <a:spcPct val="100000"/>
              </a:lnSpc>
              <a:spcBef>
                <a:spcPts val="900"/>
              </a:spcBef>
              <a:spcAft>
                <a:spcPts val="0"/>
              </a:spcAft>
              <a:buSzPts val="1800"/>
              <a:buNone/>
              <a:defRPr sz="1800">
                <a:solidFill>
                  <a:srgbClr val="E5E5E5"/>
                </a:solidFill>
                <a:latin typeface="Calibri"/>
                <a:ea typeface="Calibri"/>
                <a:cs typeface="Calibri"/>
                <a:sym typeface="Calibri"/>
              </a:defRPr>
            </a:lvl2pPr>
            <a:lvl3pPr indent="-228600" lvl="2" marL="1371600" algn="l">
              <a:lnSpc>
                <a:spcPct val="100000"/>
              </a:lnSpc>
              <a:spcBef>
                <a:spcPts val="900"/>
              </a:spcBef>
              <a:spcAft>
                <a:spcPts val="0"/>
              </a:spcAft>
              <a:buSzPts val="1800"/>
              <a:buNone/>
              <a:defRPr sz="1800">
                <a:solidFill>
                  <a:srgbClr val="E5E5E5"/>
                </a:solidFill>
                <a:latin typeface="Calibri"/>
                <a:ea typeface="Calibri"/>
                <a:cs typeface="Calibri"/>
                <a:sym typeface="Calibri"/>
              </a:defRPr>
            </a:lvl3pPr>
            <a:lvl4pPr indent="-228600" lvl="3" marL="1828800" algn="l">
              <a:lnSpc>
                <a:spcPct val="100000"/>
              </a:lnSpc>
              <a:spcBef>
                <a:spcPts val="900"/>
              </a:spcBef>
              <a:spcAft>
                <a:spcPts val="0"/>
              </a:spcAft>
              <a:buSzPts val="1800"/>
              <a:buNone/>
              <a:defRPr sz="1800">
                <a:solidFill>
                  <a:srgbClr val="E5E5E5"/>
                </a:solidFill>
                <a:latin typeface="Calibri"/>
                <a:ea typeface="Calibri"/>
                <a:cs typeface="Calibri"/>
                <a:sym typeface="Calibri"/>
              </a:defRPr>
            </a:lvl4pPr>
            <a:lvl5pPr indent="-228600" lvl="4" marL="2286000" algn="l">
              <a:lnSpc>
                <a:spcPct val="100000"/>
              </a:lnSpc>
              <a:spcBef>
                <a:spcPts val="900"/>
              </a:spcBef>
              <a:spcAft>
                <a:spcPts val="0"/>
              </a:spcAft>
              <a:buSzPts val="1800"/>
              <a:buNone/>
              <a:defRPr sz="1800">
                <a:solidFill>
                  <a:srgbClr val="E5E5E5"/>
                </a:solidFill>
                <a:latin typeface="Calibri"/>
                <a:ea typeface="Calibri"/>
                <a:cs typeface="Calibri"/>
                <a:sym typeface="Calibri"/>
              </a:defRPr>
            </a:lvl5pPr>
            <a:lvl6pPr indent="-342900" lvl="5" marL="2743200" algn="l">
              <a:lnSpc>
                <a:spcPct val="100000"/>
              </a:lnSpc>
              <a:spcBef>
                <a:spcPts val="900"/>
              </a:spcBef>
              <a:spcAft>
                <a:spcPts val="0"/>
              </a:spcAft>
              <a:buSzPts val="1800"/>
              <a:buAutoNum type="arabicPeriod"/>
              <a:defRPr/>
            </a:lvl6pPr>
            <a:lvl7pPr indent="-342900" lvl="6" marL="3200400" algn="l">
              <a:lnSpc>
                <a:spcPct val="100000"/>
              </a:lnSpc>
              <a:spcBef>
                <a:spcPts val="900"/>
              </a:spcBef>
              <a:spcAft>
                <a:spcPts val="0"/>
              </a:spcAft>
              <a:buClr>
                <a:schemeClr val="dk1"/>
              </a:buClr>
              <a:buSzPts val="1800"/>
              <a:buAutoNum type="alphaLcPeriod"/>
              <a:defRPr/>
            </a:lvl7pPr>
            <a:lvl8pPr indent="-342900" lvl="7" marL="3657600" algn="l">
              <a:lnSpc>
                <a:spcPct val="100000"/>
              </a:lnSpc>
              <a:spcBef>
                <a:spcPts val="900"/>
              </a:spcBef>
              <a:spcAft>
                <a:spcPts val="0"/>
              </a:spcAft>
              <a:buClr>
                <a:schemeClr val="dk1"/>
              </a:buClr>
              <a:buSzPts val="1800"/>
              <a:buAutoNum type="romanLcPeriod"/>
              <a:defRPr/>
            </a:lvl8pPr>
            <a:lvl9pPr indent="-228600" lvl="8" marL="4114800" algn="l">
              <a:lnSpc>
                <a:spcPct val="100000"/>
              </a:lnSpc>
              <a:spcBef>
                <a:spcPts val="900"/>
              </a:spcBef>
              <a:spcAft>
                <a:spcPts val="900"/>
              </a:spcAft>
              <a:buClr>
                <a:schemeClr val="dk2"/>
              </a:buClr>
              <a:buSzPts val="1800"/>
              <a:buNone/>
              <a:defRPr/>
            </a:lvl9pPr>
          </a:lstStyle>
          <a:p/>
        </p:txBody>
      </p:sp>
      <p:sp>
        <p:nvSpPr>
          <p:cNvPr id="157" name="Google Shape;157;p100"/>
          <p:cNvSpPr txBox="1"/>
          <p:nvPr/>
        </p:nvSpPr>
        <p:spPr>
          <a:xfrm>
            <a:off x="515348" y="6497876"/>
            <a:ext cx="988599" cy="33606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F2F2F2"/>
                </a:solidFill>
                <a:latin typeface="Arial"/>
                <a:ea typeface="Arial"/>
                <a:cs typeface="Arial"/>
                <a:sym typeface="Arial"/>
              </a:rPr>
              <a:t>Consulting Club </a:t>
            </a:r>
            <a:r>
              <a:rPr b="1" i="0" lang="en-US" sz="1000" u="none" cap="none" strike="noStrike">
                <a:solidFill>
                  <a:schemeClr val="accent2"/>
                </a:solidFill>
                <a:latin typeface="Arial"/>
                <a:ea typeface="Arial"/>
                <a:cs typeface="Arial"/>
                <a:sym typeface="Arial"/>
              </a:rPr>
              <a:t>@</a:t>
            </a:r>
            <a:r>
              <a:rPr b="1" i="0" lang="en-US" sz="1000" u="none" cap="none" strike="noStrike">
                <a:solidFill>
                  <a:srgbClr val="F2F2F2"/>
                </a:solidFill>
                <a:latin typeface="Arial"/>
                <a:ea typeface="Arial"/>
                <a:cs typeface="Arial"/>
                <a:sym typeface="Arial"/>
              </a:rPr>
              <a:t> Ross</a:t>
            </a:r>
            <a:endParaRPr b="1" i="0" sz="1000" u="none" cap="none" strike="noStrike">
              <a:solidFill>
                <a:srgbClr val="F2F2F2"/>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ntent: One">
  <p:cSld name="1_Content: One">
    <p:spTree>
      <p:nvGrpSpPr>
        <p:cNvPr id="158" name="Shape 158"/>
        <p:cNvGrpSpPr/>
        <p:nvPr/>
      </p:nvGrpSpPr>
      <p:grpSpPr>
        <a:xfrm>
          <a:off x="0" y="0"/>
          <a:ext cx="0" cy="0"/>
          <a:chOff x="0" y="0"/>
          <a:chExt cx="0" cy="0"/>
        </a:xfrm>
      </p:grpSpPr>
      <p:grpSp>
        <p:nvGrpSpPr>
          <p:cNvPr id="159" name="Google Shape;159;p101"/>
          <p:cNvGrpSpPr/>
          <p:nvPr/>
        </p:nvGrpSpPr>
        <p:grpSpPr>
          <a:xfrm>
            <a:off x="-1" y="4969042"/>
            <a:ext cx="3248527" cy="1888958"/>
            <a:chOff x="-1" y="4969042"/>
            <a:chExt cx="3248527" cy="1888958"/>
          </a:xfrm>
        </p:grpSpPr>
        <p:sp>
          <p:nvSpPr>
            <p:cNvPr id="160" name="Google Shape;160;p101"/>
            <p:cNvSpPr/>
            <p:nvPr/>
          </p:nvSpPr>
          <p:spPr>
            <a:xfrm>
              <a:off x="-1" y="5907505"/>
              <a:ext cx="3248527" cy="950495"/>
            </a:xfrm>
            <a:prstGeom prst="rtTriangle">
              <a:avLst/>
            </a:prstGeom>
            <a:solidFill>
              <a:schemeClr val="accent5"/>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sp>
          <p:nvSpPr>
            <p:cNvPr id="161" name="Google Shape;161;p101"/>
            <p:cNvSpPr/>
            <p:nvPr/>
          </p:nvSpPr>
          <p:spPr>
            <a:xfrm>
              <a:off x="0" y="6124074"/>
              <a:ext cx="3104147" cy="733926"/>
            </a:xfrm>
            <a:prstGeom prst="rtTriangle">
              <a:avLst/>
            </a:prstGeom>
            <a:solidFill>
              <a:srgbClr val="162051"/>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sp>
          <p:nvSpPr>
            <p:cNvPr id="162" name="Google Shape;162;p101"/>
            <p:cNvSpPr/>
            <p:nvPr/>
          </p:nvSpPr>
          <p:spPr>
            <a:xfrm>
              <a:off x="0" y="4969042"/>
              <a:ext cx="503321" cy="1888958"/>
            </a:xfrm>
            <a:prstGeom prst="rtTriangle">
              <a:avLst/>
            </a:prstGeom>
            <a:solidFill>
              <a:schemeClr val="lt2"/>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grpSp>
      <p:grpSp>
        <p:nvGrpSpPr>
          <p:cNvPr id="163" name="Google Shape;163;p101"/>
          <p:cNvGrpSpPr/>
          <p:nvPr/>
        </p:nvGrpSpPr>
        <p:grpSpPr>
          <a:xfrm>
            <a:off x="368302" y="69070"/>
            <a:ext cx="8375648" cy="737045"/>
            <a:chOff x="491067" y="93134"/>
            <a:chExt cx="11167531" cy="922866"/>
          </a:xfrm>
        </p:grpSpPr>
        <p:sp>
          <p:nvSpPr>
            <p:cNvPr id="164" name="Google Shape;164;p101"/>
            <p:cNvSpPr/>
            <p:nvPr/>
          </p:nvSpPr>
          <p:spPr>
            <a:xfrm>
              <a:off x="863598" y="194737"/>
              <a:ext cx="10795000" cy="520943"/>
            </a:xfrm>
            <a:prstGeom prst="rect">
              <a:avLst/>
            </a:prstGeom>
            <a:solidFill>
              <a:srgbClr val="5F5F5F"/>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sp>
          <p:nvSpPr>
            <p:cNvPr id="165" name="Google Shape;165;p101"/>
            <p:cNvSpPr/>
            <p:nvPr/>
          </p:nvSpPr>
          <p:spPr>
            <a:xfrm>
              <a:off x="745068" y="330202"/>
              <a:ext cx="10761133" cy="685798"/>
            </a:xfrm>
            <a:prstGeom prst="rect">
              <a:avLst/>
            </a:prstGeom>
            <a:solidFill>
              <a:schemeClr val="accent2"/>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sp>
          <p:nvSpPr>
            <p:cNvPr id="166" name="Google Shape;166;p101"/>
            <p:cNvSpPr/>
            <p:nvPr/>
          </p:nvSpPr>
          <p:spPr>
            <a:xfrm>
              <a:off x="491067" y="93134"/>
              <a:ext cx="10786532" cy="685800"/>
            </a:xfrm>
            <a:prstGeom prst="rect">
              <a:avLst/>
            </a:prstGeom>
            <a:solidFill>
              <a:srgbClr val="162051"/>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grpSp>
      <p:sp>
        <p:nvSpPr>
          <p:cNvPr id="167" name="Google Shape;167;p101"/>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rgbClr val="D8D8D8"/>
              </a:buClr>
              <a:buSzPts val="2800"/>
              <a:buFont typeface="Calibri"/>
              <a:buNone/>
              <a:defRPr sz="2800">
                <a:solidFill>
                  <a:srgbClr val="D8D8D8"/>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8" name="Google Shape;168;p101"/>
          <p:cNvSpPr txBox="1"/>
          <p:nvPr>
            <p:ph idx="1" type="body"/>
          </p:nvPr>
        </p:nvSpPr>
        <p:spPr>
          <a:xfrm>
            <a:off x="381001" y="4110784"/>
            <a:ext cx="8341656" cy="2182282"/>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lvl1pPr indent="-228600" lvl="0" marL="457200" algn="l">
              <a:lnSpc>
                <a:spcPct val="100000"/>
              </a:lnSpc>
              <a:spcBef>
                <a:spcPts val="0"/>
              </a:spcBef>
              <a:spcAft>
                <a:spcPts val="0"/>
              </a:spcAft>
              <a:buSzPts val="1400"/>
              <a:buFont typeface="Calibri"/>
              <a:buNone/>
              <a:defRPr sz="1400">
                <a:solidFill>
                  <a:schemeClr val="accent5"/>
                </a:solidFill>
                <a:latin typeface="Calibri"/>
                <a:ea typeface="Calibri"/>
                <a:cs typeface="Calibri"/>
                <a:sym typeface="Calibri"/>
              </a:defRPr>
            </a:lvl1pPr>
            <a:lvl2pPr indent="-317500" lvl="1" marL="9144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2pPr>
            <a:lvl3pPr indent="-317500" lvl="2" marL="13716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3pPr>
            <a:lvl4pPr indent="-317500" lvl="3" marL="18288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4pPr>
            <a:lvl5pPr indent="-317500" lvl="4" marL="22860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5pPr>
            <a:lvl6pPr indent="-342900" lvl="5" marL="2743200" algn="l">
              <a:lnSpc>
                <a:spcPct val="100000"/>
              </a:lnSpc>
              <a:spcBef>
                <a:spcPts val="300"/>
              </a:spcBef>
              <a:spcAft>
                <a:spcPts val="0"/>
              </a:spcAft>
              <a:buSzPts val="1800"/>
              <a:buAutoNum type="arabicPeriod"/>
              <a:defRPr/>
            </a:lvl6pPr>
            <a:lvl7pPr indent="-342900" lvl="6" marL="3200400" algn="l">
              <a:lnSpc>
                <a:spcPct val="100000"/>
              </a:lnSpc>
              <a:spcBef>
                <a:spcPts val="900"/>
              </a:spcBef>
              <a:spcAft>
                <a:spcPts val="0"/>
              </a:spcAft>
              <a:buClr>
                <a:schemeClr val="dk1"/>
              </a:buClr>
              <a:buSzPts val="1800"/>
              <a:buAutoNum type="alphaLcPeriod"/>
              <a:defRPr/>
            </a:lvl7pPr>
            <a:lvl8pPr indent="-342900" lvl="7" marL="3657600" algn="l">
              <a:lnSpc>
                <a:spcPct val="100000"/>
              </a:lnSpc>
              <a:spcBef>
                <a:spcPts val="900"/>
              </a:spcBef>
              <a:spcAft>
                <a:spcPts val="0"/>
              </a:spcAft>
              <a:buClr>
                <a:schemeClr val="dk1"/>
              </a:buClr>
              <a:buSzPts val="1800"/>
              <a:buAutoNum type="romanLcPeriod"/>
              <a:defRPr/>
            </a:lvl8pPr>
            <a:lvl9pPr indent="-228600" lvl="8" marL="4114800" algn="l">
              <a:lnSpc>
                <a:spcPct val="100000"/>
              </a:lnSpc>
              <a:spcBef>
                <a:spcPts val="900"/>
              </a:spcBef>
              <a:spcAft>
                <a:spcPts val="900"/>
              </a:spcAft>
              <a:buClr>
                <a:schemeClr val="dk2"/>
              </a:buClr>
              <a:buSzPts val="1800"/>
              <a:buNone/>
              <a:defRPr/>
            </a:lvl9pPr>
          </a:lstStyle>
          <a:p/>
        </p:txBody>
      </p:sp>
      <p:pic>
        <p:nvPicPr>
          <p:cNvPr descr="Image result for University of michigan Banner" id="169" name="Google Shape;169;p101"/>
          <p:cNvPicPr preferRelativeResize="0"/>
          <p:nvPr/>
        </p:nvPicPr>
        <p:blipFill rotWithShape="1">
          <a:blip r:embed="rId2">
            <a:alphaModFix/>
          </a:blip>
          <a:srcRect b="0" l="0" r="0" t="0"/>
          <a:stretch/>
        </p:blipFill>
        <p:spPr>
          <a:xfrm>
            <a:off x="6521116" y="6385601"/>
            <a:ext cx="2222834" cy="368935"/>
          </a:xfrm>
          <a:prstGeom prst="rect">
            <a:avLst/>
          </a:prstGeom>
          <a:noFill/>
          <a:ln>
            <a:noFill/>
          </a:ln>
        </p:spPr>
      </p:pic>
      <p:sp>
        <p:nvSpPr>
          <p:cNvPr id="170" name="Google Shape;170;p101"/>
          <p:cNvSpPr txBox="1"/>
          <p:nvPr>
            <p:ph idx="2" type="body"/>
          </p:nvPr>
        </p:nvSpPr>
        <p:spPr>
          <a:xfrm>
            <a:off x="368302" y="1311435"/>
            <a:ext cx="4107445" cy="2367609"/>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lvl1pPr indent="-228600" lvl="0" marL="457200" algn="l">
              <a:lnSpc>
                <a:spcPct val="100000"/>
              </a:lnSpc>
              <a:spcBef>
                <a:spcPts val="0"/>
              </a:spcBef>
              <a:spcAft>
                <a:spcPts val="0"/>
              </a:spcAft>
              <a:buSzPts val="1400"/>
              <a:buFont typeface="Calibri"/>
              <a:buNone/>
              <a:defRPr sz="1400">
                <a:solidFill>
                  <a:schemeClr val="accent5"/>
                </a:solidFill>
                <a:latin typeface="Calibri"/>
                <a:ea typeface="Calibri"/>
                <a:cs typeface="Calibri"/>
                <a:sym typeface="Calibri"/>
              </a:defRPr>
            </a:lvl1pPr>
            <a:lvl2pPr indent="-317500" lvl="1" marL="9144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2pPr>
            <a:lvl3pPr indent="-317500" lvl="2" marL="13716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3pPr>
            <a:lvl4pPr indent="-317500" lvl="3" marL="18288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4pPr>
            <a:lvl5pPr indent="-317500" lvl="4" marL="22860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5pPr>
            <a:lvl6pPr indent="-342900" lvl="5" marL="2743200" algn="l">
              <a:lnSpc>
                <a:spcPct val="100000"/>
              </a:lnSpc>
              <a:spcBef>
                <a:spcPts val="300"/>
              </a:spcBef>
              <a:spcAft>
                <a:spcPts val="0"/>
              </a:spcAft>
              <a:buSzPts val="1800"/>
              <a:buAutoNum type="arabicPeriod"/>
              <a:defRPr/>
            </a:lvl6pPr>
            <a:lvl7pPr indent="-342900" lvl="6" marL="3200400" algn="l">
              <a:lnSpc>
                <a:spcPct val="100000"/>
              </a:lnSpc>
              <a:spcBef>
                <a:spcPts val="900"/>
              </a:spcBef>
              <a:spcAft>
                <a:spcPts val="0"/>
              </a:spcAft>
              <a:buClr>
                <a:schemeClr val="dk1"/>
              </a:buClr>
              <a:buSzPts val="1800"/>
              <a:buAutoNum type="alphaLcPeriod"/>
              <a:defRPr/>
            </a:lvl7pPr>
            <a:lvl8pPr indent="-342900" lvl="7" marL="3657600" algn="l">
              <a:lnSpc>
                <a:spcPct val="100000"/>
              </a:lnSpc>
              <a:spcBef>
                <a:spcPts val="900"/>
              </a:spcBef>
              <a:spcAft>
                <a:spcPts val="0"/>
              </a:spcAft>
              <a:buClr>
                <a:schemeClr val="dk1"/>
              </a:buClr>
              <a:buSzPts val="1800"/>
              <a:buAutoNum type="romanLcPeriod"/>
              <a:defRPr/>
            </a:lvl8pPr>
            <a:lvl9pPr indent="-228600" lvl="8" marL="4114800" algn="l">
              <a:lnSpc>
                <a:spcPct val="100000"/>
              </a:lnSpc>
              <a:spcBef>
                <a:spcPts val="900"/>
              </a:spcBef>
              <a:spcAft>
                <a:spcPts val="900"/>
              </a:spcAft>
              <a:buClr>
                <a:schemeClr val="dk2"/>
              </a:buClr>
              <a:buSzPts val="1800"/>
              <a:buNone/>
              <a:defRPr/>
            </a:lvl9pPr>
          </a:lstStyle>
          <a:p/>
        </p:txBody>
      </p:sp>
      <p:sp>
        <p:nvSpPr>
          <p:cNvPr id="171" name="Google Shape;171;p101"/>
          <p:cNvSpPr txBox="1"/>
          <p:nvPr>
            <p:ph idx="3" type="body"/>
          </p:nvPr>
        </p:nvSpPr>
        <p:spPr>
          <a:xfrm>
            <a:off x="4596063" y="1311435"/>
            <a:ext cx="4110955" cy="2367608"/>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lvl1pPr indent="-228600" lvl="0" marL="457200" algn="l">
              <a:lnSpc>
                <a:spcPct val="100000"/>
              </a:lnSpc>
              <a:spcBef>
                <a:spcPts val="0"/>
              </a:spcBef>
              <a:spcAft>
                <a:spcPts val="0"/>
              </a:spcAft>
              <a:buSzPts val="1400"/>
              <a:buFont typeface="Calibri"/>
              <a:buNone/>
              <a:defRPr sz="1400">
                <a:solidFill>
                  <a:schemeClr val="accent5"/>
                </a:solidFill>
                <a:latin typeface="Calibri"/>
                <a:ea typeface="Calibri"/>
                <a:cs typeface="Calibri"/>
                <a:sym typeface="Calibri"/>
              </a:defRPr>
            </a:lvl1pPr>
            <a:lvl2pPr indent="-317500" lvl="1" marL="9144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2pPr>
            <a:lvl3pPr indent="-317500" lvl="2" marL="13716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3pPr>
            <a:lvl4pPr indent="-317500" lvl="3" marL="18288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4pPr>
            <a:lvl5pPr indent="-317500" lvl="4" marL="22860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5pPr>
            <a:lvl6pPr indent="-342900" lvl="5" marL="2743200" algn="l">
              <a:lnSpc>
                <a:spcPct val="100000"/>
              </a:lnSpc>
              <a:spcBef>
                <a:spcPts val="300"/>
              </a:spcBef>
              <a:spcAft>
                <a:spcPts val="0"/>
              </a:spcAft>
              <a:buSzPts val="1800"/>
              <a:buAutoNum type="arabicPeriod"/>
              <a:defRPr/>
            </a:lvl6pPr>
            <a:lvl7pPr indent="-342900" lvl="6" marL="3200400" algn="l">
              <a:lnSpc>
                <a:spcPct val="100000"/>
              </a:lnSpc>
              <a:spcBef>
                <a:spcPts val="900"/>
              </a:spcBef>
              <a:spcAft>
                <a:spcPts val="0"/>
              </a:spcAft>
              <a:buClr>
                <a:schemeClr val="dk1"/>
              </a:buClr>
              <a:buSzPts val="1800"/>
              <a:buAutoNum type="alphaLcPeriod"/>
              <a:defRPr/>
            </a:lvl7pPr>
            <a:lvl8pPr indent="-342900" lvl="7" marL="3657600" algn="l">
              <a:lnSpc>
                <a:spcPct val="100000"/>
              </a:lnSpc>
              <a:spcBef>
                <a:spcPts val="900"/>
              </a:spcBef>
              <a:spcAft>
                <a:spcPts val="0"/>
              </a:spcAft>
              <a:buClr>
                <a:schemeClr val="dk1"/>
              </a:buClr>
              <a:buSzPts val="1800"/>
              <a:buAutoNum type="romanLcPeriod"/>
              <a:defRPr/>
            </a:lvl8pPr>
            <a:lvl9pPr indent="-228600" lvl="8" marL="4114800" algn="l">
              <a:lnSpc>
                <a:spcPct val="100000"/>
              </a:lnSpc>
              <a:spcBef>
                <a:spcPts val="900"/>
              </a:spcBef>
              <a:spcAft>
                <a:spcPts val="900"/>
              </a:spcAft>
              <a:buClr>
                <a:schemeClr val="dk2"/>
              </a:buClr>
              <a:buSzPts val="1800"/>
              <a:buNone/>
              <a:defRPr/>
            </a:lvl9pPr>
          </a:lstStyle>
          <a:p/>
        </p:txBody>
      </p:sp>
      <p:sp>
        <p:nvSpPr>
          <p:cNvPr id="172" name="Google Shape;172;p101"/>
          <p:cNvSpPr/>
          <p:nvPr/>
        </p:nvSpPr>
        <p:spPr>
          <a:xfrm>
            <a:off x="356269" y="974556"/>
            <a:ext cx="4133088" cy="354757"/>
          </a:xfrm>
          <a:prstGeom prst="rect">
            <a:avLst/>
          </a:prstGeom>
          <a:solidFill>
            <a:srgbClr val="162051"/>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2F2F2"/>
              </a:solidFill>
              <a:latin typeface="Calibri"/>
              <a:ea typeface="Calibri"/>
              <a:cs typeface="Calibri"/>
              <a:sym typeface="Calibri"/>
            </a:endParaRPr>
          </a:p>
        </p:txBody>
      </p:sp>
      <p:sp>
        <p:nvSpPr>
          <p:cNvPr id="173" name="Google Shape;173;p101"/>
          <p:cNvSpPr/>
          <p:nvPr/>
        </p:nvSpPr>
        <p:spPr>
          <a:xfrm>
            <a:off x="4580424" y="974556"/>
            <a:ext cx="4142232" cy="354757"/>
          </a:xfrm>
          <a:prstGeom prst="rect">
            <a:avLst/>
          </a:prstGeom>
          <a:solidFill>
            <a:srgbClr val="162051"/>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2F2F2"/>
              </a:solidFill>
              <a:latin typeface="Calibri"/>
              <a:ea typeface="Calibri"/>
              <a:cs typeface="Calibri"/>
              <a:sym typeface="Calibri"/>
            </a:endParaRPr>
          </a:p>
        </p:txBody>
      </p:sp>
      <p:sp>
        <p:nvSpPr>
          <p:cNvPr id="174" name="Google Shape;174;p101"/>
          <p:cNvSpPr/>
          <p:nvPr/>
        </p:nvSpPr>
        <p:spPr>
          <a:xfrm>
            <a:off x="368301" y="3789944"/>
            <a:ext cx="8375649" cy="337879"/>
          </a:xfrm>
          <a:prstGeom prst="rect">
            <a:avLst/>
          </a:prstGeom>
          <a:solidFill>
            <a:srgbClr val="162051"/>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2F2F2"/>
              </a:solidFill>
              <a:latin typeface="Calibri"/>
              <a:ea typeface="Calibri"/>
              <a:cs typeface="Calibri"/>
              <a:sym typeface="Calibri"/>
            </a:endParaRPr>
          </a:p>
        </p:txBody>
      </p:sp>
      <p:sp>
        <p:nvSpPr>
          <p:cNvPr id="175" name="Google Shape;175;p101"/>
          <p:cNvSpPr txBox="1"/>
          <p:nvPr>
            <p:ph idx="4" type="body"/>
          </p:nvPr>
        </p:nvSpPr>
        <p:spPr>
          <a:xfrm>
            <a:off x="442331" y="1022684"/>
            <a:ext cx="4010077" cy="2775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800"/>
              <a:buFont typeface="Calibri"/>
              <a:buNone/>
              <a:defRPr sz="1800">
                <a:solidFill>
                  <a:srgbClr val="E5E5E5"/>
                </a:solidFill>
                <a:latin typeface="Calibri"/>
                <a:ea typeface="Calibri"/>
                <a:cs typeface="Calibri"/>
                <a:sym typeface="Calibri"/>
              </a:defRPr>
            </a:lvl1pPr>
            <a:lvl2pPr indent="-228600" lvl="1" marL="914400" algn="l">
              <a:lnSpc>
                <a:spcPct val="100000"/>
              </a:lnSpc>
              <a:spcBef>
                <a:spcPts val="900"/>
              </a:spcBef>
              <a:spcAft>
                <a:spcPts val="0"/>
              </a:spcAft>
              <a:buSzPts val="1800"/>
              <a:buNone/>
              <a:defRPr sz="1800">
                <a:solidFill>
                  <a:srgbClr val="E5E5E5"/>
                </a:solidFill>
                <a:latin typeface="Calibri"/>
                <a:ea typeface="Calibri"/>
                <a:cs typeface="Calibri"/>
                <a:sym typeface="Calibri"/>
              </a:defRPr>
            </a:lvl2pPr>
            <a:lvl3pPr indent="-228600" lvl="2" marL="1371600" algn="l">
              <a:lnSpc>
                <a:spcPct val="100000"/>
              </a:lnSpc>
              <a:spcBef>
                <a:spcPts val="900"/>
              </a:spcBef>
              <a:spcAft>
                <a:spcPts val="0"/>
              </a:spcAft>
              <a:buSzPts val="1800"/>
              <a:buNone/>
              <a:defRPr sz="1800">
                <a:solidFill>
                  <a:srgbClr val="E5E5E5"/>
                </a:solidFill>
                <a:latin typeface="Calibri"/>
                <a:ea typeface="Calibri"/>
                <a:cs typeface="Calibri"/>
                <a:sym typeface="Calibri"/>
              </a:defRPr>
            </a:lvl3pPr>
            <a:lvl4pPr indent="-228600" lvl="3" marL="1828800" algn="l">
              <a:lnSpc>
                <a:spcPct val="100000"/>
              </a:lnSpc>
              <a:spcBef>
                <a:spcPts val="900"/>
              </a:spcBef>
              <a:spcAft>
                <a:spcPts val="0"/>
              </a:spcAft>
              <a:buSzPts val="1800"/>
              <a:buNone/>
              <a:defRPr sz="1800">
                <a:solidFill>
                  <a:srgbClr val="E5E5E5"/>
                </a:solidFill>
                <a:latin typeface="Calibri"/>
                <a:ea typeface="Calibri"/>
                <a:cs typeface="Calibri"/>
                <a:sym typeface="Calibri"/>
              </a:defRPr>
            </a:lvl4pPr>
            <a:lvl5pPr indent="-228600" lvl="4" marL="2286000" algn="l">
              <a:lnSpc>
                <a:spcPct val="100000"/>
              </a:lnSpc>
              <a:spcBef>
                <a:spcPts val="900"/>
              </a:spcBef>
              <a:spcAft>
                <a:spcPts val="0"/>
              </a:spcAft>
              <a:buSzPts val="1800"/>
              <a:buNone/>
              <a:defRPr sz="1800">
                <a:solidFill>
                  <a:srgbClr val="E5E5E5"/>
                </a:solidFill>
                <a:latin typeface="Calibri"/>
                <a:ea typeface="Calibri"/>
                <a:cs typeface="Calibri"/>
                <a:sym typeface="Calibri"/>
              </a:defRPr>
            </a:lvl5pPr>
            <a:lvl6pPr indent="-342900" lvl="5" marL="2743200" algn="l">
              <a:lnSpc>
                <a:spcPct val="100000"/>
              </a:lnSpc>
              <a:spcBef>
                <a:spcPts val="900"/>
              </a:spcBef>
              <a:spcAft>
                <a:spcPts val="0"/>
              </a:spcAft>
              <a:buSzPts val="1800"/>
              <a:buAutoNum type="arabicPeriod"/>
              <a:defRPr/>
            </a:lvl6pPr>
            <a:lvl7pPr indent="-342900" lvl="6" marL="3200400" algn="l">
              <a:lnSpc>
                <a:spcPct val="100000"/>
              </a:lnSpc>
              <a:spcBef>
                <a:spcPts val="900"/>
              </a:spcBef>
              <a:spcAft>
                <a:spcPts val="0"/>
              </a:spcAft>
              <a:buClr>
                <a:schemeClr val="dk1"/>
              </a:buClr>
              <a:buSzPts val="1800"/>
              <a:buAutoNum type="alphaLcPeriod"/>
              <a:defRPr/>
            </a:lvl7pPr>
            <a:lvl8pPr indent="-342900" lvl="7" marL="3657600" algn="l">
              <a:lnSpc>
                <a:spcPct val="100000"/>
              </a:lnSpc>
              <a:spcBef>
                <a:spcPts val="900"/>
              </a:spcBef>
              <a:spcAft>
                <a:spcPts val="0"/>
              </a:spcAft>
              <a:buClr>
                <a:schemeClr val="dk1"/>
              </a:buClr>
              <a:buSzPts val="1800"/>
              <a:buAutoNum type="romanLcPeriod"/>
              <a:defRPr/>
            </a:lvl8pPr>
            <a:lvl9pPr indent="-228600" lvl="8" marL="4114800" algn="l">
              <a:lnSpc>
                <a:spcPct val="100000"/>
              </a:lnSpc>
              <a:spcBef>
                <a:spcPts val="900"/>
              </a:spcBef>
              <a:spcAft>
                <a:spcPts val="900"/>
              </a:spcAft>
              <a:buClr>
                <a:schemeClr val="dk2"/>
              </a:buClr>
              <a:buSzPts val="1800"/>
              <a:buNone/>
              <a:defRPr/>
            </a:lvl9pPr>
          </a:lstStyle>
          <a:p/>
        </p:txBody>
      </p:sp>
      <p:sp>
        <p:nvSpPr>
          <p:cNvPr id="176" name="Google Shape;176;p101"/>
          <p:cNvSpPr txBox="1"/>
          <p:nvPr>
            <p:ph idx="5" type="body"/>
          </p:nvPr>
        </p:nvSpPr>
        <p:spPr>
          <a:xfrm>
            <a:off x="4680284" y="1022684"/>
            <a:ext cx="4010077" cy="2775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800"/>
              <a:buFont typeface="Calibri"/>
              <a:buNone/>
              <a:defRPr sz="1800">
                <a:solidFill>
                  <a:srgbClr val="E5E5E5"/>
                </a:solidFill>
                <a:latin typeface="Calibri"/>
                <a:ea typeface="Calibri"/>
                <a:cs typeface="Calibri"/>
                <a:sym typeface="Calibri"/>
              </a:defRPr>
            </a:lvl1pPr>
            <a:lvl2pPr indent="-228600" lvl="1" marL="914400" algn="l">
              <a:lnSpc>
                <a:spcPct val="100000"/>
              </a:lnSpc>
              <a:spcBef>
                <a:spcPts val="900"/>
              </a:spcBef>
              <a:spcAft>
                <a:spcPts val="0"/>
              </a:spcAft>
              <a:buSzPts val="1800"/>
              <a:buNone/>
              <a:defRPr sz="1800">
                <a:solidFill>
                  <a:srgbClr val="E5E5E5"/>
                </a:solidFill>
                <a:latin typeface="Calibri"/>
                <a:ea typeface="Calibri"/>
                <a:cs typeface="Calibri"/>
                <a:sym typeface="Calibri"/>
              </a:defRPr>
            </a:lvl2pPr>
            <a:lvl3pPr indent="-228600" lvl="2" marL="1371600" algn="l">
              <a:lnSpc>
                <a:spcPct val="100000"/>
              </a:lnSpc>
              <a:spcBef>
                <a:spcPts val="900"/>
              </a:spcBef>
              <a:spcAft>
                <a:spcPts val="0"/>
              </a:spcAft>
              <a:buSzPts val="1800"/>
              <a:buNone/>
              <a:defRPr sz="1800">
                <a:solidFill>
                  <a:srgbClr val="E5E5E5"/>
                </a:solidFill>
                <a:latin typeface="Calibri"/>
                <a:ea typeface="Calibri"/>
                <a:cs typeface="Calibri"/>
                <a:sym typeface="Calibri"/>
              </a:defRPr>
            </a:lvl3pPr>
            <a:lvl4pPr indent="-228600" lvl="3" marL="1828800" algn="l">
              <a:lnSpc>
                <a:spcPct val="100000"/>
              </a:lnSpc>
              <a:spcBef>
                <a:spcPts val="900"/>
              </a:spcBef>
              <a:spcAft>
                <a:spcPts val="0"/>
              </a:spcAft>
              <a:buSzPts val="1800"/>
              <a:buNone/>
              <a:defRPr sz="1800">
                <a:solidFill>
                  <a:srgbClr val="E5E5E5"/>
                </a:solidFill>
                <a:latin typeface="Calibri"/>
                <a:ea typeface="Calibri"/>
                <a:cs typeface="Calibri"/>
                <a:sym typeface="Calibri"/>
              </a:defRPr>
            </a:lvl4pPr>
            <a:lvl5pPr indent="-228600" lvl="4" marL="2286000" algn="l">
              <a:lnSpc>
                <a:spcPct val="100000"/>
              </a:lnSpc>
              <a:spcBef>
                <a:spcPts val="900"/>
              </a:spcBef>
              <a:spcAft>
                <a:spcPts val="0"/>
              </a:spcAft>
              <a:buSzPts val="1800"/>
              <a:buNone/>
              <a:defRPr sz="1800">
                <a:solidFill>
                  <a:srgbClr val="E5E5E5"/>
                </a:solidFill>
                <a:latin typeface="Calibri"/>
                <a:ea typeface="Calibri"/>
                <a:cs typeface="Calibri"/>
                <a:sym typeface="Calibri"/>
              </a:defRPr>
            </a:lvl5pPr>
            <a:lvl6pPr indent="-342900" lvl="5" marL="2743200" algn="l">
              <a:lnSpc>
                <a:spcPct val="100000"/>
              </a:lnSpc>
              <a:spcBef>
                <a:spcPts val="900"/>
              </a:spcBef>
              <a:spcAft>
                <a:spcPts val="0"/>
              </a:spcAft>
              <a:buSzPts val="1800"/>
              <a:buAutoNum type="arabicPeriod"/>
              <a:defRPr/>
            </a:lvl6pPr>
            <a:lvl7pPr indent="-342900" lvl="6" marL="3200400" algn="l">
              <a:lnSpc>
                <a:spcPct val="100000"/>
              </a:lnSpc>
              <a:spcBef>
                <a:spcPts val="900"/>
              </a:spcBef>
              <a:spcAft>
                <a:spcPts val="0"/>
              </a:spcAft>
              <a:buClr>
                <a:schemeClr val="dk1"/>
              </a:buClr>
              <a:buSzPts val="1800"/>
              <a:buAutoNum type="alphaLcPeriod"/>
              <a:defRPr/>
            </a:lvl7pPr>
            <a:lvl8pPr indent="-342900" lvl="7" marL="3657600" algn="l">
              <a:lnSpc>
                <a:spcPct val="100000"/>
              </a:lnSpc>
              <a:spcBef>
                <a:spcPts val="900"/>
              </a:spcBef>
              <a:spcAft>
                <a:spcPts val="0"/>
              </a:spcAft>
              <a:buClr>
                <a:schemeClr val="dk1"/>
              </a:buClr>
              <a:buSzPts val="1800"/>
              <a:buAutoNum type="romanLcPeriod"/>
              <a:defRPr/>
            </a:lvl8pPr>
            <a:lvl9pPr indent="-228600" lvl="8" marL="4114800" algn="l">
              <a:lnSpc>
                <a:spcPct val="100000"/>
              </a:lnSpc>
              <a:spcBef>
                <a:spcPts val="900"/>
              </a:spcBef>
              <a:spcAft>
                <a:spcPts val="900"/>
              </a:spcAft>
              <a:buClr>
                <a:schemeClr val="dk2"/>
              </a:buClr>
              <a:buSzPts val="1800"/>
              <a:buNone/>
              <a:defRPr/>
            </a:lvl9pPr>
          </a:lstStyle>
          <a:p/>
        </p:txBody>
      </p:sp>
      <p:sp>
        <p:nvSpPr>
          <p:cNvPr id="177" name="Google Shape;177;p101"/>
          <p:cNvSpPr txBox="1"/>
          <p:nvPr>
            <p:ph idx="6" type="body"/>
          </p:nvPr>
        </p:nvSpPr>
        <p:spPr>
          <a:xfrm>
            <a:off x="465670" y="3840462"/>
            <a:ext cx="8224691" cy="2775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800"/>
              <a:buFont typeface="Calibri"/>
              <a:buNone/>
              <a:defRPr sz="1800">
                <a:solidFill>
                  <a:srgbClr val="E5E5E5"/>
                </a:solidFill>
                <a:latin typeface="Calibri"/>
                <a:ea typeface="Calibri"/>
                <a:cs typeface="Calibri"/>
                <a:sym typeface="Calibri"/>
              </a:defRPr>
            </a:lvl1pPr>
            <a:lvl2pPr indent="-228600" lvl="1" marL="914400" algn="l">
              <a:lnSpc>
                <a:spcPct val="100000"/>
              </a:lnSpc>
              <a:spcBef>
                <a:spcPts val="900"/>
              </a:spcBef>
              <a:spcAft>
                <a:spcPts val="0"/>
              </a:spcAft>
              <a:buSzPts val="1800"/>
              <a:buNone/>
              <a:defRPr sz="1800">
                <a:solidFill>
                  <a:srgbClr val="E5E5E5"/>
                </a:solidFill>
                <a:latin typeface="Calibri"/>
                <a:ea typeface="Calibri"/>
                <a:cs typeface="Calibri"/>
                <a:sym typeface="Calibri"/>
              </a:defRPr>
            </a:lvl2pPr>
            <a:lvl3pPr indent="-228600" lvl="2" marL="1371600" algn="l">
              <a:lnSpc>
                <a:spcPct val="100000"/>
              </a:lnSpc>
              <a:spcBef>
                <a:spcPts val="900"/>
              </a:spcBef>
              <a:spcAft>
                <a:spcPts val="0"/>
              </a:spcAft>
              <a:buSzPts val="1800"/>
              <a:buNone/>
              <a:defRPr sz="1800">
                <a:solidFill>
                  <a:srgbClr val="E5E5E5"/>
                </a:solidFill>
                <a:latin typeface="Calibri"/>
                <a:ea typeface="Calibri"/>
                <a:cs typeface="Calibri"/>
                <a:sym typeface="Calibri"/>
              </a:defRPr>
            </a:lvl3pPr>
            <a:lvl4pPr indent="-228600" lvl="3" marL="1828800" algn="l">
              <a:lnSpc>
                <a:spcPct val="100000"/>
              </a:lnSpc>
              <a:spcBef>
                <a:spcPts val="900"/>
              </a:spcBef>
              <a:spcAft>
                <a:spcPts val="0"/>
              </a:spcAft>
              <a:buSzPts val="1800"/>
              <a:buNone/>
              <a:defRPr sz="1800">
                <a:solidFill>
                  <a:srgbClr val="E5E5E5"/>
                </a:solidFill>
                <a:latin typeface="Calibri"/>
                <a:ea typeface="Calibri"/>
                <a:cs typeface="Calibri"/>
                <a:sym typeface="Calibri"/>
              </a:defRPr>
            </a:lvl4pPr>
            <a:lvl5pPr indent="-228600" lvl="4" marL="2286000" algn="l">
              <a:lnSpc>
                <a:spcPct val="100000"/>
              </a:lnSpc>
              <a:spcBef>
                <a:spcPts val="900"/>
              </a:spcBef>
              <a:spcAft>
                <a:spcPts val="0"/>
              </a:spcAft>
              <a:buSzPts val="1800"/>
              <a:buNone/>
              <a:defRPr sz="1800">
                <a:solidFill>
                  <a:srgbClr val="E5E5E5"/>
                </a:solidFill>
                <a:latin typeface="Calibri"/>
                <a:ea typeface="Calibri"/>
                <a:cs typeface="Calibri"/>
                <a:sym typeface="Calibri"/>
              </a:defRPr>
            </a:lvl5pPr>
            <a:lvl6pPr indent="-342900" lvl="5" marL="2743200" algn="l">
              <a:lnSpc>
                <a:spcPct val="100000"/>
              </a:lnSpc>
              <a:spcBef>
                <a:spcPts val="900"/>
              </a:spcBef>
              <a:spcAft>
                <a:spcPts val="0"/>
              </a:spcAft>
              <a:buSzPts val="1800"/>
              <a:buAutoNum type="arabicPeriod"/>
              <a:defRPr/>
            </a:lvl6pPr>
            <a:lvl7pPr indent="-342900" lvl="6" marL="3200400" algn="l">
              <a:lnSpc>
                <a:spcPct val="100000"/>
              </a:lnSpc>
              <a:spcBef>
                <a:spcPts val="900"/>
              </a:spcBef>
              <a:spcAft>
                <a:spcPts val="0"/>
              </a:spcAft>
              <a:buClr>
                <a:schemeClr val="dk1"/>
              </a:buClr>
              <a:buSzPts val="1800"/>
              <a:buAutoNum type="alphaLcPeriod"/>
              <a:defRPr/>
            </a:lvl7pPr>
            <a:lvl8pPr indent="-342900" lvl="7" marL="3657600" algn="l">
              <a:lnSpc>
                <a:spcPct val="100000"/>
              </a:lnSpc>
              <a:spcBef>
                <a:spcPts val="900"/>
              </a:spcBef>
              <a:spcAft>
                <a:spcPts val="0"/>
              </a:spcAft>
              <a:buClr>
                <a:schemeClr val="dk1"/>
              </a:buClr>
              <a:buSzPts val="1800"/>
              <a:buAutoNum type="romanLcPeriod"/>
              <a:defRPr/>
            </a:lvl8pPr>
            <a:lvl9pPr indent="-228600" lvl="8" marL="4114800" algn="l">
              <a:lnSpc>
                <a:spcPct val="100000"/>
              </a:lnSpc>
              <a:spcBef>
                <a:spcPts val="900"/>
              </a:spcBef>
              <a:spcAft>
                <a:spcPts val="900"/>
              </a:spcAft>
              <a:buClr>
                <a:schemeClr val="dk2"/>
              </a:buClr>
              <a:buSzPts val="1800"/>
              <a:buNone/>
              <a:defRPr/>
            </a:lvl9pPr>
          </a:lstStyle>
          <a:p/>
        </p:txBody>
      </p:sp>
      <p:sp>
        <p:nvSpPr>
          <p:cNvPr id="178" name="Google Shape;178;p101"/>
          <p:cNvSpPr txBox="1"/>
          <p:nvPr/>
        </p:nvSpPr>
        <p:spPr>
          <a:xfrm>
            <a:off x="515348" y="6497876"/>
            <a:ext cx="988599" cy="33606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F2F2F2"/>
                </a:solidFill>
                <a:latin typeface="Arial"/>
                <a:ea typeface="Arial"/>
                <a:cs typeface="Arial"/>
                <a:sym typeface="Arial"/>
              </a:rPr>
              <a:t>Consulting Club </a:t>
            </a:r>
            <a:r>
              <a:rPr b="1" i="0" lang="en-US" sz="1000" u="none" cap="none" strike="noStrike">
                <a:solidFill>
                  <a:schemeClr val="accent2"/>
                </a:solidFill>
                <a:latin typeface="Arial"/>
                <a:ea typeface="Arial"/>
                <a:cs typeface="Arial"/>
                <a:sym typeface="Arial"/>
              </a:rPr>
              <a:t>@</a:t>
            </a:r>
            <a:r>
              <a:rPr b="1" i="0" lang="en-US" sz="1000" u="none" cap="none" strike="noStrike">
                <a:solidFill>
                  <a:srgbClr val="F2F2F2"/>
                </a:solidFill>
                <a:latin typeface="Arial"/>
                <a:ea typeface="Arial"/>
                <a:cs typeface="Arial"/>
                <a:sym typeface="Arial"/>
              </a:rPr>
              <a:t> Ross</a:t>
            </a:r>
            <a:endParaRPr b="1" i="0" sz="1000" u="none" cap="none" strike="noStrike">
              <a:solidFill>
                <a:srgbClr val="F2F2F2"/>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Content: One">
  <p:cSld name="4_Content: One">
    <p:spTree>
      <p:nvGrpSpPr>
        <p:cNvPr id="179" name="Shape 179"/>
        <p:cNvGrpSpPr/>
        <p:nvPr/>
      </p:nvGrpSpPr>
      <p:grpSpPr>
        <a:xfrm>
          <a:off x="0" y="0"/>
          <a:ext cx="0" cy="0"/>
          <a:chOff x="0" y="0"/>
          <a:chExt cx="0" cy="0"/>
        </a:xfrm>
      </p:grpSpPr>
      <p:grpSp>
        <p:nvGrpSpPr>
          <p:cNvPr id="180" name="Google Shape;180;p102"/>
          <p:cNvGrpSpPr/>
          <p:nvPr/>
        </p:nvGrpSpPr>
        <p:grpSpPr>
          <a:xfrm>
            <a:off x="368302" y="69070"/>
            <a:ext cx="8375648" cy="737045"/>
            <a:chOff x="491067" y="93134"/>
            <a:chExt cx="11167531" cy="922866"/>
          </a:xfrm>
        </p:grpSpPr>
        <p:sp>
          <p:nvSpPr>
            <p:cNvPr id="181" name="Google Shape;181;p102"/>
            <p:cNvSpPr/>
            <p:nvPr/>
          </p:nvSpPr>
          <p:spPr>
            <a:xfrm>
              <a:off x="863598" y="194737"/>
              <a:ext cx="10795000" cy="520943"/>
            </a:xfrm>
            <a:prstGeom prst="rect">
              <a:avLst/>
            </a:prstGeom>
            <a:solidFill>
              <a:srgbClr val="5F5F5F"/>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sp>
          <p:nvSpPr>
            <p:cNvPr id="182" name="Google Shape;182;p102"/>
            <p:cNvSpPr/>
            <p:nvPr/>
          </p:nvSpPr>
          <p:spPr>
            <a:xfrm>
              <a:off x="745068" y="330202"/>
              <a:ext cx="10761133" cy="685798"/>
            </a:xfrm>
            <a:prstGeom prst="rect">
              <a:avLst/>
            </a:prstGeom>
            <a:solidFill>
              <a:schemeClr val="accent2"/>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sp>
          <p:nvSpPr>
            <p:cNvPr id="183" name="Google Shape;183;p102"/>
            <p:cNvSpPr/>
            <p:nvPr/>
          </p:nvSpPr>
          <p:spPr>
            <a:xfrm>
              <a:off x="491067" y="93134"/>
              <a:ext cx="10786532" cy="685800"/>
            </a:xfrm>
            <a:prstGeom prst="rect">
              <a:avLst/>
            </a:prstGeom>
            <a:solidFill>
              <a:srgbClr val="162051"/>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grpSp>
      <p:sp>
        <p:nvSpPr>
          <p:cNvPr id="184" name="Google Shape;184;p102"/>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rgbClr val="D8D8D8"/>
              </a:buClr>
              <a:buSzPts val="2800"/>
              <a:buFont typeface="Calibri"/>
              <a:buNone/>
              <a:defRPr sz="2800">
                <a:solidFill>
                  <a:srgbClr val="D8D8D8"/>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descr="Image result for University of michigan Banner" id="185" name="Google Shape;185;p102"/>
          <p:cNvPicPr preferRelativeResize="0"/>
          <p:nvPr/>
        </p:nvPicPr>
        <p:blipFill rotWithShape="1">
          <a:blip r:embed="rId2">
            <a:alphaModFix/>
          </a:blip>
          <a:srcRect b="0" l="0" r="0" t="0"/>
          <a:stretch/>
        </p:blipFill>
        <p:spPr>
          <a:xfrm>
            <a:off x="6521116" y="6385601"/>
            <a:ext cx="2222834" cy="368935"/>
          </a:xfrm>
          <a:prstGeom prst="rect">
            <a:avLst/>
          </a:prstGeom>
          <a:noFill/>
          <a:ln>
            <a:noFill/>
          </a:ln>
        </p:spPr>
      </p:pic>
      <p:sp>
        <p:nvSpPr>
          <p:cNvPr id="186" name="Google Shape;186;p102"/>
          <p:cNvSpPr/>
          <p:nvPr/>
        </p:nvSpPr>
        <p:spPr>
          <a:xfrm>
            <a:off x="368301" y="4711566"/>
            <a:ext cx="8375649" cy="337879"/>
          </a:xfrm>
          <a:prstGeom prst="rect">
            <a:avLst/>
          </a:prstGeom>
          <a:solidFill>
            <a:srgbClr val="162051"/>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2F2F2"/>
              </a:solidFill>
              <a:latin typeface="Calibri"/>
              <a:ea typeface="Calibri"/>
              <a:cs typeface="Calibri"/>
              <a:sym typeface="Calibri"/>
            </a:endParaRPr>
          </a:p>
        </p:txBody>
      </p:sp>
      <p:grpSp>
        <p:nvGrpSpPr>
          <p:cNvPr id="187" name="Google Shape;187;p102"/>
          <p:cNvGrpSpPr/>
          <p:nvPr/>
        </p:nvGrpSpPr>
        <p:grpSpPr>
          <a:xfrm>
            <a:off x="-1" y="4969042"/>
            <a:ext cx="3248527" cy="1888958"/>
            <a:chOff x="-1" y="4969042"/>
            <a:chExt cx="3248527" cy="1888958"/>
          </a:xfrm>
        </p:grpSpPr>
        <p:sp>
          <p:nvSpPr>
            <p:cNvPr id="188" name="Google Shape;188;p102"/>
            <p:cNvSpPr/>
            <p:nvPr/>
          </p:nvSpPr>
          <p:spPr>
            <a:xfrm>
              <a:off x="-1" y="5907505"/>
              <a:ext cx="3248527" cy="950495"/>
            </a:xfrm>
            <a:prstGeom prst="rtTriangle">
              <a:avLst/>
            </a:prstGeom>
            <a:solidFill>
              <a:schemeClr val="accent5"/>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sp>
          <p:nvSpPr>
            <p:cNvPr id="189" name="Google Shape;189;p102"/>
            <p:cNvSpPr/>
            <p:nvPr/>
          </p:nvSpPr>
          <p:spPr>
            <a:xfrm>
              <a:off x="0" y="6124074"/>
              <a:ext cx="3104147" cy="733926"/>
            </a:xfrm>
            <a:prstGeom prst="rtTriangle">
              <a:avLst/>
            </a:prstGeom>
            <a:solidFill>
              <a:srgbClr val="162051"/>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sp>
          <p:nvSpPr>
            <p:cNvPr id="190" name="Google Shape;190;p102"/>
            <p:cNvSpPr/>
            <p:nvPr/>
          </p:nvSpPr>
          <p:spPr>
            <a:xfrm>
              <a:off x="0" y="4969042"/>
              <a:ext cx="503321" cy="1888958"/>
            </a:xfrm>
            <a:prstGeom prst="rtTriangle">
              <a:avLst/>
            </a:prstGeom>
            <a:solidFill>
              <a:schemeClr val="lt2"/>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grpSp>
      <p:sp>
        <p:nvSpPr>
          <p:cNvPr id="191" name="Google Shape;191;p102"/>
          <p:cNvSpPr txBox="1"/>
          <p:nvPr>
            <p:ph idx="1" type="body"/>
          </p:nvPr>
        </p:nvSpPr>
        <p:spPr>
          <a:xfrm>
            <a:off x="503321" y="4783980"/>
            <a:ext cx="8126332" cy="277497"/>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800"/>
              <a:buFont typeface="Calibri"/>
              <a:buNone/>
              <a:defRPr sz="1800">
                <a:solidFill>
                  <a:srgbClr val="E5E5E5"/>
                </a:solidFill>
                <a:latin typeface="Calibri"/>
                <a:ea typeface="Calibri"/>
                <a:cs typeface="Calibri"/>
                <a:sym typeface="Calibri"/>
              </a:defRPr>
            </a:lvl1pPr>
            <a:lvl2pPr indent="-228600" lvl="1" marL="914400" algn="l">
              <a:lnSpc>
                <a:spcPct val="100000"/>
              </a:lnSpc>
              <a:spcBef>
                <a:spcPts val="900"/>
              </a:spcBef>
              <a:spcAft>
                <a:spcPts val="0"/>
              </a:spcAft>
              <a:buSzPts val="1800"/>
              <a:buNone/>
              <a:defRPr sz="1800">
                <a:solidFill>
                  <a:srgbClr val="E5E5E5"/>
                </a:solidFill>
                <a:latin typeface="Calibri"/>
                <a:ea typeface="Calibri"/>
                <a:cs typeface="Calibri"/>
                <a:sym typeface="Calibri"/>
              </a:defRPr>
            </a:lvl2pPr>
            <a:lvl3pPr indent="-228600" lvl="2" marL="1371600" algn="l">
              <a:lnSpc>
                <a:spcPct val="100000"/>
              </a:lnSpc>
              <a:spcBef>
                <a:spcPts val="900"/>
              </a:spcBef>
              <a:spcAft>
                <a:spcPts val="0"/>
              </a:spcAft>
              <a:buSzPts val="1800"/>
              <a:buNone/>
              <a:defRPr sz="1800">
                <a:solidFill>
                  <a:srgbClr val="E5E5E5"/>
                </a:solidFill>
                <a:latin typeface="Calibri"/>
                <a:ea typeface="Calibri"/>
                <a:cs typeface="Calibri"/>
                <a:sym typeface="Calibri"/>
              </a:defRPr>
            </a:lvl3pPr>
            <a:lvl4pPr indent="-228600" lvl="3" marL="1828800" algn="l">
              <a:lnSpc>
                <a:spcPct val="100000"/>
              </a:lnSpc>
              <a:spcBef>
                <a:spcPts val="900"/>
              </a:spcBef>
              <a:spcAft>
                <a:spcPts val="0"/>
              </a:spcAft>
              <a:buSzPts val="1800"/>
              <a:buNone/>
              <a:defRPr sz="1800">
                <a:solidFill>
                  <a:srgbClr val="E5E5E5"/>
                </a:solidFill>
                <a:latin typeface="Calibri"/>
                <a:ea typeface="Calibri"/>
                <a:cs typeface="Calibri"/>
                <a:sym typeface="Calibri"/>
              </a:defRPr>
            </a:lvl4pPr>
            <a:lvl5pPr indent="-228600" lvl="4" marL="2286000" algn="l">
              <a:lnSpc>
                <a:spcPct val="100000"/>
              </a:lnSpc>
              <a:spcBef>
                <a:spcPts val="900"/>
              </a:spcBef>
              <a:spcAft>
                <a:spcPts val="0"/>
              </a:spcAft>
              <a:buSzPts val="1800"/>
              <a:buNone/>
              <a:defRPr sz="1800">
                <a:solidFill>
                  <a:srgbClr val="E5E5E5"/>
                </a:solidFill>
                <a:latin typeface="Calibri"/>
                <a:ea typeface="Calibri"/>
                <a:cs typeface="Calibri"/>
                <a:sym typeface="Calibri"/>
              </a:defRPr>
            </a:lvl5pPr>
            <a:lvl6pPr indent="-342900" lvl="5" marL="2743200" algn="l">
              <a:lnSpc>
                <a:spcPct val="100000"/>
              </a:lnSpc>
              <a:spcBef>
                <a:spcPts val="900"/>
              </a:spcBef>
              <a:spcAft>
                <a:spcPts val="0"/>
              </a:spcAft>
              <a:buSzPts val="1800"/>
              <a:buAutoNum type="arabicPeriod"/>
              <a:defRPr/>
            </a:lvl6pPr>
            <a:lvl7pPr indent="-342900" lvl="6" marL="3200400" algn="l">
              <a:lnSpc>
                <a:spcPct val="100000"/>
              </a:lnSpc>
              <a:spcBef>
                <a:spcPts val="900"/>
              </a:spcBef>
              <a:spcAft>
                <a:spcPts val="0"/>
              </a:spcAft>
              <a:buClr>
                <a:schemeClr val="dk1"/>
              </a:buClr>
              <a:buSzPts val="1800"/>
              <a:buAutoNum type="alphaLcPeriod"/>
              <a:defRPr/>
            </a:lvl7pPr>
            <a:lvl8pPr indent="-342900" lvl="7" marL="3657600" algn="l">
              <a:lnSpc>
                <a:spcPct val="100000"/>
              </a:lnSpc>
              <a:spcBef>
                <a:spcPts val="900"/>
              </a:spcBef>
              <a:spcAft>
                <a:spcPts val="0"/>
              </a:spcAft>
              <a:buClr>
                <a:schemeClr val="dk1"/>
              </a:buClr>
              <a:buSzPts val="1800"/>
              <a:buAutoNum type="romanLcPeriod"/>
              <a:defRPr/>
            </a:lvl8pPr>
            <a:lvl9pPr indent="-228600" lvl="8" marL="4114800" algn="l">
              <a:lnSpc>
                <a:spcPct val="100000"/>
              </a:lnSpc>
              <a:spcBef>
                <a:spcPts val="900"/>
              </a:spcBef>
              <a:spcAft>
                <a:spcPts val="900"/>
              </a:spcAft>
              <a:buClr>
                <a:schemeClr val="dk2"/>
              </a:buClr>
              <a:buSzPts val="1800"/>
              <a:buNone/>
              <a:defRPr/>
            </a:lvl9pPr>
          </a:lstStyle>
          <a:p/>
        </p:txBody>
      </p:sp>
      <p:sp>
        <p:nvSpPr>
          <p:cNvPr id="192" name="Google Shape;192;p102"/>
          <p:cNvSpPr txBox="1"/>
          <p:nvPr/>
        </p:nvSpPr>
        <p:spPr>
          <a:xfrm>
            <a:off x="515348" y="6497876"/>
            <a:ext cx="988599" cy="33606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F2F2F2"/>
                </a:solidFill>
                <a:latin typeface="Arial"/>
                <a:ea typeface="Arial"/>
                <a:cs typeface="Arial"/>
                <a:sym typeface="Arial"/>
              </a:rPr>
              <a:t>Consulting Club </a:t>
            </a:r>
            <a:r>
              <a:rPr b="1" i="0" lang="en-US" sz="1000" u="none" cap="none" strike="noStrike">
                <a:solidFill>
                  <a:schemeClr val="accent2"/>
                </a:solidFill>
                <a:latin typeface="Arial"/>
                <a:ea typeface="Arial"/>
                <a:cs typeface="Arial"/>
                <a:sym typeface="Arial"/>
              </a:rPr>
              <a:t>@</a:t>
            </a:r>
            <a:r>
              <a:rPr b="1" i="0" lang="en-US" sz="1000" u="none" cap="none" strike="noStrike">
                <a:solidFill>
                  <a:srgbClr val="F2F2F2"/>
                </a:solidFill>
                <a:latin typeface="Arial"/>
                <a:ea typeface="Arial"/>
                <a:cs typeface="Arial"/>
                <a:sym typeface="Arial"/>
              </a:rPr>
              <a:t> Ross</a:t>
            </a:r>
            <a:endParaRPr b="1" i="0" sz="1000" u="none" cap="none" strike="noStrike">
              <a:solidFill>
                <a:srgbClr val="F2F2F2"/>
              </a:solidFill>
              <a:latin typeface="Arial"/>
              <a:ea typeface="Arial"/>
              <a:cs typeface="Arial"/>
              <a:sym typeface="Arial"/>
            </a:endParaRPr>
          </a:p>
        </p:txBody>
      </p:sp>
      <p:sp>
        <p:nvSpPr>
          <p:cNvPr id="193" name="Google Shape;193;p102"/>
          <p:cNvSpPr txBox="1"/>
          <p:nvPr>
            <p:ph idx="2" type="body"/>
          </p:nvPr>
        </p:nvSpPr>
        <p:spPr>
          <a:xfrm>
            <a:off x="381001" y="5032406"/>
            <a:ext cx="8341656" cy="1243266"/>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lvl1pPr indent="-228600" lvl="0" marL="457200" algn="l">
              <a:lnSpc>
                <a:spcPct val="100000"/>
              </a:lnSpc>
              <a:spcBef>
                <a:spcPts val="0"/>
              </a:spcBef>
              <a:spcAft>
                <a:spcPts val="0"/>
              </a:spcAft>
              <a:buSzPts val="1400"/>
              <a:buFont typeface="Calibri"/>
              <a:buNone/>
              <a:defRPr sz="1400">
                <a:solidFill>
                  <a:schemeClr val="accent5"/>
                </a:solidFill>
                <a:latin typeface="Calibri"/>
                <a:ea typeface="Calibri"/>
                <a:cs typeface="Calibri"/>
                <a:sym typeface="Calibri"/>
              </a:defRPr>
            </a:lvl1pPr>
            <a:lvl2pPr indent="-317500" lvl="1" marL="9144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2pPr>
            <a:lvl3pPr indent="-317500" lvl="2" marL="13716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3pPr>
            <a:lvl4pPr indent="-317500" lvl="3" marL="18288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4pPr>
            <a:lvl5pPr indent="-317500" lvl="4" marL="22860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5pPr>
            <a:lvl6pPr indent="-342900" lvl="5" marL="2743200" algn="l">
              <a:lnSpc>
                <a:spcPct val="100000"/>
              </a:lnSpc>
              <a:spcBef>
                <a:spcPts val="300"/>
              </a:spcBef>
              <a:spcAft>
                <a:spcPts val="0"/>
              </a:spcAft>
              <a:buSzPts val="1800"/>
              <a:buAutoNum type="arabicPeriod"/>
              <a:defRPr/>
            </a:lvl6pPr>
            <a:lvl7pPr indent="-342900" lvl="6" marL="3200400" algn="l">
              <a:lnSpc>
                <a:spcPct val="100000"/>
              </a:lnSpc>
              <a:spcBef>
                <a:spcPts val="900"/>
              </a:spcBef>
              <a:spcAft>
                <a:spcPts val="0"/>
              </a:spcAft>
              <a:buClr>
                <a:schemeClr val="dk1"/>
              </a:buClr>
              <a:buSzPts val="1800"/>
              <a:buAutoNum type="alphaLcPeriod"/>
              <a:defRPr/>
            </a:lvl7pPr>
            <a:lvl8pPr indent="-342900" lvl="7" marL="3657600" algn="l">
              <a:lnSpc>
                <a:spcPct val="100000"/>
              </a:lnSpc>
              <a:spcBef>
                <a:spcPts val="900"/>
              </a:spcBef>
              <a:spcAft>
                <a:spcPts val="0"/>
              </a:spcAft>
              <a:buClr>
                <a:schemeClr val="dk1"/>
              </a:buClr>
              <a:buSzPts val="1800"/>
              <a:buAutoNum type="romanLcPeriod"/>
              <a:defRPr/>
            </a:lvl8pPr>
            <a:lvl9pPr indent="-228600" lvl="8" marL="4114800" algn="l">
              <a:lnSpc>
                <a:spcPct val="100000"/>
              </a:lnSpc>
              <a:spcBef>
                <a:spcPts val="900"/>
              </a:spcBef>
              <a:spcAft>
                <a:spcPts val="900"/>
              </a:spcAft>
              <a:buClr>
                <a:schemeClr val="dk2"/>
              </a:buClr>
              <a:buSzPts val="1800"/>
              <a:buNone/>
              <a:defRPr/>
            </a:lvl9pPr>
          </a:lstStyle>
          <a:p/>
        </p:txBody>
      </p:sp>
      <p:sp>
        <p:nvSpPr>
          <p:cNvPr id="194" name="Google Shape;194;p102"/>
          <p:cNvSpPr/>
          <p:nvPr/>
        </p:nvSpPr>
        <p:spPr>
          <a:xfrm>
            <a:off x="365296" y="912148"/>
            <a:ext cx="8375649" cy="337879"/>
          </a:xfrm>
          <a:prstGeom prst="rect">
            <a:avLst/>
          </a:prstGeom>
          <a:solidFill>
            <a:srgbClr val="162051"/>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2F2F2"/>
              </a:solidFill>
              <a:latin typeface="Calibri"/>
              <a:ea typeface="Calibri"/>
              <a:cs typeface="Calibri"/>
              <a:sym typeface="Calibri"/>
            </a:endParaRPr>
          </a:p>
        </p:txBody>
      </p:sp>
      <p:sp>
        <p:nvSpPr>
          <p:cNvPr id="195" name="Google Shape;195;p102"/>
          <p:cNvSpPr txBox="1"/>
          <p:nvPr>
            <p:ph idx="3" type="body"/>
          </p:nvPr>
        </p:nvSpPr>
        <p:spPr>
          <a:xfrm>
            <a:off x="500316" y="984562"/>
            <a:ext cx="8126332" cy="277497"/>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800"/>
              <a:buFont typeface="Calibri"/>
              <a:buNone/>
              <a:defRPr sz="1800">
                <a:solidFill>
                  <a:srgbClr val="E5E5E5"/>
                </a:solidFill>
                <a:latin typeface="Calibri"/>
                <a:ea typeface="Calibri"/>
                <a:cs typeface="Calibri"/>
                <a:sym typeface="Calibri"/>
              </a:defRPr>
            </a:lvl1pPr>
            <a:lvl2pPr indent="-228600" lvl="1" marL="914400" algn="l">
              <a:lnSpc>
                <a:spcPct val="100000"/>
              </a:lnSpc>
              <a:spcBef>
                <a:spcPts val="900"/>
              </a:spcBef>
              <a:spcAft>
                <a:spcPts val="0"/>
              </a:spcAft>
              <a:buSzPts val="1800"/>
              <a:buNone/>
              <a:defRPr sz="1800">
                <a:solidFill>
                  <a:srgbClr val="E5E5E5"/>
                </a:solidFill>
                <a:latin typeface="Calibri"/>
                <a:ea typeface="Calibri"/>
                <a:cs typeface="Calibri"/>
                <a:sym typeface="Calibri"/>
              </a:defRPr>
            </a:lvl2pPr>
            <a:lvl3pPr indent="-228600" lvl="2" marL="1371600" algn="l">
              <a:lnSpc>
                <a:spcPct val="100000"/>
              </a:lnSpc>
              <a:spcBef>
                <a:spcPts val="900"/>
              </a:spcBef>
              <a:spcAft>
                <a:spcPts val="0"/>
              </a:spcAft>
              <a:buSzPts val="1800"/>
              <a:buNone/>
              <a:defRPr sz="1800">
                <a:solidFill>
                  <a:srgbClr val="E5E5E5"/>
                </a:solidFill>
                <a:latin typeface="Calibri"/>
                <a:ea typeface="Calibri"/>
                <a:cs typeface="Calibri"/>
                <a:sym typeface="Calibri"/>
              </a:defRPr>
            </a:lvl3pPr>
            <a:lvl4pPr indent="-228600" lvl="3" marL="1828800" algn="l">
              <a:lnSpc>
                <a:spcPct val="100000"/>
              </a:lnSpc>
              <a:spcBef>
                <a:spcPts val="900"/>
              </a:spcBef>
              <a:spcAft>
                <a:spcPts val="0"/>
              </a:spcAft>
              <a:buSzPts val="1800"/>
              <a:buNone/>
              <a:defRPr sz="1800">
                <a:solidFill>
                  <a:srgbClr val="E5E5E5"/>
                </a:solidFill>
                <a:latin typeface="Calibri"/>
                <a:ea typeface="Calibri"/>
                <a:cs typeface="Calibri"/>
                <a:sym typeface="Calibri"/>
              </a:defRPr>
            </a:lvl4pPr>
            <a:lvl5pPr indent="-228600" lvl="4" marL="2286000" algn="l">
              <a:lnSpc>
                <a:spcPct val="100000"/>
              </a:lnSpc>
              <a:spcBef>
                <a:spcPts val="900"/>
              </a:spcBef>
              <a:spcAft>
                <a:spcPts val="0"/>
              </a:spcAft>
              <a:buSzPts val="1800"/>
              <a:buNone/>
              <a:defRPr sz="1800">
                <a:solidFill>
                  <a:srgbClr val="E5E5E5"/>
                </a:solidFill>
                <a:latin typeface="Calibri"/>
                <a:ea typeface="Calibri"/>
                <a:cs typeface="Calibri"/>
                <a:sym typeface="Calibri"/>
              </a:defRPr>
            </a:lvl5pPr>
            <a:lvl6pPr indent="-342900" lvl="5" marL="2743200" algn="l">
              <a:lnSpc>
                <a:spcPct val="100000"/>
              </a:lnSpc>
              <a:spcBef>
                <a:spcPts val="900"/>
              </a:spcBef>
              <a:spcAft>
                <a:spcPts val="0"/>
              </a:spcAft>
              <a:buSzPts val="1800"/>
              <a:buAutoNum type="arabicPeriod"/>
              <a:defRPr/>
            </a:lvl6pPr>
            <a:lvl7pPr indent="-342900" lvl="6" marL="3200400" algn="l">
              <a:lnSpc>
                <a:spcPct val="100000"/>
              </a:lnSpc>
              <a:spcBef>
                <a:spcPts val="900"/>
              </a:spcBef>
              <a:spcAft>
                <a:spcPts val="0"/>
              </a:spcAft>
              <a:buClr>
                <a:schemeClr val="dk1"/>
              </a:buClr>
              <a:buSzPts val="1800"/>
              <a:buAutoNum type="alphaLcPeriod"/>
              <a:defRPr/>
            </a:lvl7pPr>
            <a:lvl8pPr indent="-342900" lvl="7" marL="3657600" algn="l">
              <a:lnSpc>
                <a:spcPct val="100000"/>
              </a:lnSpc>
              <a:spcBef>
                <a:spcPts val="900"/>
              </a:spcBef>
              <a:spcAft>
                <a:spcPts val="0"/>
              </a:spcAft>
              <a:buClr>
                <a:schemeClr val="dk1"/>
              </a:buClr>
              <a:buSzPts val="1800"/>
              <a:buAutoNum type="romanLcPeriod"/>
              <a:defRPr/>
            </a:lvl8pPr>
            <a:lvl9pPr indent="-228600" lvl="8" marL="4114800" algn="l">
              <a:lnSpc>
                <a:spcPct val="100000"/>
              </a:lnSpc>
              <a:spcBef>
                <a:spcPts val="900"/>
              </a:spcBef>
              <a:spcAft>
                <a:spcPts val="900"/>
              </a:spcAft>
              <a:buClr>
                <a:schemeClr val="dk2"/>
              </a:buClr>
              <a:buSzPts val="1800"/>
              <a:buNone/>
              <a:defRPr/>
            </a:lvl9pPr>
          </a:lstStyle>
          <a:p/>
        </p:txBody>
      </p:sp>
      <p:sp>
        <p:nvSpPr>
          <p:cNvPr id="196" name="Google Shape;196;p102"/>
          <p:cNvSpPr txBox="1"/>
          <p:nvPr>
            <p:ph idx="4" type="body"/>
          </p:nvPr>
        </p:nvSpPr>
        <p:spPr>
          <a:xfrm>
            <a:off x="387140" y="1232987"/>
            <a:ext cx="8341656" cy="3368649"/>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lvl1pPr indent="-228600" lvl="0" marL="457200" algn="l">
              <a:lnSpc>
                <a:spcPct val="100000"/>
              </a:lnSpc>
              <a:spcBef>
                <a:spcPts val="0"/>
              </a:spcBef>
              <a:spcAft>
                <a:spcPts val="0"/>
              </a:spcAft>
              <a:buSzPts val="1400"/>
              <a:buFont typeface="Calibri"/>
              <a:buNone/>
              <a:defRPr sz="1400">
                <a:solidFill>
                  <a:schemeClr val="accent5"/>
                </a:solidFill>
                <a:latin typeface="Calibri"/>
                <a:ea typeface="Calibri"/>
                <a:cs typeface="Calibri"/>
                <a:sym typeface="Calibri"/>
              </a:defRPr>
            </a:lvl1pPr>
            <a:lvl2pPr indent="-317500" lvl="1" marL="9144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2pPr>
            <a:lvl3pPr indent="-317500" lvl="2" marL="13716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3pPr>
            <a:lvl4pPr indent="-317500" lvl="3" marL="18288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4pPr>
            <a:lvl5pPr indent="-317500" lvl="4" marL="22860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5pPr>
            <a:lvl6pPr indent="-342900" lvl="5" marL="2743200" algn="l">
              <a:lnSpc>
                <a:spcPct val="100000"/>
              </a:lnSpc>
              <a:spcBef>
                <a:spcPts val="300"/>
              </a:spcBef>
              <a:spcAft>
                <a:spcPts val="0"/>
              </a:spcAft>
              <a:buSzPts val="1800"/>
              <a:buAutoNum type="arabicPeriod"/>
              <a:defRPr/>
            </a:lvl6pPr>
            <a:lvl7pPr indent="-342900" lvl="6" marL="3200400" algn="l">
              <a:lnSpc>
                <a:spcPct val="100000"/>
              </a:lnSpc>
              <a:spcBef>
                <a:spcPts val="900"/>
              </a:spcBef>
              <a:spcAft>
                <a:spcPts val="0"/>
              </a:spcAft>
              <a:buClr>
                <a:schemeClr val="dk1"/>
              </a:buClr>
              <a:buSzPts val="1800"/>
              <a:buAutoNum type="alphaLcPeriod"/>
              <a:defRPr/>
            </a:lvl7pPr>
            <a:lvl8pPr indent="-342900" lvl="7" marL="3657600" algn="l">
              <a:lnSpc>
                <a:spcPct val="100000"/>
              </a:lnSpc>
              <a:spcBef>
                <a:spcPts val="900"/>
              </a:spcBef>
              <a:spcAft>
                <a:spcPts val="0"/>
              </a:spcAft>
              <a:buClr>
                <a:schemeClr val="dk1"/>
              </a:buClr>
              <a:buSzPts val="1800"/>
              <a:buAutoNum type="romanLcPeriod"/>
              <a:defRPr/>
            </a:lvl8pPr>
            <a:lvl9pPr indent="-228600" lvl="8" marL="4114800" algn="l">
              <a:lnSpc>
                <a:spcPct val="100000"/>
              </a:lnSpc>
              <a:spcBef>
                <a:spcPts val="900"/>
              </a:spcBef>
              <a:spcAft>
                <a:spcPts val="900"/>
              </a:spcAft>
              <a:buClr>
                <a:schemeClr val="dk2"/>
              </a:buClr>
              <a:buSzPts val="18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ntent: Two under Text">
  <p:cSld name="1_Content: Two under Text">
    <p:spTree>
      <p:nvGrpSpPr>
        <p:cNvPr id="197" name="Shape 197"/>
        <p:cNvGrpSpPr/>
        <p:nvPr/>
      </p:nvGrpSpPr>
      <p:grpSpPr>
        <a:xfrm>
          <a:off x="0" y="0"/>
          <a:ext cx="0" cy="0"/>
          <a:chOff x="0" y="0"/>
          <a:chExt cx="0" cy="0"/>
        </a:xfrm>
      </p:grpSpPr>
      <p:grpSp>
        <p:nvGrpSpPr>
          <p:cNvPr id="198" name="Google Shape;198;p103"/>
          <p:cNvGrpSpPr/>
          <p:nvPr/>
        </p:nvGrpSpPr>
        <p:grpSpPr>
          <a:xfrm>
            <a:off x="-1" y="4969042"/>
            <a:ext cx="3248527" cy="1888958"/>
            <a:chOff x="-1" y="4969042"/>
            <a:chExt cx="3248527" cy="1888958"/>
          </a:xfrm>
        </p:grpSpPr>
        <p:sp>
          <p:nvSpPr>
            <p:cNvPr id="199" name="Google Shape;199;p103"/>
            <p:cNvSpPr/>
            <p:nvPr/>
          </p:nvSpPr>
          <p:spPr>
            <a:xfrm>
              <a:off x="-1" y="5907505"/>
              <a:ext cx="3248527" cy="950495"/>
            </a:xfrm>
            <a:prstGeom prst="rtTriangle">
              <a:avLst/>
            </a:prstGeom>
            <a:solidFill>
              <a:schemeClr val="accent5"/>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sp>
          <p:nvSpPr>
            <p:cNvPr id="200" name="Google Shape;200;p103"/>
            <p:cNvSpPr/>
            <p:nvPr/>
          </p:nvSpPr>
          <p:spPr>
            <a:xfrm>
              <a:off x="0" y="6124074"/>
              <a:ext cx="3104147" cy="733926"/>
            </a:xfrm>
            <a:prstGeom prst="rtTriangle">
              <a:avLst/>
            </a:prstGeom>
            <a:solidFill>
              <a:srgbClr val="162051"/>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sp>
          <p:nvSpPr>
            <p:cNvPr id="201" name="Google Shape;201;p103"/>
            <p:cNvSpPr/>
            <p:nvPr/>
          </p:nvSpPr>
          <p:spPr>
            <a:xfrm>
              <a:off x="0" y="4969042"/>
              <a:ext cx="503321" cy="1888958"/>
            </a:xfrm>
            <a:prstGeom prst="rtTriangle">
              <a:avLst/>
            </a:prstGeom>
            <a:solidFill>
              <a:schemeClr val="lt2"/>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grpSp>
      <p:grpSp>
        <p:nvGrpSpPr>
          <p:cNvPr id="202" name="Google Shape;202;p103"/>
          <p:cNvGrpSpPr/>
          <p:nvPr/>
        </p:nvGrpSpPr>
        <p:grpSpPr>
          <a:xfrm>
            <a:off x="368302" y="93134"/>
            <a:ext cx="8375648" cy="737045"/>
            <a:chOff x="491067" y="93134"/>
            <a:chExt cx="11167531" cy="922866"/>
          </a:xfrm>
        </p:grpSpPr>
        <p:sp>
          <p:nvSpPr>
            <p:cNvPr id="203" name="Google Shape;203;p103"/>
            <p:cNvSpPr/>
            <p:nvPr/>
          </p:nvSpPr>
          <p:spPr>
            <a:xfrm>
              <a:off x="863598" y="194737"/>
              <a:ext cx="10795000" cy="520943"/>
            </a:xfrm>
            <a:prstGeom prst="rect">
              <a:avLst/>
            </a:prstGeom>
            <a:solidFill>
              <a:srgbClr val="5F5F5F"/>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sp>
          <p:nvSpPr>
            <p:cNvPr id="204" name="Google Shape;204;p103"/>
            <p:cNvSpPr/>
            <p:nvPr/>
          </p:nvSpPr>
          <p:spPr>
            <a:xfrm>
              <a:off x="745068" y="330202"/>
              <a:ext cx="10761133" cy="685798"/>
            </a:xfrm>
            <a:prstGeom prst="rect">
              <a:avLst/>
            </a:prstGeom>
            <a:solidFill>
              <a:schemeClr val="accent2"/>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sp>
          <p:nvSpPr>
            <p:cNvPr id="205" name="Google Shape;205;p103"/>
            <p:cNvSpPr/>
            <p:nvPr/>
          </p:nvSpPr>
          <p:spPr>
            <a:xfrm>
              <a:off x="491067" y="93134"/>
              <a:ext cx="10786532" cy="685800"/>
            </a:xfrm>
            <a:prstGeom prst="rect">
              <a:avLst/>
            </a:prstGeom>
            <a:solidFill>
              <a:srgbClr val="162051"/>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grpSp>
      <p:sp>
        <p:nvSpPr>
          <p:cNvPr id="206" name="Google Shape;206;p103"/>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rgbClr val="D8D8D8"/>
              </a:buClr>
              <a:buSzPts val="2800"/>
              <a:buFont typeface="Calibri"/>
              <a:buNone/>
              <a:defRPr sz="2800">
                <a:solidFill>
                  <a:srgbClr val="D8D8D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descr="Image result for University of michigan Banner" id="207" name="Google Shape;207;p103"/>
          <p:cNvPicPr preferRelativeResize="0"/>
          <p:nvPr/>
        </p:nvPicPr>
        <p:blipFill rotWithShape="1">
          <a:blip r:embed="rId2">
            <a:alphaModFix/>
          </a:blip>
          <a:srcRect b="0" l="0" r="0" t="0"/>
          <a:stretch/>
        </p:blipFill>
        <p:spPr>
          <a:xfrm>
            <a:off x="6521116" y="6385601"/>
            <a:ext cx="2222834" cy="368935"/>
          </a:xfrm>
          <a:prstGeom prst="rect">
            <a:avLst/>
          </a:prstGeom>
          <a:noFill/>
          <a:ln>
            <a:noFill/>
          </a:ln>
        </p:spPr>
      </p:pic>
      <p:sp>
        <p:nvSpPr>
          <p:cNvPr id="208" name="Google Shape;208;p103"/>
          <p:cNvSpPr txBox="1"/>
          <p:nvPr>
            <p:ph idx="1" type="body"/>
          </p:nvPr>
        </p:nvSpPr>
        <p:spPr>
          <a:xfrm>
            <a:off x="381001" y="1283365"/>
            <a:ext cx="8341656" cy="2209300"/>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lvl1pPr indent="-228600" lvl="0" marL="457200" algn="l">
              <a:lnSpc>
                <a:spcPct val="100000"/>
              </a:lnSpc>
              <a:spcBef>
                <a:spcPts val="0"/>
              </a:spcBef>
              <a:spcAft>
                <a:spcPts val="0"/>
              </a:spcAft>
              <a:buSzPts val="1400"/>
              <a:buFont typeface="Calibri"/>
              <a:buNone/>
              <a:defRPr sz="1400">
                <a:solidFill>
                  <a:schemeClr val="accent5"/>
                </a:solidFill>
                <a:latin typeface="Calibri"/>
                <a:ea typeface="Calibri"/>
                <a:cs typeface="Calibri"/>
                <a:sym typeface="Calibri"/>
              </a:defRPr>
            </a:lvl1pPr>
            <a:lvl2pPr indent="-317500" lvl="1" marL="9144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2pPr>
            <a:lvl3pPr indent="-317500" lvl="2" marL="13716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3pPr>
            <a:lvl4pPr indent="-317500" lvl="3" marL="18288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4pPr>
            <a:lvl5pPr indent="-317500" lvl="4" marL="22860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5pPr>
            <a:lvl6pPr indent="-342900" lvl="5" marL="2743200" algn="l">
              <a:lnSpc>
                <a:spcPct val="100000"/>
              </a:lnSpc>
              <a:spcBef>
                <a:spcPts val="300"/>
              </a:spcBef>
              <a:spcAft>
                <a:spcPts val="0"/>
              </a:spcAft>
              <a:buSzPts val="1800"/>
              <a:buAutoNum type="arabicPeriod"/>
              <a:defRPr/>
            </a:lvl6pPr>
            <a:lvl7pPr indent="-342900" lvl="6" marL="3200400" algn="l">
              <a:lnSpc>
                <a:spcPct val="100000"/>
              </a:lnSpc>
              <a:spcBef>
                <a:spcPts val="900"/>
              </a:spcBef>
              <a:spcAft>
                <a:spcPts val="0"/>
              </a:spcAft>
              <a:buClr>
                <a:schemeClr val="dk1"/>
              </a:buClr>
              <a:buSzPts val="1800"/>
              <a:buAutoNum type="alphaLcPeriod"/>
              <a:defRPr/>
            </a:lvl7pPr>
            <a:lvl8pPr indent="-342900" lvl="7" marL="3657600" algn="l">
              <a:lnSpc>
                <a:spcPct val="100000"/>
              </a:lnSpc>
              <a:spcBef>
                <a:spcPts val="900"/>
              </a:spcBef>
              <a:spcAft>
                <a:spcPts val="0"/>
              </a:spcAft>
              <a:buClr>
                <a:schemeClr val="dk1"/>
              </a:buClr>
              <a:buSzPts val="1800"/>
              <a:buAutoNum type="romanLcPeriod"/>
              <a:defRPr/>
            </a:lvl8pPr>
            <a:lvl9pPr indent="-228600" lvl="8" marL="4114800" algn="l">
              <a:lnSpc>
                <a:spcPct val="100000"/>
              </a:lnSpc>
              <a:spcBef>
                <a:spcPts val="900"/>
              </a:spcBef>
              <a:spcAft>
                <a:spcPts val="900"/>
              </a:spcAft>
              <a:buClr>
                <a:schemeClr val="dk2"/>
              </a:buClr>
              <a:buSzPts val="1800"/>
              <a:buNone/>
              <a:defRPr/>
            </a:lvl9pPr>
          </a:lstStyle>
          <a:p/>
        </p:txBody>
      </p:sp>
      <p:sp>
        <p:nvSpPr>
          <p:cNvPr id="209" name="Google Shape;209;p103"/>
          <p:cNvSpPr/>
          <p:nvPr/>
        </p:nvSpPr>
        <p:spPr>
          <a:xfrm>
            <a:off x="368301" y="962526"/>
            <a:ext cx="8375649" cy="337879"/>
          </a:xfrm>
          <a:prstGeom prst="rect">
            <a:avLst/>
          </a:prstGeom>
          <a:solidFill>
            <a:srgbClr val="162051"/>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2F2F2"/>
              </a:solidFill>
              <a:latin typeface="Calibri"/>
              <a:ea typeface="Calibri"/>
              <a:cs typeface="Calibri"/>
              <a:sym typeface="Calibri"/>
            </a:endParaRPr>
          </a:p>
        </p:txBody>
      </p:sp>
      <p:sp>
        <p:nvSpPr>
          <p:cNvPr id="210" name="Google Shape;210;p103"/>
          <p:cNvSpPr txBox="1"/>
          <p:nvPr>
            <p:ph idx="2" type="body"/>
          </p:nvPr>
        </p:nvSpPr>
        <p:spPr>
          <a:xfrm>
            <a:off x="381001" y="3965567"/>
            <a:ext cx="8341656" cy="2236883"/>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lvl1pPr indent="-228600" lvl="0" marL="457200" algn="l">
              <a:lnSpc>
                <a:spcPct val="100000"/>
              </a:lnSpc>
              <a:spcBef>
                <a:spcPts val="0"/>
              </a:spcBef>
              <a:spcAft>
                <a:spcPts val="0"/>
              </a:spcAft>
              <a:buSzPts val="1400"/>
              <a:buFont typeface="Calibri"/>
              <a:buNone/>
              <a:defRPr sz="1400">
                <a:solidFill>
                  <a:schemeClr val="accent5"/>
                </a:solidFill>
                <a:latin typeface="Calibri"/>
                <a:ea typeface="Calibri"/>
                <a:cs typeface="Calibri"/>
                <a:sym typeface="Calibri"/>
              </a:defRPr>
            </a:lvl1pPr>
            <a:lvl2pPr indent="-317500" lvl="1" marL="9144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2pPr>
            <a:lvl3pPr indent="-317500" lvl="2" marL="13716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3pPr>
            <a:lvl4pPr indent="-317500" lvl="3" marL="18288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4pPr>
            <a:lvl5pPr indent="-317500" lvl="4" marL="22860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5pPr>
            <a:lvl6pPr indent="-342900" lvl="5" marL="2743200" algn="l">
              <a:lnSpc>
                <a:spcPct val="100000"/>
              </a:lnSpc>
              <a:spcBef>
                <a:spcPts val="300"/>
              </a:spcBef>
              <a:spcAft>
                <a:spcPts val="0"/>
              </a:spcAft>
              <a:buSzPts val="1800"/>
              <a:buAutoNum type="arabicPeriod"/>
              <a:defRPr/>
            </a:lvl6pPr>
            <a:lvl7pPr indent="-342900" lvl="6" marL="3200400" algn="l">
              <a:lnSpc>
                <a:spcPct val="100000"/>
              </a:lnSpc>
              <a:spcBef>
                <a:spcPts val="900"/>
              </a:spcBef>
              <a:spcAft>
                <a:spcPts val="0"/>
              </a:spcAft>
              <a:buClr>
                <a:schemeClr val="dk1"/>
              </a:buClr>
              <a:buSzPts val="1800"/>
              <a:buAutoNum type="alphaLcPeriod"/>
              <a:defRPr/>
            </a:lvl7pPr>
            <a:lvl8pPr indent="-342900" lvl="7" marL="3657600" algn="l">
              <a:lnSpc>
                <a:spcPct val="100000"/>
              </a:lnSpc>
              <a:spcBef>
                <a:spcPts val="900"/>
              </a:spcBef>
              <a:spcAft>
                <a:spcPts val="0"/>
              </a:spcAft>
              <a:buClr>
                <a:schemeClr val="dk1"/>
              </a:buClr>
              <a:buSzPts val="1800"/>
              <a:buAutoNum type="romanLcPeriod"/>
              <a:defRPr/>
            </a:lvl8pPr>
            <a:lvl9pPr indent="-228600" lvl="8" marL="4114800" algn="l">
              <a:lnSpc>
                <a:spcPct val="100000"/>
              </a:lnSpc>
              <a:spcBef>
                <a:spcPts val="900"/>
              </a:spcBef>
              <a:spcAft>
                <a:spcPts val="900"/>
              </a:spcAft>
              <a:buClr>
                <a:schemeClr val="dk2"/>
              </a:buClr>
              <a:buSzPts val="1800"/>
              <a:buNone/>
              <a:defRPr/>
            </a:lvl9pPr>
          </a:lstStyle>
          <a:p/>
        </p:txBody>
      </p:sp>
      <p:sp>
        <p:nvSpPr>
          <p:cNvPr id="211" name="Google Shape;211;p103"/>
          <p:cNvSpPr/>
          <p:nvPr/>
        </p:nvSpPr>
        <p:spPr>
          <a:xfrm>
            <a:off x="368301" y="3627688"/>
            <a:ext cx="8375649" cy="337879"/>
          </a:xfrm>
          <a:prstGeom prst="rect">
            <a:avLst/>
          </a:prstGeom>
          <a:solidFill>
            <a:srgbClr val="162051"/>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2F2F2"/>
              </a:solidFill>
              <a:latin typeface="Calibri"/>
              <a:ea typeface="Calibri"/>
              <a:cs typeface="Calibri"/>
              <a:sym typeface="Calibri"/>
            </a:endParaRPr>
          </a:p>
        </p:txBody>
      </p:sp>
      <p:sp>
        <p:nvSpPr>
          <p:cNvPr id="212" name="Google Shape;212;p103"/>
          <p:cNvSpPr txBox="1"/>
          <p:nvPr>
            <p:ph idx="3" type="body"/>
          </p:nvPr>
        </p:nvSpPr>
        <p:spPr>
          <a:xfrm>
            <a:off x="503321" y="1022905"/>
            <a:ext cx="8126332" cy="2775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800"/>
              <a:buFont typeface="Calibri"/>
              <a:buNone/>
              <a:defRPr sz="1800">
                <a:solidFill>
                  <a:srgbClr val="E5E5E5"/>
                </a:solidFill>
                <a:latin typeface="Calibri"/>
                <a:ea typeface="Calibri"/>
                <a:cs typeface="Calibri"/>
                <a:sym typeface="Calibri"/>
              </a:defRPr>
            </a:lvl1pPr>
            <a:lvl2pPr indent="-228600" lvl="1" marL="914400" algn="l">
              <a:lnSpc>
                <a:spcPct val="100000"/>
              </a:lnSpc>
              <a:spcBef>
                <a:spcPts val="900"/>
              </a:spcBef>
              <a:spcAft>
                <a:spcPts val="0"/>
              </a:spcAft>
              <a:buSzPts val="1800"/>
              <a:buNone/>
              <a:defRPr sz="1800">
                <a:solidFill>
                  <a:srgbClr val="E5E5E5"/>
                </a:solidFill>
                <a:latin typeface="Calibri"/>
                <a:ea typeface="Calibri"/>
                <a:cs typeface="Calibri"/>
                <a:sym typeface="Calibri"/>
              </a:defRPr>
            </a:lvl2pPr>
            <a:lvl3pPr indent="-228600" lvl="2" marL="1371600" algn="l">
              <a:lnSpc>
                <a:spcPct val="100000"/>
              </a:lnSpc>
              <a:spcBef>
                <a:spcPts val="900"/>
              </a:spcBef>
              <a:spcAft>
                <a:spcPts val="0"/>
              </a:spcAft>
              <a:buSzPts val="1800"/>
              <a:buNone/>
              <a:defRPr sz="1800">
                <a:solidFill>
                  <a:srgbClr val="E5E5E5"/>
                </a:solidFill>
                <a:latin typeface="Calibri"/>
                <a:ea typeface="Calibri"/>
                <a:cs typeface="Calibri"/>
                <a:sym typeface="Calibri"/>
              </a:defRPr>
            </a:lvl3pPr>
            <a:lvl4pPr indent="-228600" lvl="3" marL="1828800" algn="l">
              <a:lnSpc>
                <a:spcPct val="100000"/>
              </a:lnSpc>
              <a:spcBef>
                <a:spcPts val="900"/>
              </a:spcBef>
              <a:spcAft>
                <a:spcPts val="0"/>
              </a:spcAft>
              <a:buSzPts val="1800"/>
              <a:buNone/>
              <a:defRPr sz="1800">
                <a:solidFill>
                  <a:srgbClr val="E5E5E5"/>
                </a:solidFill>
                <a:latin typeface="Calibri"/>
                <a:ea typeface="Calibri"/>
                <a:cs typeface="Calibri"/>
                <a:sym typeface="Calibri"/>
              </a:defRPr>
            </a:lvl4pPr>
            <a:lvl5pPr indent="-228600" lvl="4" marL="2286000" algn="l">
              <a:lnSpc>
                <a:spcPct val="100000"/>
              </a:lnSpc>
              <a:spcBef>
                <a:spcPts val="900"/>
              </a:spcBef>
              <a:spcAft>
                <a:spcPts val="0"/>
              </a:spcAft>
              <a:buSzPts val="1800"/>
              <a:buNone/>
              <a:defRPr sz="1800">
                <a:solidFill>
                  <a:srgbClr val="E5E5E5"/>
                </a:solidFill>
                <a:latin typeface="Calibri"/>
                <a:ea typeface="Calibri"/>
                <a:cs typeface="Calibri"/>
                <a:sym typeface="Calibri"/>
              </a:defRPr>
            </a:lvl5pPr>
            <a:lvl6pPr indent="-342900" lvl="5" marL="2743200" algn="l">
              <a:lnSpc>
                <a:spcPct val="100000"/>
              </a:lnSpc>
              <a:spcBef>
                <a:spcPts val="900"/>
              </a:spcBef>
              <a:spcAft>
                <a:spcPts val="0"/>
              </a:spcAft>
              <a:buSzPts val="1800"/>
              <a:buAutoNum type="arabicPeriod"/>
              <a:defRPr/>
            </a:lvl6pPr>
            <a:lvl7pPr indent="-342900" lvl="6" marL="3200400" algn="l">
              <a:lnSpc>
                <a:spcPct val="100000"/>
              </a:lnSpc>
              <a:spcBef>
                <a:spcPts val="900"/>
              </a:spcBef>
              <a:spcAft>
                <a:spcPts val="0"/>
              </a:spcAft>
              <a:buClr>
                <a:schemeClr val="dk1"/>
              </a:buClr>
              <a:buSzPts val="1800"/>
              <a:buAutoNum type="alphaLcPeriod"/>
              <a:defRPr/>
            </a:lvl7pPr>
            <a:lvl8pPr indent="-342900" lvl="7" marL="3657600" algn="l">
              <a:lnSpc>
                <a:spcPct val="100000"/>
              </a:lnSpc>
              <a:spcBef>
                <a:spcPts val="900"/>
              </a:spcBef>
              <a:spcAft>
                <a:spcPts val="0"/>
              </a:spcAft>
              <a:buClr>
                <a:schemeClr val="dk1"/>
              </a:buClr>
              <a:buSzPts val="1800"/>
              <a:buAutoNum type="romanLcPeriod"/>
              <a:defRPr/>
            </a:lvl8pPr>
            <a:lvl9pPr indent="-228600" lvl="8" marL="4114800" algn="l">
              <a:lnSpc>
                <a:spcPct val="100000"/>
              </a:lnSpc>
              <a:spcBef>
                <a:spcPts val="900"/>
              </a:spcBef>
              <a:spcAft>
                <a:spcPts val="900"/>
              </a:spcAft>
              <a:buClr>
                <a:schemeClr val="dk2"/>
              </a:buClr>
              <a:buSzPts val="1800"/>
              <a:buNone/>
              <a:defRPr/>
            </a:lvl9pPr>
          </a:lstStyle>
          <a:p/>
        </p:txBody>
      </p:sp>
      <p:sp>
        <p:nvSpPr>
          <p:cNvPr id="213" name="Google Shape;213;p103"/>
          <p:cNvSpPr txBox="1"/>
          <p:nvPr>
            <p:ph idx="4" type="body"/>
          </p:nvPr>
        </p:nvSpPr>
        <p:spPr>
          <a:xfrm>
            <a:off x="515348" y="3688067"/>
            <a:ext cx="8126332" cy="2775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800"/>
              <a:buFont typeface="Calibri"/>
              <a:buNone/>
              <a:defRPr sz="1800">
                <a:solidFill>
                  <a:srgbClr val="E5E5E5"/>
                </a:solidFill>
                <a:latin typeface="Calibri"/>
                <a:ea typeface="Calibri"/>
                <a:cs typeface="Calibri"/>
                <a:sym typeface="Calibri"/>
              </a:defRPr>
            </a:lvl1pPr>
            <a:lvl2pPr indent="-228600" lvl="1" marL="914400" algn="l">
              <a:lnSpc>
                <a:spcPct val="100000"/>
              </a:lnSpc>
              <a:spcBef>
                <a:spcPts val="900"/>
              </a:spcBef>
              <a:spcAft>
                <a:spcPts val="0"/>
              </a:spcAft>
              <a:buSzPts val="1800"/>
              <a:buNone/>
              <a:defRPr sz="1800">
                <a:solidFill>
                  <a:srgbClr val="E5E5E5"/>
                </a:solidFill>
                <a:latin typeface="Calibri"/>
                <a:ea typeface="Calibri"/>
                <a:cs typeface="Calibri"/>
                <a:sym typeface="Calibri"/>
              </a:defRPr>
            </a:lvl2pPr>
            <a:lvl3pPr indent="-228600" lvl="2" marL="1371600" algn="l">
              <a:lnSpc>
                <a:spcPct val="100000"/>
              </a:lnSpc>
              <a:spcBef>
                <a:spcPts val="900"/>
              </a:spcBef>
              <a:spcAft>
                <a:spcPts val="0"/>
              </a:spcAft>
              <a:buSzPts val="1800"/>
              <a:buNone/>
              <a:defRPr sz="1800">
                <a:solidFill>
                  <a:srgbClr val="E5E5E5"/>
                </a:solidFill>
                <a:latin typeface="Calibri"/>
                <a:ea typeface="Calibri"/>
                <a:cs typeface="Calibri"/>
                <a:sym typeface="Calibri"/>
              </a:defRPr>
            </a:lvl3pPr>
            <a:lvl4pPr indent="-228600" lvl="3" marL="1828800" algn="l">
              <a:lnSpc>
                <a:spcPct val="100000"/>
              </a:lnSpc>
              <a:spcBef>
                <a:spcPts val="900"/>
              </a:spcBef>
              <a:spcAft>
                <a:spcPts val="0"/>
              </a:spcAft>
              <a:buSzPts val="1800"/>
              <a:buNone/>
              <a:defRPr sz="1800">
                <a:solidFill>
                  <a:srgbClr val="E5E5E5"/>
                </a:solidFill>
                <a:latin typeface="Calibri"/>
                <a:ea typeface="Calibri"/>
                <a:cs typeface="Calibri"/>
                <a:sym typeface="Calibri"/>
              </a:defRPr>
            </a:lvl4pPr>
            <a:lvl5pPr indent="-228600" lvl="4" marL="2286000" algn="l">
              <a:lnSpc>
                <a:spcPct val="100000"/>
              </a:lnSpc>
              <a:spcBef>
                <a:spcPts val="900"/>
              </a:spcBef>
              <a:spcAft>
                <a:spcPts val="0"/>
              </a:spcAft>
              <a:buSzPts val="1800"/>
              <a:buNone/>
              <a:defRPr sz="1800">
                <a:solidFill>
                  <a:srgbClr val="E5E5E5"/>
                </a:solidFill>
                <a:latin typeface="Calibri"/>
                <a:ea typeface="Calibri"/>
                <a:cs typeface="Calibri"/>
                <a:sym typeface="Calibri"/>
              </a:defRPr>
            </a:lvl5pPr>
            <a:lvl6pPr indent="-342900" lvl="5" marL="2743200" algn="l">
              <a:lnSpc>
                <a:spcPct val="100000"/>
              </a:lnSpc>
              <a:spcBef>
                <a:spcPts val="900"/>
              </a:spcBef>
              <a:spcAft>
                <a:spcPts val="0"/>
              </a:spcAft>
              <a:buSzPts val="1800"/>
              <a:buAutoNum type="arabicPeriod"/>
              <a:defRPr/>
            </a:lvl6pPr>
            <a:lvl7pPr indent="-342900" lvl="6" marL="3200400" algn="l">
              <a:lnSpc>
                <a:spcPct val="100000"/>
              </a:lnSpc>
              <a:spcBef>
                <a:spcPts val="900"/>
              </a:spcBef>
              <a:spcAft>
                <a:spcPts val="0"/>
              </a:spcAft>
              <a:buClr>
                <a:schemeClr val="dk1"/>
              </a:buClr>
              <a:buSzPts val="1800"/>
              <a:buAutoNum type="alphaLcPeriod"/>
              <a:defRPr/>
            </a:lvl7pPr>
            <a:lvl8pPr indent="-342900" lvl="7" marL="3657600" algn="l">
              <a:lnSpc>
                <a:spcPct val="100000"/>
              </a:lnSpc>
              <a:spcBef>
                <a:spcPts val="900"/>
              </a:spcBef>
              <a:spcAft>
                <a:spcPts val="0"/>
              </a:spcAft>
              <a:buClr>
                <a:schemeClr val="dk1"/>
              </a:buClr>
              <a:buSzPts val="1800"/>
              <a:buAutoNum type="romanLcPeriod"/>
              <a:defRPr/>
            </a:lvl8pPr>
            <a:lvl9pPr indent="-228600" lvl="8" marL="4114800" algn="l">
              <a:lnSpc>
                <a:spcPct val="100000"/>
              </a:lnSpc>
              <a:spcBef>
                <a:spcPts val="900"/>
              </a:spcBef>
              <a:spcAft>
                <a:spcPts val="900"/>
              </a:spcAft>
              <a:buClr>
                <a:schemeClr val="dk2"/>
              </a:buClr>
              <a:buSzPts val="1800"/>
              <a:buNone/>
              <a:defRPr/>
            </a:lvl9pPr>
          </a:lstStyle>
          <a:p/>
        </p:txBody>
      </p:sp>
      <p:sp>
        <p:nvSpPr>
          <p:cNvPr id="214" name="Google Shape;214;p103"/>
          <p:cNvSpPr txBox="1"/>
          <p:nvPr/>
        </p:nvSpPr>
        <p:spPr>
          <a:xfrm>
            <a:off x="515348" y="6497876"/>
            <a:ext cx="988599" cy="33606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F2F2F2"/>
                </a:solidFill>
                <a:latin typeface="Arial"/>
                <a:ea typeface="Arial"/>
                <a:cs typeface="Arial"/>
                <a:sym typeface="Arial"/>
              </a:rPr>
              <a:t>Consulting Club </a:t>
            </a:r>
            <a:r>
              <a:rPr b="1" i="0" lang="en-US" sz="1000" u="none" cap="none" strike="noStrike">
                <a:solidFill>
                  <a:schemeClr val="accent2"/>
                </a:solidFill>
                <a:latin typeface="Arial"/>
                <a:ea typeface="Arial"/>
                <a:cs typeface="Arial"/>
                <a:sym typeface="Arial"/>
              </a:rPr>
              <a:t>@</a:t>
            </a:r>
            <a:r>
              <a:rPr b="1" i="0" lang="en-US" sz="1000" u="none" cap="none" strike="noStrike">
                <a:solidFill>
                  <a:srgbClr val="F2F2F2"/>
                </a:solidFill>
                <a:latin typeface="Arial"/>
                <a:ea typeface="Arial"/>
                <a:cs typeface="Arial"/>
                <a:sym typeface="Arial"/>
              </a:rPr>
              <a:t> Ross</a:t>
            </a:r>
            <a:endParaRPr b="1" i="0" sz="1000" u="none" cap="none" strike="noStrike">
              <a:solidFill>
                <a:srgbClr val="F2F2F2"/>
              </a:solidFill>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Content: One">
  <p:cSld name="5_Content: One">
    <p:spTree>
      <p:nvGrpSpPr>
        <p:cNvPr id="215" name="Shape 215"/>
        <p:cNvGrpSpPr/>
        <p:nvPr/>
      </p:nvGrpSpPr>
      <p:grpSpPr>
        <a:xfrm>
          <a:off x="0" y="0"/>
          <a:ext cx="0" cy="0"/>
          <a:chOff x="0" y="0"/>
          <a:chExt cx="0" cy="0"/>
        </a:xfrm>
      </p:grpSpPr>
      <p:grpSp>
        <p:nvGrpSpPr>
          <p:cNvPr id="216" name="Google Shape;216;p104"/>
          <p:cNvGrpSpPr/>
          <p:nvPr/>
        </p:nvGrpSpPr>
        <p:grpSpPr>
          <a:xfrm>
            <a:off x="368302" y="87358"/>
            <a:ext cx="8375648" cy="737045"/>
            <a:chOff x="491067" y="93134"/>
            <a:chExt cx="11167531" cy="922866"/>
          </a:xfrm>
        </p:grpSpPr>
        <p:sp>
          <p:nvSpPr>
            <p:cNvPr id="217" name="Google Shape;217;p104"/>
            <p:cNvSpPr/>
            <p:nvPr/>
          </p:nvSpPr>
          <p:spPr>
            <a:xfrm>
              <a:off x="863598" y="194737"/>
              <a:ext cx="10795000" cy="520943"/>
            </a:xfrm>
            <a:prstGeom prst="rect">
              <a:avLst/>
            </a:prstGeom>
            <a:solidFill>
              <a:srgbClr val="5F5F5F"/>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sp>
          <p:nvSpPr>
            <p:cNvPr id="218" name="Google Shape;218;p104"/>
            <p:cNvSpPr/>
            <p:nvPr/>
          </p:nvSpPr>
          <p:spPr>
            <a:xfrm>
              <a:off x="745068" y="330202"/>
              <a:ext cx="10761133" cy="685798"/>
            </a:xfrm>
            <a:prstGeom prst="rect">
              <a:avLst/>
            </a:prstGeom>
            <a:solidFill>
              <a:schemeClr val="accent2"/>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sp>
          <p:nvSpPr>
            <p:cNvPr id="219" name="Google Shape;219;p104"/>
            <p:cNvSpPr/>
            <p:nvPr/>
          </p:nvSpPr>
          <p:spPr>
            <a:xfrm>
              <a:off x="491067" y="93134"/>
              <a:ext cx="10786532" cy="685800"/>
            </a:xfrm>
            <a:prstGeom prst="rect">
              <a:avLst/>
            </a:prstGeom>
            <a:solidFill>
              <a:srgbClr val="162051"/>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grpSp>
      <p:sp>
        <p:nvSpPr>
          <p:cNvPr id="220" name="Google Shape;220;p104"/>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rgbClr val="D8D8D8"/>
              </a:buClr>
              <a:buSzPts val="2800"/>
              <a:buFont typeface="Calibri"/>
              <a:buNone/>
              <a:defRPr sz="2800">
                <a:solidFill>
                  <a:srgbClr val="D8D8D8"/>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descr="Image result for University of michigan Banner" id="221" name="Google Shape;221;p104"/>
          <p:cNvPicPr preferRelativeResize="0"/>
          <p:nvPr/>
        </p:nvPicPr>
        <p:blipFill rotWithShape="1">
          <a:blip r:embed="rId2">
            <a:alphaModFix/>
          </a:blip>
          <a:srcRect b="0" l="0" r="0" t="0"/>
          <a:stretch/>
        </p:blipFill>
        <p:spPr>
          <a:xfrm>
            <a:off x="6521116" y="6385601"/>
            <a:ext cx="2222834" cy="368935"/>
          </a:xfrm>
          <a:prstGeom prst="rect">
            <a:avLst/>
          </a:prstGeom>
          <a:noFill/>
          <a:ln>
            <a:noFill/>
          </a:ln>
        </p:spPr>
      </p:pic>
      <p:sp>
        <p:nvSpPr>
          <p:cNvPr id="222" name="Google Shape;222;p104"/>
          <p:cNvSpPr/>
          <p:nvPr/>
        </p:nvSpPr>
        <p:spPr>
          <a:xfrm>
            <a:off x="368301" y="928714"/>
            <a:ext cx="8375649" cy="337879"/>
          </a:xfrm>
          <a:prstGeom prst="rect">
            <a:avLst/>
          </a:prstGeom>
          <a:solidFill>
            <a:srgbClr val="162051"/>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2F2F2"/>
              </a:solidFill>
              <a:latin typeface="Calibri"/>
              <a:ea typeface="Calibri"/>
              <a:cs typeface="Calibri"/>
              <a:sym typeface="Calibri"/>
            </a:endParaRPr>
          </a:p>
        </p:txBody>
      </p:sp>
      <p:grpSp>
        <p:nvGrpSpPr>
          <p:cNvPr id="223" name="Google Shape;223;p104"/>
          <p:cNvGrpSpPr/>
          <p:nvPr/>
        </p:nvGrpSpPr>
        <p:grpSpPr>
          <a:xfrm>
            <a:off x="-1" y="4969042"/>
            <a:ext cx="3248527" cy="1888958"/>
            <a:chOff x="-1" y="4969042"/>
            <a:chExt cx="3248527" cy="1888958"/>
          </a:xfrm>
        </p:grpSpPr>
        <p:sp>
          <p:nvSpPr>
            <p:cNvPr id="224" name="Google Shape;224;p104"/>
            <p:cNvSpPr/>
            <p:nvPr/>
          </p:nvSpPr>
          <p:spPr>
            <a:xfrm>
              <a:off x="-1" y="5907505"/>
              <a:ext cx="3248527" cy="950495"/>
            </a:xfrm>
            <a:prstGeom prst="rtTriangle">
              <a:avLst/>
            </a:prstGeom>
            <a:solidFill>
              <a:schemeClr val="accent5"/>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sp>
          <p:nvSpPr>
            <p:cNvPr id="225" name="Google Shape;225;p104"/>
            <p:cNvSpPr/>
            <p:nvPr/>
          </p:nvSpPr>
          <p:spPr>
            <a:xfrm>
              <a:off x="0" y="6124074"/>
              <a:ext cx="3104147" cy="733926"/>
            </a:xfrm>
            <a:prstGeom prst="rtTriangle">
              <a:avLst/>
            </a:prstGeom>
            <a:solidFill>
              <a:srgbClr val="162051"/>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sp>
          <p:nvSpPr>
            <p:cNvPr id="226" name="Google Shape;226;p104"/>
            <p:cNvSpPr/>
            <p:nvPr/>
          </p:nvSpPr>
          <p:spPr>
            <a:xfrm>
              <a:off x="0" y="4969042"/>
              <a:ext cx="503321" cy="1888958"/>
            </a:xfrm>
            <a:prstGeom prst="rtTriangle">
              <a:avLst/>
            </a:prstGeom>
            <a:solidFill>
              <a:schemeClr val="lt2"/>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grpSp>
      <p:sp>
        <p:nvSpPr>
          <p:cNvPr id="227" name="Google Shape;227;p104"/>
          <p:cNvSpPr txBox="1"/>
          <p:nvPr>
            <p:ph idx="1" type="body"/>
          </p:nvPr>
        </p:nvSpPr>
        <p:spPr>
          <a:xfrm>
            <a:off x="503321" y="1001128"/>
            <a:ext cx="8126332" cy="277497"/>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800"/>
              <a:buFont typeface="Calibri"/>
              <a:buNone/>
              <a:defRPr sz="1800">
                <a:solidFill>
                  <a:srgbClr val="E5E5E5"/>
                </a:solidFill>
                <a:latin typeface="Calibri"/>
                <a:ea typeface="Calibri"/>
                <a:cs typeface="Calibri"/>
                <a:sym typeface="Calibri"/>
              </a:defRPr>
            </a:lvl1pPr>
            <a:lvl2pPr indent="-228600" lvl="1" marL="914400" algn="l">
              <a:lnSpc>
                <a:spcPct val="100000"/>
              </a:lnSpc>
              <a:spcBef>
                <a:spcPts val="900"/>
              </a:spcBef>
              <a:spcAft>
                <a:spcPts val="0"/>
              </a:spcAft>
              <a:buSzPts val="1800"/>
              <a:buNone/>
              <a:defRPr sz="1800">
                <a:solidFill>
                  <a:srgbClr val="E5E5E5"/>
                </a:solidFill>
                <a:latin typeface="Calibri"/>
                <a:ea typeface="Calibri"/>
                <a:cs typeface="Calibri"/>
                <a:sym typeface="Calibri"/>
              </a:defRPr>
            </a:lvl2pPr>
            <a:lvl3pPr indent="-228600" lvl="2" marL="1371600" algn="l">
              <a:lnSpc>
                <a:spcPct val="100000"/>
              </a:lnSpc>
              <a:spcBef>
                <a:spcPts val="900"/>
              </a:spcBef>
              <a:spcAft>
                <a:spcPts val="0"/>
              </a:spcAft>
              <a:buSzPts val="1800"/>
              <a:buNone/>
              <a:defRPr sz="1800">
                <a:solidFill>
                  <a:srgbClr val="E5E5E5"/>
                </a:solidFill>
                <a:latin typeface="Calibri"/>
                <a:ea typeface="Calibri"/>
                <a:cs typeface="Calibri"/>
                <a:sym typeface="Calibri"/>
              </a:defRPr>
            </a:lvl3pPr>
            <a:lvl4pPr indent="-228600" lvl="3" marL="1828800" algn="l">
              <a:lnSpc>
                <a:spcPct val="100000"/>
              </a:lnSpc>
              <a:spcBef>
                <a:spcPts val="900"/>
              </a:spcBef>
              <a:spcAft>
                <a:spcPts val="0"/>
              </a:spcAft>
              <a:buSzPts val="1800"/>
              <a:buNone/>
              <a:defRPr sz="1800">
                <a:solidFill>
                  <a:srgbClr val="E5E5E5"/>
                </a:solidFill>
                <a:latin typeface="Calibri"/>
                <a:ea typeface="Calibri"/>
                <a:cs typeface="Calibri"/>
                <a:sym typeface="Calibri"/>
              </a:defRPr>
            </a:lvl4pPr>
            <a:lvl5pPr indent="-228600" lvl="4" marL="2286000" algn="l">
              <a:lnSpc>
                <a:spcPct val="100000"/>
              </a:lnSpc>
              <a:spcBef>
                <a:spcPts val="900"/>
              </a:spcBef>
              <a:spcAft>
                <a:spcPts val="0"/>
              </a:spcAft>
              <a:buSzPts val="1800"/>
              <a:buNone/>
              <a:defRPr sz="1800">
                <a:solidFill>
                  <a:srgbClr val="E5E5E5"/>
                </a:solidFill>
                <a:latin typeface="Calibri"/>
                <a:ea typeface="Calibri"/>
                <a:cs typeface="Calibri"/>
                <a:sym typeface="Calibri"/>
              </a:defRPr>
            </a:lvl5pPr>
            <a:lvl6pPr indent="-342900" lvl="5" marL="2743200" algn="l">
              <a:lnSpc>
                <a:spcPct val="100000"/>
              </a:lnSpc>
              <a:spcBef>
                <a:spcPts val="900"/>
              </a:spcBef>
              <a:spcAft>
                <a:spcPts val="0"/>
              </a:spcAft>
              <a:buSzPts val="1800"/>
              <a:buAutoNum type="arabicPeriod"/>
              <a:defRPr/>
            </a:lvl6pPr>
            <a:lvl7pPr indent="-342900" lvl="6" marL="3200400" algn="l">
              <a:lnSpc>
                <a:spcPct val="100000"/>
              </a:lnSpc>
              <a:spcBef>
                <a:spcPts val="900"/>
              </a:spcBef>
              <a:spcAft>
                <a:spcPts val="0"/>
              </a:spcAft>
              <a:buClr>
                <a:schemeClr val="dk1"/>
              </a:buClr>
              <a:buSzPts val="1800"/>
              <a:buAutoNum type="alphaLcPeriod"/>
              <a:defRPr/>
            </a:lvl7pPr>
            <a:lvl8pPr indent="-342900" lvl="7" marL="3657600" algn="l">
              <a:lnSpc>
                <a:spcPct val="100000"/>
              </a:lnSpc>
              <a:spcBef>
                <a:spcPts val="900"/>
              </a:spcBef>
              <a:spcAft>
                <a:spcPts val="0"/>
              </a:spcAft>
              <a:buClr>
                <a:schemeClr val="dk1"/>
              </a:buClr>
              <a:buSzPts val="1800"/>
              <a:buAutoNum type="romanLcPeriod"/>
              <a:defRPr/>
            </a:lvl8pPr>
            <a:lvl9pPr indent="-228600" lvl="8" marL="4114800" algn="l">
              <a:lnSpc>
                <a:spcPct val="100000"/>
              </a:lnSpc>
              <a:spcBef>
                <a:spcPts val="900"/>
              </a:spcBef>
              <a:spcAft>
                <a:spcPts val="900"/>
              </a:spcAft>
              <a:buClr>
                <a:schemeClr val="dk2"/>
              </a:buClr>
              <a:buSzPts val="1800"/>
              <a:buNone/>
              <a:defRPr/>
            </a:lvl9pPr>
          </a:lstStyle>
          <a:p/>
        </p:txBody>
      </p:sp>
      <p:sp>
        <p:nvSpPr>
          <p:cNvPr id="228" name="Google Shape;228;p104"/>
          <p:cNvSpPr txBox="1"/>
          <p:nvPr/>
        </p:nvSpPr>
        <p:spPr>
          <a:xfrm>
            <a:off x="515348" y="6497876"/>
            <a:ext cx="988599" cy="33606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F2F2F2"/>
                </a:solidFill>
                <a:latin typeface="Arial"/>
                <a:ea typeface="Arial"/>
                <a:cs typeface="Arial"/>
                <a:sym typeface="Arial"/>
              </a:rPr>
              <a:t>Consulting Club </a:t>
            </a:r>
            <a:r>
              <a:rPr b="1" i="0" lang="en-US" sz="1000" u="none" cap="none" strike="noStrike">
                <a:solidFill>
                  <a:schemeClr val="accent2"/>
                </a:solidFill>
                <a:latin typeface="Arial"/>
                <a:ea typeface="Arial"/>
                <a:cs typeface="Arial"/>
                <a:sym typeface="Arial"/>
              </a:rPr>
              <a:t>@</a:t>
            </a:r>
            <a:r>
              <a:rPr b="1" i="0" lang="en-US" sz="1000" u="none" cap="none" strike="noStrike">
                <a:solidFill>
                  <a:srgbClr val="F2F2F2"/>
                </a:solidFill>
                <a:latin typeface="Arial"/>
                <a:ea typeface="Arial"/>
                <a:cs typeface="Arial"/>
                <a:sym typeface="Arial"/>
              </a:rPr>
              <a:t> Ross</a:t>
            </a:r>
            <a:endParaRPr b="1" i="0" sz="1000" u="none" cap="none" strike="noStrike">
              <a:solidFill>
                <a:srgbClr val="F2F2F2"/>
              </a:solidFill>
              <a:latin typeface="Arial"/>
              <a:ea typeface="Arial"/>
              <a:cs typeface="Arial"/>
              <a:sym typeface="Arial"/>
            </a:endParaRPr>
          </a:p>
        </p:txBody>
      </p:sp>
      <p:sp>
        <p:nvSpPr>
          <p:cNvPr id="229" name="Google Shape;229;p104"/>
          <p:cNvSpPr txBox="1"/>
          <p:nvPr>
            <p:ph idx="2" type="body"/>
          </p:nvPr>
        </p:nvSpPr>
        <p:spPr>
          <a:xfrm>
            <a:off x="381001" y="1249554"/>
            <a:ext cx="8341656" cy="1243266"/>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lvl1pPr indent="-228600" lvl="0" marL="457200" algn="l">
              <a:lnSpc>
                <a:spcPct val="100000"/>
              </a:lnSpc>
              <a:spcBef>
                <a:spcPts val="0"/>
              </a:spcBef>
              <a:spcAft>
                <a:spcPts val="0"/>
              </a:spcAft>
              <a:buSzPts val="1400"/>
              <a:buFont typeface="Calibri"/>
              <a:buNone/>
              <a:defRPr sz="1400">
                <a:solidFill>
                  <a:schemeClr val="accent5"/>
                </a:solidFill>
                <a:latin typeface="Calibri"/>
                <a:ea typeface="Calibri"/>
                <a:cs typeface="Calibri"/>
                <a:sym typeface="Calibri"/>
              </a:defRPr>
            </a:lvl1pPr>
            <a:lvl2pPr indent="-317500" lvl="1" marL="9144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2pPr>
            <a:lvl3pPr indent="-317500" lvl="2" marL="13716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3pPr>
            <a:lvl4pPr indent="-317500" lvl="3" marL="18288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4pPr>
            <a:lvl5pPr indent="-317500" lvl="4" marL="22860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5pPr>
            <a:lvl6pPr indent="-342900" lvl="5" marL="2743200" algn="l">
              <a:lnSpc>
                <a:spcPct val="100000"/>
              </a:lnSpc>
              <a:spcBef>
                <a:spcPts val="300"/>
              </a:spcBef>
              <a:spcAft>
                <a:spcPts val="0"/>
              </a:spcAft>
              <a:buSzPts val="1800"/>
              <a:buAutoNum type="arabicPeriod"/>
              <a:defRPr/>
            </a:lvl6pPr>
            <a:lvl7pPr indent="-342900" lvl="6" marL="3200400" algn="l">
              <a:lnSpc>
                <a:spcPct val="100000"/>
              </a:lnSpc>
              <a:spcBef>
                <a:spcPts val="900"/>
              </a:spcBef>
              <a:spcAft>
                <a:spcPts val="0"/>
              </a:spcAft>
              <a:buClr>
                <a:schemeClr val="dk1"/>
              </a:buClr>
              <a:buSzPts val="1800"/>
              <a:buAutoNum type="alphaLcPeriod"/>
              <a:defRPr/>
            </a:lvl7pPr>
            <a:lvl8pPr indent="-342900" lvl="7" marL="3657600" algn="l">
              <a:lnSpc>
                <a:spcPct val="100000"/>
              </a:lnSpc>
              <a:spcBef>
                <a:spcPts val="900"/>
              </a:spcBef>
              <a:spcAft>
                <a:spcPts val="0"/>
              </a:spcAft>
              <a:buClr>
                <a:schemeClr val="dk1"/>
              </a:buClr>
              <a:buSzPts val="1800"/>
              <a:buAutoNum type="romanLcPeriod"/>
              <a:defRPr/>
            </a:lvl8pPr>
            <a:lvl9pPr indent="-228600" lvl="8" marL="4114800" algn="l">
              <a:lnSpc>
                <a:spcPct val="100000"/>
              </a:lnSpc>
              <a:spcBef>
                <a:spcPts val="900"/>
              </a:spcBef>
              <a:spcAft>
                <a:spcPts val="900"/>
              </a:spcAft>
              <a:buClr>
                <a:schemeClr val="dk2"/>
              </a:buClr>
              <a:buSzPts val="1800"/>
              <a:buNone/>
              <a:defRPr/>
            </a:lvl9pPr>
          </a:lstStyle>
          <a:p/>
        </p:txBody>
      </p:sp>
      <p:sp>
        <p:nvSpPr>
          <p:cNvPr id="230" name="Google Shape;230;p104"/>
          <p:cNvSpPr/>
          <p:nvPr/>
        </p:nvSpPr>
        <p:spPr>
          <a:xfrm>
            <a:off x="352770" y="2596394"/>
            <a:ext cx="8375649" cy="337879"/>
          </a:xfrm>
          <a:prstGeom prst="rect">
            <a:avLst/>
          </a:prstGeom>
          <a:solidFill>
            <a:srgbClr val="162051"/>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2F2F2"/>
              </a:solidFill>
              <a:latin typeface="Calibri"/>
              <a:ea typeface="Calibri"/>
              <a:cs typeface="Calibri"/>
              <a:sym typeface="Calibri"/>
            </a:endParaRPr>
          </a:p>
        </p:txBody>
      </p:sp>
      <p:sp>
        <p:nvSpPr>
          <p:cNvPr id="231" name="Google Shape;231;p104"/>
          <p:cNvSpPr txBox="1"/>
          <p:nvPr>
            <p:ph idx="3" type="body"/>
          </p:nvPr>
        </p:nvSpPr>
        <p:spPr>
          <a:xfrm>
            <a:off x="487790" y="2668808"/>
            <a:ext cx="8126332" cy="277497"/>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800"/>
              <a:buFont typeface="Calibri"/>
              <a:buNone/>
              <a:defRPr sz="1800">
                <a:solidFill>
                  <a:srgbClr val="E5E5E5"/>
                </a:solidFill>
                <a:latin typeface="Calibri"/>
                <a:ea typeface="Calibri"/>
                <a:cs typeface="Calibri"/>
                <a:sym typeface="Calibri"/>
              </a:defRPr>
            </a:lvl1pPr>
            <a:lvl2pPr indent="-228600" lvl="1" marL="914400" algn="l">
              <a:lnSpc>
                <a:spcPct val="100000"/>
              </a:lnSpc>
              <a:spcBef>
                <a:spcPts val="900"/>
              </a:spcBef>
              <a:spcAft>
                <a:spcPts val="0"/>
              </a:spcAft>
              <a:buSzPts val="1800"/>
              <a:buNone/>
              <a:defRPr sz="1800">
                <a:solidFill>
                  <a:srgbClr val="E5E5E5"/>
                </a:solidFill>
                <a:latin typeface="Calibri"/>
                <a:ea typeface="Calibri"/>
                <a:cs typeface="Calibri"/>
                <a:sym typeface="Calibri"/>
              </a:defRPr>
            </a:lvl2pPr>
            <a:lvl3pPr indent="-228600" lvl="2" marL="1371600" algn="l">
              <a:lnSpc>
                <a:spcPct val="100000"/>
              </a:lnSpc>
              <a:spcBef>
                <a:spcPts val="900"/>
              </a:spcBef>
              <a:spcAft>
                <a:spcPts val="0"/>
              </a:spcAft>
              <a:buSzPts val="1800"/>
              <a:buNone/>
              <a:defRPr sz="1800">
                <a:solidFill>
                  <a:srgbClr val="E5E5E5"/>
                </a:solidFill>
                <a:latin typeface="Calibri"/>
                <a:ea typeface="Calibri"/>
                <a:cs typeface="Calibri"/>
                <a:sym typeface="Calibri"/>
              </a:defRPr>
            </a:lvl3pPr>
            <a:lvl4pPr indent="-228600" lvl="3" marL="1828800" algn="l">
              <a:lnSpc>
                <a:spcPct val="100000"/>
              </a:lnSpc>
              <a:spcBef>
                <a:spcPts val="900"/>
              </a:spcBef>
              <a:spcAft>
                <a:spcPts val="0"/>
              </a:spcAft>
              <a:buSzPts val="1800"/>
              <a:buNone/>
              <a:defRPr sz="1800">
                <a:solidFill>
                  <a:srgbClr val="E5E5E5"/>
                </a:solidFill>
                <a:latin typeface="Calibri"/>
                <a:ea typeface="Calibri"/>
                <a:cs typeface="Calibri"/>
                <a:sym typeface="Calibri"/>
              </a:defRPr>
            </a:lvl4pPr>
            <a:lvl5pPr indent="-228600" lvl="4" marL="2286000" algn="l">
              <a:lnSpc>
                <a:spcPct val="100000"/>
              </a:lnSpc>
              <a:spcBef>
                <a:spcPts val="900"/>
              </a:spcBef>
              <a:spcAft>
                <a:spcPts val="0"/>
              </a:spcAft>
              <a:buSzPts val="1800"/>
              <a:buNone/>
              <a:defRPr sz="1800">
                <a:solidFill>
                  <a:srgbClr val="E5E5E5"/>
                </a:solidFill>
                <a:latin typeface="Calibri"/>
                <a:ea typeface="Calibri"/>
                <a:cs typeface="Calibri"/>
                <a:sym typeface="Calibri"/>
              </a:defRPr>
            </a:lvl5pPr>
            <a:lvl6pPr indent="-342900" lvl="5" marL="2743200" algn="l">
              <a:lnSpc>
                <a:spcPct val="100000"/>
              </a:lnSpc>
              <a:spcBef>
                <a:spcPts val="900"/>
              </a:spcBef>
              <a:spcAft>
                <a:spcPts val="0"/>
              </a:spcAft>
              <a:buSzPts val="1800"/>
              <a:buAutoNum type="arabicPeriod"/>
              <a:defRPr/>
            </a:lvl6pPr>
            <a:lvl7pPr indent="-342900" lvl="6" marL="3200400" algn="l">
              <a:lnSpc>
                <a:spcPct val="100000"/>
              </a:lnSpc>
              <a:spcBef>
                <a:spcPts val="900"/>
              </a:spcBef>
              <a:spcAft>
                <a:spcPts val="0"/>
              </a:spcAft>
              <a:buClr>
                <a:schemeClr val="dk1"/>
              </a:buClr>
              <a:buSzPts val="1800"/>
              <a:buAutoNum type="alphaLcPeriod"/>
              <a:defRPr/>
            </a:lvl7pPr>
            <a:lvl8pPr indent="-342900" lvl="7" marL="3657600" algn="l">
              <a:lnSpc>
                <a:spcPct val="100000"/>
              </a:lnSpc>
              <a:spcBef>
                <a:spcPts val="900"/>
              </a:spcBef>
              <a:spcAft>
                <a:spcPts val="0"/>
              </a:spcAft>
              <a:buClr>
                <a:schemeClr val="dk1"/>
              </a:buClr>
              <a:buSzPts val="1800"/>
              <a:buAutoNum type="romanLcPeriod"/>
              <a:defRPr/>
            </a:lvl8pPr>
            <a:lvl9pPr indent="-228600" lvl="8" marL="4114800" algn="l">
              <a:lnSpc>
                <a:spcPct val="100000"/>
              </a:lnSpc>
              <a:spcBef>
                <a:spcPts val="900"/>
              </a:spcBef>
              <a:spcAft>
                <a:spcPts val="900"/>
              </a:spcAft>
              <a:buClr>
                <a:schemeClr val="dk2"/>
              </a:buClr>
              <a:buSzPts val="1800"/>
              <a:buNone/>
              <a:defRPr/>
            </a:lvl9pPr>
          </a:lstStyle>
          <a:p/>
        </p:txBody>
      </p:sp>
      <p:sp>
        <p:nvSpPr>
          <p:cNvPr id="232" name="Google Shape;232;p104"/>
          <p:cNvSpPr txBox="1"/>
          <p:nvPr>
            <p:ph idx="4" type="body"/>
          </p:nvPr>
        </p:nvSpPr>
        <p:spPr>
          <a:xfrm>
            <a:off x="374614" y="2917233"/>
            <a:ext cx="8341656" cy="3368649"/>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lvl1pPr indent="-228600" lvl="0" marL="457200" algn="l">
              <a:lnSpc>
                <a:spcPct val="100000"/>
              </a:lnSpc>
              <a:spcBef>
                <a:spcPts val="0"/>
              </a:spcBef>
              <a:spcAft>
                <a:spcPts val="0"/>
              </a:spcAft>
              <a:buSzPts val="1400"/>
              <a:buFont typeface="Calibri"/>
              <a:buNone/>
              <a:defRPr sz="1400">
                <a:solidFill>
                  <a:schemeClr val="accent5"/>
                </a:solidFill>
                <a:latin typeface="Calibri"/>
                <a:ea typeface="Calibri"/>
                <a:cs typeface="Calibri"/>
                <a:sym typeface="Calibri"/>
              </a:defRPr>
            </a:lvl1pPr>
            <a:lvl2pPr indent="-317500" lvl="1" marL="9144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2pPr>
            <a:lvl3pPr indent="-317500" lvl="2" marL="13716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3pPr>
            <a:lvl4pPr indent="-317500" lvl="3" marL="18288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4pPr>
            <a:lvl5pPr indent="-317500" lvl="4" marL="22860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5pPr>
            <a:lvl6pPr indent="-342900" lvl="5" marL="2743200" algn="l">
              <a:lnSpc>
                <a:spcPct val="100000"/>
              </a:lnSpc>
              <a:spcBef>
                <a:spcPts val="300"/>
              </a:spcBef>
              <a:spcAft>
                <a:spcPts val="0"/>
              </a:spcAft>
              <a:buSzPts val="1800"/>
              <a:buAutoNum type="arabicPeriod"/>
              <a:defRPr/>
            </a:lvl6pPr>
            <a:lvl7pPr indent="-342900" lvl="6" marL="3200400" algn="l">
              <a:lnSpc>
                <a:spcPct val="100000"/>
              </a:lnSpc>
              <a:spcBef>
                <a:spcPts val="900"/>
              </a:spcBef>
              <a:spcAft>
                <a:spcPts val="0"/>
              </a:spcAft>
              <a:buClr>
                <a:schemeClr val="dk1"/>
              </a:buClr>
              <a:buSzPts val="1800"/>
              <a:buAutoNum type="alphaLcPeriod"/>
              <a:defRPr/>
            </a:lvl7pPr>
            <a:lvl8pPr indent="-342900" lvl="7" marL="3657600" algn="l">
              <a:lnSpc>
                <a:spcPct val="100000"/>
              </a:lnSpc>
              <a:spcBef>
                <a:spcPts val="900"/>
              </a:spcBef>
              <a:spcAft>
                <a:spcPts val="0"/>
              </a:spcAft>
              <a:buClr>
                <a:schemeClr val="dk1"/>
              </a:buClr>
              <a:buSzPts val="1800"/>
              <a:buAutoNum type="romanLcPeriod"/>
              <a:defRPr/>
            </a:lvl8pPr>
            <a:lvl9pPr indent="-228600" lvl="8" marL="4114800" algn="l">
              <a:lnSpc>
                <a:spcPct val="100000"/>
              </a:lnSpc>
              <a:spcBef>
                <a:spcPts val="900"/>
              </a:spcBef>
              <a:spcAft>
                <a:spcPts val="900"/>
              </a:spcAft>
              <a:buClr>
                <a:schemeClr val="dk2"/>
              </a:buClr>
              <a:buSzPts val="18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ontent: One">
  <p:cSld name="2_Content: One">
    <p:spTree>
      <p:nvGrpSpPr>
        <p:cNvPr id="233" name="Shape 233"/>
        <p:cNvGrpSpPr/>
        <p:nvPr/>
      </p:nvGrpSpPr>
      <p:grpSpPr>
        <a:xfrm>
          <a:off x="0" y="0"/>
          <a:ext cx="0" cy="0"/>
          <a:chOff x="0" y="0"/>
          <a:chExt cx="0" cy="0"/>
        </a:xfrm>
      </p:grpSpPr>
      <p:grpSp>
        <p:nvGrpSpPr>
          <p:cNvPr id="234" name="Google Shape;234;p105"/>
          <p:cNvGrpSpPr/>
          <p:nvPr/>
        </p:nvGrpSpPr>
        <p:grpSpPr>
          <a:xfrm>
            <a:off x="368302" y="69070"/>
            <a:ext cx="8375648" cy="737045"/>
            <a:chOff x="491067" y="93134"/>
            <a:chExt cx="11167531" cy="922866"/>
          </a:xfrm>
        </p:grpSpPr>
        <p:sp>
          <p:nvSpPr>
            <p:cNvPr id="235" name="Google Shape;235;p105"/>
            <p:cNvSpPr/>
            <p:nvPr/>
          </p:nvSpPr>
          <p:spPr>
            <a:xfrm>
              <a:off x="863598" y="194737"/>
              <a:ext cx="10795000" cy="520943"/>
            </a:xfrm>
            <a:prstGeom prst="rect">
              <a:avLst/>
            </a:prstGeom>
            <a:solidFill>
              <a:srgbClr val="5F5F5F"/>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sp>
          <p:nvSpPr>
            <p:cNvPr id="236" name="Google Shape;236;p105"/>
            <p:cNvSpPr/>
            <p:nvPr/>
          </p:nvSpPr>
          <p:spPr>
            <a:xfrm>
              <a:off x="745068" y="330202"/>
              <a:ext cx="10761133" cy="685798"/>
            </a:xfrm>
            <a:prstGeom prst="rect">
              <a:avLst/>
            </a:prstGeom>
            <a:solidFill>
              <a:schemeClr val="accent2"/>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sp>
          <p:nvSpPr>
            <p:cNvPr id="237" name="Google Shape;237;p105"/>
            <p:cNvSpPr/>
            <p:nvPr/>
          </p:nvSpPr>
          <p:spPr>
            <a:xfrm>
              <a:off x="491067" y="93134"/>
              <a:ext cx="10786532" cy="685800"/>
            </a:xfrm>
            <a:prstGeom prst="rect">
              <a:avLst/>
            </a:prstGeom>
            <a:solidFill>
              <a:srgbClr val="162051"/>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grpSp>
      <p:sp>
        <p:nvSpPr>
          <p:cNvPr id="238" name="Google Shape;238;p105"/>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rgbClr val="D8D8D8"/>
              </a:buClr>
              <a:buSzPts val="2800"/>
              <a:buFont typeface="Calibri"/>
              <a:buNone/>
              <a:defRPr sz="2800">
                <a:solidFill>
                  <a:srgbClr val="D8D8D8"/>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9" name="Google Shape;239;p105"/>
          <p:cNvSpPr txBox="1"/>
          <p:nvPr>
            <p:ph idx="1" type="body"/>
          </p:nvPr>
        </p:nvSpPr>
        <p:spPr>
          <a:xfrm>
            <a:off x="381001" y="1283366"/>
            <a:ext cx="8341656" cy="1243266"/>
          </a:xfrm>
          <a:prstGeom prst="rect">
            <a:avLst/>
          </a:prstGeom>
          <a:no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lvl1pPr indent="-228600" lvl="0" marL="457200" algn="l">
              <a:lnSpc>
                <a:spcPct val="100000"/>
              </a:lnSpc>
              <a:spcBef>
                <a:spcPts val="0"/>
              </a:spcBef>
              <a:spcAft>
                <a:spcPts val="0"/>
              </a:spcAft>
              <a:buSzPts val="1400"/>
              <a:buFont typeface="Calibri"/>
              <a:buNone/>
              <a:defRPr sz="1400">
                <a:solidFill>
                  <a:schemeClr val="accent5"/>
                </a:solidFill>
                <a:latin typeface="Calibri"/>
                <a:ea typeface="Calibri"/>
                <a:cs typeface="Calibri"/>
                <a:sym typeface="Calibri"/>
              </a:defRPr>
            </a:lvl1pPr>
            <a:lvl2pPr indent="-317500" lvl="1" marL="9144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2pPr>
            <a:lvl3pPr indent="-317500" lvl="2" marL="13716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3pPr>
            <a:lvl4pPr indent="-317500" lvl="3" marL="18288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4pPr>
            <a:lvl5pPr indent="-317500" lvl="4" marL="22860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5pPr>
            <a:lvl6pPr indent="-342900" lvl="5" marL="2743200" algn="l">
              <a:lnSpc>
                <a:spcPct val="100000"/>
              </a:lnSpc>
              <a:spcBef>
                <a:spcPts val="300"/>
              </a:spcBef>
              <a:spcAft>
                <a:spcPts val="0"/>
              </a:spcAft>
              <a:buSzPts val="1800"/>
              <a:buAutoNum type="arabicPeriod"/>
              <a:defRPr/>
            </a:lvl6pPr>
            <a:lvl7pPr indent="-342900" lvl="6" marL="3200400" algn="l">
              <a:lnSpc>
                <a:spcPct val="100000"/>
              </a:lnSpc>
              <a:spcBef>
                <a:spcPts val="900"/>
              </a:spcBef>
              <a:spcAft>
                <a:spcPts val="0"/>
              </a:spcAft>
              <a:buClr>
                <a:schemeClr val="dk1"/>
              </a:buClr>
              <a:buSzPts val="1800"/>
              <a:buAutoNum type="alphaLcPeriod"/>
              <a:defRPr/>
            </a:lvl7pPr>
            <a:lvl8pPr indent="-342900" lvl="7" marL="3657600" algn="l">
              <a:lnSpc>
                <a:spcPct val="100000"/>
              </a:lnSpc>
              <a:spcBef>
                <a:spcPts val="900"/>
              </a:spcBef>
              <a:spcAft>
                <a:spcPts val="0"/>
              </a:spcAft>
              <a:buClr>
                <a:schemeClr val="dk1"/>
              </a:buClr>
              <a:buSzPts val="1800"/>
              <a:buAutoNum type="romanLcPeriod"/>
              <a:defRPr/>
            </a:lvl8pPr>
            <a:lvl9pPr indent="-228600" lvl="8" marL="4114800" algn="l">
              <a:lnSpc>
                <a:spcPct val="100000"/>
              </a:lnSpc>
              <a:spcBef>
                <a:spcPts val="900"/>
              </a:spcBef>
              <a:spcAft>
                <a:spcPts val="900"/>
              </a:spcAft>
              <a:buClr>
                <a:schemeClr val="dk2"/>
              </a:buClr>
              <a:buSzPts val="1800"/>
              <a:buNone/>
              <a:defRPr/>
            </a:lvl9pPr>
          </a:lstStyle>
          <a:p/>
        </p:txBody>
      </p:sp>
      <p:pic>
        <p:nvPicPr>
          <p:cNvPr descr="Image result for University of michigan Banner" id="240" name="Google Shape;240;p105"/>
          <p:cNvPicPr preferRelativeResize="0"/>
          <p:nvPr/>
        </p:nvPicPr>
        <p:blipFill rotWithShape="1">
          <a:blip r:embed="rId2">
            <a:alphaModFix/>
          </a:blip>
          <a:srcRect b="0" l="0" r="0" t="0"/>
          <a:stretch/>
        </p:blipFill>
        <p:spPr>
          <a:xfrm>
            <a:off x="6521116" y="6385601"/>
            <a:ext cx="2222834" cy="368935"/>
          </a:xfrm>
          <a:prstGeom prst="rect">
            <a:avLst/>
          </a:prstGeom>
          <a:noFill/>
          <a:ln>
            <a:noFill/>
          </a:ln>
        </p:spPr>
      </p:pic>
      <p:sp>
        <p:nvSpPr>
          <p:cNvPr id="241" name="Google Shape;241;p105"/>
          <p:cNvSpPr/>
          <p:nvPr/>
        </p:nvSpPr>
        <p:spPr>
          <a:xfrm>
            <a:off x="368301" y="962526"/>
            <a:ext cx="8375649" cy="337879"/>
          </a:xfrm>
          <a:prstGeom prst="rect">
            <a:avLst/>
          </a:prstGeom>
          <a:solidFill>
            <a:srgbClr val="162051"/>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2F2F2"/>
              </a:solidFill>
              <a:latin typeface="Calibri"/>
              <a:ea typeface="Calibri"/>
              <a:cs typeface="Calibri"/>
              <a:sym typeface="Calibri"/>
            </a:endParaRPr>
          </a:p>
        </p:txBody>
      </p:sp>
      <p:grpSp>
        <p:nvGrpSpPr>
          <p:cNvPr id="242" name="Google Shape;242;p105"/>
          <p:cNvGrpSpPr/>
          <p:nvPr/>
        </p:nvGrpSpPr>
        <p:grpSpPr>
          <a:xfrm>
            <a:off x="-1" y="4969042"/>
            <a:ext cx="3248527" cy="1888958"/>
            <a:chOff x="-1" y="4969042"/>
            <a:chExt cx="3248527" cy="1888958"/>
          </a:xfrm>
        </p:grpSpPr>
        <p:sp>
          <p:nvSpPr>
            <p:cNvPr id="243" name="Google Shape;243;p105"/>
            <p:cNvSpPr/>
            <p:nvPr/>
          </p:nvSpPr>
          <p:spPr>
            <a:xfrm>
              <a:off x="-1" y="5907505"/>
              <a:ext cx="3248527" cy="950495"/>
            </a:xfrm>
            <a:prstGeom prst="rtTriangle">
              <a:avLst/>
            </a:prstGeom>
            <a:solidFill>
              <a:schemeClr val="accent5"/>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sp>
          <p:nvSpPr>
            <p:cNvPr id="244" name="Google Shape;244;p105"/>
            <p:cNvSpPr/>
            <p:nvPr/>
          </p:nvSpPr>
          <p:spPr>
            <a:xfrm>
              <a:off x="0" y="6124074"/>
              <a:ext cx="3104147" cy="733926"/>
            </a:xfrm>
            <a:prstGeom prst="rtTriangle">
              <a:avLst/>
            </a:prstGeom>
            <a:solidFill>
              <a:srgbClr val="162051"/>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sp>
          <p:nvSpPr>
            <p:cNvPr id="245" name="Google Shape;245;p105"/>
            <p:cNvSpPr/>
            <p:nvPr/>
          </p:nvSpPr>
          <p:spPr>
            <a:xfrm>
              <a:off x="0" y="4969042"/>
              <a:ext cx="503321" cy="1888958"/>
            </a:xfrm>
            <a:prstGeom prst="rtTriangle">
              <a:avLst/>
            </a:prstGeom>
            <a:solidFill>
              <a:schemeClr val="lt2"/>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grpSp>
      <p:sp>
        <p:nvSpPr>
          <p:cNvPr id="246" name="Google Shape;246;p105"/>
          <p:cNvSpPr txBox="1"/>
          <p:nvPr>
            <p:ph idx="2" type="body"/>
          </p:nvPr>
        </p:nvSpPr>
        <p:spPr>
          <a:xfrm>
            <a:off x="503321" y="1034940"/>
            <a:ext cx="8126332" cy="277497"/>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800"/>
              <a:buFont typeface="Calibri"/>
              <a:buNone/>
              <a:defRPr sz="1800">
                <a:solidFill>
                  <a:srgbClr val="E5E5E5"/>
                </a:solidFill>
                <a:latin typeface="Calibri"/>
                <a:ea typeface="Calibri"/>
                <a:cs typeface="Calibri"/>
                <a:sym typeface="Calibri"/>
              </a:defRPr>
            </a:lvl1pPr>
            <a:lvl2pPr indent="-228600" lvl="1" marL="914400" algn="l">
              <a:lnSpc>
                <a:spcPct val="100000"/>
              </a:lnSpc>
              <a:spcBef>
                <a:spcPts val="900"/>
              </a:spcBef>
              <a:spcAft>
                <a:spcPts val="0"/>
              </a:spcAft>
              <a:buSzPts val="1800"/>
              <a:buNone/>
              <a:defRPr sz="1800">
                <a:solidFill>
                  <a:srgbClr val="E5E5E5"/>
                </a:solidFill>
                <a:latin typeface="Calibri"/>
                <a:ea typeface="Calibri"/>
                <a:cs typeface="Calibri"/>
                <a:sym typeface="Calibri"/>
              </a:defRPr>
            </a:lvl2pPr>
            <a:lvl3pPr indent="-228600" lvl="2" marL="1371600" algn="l">
              <a:lnSpc>
                <a:spcPct val="100000"/>
              </a:lnSpc>
              <a:spcBef>
                <a:spcPts val="900"/>
              </a:spcBef>
              <a:spcAft>
                <a:spcPts val="0"/>
              </a:spcAft>
              <a:buSzPts val="1800"/>
              <a:buNone/>
              <a:defRPr sz="1800">
                <a:solidFill>
                  <a:srgbClr val="E5E5E5"/>
                </a:solidFill>
                <a:latin typeface="Calibri"/>
                <a:ea typeface="Calibri"/>
                <a:cs typeface="Calibri"/>
                <a:sym typeface="Calibri"/>
              </a:defRPr>
            </a:lvl3pPr>
            <a:lvl4pPr indent="-228600" lvl="3" marL="1828800" algn="l">
              <a:lnSpc>
                <a:spcPct val="100000"/>
              </a:lnSpc>
              <a:spcBef>
                <a:spcPts val="900"/>
              </a:spcBef>
              <a:spcAft>
                <a:spcPts val="0"/>
              </a:spcAft>
              <a:buSzPts val="1800"/>
              <a:buNone/>
              <a:defRPr sz="1800">
                <a:solidFill>
                  <a:srgbClr val="E5E5E5"/>
                </a:solidFill>
                <a:latin typeface="Calibri"/>
                <a:ea typeface="Calibri"/>
                <a:cs typeface="Calibri"/>
                <a:sym typeface="Calibri"/>
              </a:defRPr>
            </a:lvl4pPr>
            <a:lvl5pPr indent="-228600" lvl="4" marL="2286000" algn="l">
              <a:lnSpc>
                <a:spcPct val="100000"/>
              </a:lnSpc>
              <a:spcBef>
                <a:spcPts val="900"/>
              </a:spcBef>
              <a:spcAft>
                <a:spcPts val="0"/>
              </a:spcAft>
              <a:buSzPts val="1800"/>
              <a:buNone/>
              <a:defRPr sz="1800">
                <a:solidFill>
                  <a:srgbClr val="E5E5E5"/>
                </a:solidFill>
                <a:latin typeface="Calibri"/>
                <a:ea typeface="Calibri"/>
                <a:cs typeface="Calibri"/>
                <a:sym typeface="Calibri"/>
              </a:defRPr>
            </a:lvl5pPr>
            <a:lvl6pPr indent="-342900" lvl="5" marL="2743200" algn="l">
              <a:lnSpc>
                <a:spcPct val="100000"/>
              </a:lnSpc>
              <a:spcBef>
                <a:spcPts val="900"/>
              </a:spcBef>
              <a:spcAft>
                <a:spcPts val="0"/>
              </a:spcAft>
              <a:buSzPts val="1800"/>
              <a:buAutoNum type="arabicPeriod"/>
              <a:defRPr/>
            </a:lvl6pPr>
            <a:lvl7pPr indent="-342900" lvl="6" marL="3200400" algn="l">
              <a:lnSpc>
                <a:spcPct val="100000"/>
              </a:lnSpc>
              <a:spcBef>
                <a:spcPts val="900"/>
              </a:spcBef>
              <a:spcAft>
                <a:spcPts val="0"/>
              </a:spcAft>
              <a:buClr>
                <a:schemeClr val="dk1"/>
              </a:buClr>
              <a:buSzPts val="1800"/>
              <a:buAutoNum type="alphaLcPeriod"/>
              <a:defRPr/>
            </a:lvl7pPr>
            <a:lvl8pPr indent="-342900" lvl="7" marL="3657600" algn="l">
              <a:lnSpc>
                <a:spcPct val="100000"/>
              </a:lnSpc>
              <a:spcBef>
                <a:spcPts val="900"/>
              </a:spcBef>
              <a:spcAft>
                <a:spcPts val="0"/>
              </a:spcAft>
              <a:buClr>
                <a:schemeClr val="dk1"/>
              </a:buClr>
              <a:buSzPts val="1800"/>
              <a:buAutoNum type="romanLcPeriod"/>
              <a:defRPr/>
            </a:lvl8pPr>
            <a:lvl9pPr indent="-228600" lvl="8" marL="4114800" algn="l">
              <a:lnSpc>
                <a:spcPct val="100000"/>
              </a:lnSpc>
              <a:spcBef>
                <a:spcPts val="900"/>
              </a:spcBef>
              <a:spcAft>
                <a:spcPts val="900"/>
              </a:spcAft>
              <a:buClr>
                <a:schemeClr val="dk2"/>
              </a:buClr>
              <a:buSzPts val="1800"/>
              <a:buNone/>
              <a:defRPr/>
            </a:lvl9pPr>
          </a:lstStyle>
          <a:p/>
        </p:txBody>
      </p:sp>
      <p:sp>
        <p:nvSpPr>
          <p:cNvPr id="247" name="Google Shape;247;p105"/>
          <p:cNvSpPr txBox="1"/>
          <p:nvPr/>
        </p:nvSpPr>
        <p:spPr>
          <a:xfrm>
            <a:off x="515348" y="6497876"/>
            <a:ext cx="988599" cy="33606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F2F2F2"/>
                </a:solidFill>
                <a:latin typeface="Arial"/>
                <a:ea typeface="Arial"/>
                <a:cs typeface="Arial"/>
                <a:sym typeface="Arial"/>
              </a:rPr>
              <a:t>Consulting Club </a:t>
            </a:r>
            <a:r>
              <a:rPr b="1" i="0" lang="en-US" sz="1000" u="none" cap="none" strike="noStrike">
                <a:solidFill>
                  <a:schemeClr val="accent2"/>
                </a:solidFill>
                <a:latin typeface="Arial"/>
                <a:ea typeface="Arial"/>
                <a:cs typeface="Arial"/>
                <a:sym typeface="Arial"/>
              </a:rPr>
              <a:t>@</a:t>
            </a:r>
            <a:r>
              <a:rPr b="1" i="0" lang="en-US" sz="1000" u="none" cap="none" strike="noStrike">
                <a:solidFill>
                  <a:srgbClr val="F2F2F2"/>
                </a:solidFill>
                <a:latin typeface="Arial"/>
                <a:ea typeface="Arial"/>
                <a:cs typeface="Arial"/>
                <a:sym typeface="Arial"/>
              </a:rPr>
              <a:t> Ross</a:t>
            </a:r>
            <a:endParaRPr b="1" i="0" sz="1000" u="none" cap="none" strike="noStrike">
              <a:solidFill>
                <a:srgbClr val="F2F2F2"/>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wo and Left Text">
  <p:cSld name="Content: Two and Left Text">
    <p:spTree>
      <p:nvGrpSpPr>
        <p:cNvPr id="248" name="Shape 248"/>
        <p:cNvGrpSpPr/>
        <p:nvPr/>
      </p:nvGrpSpPr>
      <p:grpSpPr>
        <a:xfrm>
          <a:off x="0" y="0"/>
          <a:ext cx="0" cy="0"/>
          <a:chOff x="0" y="0"/>
          <a:chExt cx="0" cy="0"/>
        </a:xfrm>
      </p:grpSpPr>
      <p:grpSp>
        <p:nvGrpSpPr>
          <p:cNvPr id="249" name="Google Shape;249;p106"/>
          <p:cNvGrpSpPr/>
          <p:nvPr/>
        </p:nvGrpSpPr>
        <p:grpSpPr>
          <a:xfrm>
            <a:off x="-1" y="4969042"/>
            <a:ext cx="3248527" cy="1888958"/>
            <a:chOff x="-1" y="4969042"/>
            <a:chExt cx="3248527" cy="1888958"/>
          </a:xfrm>
        </p:grpSpPr>
        <p:sp>
          <p:nvSpPr>
            <p:cNvPr id="250" name="Google Shape;250;p106"/>
            <p:cNvSpPr/>
            <p:nvPr/>
          </p:nvSpPr>
          <p:spPr>
            <a:xfrm>
              <a:off x="-1" y="5907505"/>
              <a:ext cx="3248527" cy="950495"/>
            </a:xfrm>
            <a:prstGeom prst="rtTriangle">
              <a:avLst/>
            </a:prstGeom>
            <a:solidFill>
              <a:schemeClr val="accent5"/>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sp>
          <p:nvSpPr>
            <p:cNvPr id="251" name="Google Shape;251;p106"/>
            <p:cNvSpPr/>
            <p:nvPr/>
          </p:nvSpPr>
          <p:spPr>
            <a:xfrm>
              <a:off x="0" y="6124074"/>
              <a:ext cx="3104147" cy="733926"/>
            </a:xfrm>
            <a:prstGeom prst="rtTriangle">
              <a:avLst/>
            </a:prstGeom>
            <a:solidFill>
              <a:srgbClr val="162051"/>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sp>
          <p:nvSpPr>
            <p:cNvPr id="252" name="Google Shape;252;p106"/>
            <p:cNvSpPr/>
            <p:nvPr/>
          </p:nvSpPr>
          <p:spPr>
            <a:xfrm>
              <a:off x="0" y="4969042"/>
              <a:ext cx="503321" cy="1888958"/>
            </a:xfrm>
            <a:prstGeom prst="rtTriangle">
              <a:avLst/>
            </a:prstGeom>
            <a:solidFill>
              <a:schemeClr val="lt2"/>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grpSp>
      <p:grpSp>
        <p:nvGrpSpPr>
          <p:cNvPr id="253" name="Google Shape;253;p106"/>
          <p:cNvGrpSpPr/>
          <p:nvPr/>
        </p:nvGrpSpPr>
        <p:grpSpPr>
          <a:xfrm>
            <a:off x="368302" y="93134"/>
            <a:ext cx="8375648" cy="737045"/>
            <a:chOff x="491067" y="93134"/>
            <a:chExt cx="11167531" cy="922866"/>
          </a:xfrm>
        </p:grpSpPr>
        <p:sp>
          <p:nvSpPr>
            <p:cNvPr id="254" name="Google Shape;254;p106"/>
            <p:cNvSpPr/>
            <p:nvPr/>
          </p:nvSpPr>
          <p:spPr>
            <a:xfrm>
              <a:off x="863598" y="194737"/>
              <a:ext cx="10795000" cy="520943"/>
            </a:xfrm>
            <a:prstGeom prst="rect">
              <a:avLst/>
            </a:prstGeom>
            <a:solidFill>
              <a:srgbClr val="5F5F5F"/>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sp>
          <p:nvSpPr>
            <p:cNvPr id="255" name="Google Shape;255;p106"/>
            <p:cNvSpPr/>
            <p:nvPr/>
          </p:nvSpPr>
          <p:spPr>
            <a:xfrm>
              <a:off x="745068" y="330202"/>
              <a:ext cx="10761133" cy="685798"/>
            </a:xfrm>
            <a:prstGeom prst="rect">
              <a:avLst/>
            </a:prstGeom>
            <a:solidFill>
              <a:schemeClr val="accent2"/>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sp>
          <p:nvSpPr>
            <p:cNvPr id="256" name="Google Shape;256;p106"/>
            <p:cNvSpPr/>
            <p:nvPr/>
          </p:nvSpPr>
          <p:spPr>
            <a:xfrm>
              <a:off x="491067" y="93134"/>
              <a:ext cx="10786532" cy="685800"/>
            </a:xfrm>
            <a:prstGeom prst="rect">
              <a:avLst/>
            </a:prstGeom>
            <a:solidFill>
              <a:srgbClr val="162051"/>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grpSp>
      <p:sp>
        <p:nvSpPr>
          <p:cNvPr id="257" name="Google Shape;257;p106"/>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rgbClr val="D8D8D8"/>
              </a:buClr>
              <a:buSzPts val="2800"/>
              <a:buFont typeface="Calibri"/>
              <a:buNone/>
              <a:defRPr sz="2800">
                <a:solidFill>
                  <a:srgbClr val="D8D8D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descr="Image result for University of michigan Banner" id="258" name="Google Shape;258;p106"/>
          <p:cNvPicPr preferRelativeResize="0"/>
          <p:nvPr/>
        </p:nvPicPr>
        <p:blipFill rotWithShape="1">
          <a:blip r:embed="rId2">
            <a:alphaModFix/>
          </a:blip>
          <a:srcRect b="0" l="0" r="0" t="0"/>
          <a:stretch/>
        </p:blipFill>
        <p:spPr>
          <a:xfrm>
            <a:off x="6521116" y="6385601"/>
            <a:ext cx="2222834" cy="368935"/>
          </a:xfrm>
          <a:prstGeom prst="rect">
            <a:avLst/>
          </a:prstGeom>
          <a:noFill/>
          <a:ln>
            <a:noFill/>
          </a:ln>
        </p:spPr>
      </p:pic>
      <p:sp>
        <p:nvSpPr>
          <p:cNvPr id="259" name="Google Shape;259;p106"/>
          <p:cNvSpPr txBox="1"/>
          <p:nvPr>
            <p:ph idx="1" type="body"/>
          </p:nvPr>
        </p:nvSpPr>
        <p:spPr>
          <a:xfrm>
            <a:off x="379884" y="1353373"/>
            <a:ext cx="2687781" cy="4924496"/>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lvl1pPr indent="-228600" lvl="0" marL="457200" algn="l">
              <a:lnSpc>
                <a:spcPct val="100000"/>
              </a:lnSpc>
              <a:spcBef>
                <a:spcPts val="0"/>
              </a:spcBef>
              <a:spcAft>
                <a:spcPts val="0"/>
              </a:spcAft>
              <a:buSzPts val="1400"/>
              <a:buFont typeface="Calibri"/>
              <a:buNone/>
              <a:defRPr sz="1400">
                <a:solidFill>
                  <a:schemeClr val="accent5"/>
                </a:solidFill>
                <a:latin typeface="Calibri"/>
                <a:ea typeface="Calibri"/>
                <a:cs typeface="Calibri"/>
                <a:sym typeface="Calibri"/>
              </a:defRPr>
            </a:lvl1pPr>
            <a:lvl2pPr indent="-317500" lvl="1" marL="9144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2pPr>
            <a:lvl3pPr indent="-317500" lvl="2" marL="13716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3pPr>
            <a:lvl4pPr indent="-317500" lvl="3" marL="18288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4pPr>
            <a:lvl5pPr indent="-317500" lvl="4" marL="22860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5pPr>
            <a:lvl6pPr indent="-342900" lvl="5" marL="2743200" algn="l">
              <a:lnSpc>
                <a:spcPct val="100000"/>
              </a:lnSpc>
              <a:spcBef>
                <a:spcPts val="300"/>
              </a:spcBef>
              <a:spcAft>
                <a:spcPts val="0"/>
              </a:spcAft>
              <a:buSzPts val="1800"/>
              <a:buAutoNum type="arabicPeriod"/>
              <a:defRPr/>
            </a:lvl6pPr>
            <a:lvl7pPr indent="-342900" lvl="6" marL="3200400" algn="l">
              <a:lnSpc>
                <a:spcPct val="100000"/>
              </a:lnSpc>
              <a:spcBef>
                <a:spcPts val="900"/>
              </a:spcBef>
              <a:spcAft>
                <a:spcPts val="0"/>
              </a:spcAft>
              <a:buClr>
                <a:schemeClr val="dk1"/>
              </a:buClr>
              <a:buSzPts val="1800"/>
              <a:buAutoNum type="alphaLcPeriod"/>
              <a:defRPr/>
            </a:lvl7pPr>
            <a:lvl8pPr indent="-342900" lvl="7" marL="3657600" algn="l">
              <a:lnSpc>
                <a:spcPct val="100000"/>
              </a:lnSpc>
              <a:spcBef>
                <a:spcPts val="900"/>
              </a:spcBef>
              <a:spcAft>
                <a:spcPts val="0"/>
              </a:spcAft>
              <a:buClr>
                <a:schemeClr val="dk1"/>
              </a:buClr>
              <a:buSzPts val="1800"/>
              <a:buAutoNum type="romanLcPeriod"/>
              <a:defRPr/>
            </a:lvl8pPr>
            <a:lvl9pPr indent="-228600" lvl="8" marL="4114800" algn="l">
              <a:lnSpc>
                <a:spcPct val="100000"/>
              </a:lnSpc>
              <a:spcBef>
                <a:spcPts val="900"/>
              </a:spcBef>
              <a:spcAft>
                <a:spcPts val="900"/>
              </a:spcAft>
              <a:buClr>
                <a:schemeClr val="dk2"/>
              </a:buClr>
              <a:buSzPts val="1800"/>
              <a:buNone/>
              <a:defRPr/>
            </a:lvl9pPr>
          </a:lstStyle>
          <a:p/>
        </p:txBody>
      </p:sp>
      <p:sp>
        <p:nvSpPr>
          <p:cNvPr id="260" name="Google Shape;260;p106"/>
          <p:cNvSpPr/>
          <p:nvPr/>
        </p:nvSpPr>
        <p:spPr>
          <a:xfrm>
            <a:off x="368302" y="998617"/>
            <a:ext cx="2704560" cy="354757"/>
          </a:xfrm>
          <a:prstGeom prst="rect">
            <a:avLst/>
          </a:prstGeom>
          <a:solidFill>
            <a:srgbClr val="162051"/>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2F2F2"/>
              </a:solidFill>
              <a:latin typeface="Calibri"/>
              <a:ea typeface="Calibri"/>
              <a:cs typeface="Calibri"/>
              <a:sym typeface="Calibri"/>
            </a:endParaRPr>
          </a:p>
        </p:txBody>
      </p:sp>
      <p:sp>
        <p:nvSpPr>
          <p:cNvPr id="261" name="Google Shape;261;p106"/>
          <p:cNvSpPr txBox="1"/>
          <p:nvPr>
            <p:ph idx="2" type="body"/>
          </p:nvPr>
        </p:nvSpPr>
        <p:spPr>
          <a:xfrm>
            <a:off x="3203295" y="1353373"/>
            <a:ext cx="5540655" cy="4924496"/>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lvl1pPr indent="-228600" lvl="0" marL="457200" algn="l">
              <a:lnSpc>
                <a:spcPct val="100000"/>
              </a:lnSpc>
              <a:spcBef>
                <a:spcPts val="0"/>
              </a:spcBef>
              <a:spcAft>
                <a:spcPts val="0"/>
              </a:spcAft>
              <a:buSzPts val="1400"/>
              <a:buFont typeface="Calibri"/>
              <a:buNone/>
              <a:defRPr sz="1400">
                <a:solidFill>
                  <a:schemeClr val="accent5"/>
                </a:solidFill>
                <a:latin typeface="Calibri"/>
                <a:ea typeface="Calibri"/>
                <a:cs typeface="Calibri"/>
                <a:sym typeface="Calibri"/>
              </a:defRPr>
            </a:lvl1pPr>
            <a:lvl2pPr indent="-317500" lvl="1" marL="9144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2pPr>
            <a:lvl3pPr indent="-317500" lvl="2" marL="13716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3pPr>
            <a:lvl4pPr indent="-317500" lvl="3" marL="18288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4pPr>
            <a:lvl5pPr indent="-317500" lvl="4" marL="2286000" algn="l">
              <a:lnSpc>
                <a:spcPct val="100000"/>
              </a:lnSpc>
              <a:spcBef>
                <a:spcPts val="300"/>
              </a:spcBef>
              <a:spcAft>
                <a:spcPts val="0"/>
              </a:spcAft>
              <a:buSzPts val="1400"/>
              <a:buChar char="›"/>
              <a:defRPr sz="1400">
                <a:solidFill>
                  <a:schemeClr val="accent5"/>
                </a:solidFill>
                <a:latin typeface="Calibri"/>
                <a:ea typeface="Calibri"/>
                <a:cs typeface="Calibri"/>
                <a:sym typeface="Calibri"/>
              </a:defRPr>
            </a:lvl5pPr>
            <a:lvl6pPr indent="-342900" lvl="5" marL="2743200" algn="l">
              <a:lnSpc>
                <a:spcPct val="100000"/>
              </a:lnSpc>
              <a:spcBef>
                <a:spcPts val="300"/>
              </a:spcBef>
              <a:spcAft>
                <a:spcPts val="0"/>
              </a:spcAft>
              <a:buSzPts val="1800"/>
              <a:buAutoNum type="arabicPeriod"/>
              <a:defRPr/>
            </a:lvl6pPr>
            <a:lvl7pPr indent="-342900" lvl="6" marL="3200400" algn="l">
              <a:lnSpc>
                <a:spcPct val="100000"/>
              </a:lnSpc>
              <a:spcBef>
                <a:spcPts val="900"/>
              </a:spcBef>
              <a:spcAft>
                <a:spcPts val="0"/>
              </a:spcAft>
              <a:buClr>
                <a:schemeClr val="dk1"/>
              </a:buClr>
              <a:buSzPts val="1800"/>
              <a:buAutoNum type="alphaLcPeriod"/>
              <a:defRPr/>
            </a:lvl7pPr>
            <a:lvl8pPr indent="-342900" lvl="7" marL="3657600" algn="l">
              <a:lnSpc>
                <a:spcPct val="100000"/>
              </a:lnSpc>
              <a:spcBef>
                <a:spcPts val="900"/>
              </a:spcBef>
              <a:spcAft>
                <a:spcPts val="0"/>
              </a:spcAft>
              <a:buClr>
                <a:schemeClr val="dk1"/>
              </a:buClr>
              <a:buSzPts val="1800"/>
              <a:buAutoNum type="romanLcPeriod"/>
              <a:defRPr/>
            </a:lvl8pPr>
            <a:lvl9pPr indent="-228600" lvl="8" marL="4114800" algn="l">
              <a:lnSpc>
                <a:spcPct val="100000"/>
              </a:lnSpc>
              <a:spcBef>
                <a:spcPts val="900"/>
              </a:spcBef>
              <a:spcAft>
                <a:spcPts val="900"/>
              </a:spcAft>
              <a:buClr>
                <a:schemeClr val="dk2"/>
              </a:buClr>
              <a:buSzPts val="1800"/>
              <a:buNone/>
              <a:defRPr/>
            </a:lvl9pPr>
          </a:lstStyle>
          <a:p/>
        </p:txBody>
      </p:sp>
      <p:sp>
        <p:nvSpPr>
          <p:cNvPr id="262" name="Google Shape;262;p106"/>
          <p:cNvSpPr/>
          <p:nvPr/>
        </p:nvSpPr>
        <p:spPr>
          <a:xfrm>
            <a:off x="3191713" y="998617"/>
            <a:ext cx="5575244" cy="354757"/>
          </a:xfrm>
          <a:prstGeom prst="rect">
            <a:avLst/>
          </a:prstGeom>
          <a:solidFill>
            <a:srgbClr val="162051"/>
          </a:solidFill>
          <a:ln cap="flat" cmpd="sng" w="9525">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2F2F2"/>
              </a:solidFill>
              <a:latin typeface="Calibri"/>
              <a:ea typeface="Calibri"/>
              <a:cs typeface="Calibri"/>
              <a:sym typeface="Calibri"/>
            </a:endParaRPr>
          </a:p>
        </p:txBody>
      </p:sp>
      <p:sp>
        <p:nvSpPr>
          <p:cNvPr id="263" name="Google Shape;263;p106"/>
          <p:cNvSpPr txBox="1"/>
          <p:nvPr>
            <p:ph idx="3" type="body"/>
          </p:nvPr>
        </p:nvSpPr>
        <p:spPr>
          <a:xfrm>
            <a:off x="3331188" y="1075875"/>
            <a:ext cx="5412762" cy="277497"/>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800"/>
              <a:buFont typeface="Calibri"/>
              <a:buNone/>
              <a:defRPr sz="1800">
                <a:solidFill>
                  <a:srgbClr val="E5E5E5"/>
                </a:solidFill>
                <a:latin typeface="Calibri"/>
                <a:ea typeface="Calibri"/>
                <a:cs typeface="Calibri"/>
                <a:sym typeface="Calibri"/>
              </a:defRPr>
            </a:lvl1pPr>
            <a:lvl2pPr indent="-228600" lvl="1" marL="914400" algn="l">
              <a:lnSpc>
                <a:spcPct val="100000"/>
              </a:lnSpc>
              <a:spcBef>
                <a:spcPts val="900"/>
              </a:spcBef>
              <a:spcAft>
                <a:spcPts val="0"/>
              </a:spcAft>
              <a:buSzPts val="1800"/>
              <a:buNone/>
              <a:defRPr sz="1800">
                <a:solidFill>
                  <a:srgbClr val="E5E5E5"/>
                </a:solidFill>
                <a:latin typeface="Calibri"/>
                <a:ea typeface="Calibri"/>
                <a:cs typeface="Calibri"/>
                <a:sym typeface="Calibri"/>
              </a:defRPr>
            </a:lvl2pPr>
            <a:lvl3pPr indent="-228600" lvl="2" marL="1371600" algn="l">
              <a:lnSpc>
                <a:spcPct val="100000"/>
              </a:lnSpc>
              <a:spcBef>
                <a:spcPts val="900"/>
              </a:spcBef>
              <a:spcAft>
                <a:spcPts val="0"/>
              </a:spcAft>
              <a:buSzPts val="1800"/>
              <a:buNone/>
              <a:defRPr sz="1800">
                <a:solidFill>
                  <a:srgbClr val="E5E5E5"/>
                </a:solidFill>
                <a:latin typeface="Calibri"/>
                <a:ea typeface="Calibri"/>
                <a:cs typeface="Calibri"/>
                <a:sym typeface="Calibri"/>
              </a:defRPr>
            </a:lvl3pPr>
            <a:lvl4pPr indent="-228600" lvl="3" marL="1828800" algn="l">
              <a:lnSpc>
                <a:spcPct val="100000"/>
              </a:lnSpc>
              <a:spcBef>
                <a:spcPts val="900"/>
              </a:spcBef>
              <a:spcAft>
                <a:spcPts val="0"/>
              </a:spcAft>
              <a:buSzPts val="1800"/>
              <a:buNone/>
              <a:defRPr sz="1800">
                <a:solidFill>
                  <a:srgbClr val="E5E5E5"/>
                </a:solidFill>
                <a:latin typeface="Calibri"/>
                <a:ea typeface="Calibri"/>
                <a:cs typeface="Calibri"/>
                <a:sym typeface="Calibri"/>
              </a:defRPr>
            </a:lvl4pPr>
            <a:lvl5pPr indent="-228600" lvl="4" marL="2286000" algn="l">
              <a:lnSpc>
                <a:spcPct val="100000"/>
              </a:lnSpc>
              <a:spcBef>
                <a:spcPts val="900"/>
              </a:spcBef>
              <a:spcAft>
                <a:spcPts val="0"/>
              </a:spcAft>
              <a:buSzPts val="1800"/>
              <a:buNone/>
              <a:defRPr sz="1800">
                <a:solidFill>
                  <a:srgbClr val="E5E5E5"/>
                </a:solidFill>
                <a:latin typeface="Calibri"/>
                <a:ea typeface="Calibri"/>
                <a:cs typeface="Calibri"/>
                <a:sym typeface="Calibri"/>
              </a:defRPr>
            </a:lvl5pPr>
            <a:lvl6pPr indent="-342900" lvl="5" marL="2743200" algn="l">
              <a:lnSpc>
                <a:spcPct val="100000"/>
              </a:lnSpc>
              <a:spcBef>
                <a:spcPts val="900"/>
              </a:spcBef>
              <a:spcAft>
                <a:spcPts val="0"/>
              </a:spcAft>
              <a:buSzPts val="1800"/>
              <a:buAutoNum type="arabicPeriod"/>
              <a:defRPr/>
            </a:lvl6pPr>
            <a:lvl7pPr indent="-342900" lvl="6" marL="3200400" algn="l">
              <a:lnSpc>
                <a:spcPct val="100000"/>
              </a:lnSpc>
              <a:spcBef>
                <a:spcPts val="900"/>
              </a:spcBef>
              <a:spcAft>
                <a:spcPts val="0"/>
              </a:spcAft>
              <a:buClr>
                <a:schemeClr val="dk1"/>
              </a:buClr>
              <a:buSzPts val="1800"/>
              <a:buAutoNum type="alphaLcPeriod"/>
              <a:defRPr/>
            </a:lvl7pPr>
            <a:lvl8pPr indent="-342900" lvl="7" marL="3657600" algn="l">
              <a:lnSpc>
                <a:spcPct val="100000"/>
              </a:lnSpc>
              <a:spcBef>
                <a:spcPts val="900"/>
              </a:spcBef>
              <a:spcAft>
                <a:spcPts val="0"/>
              </a:spcAft>
              <a:buClr>
                <a:schemeClr val="dk1"/>
              </a:buClr>
              <a:buSzPts val="1800"/>
              <a:buAutoNum type="romanLcPeriod"/>
              <a:defRPr/>
            </a:lvl8pPr>
            <a:lvl9pPr indent="-228600" lvl="8" marL="4114800" algn="l">
              <a:lnSpc>
                <a:spcPct val="100000"/>
              </a:lnSpc>
              <a:spcBef>
                <a:spcPts val="900"/>
              </a:spcBef>
              <a:spcAft>
                <a:spcPts val="900"/>
              </a:spcAft>
              <a:buClr>
                <a:schemeClr val="dk2"/>
              </a:buClr>
              <a:buSzPts val="1800"/>
              <a:buNone/>
              <a:defRPr/>
            </a:lvl9pPr>
          </a:lstStyle>
          <a:p/>
        </p:txBody>
      </p:sp>
      <p:sp>
        <p:nvSpPr>
          <p:cNvPr id="264" name="Google Shape;264;p106"/>
          <p:cNvSpPr txBox="1"/>
          <p:nvPr>
            <p:ph idx="4" type="body"/>
          </p:nvPr>
        </p:nvSpPr>
        <p:spPr>
          <a:xfrm>
            <a:off x="494374" y="1075875"/>
            <a:ext cx="2573291" cy="277497"/>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800"/>
              <a:buFont typeface="Calibri"/>
              <a:buNone/>
              <a:defRPr sz="1800">
                <a:solidFill>
                  <a:srgbClr val="E5E5E5"/>
                </a:solidFill>
                <a:latin typeface="Calibri"/>
                <a:ea typeface="Calibri"/>
                <a:cs typeface="Calibri"/>
                <a:sym typeface="Calibri"/>
              </a:defRPr>
            </a:lvl1pPr>
            <a:lvl2pPr indent="-228600" lvl="1" marL="914400" algn="l">
              <a:lnSpc>
                <a:spcPct val="100000"/>
              </a:lnSpc>
              <a:spcBef>
                <a:spcPts val="900"/>
              </a:spcBef>
              <a:spcAft>
                <a:spcPts val="0"/>
              </a:spcAft>
              <a:buSzPts val="1800"/>
              <a:buNone/>
              <a:defRPr sz="1800">
                <a:solidFill>
                  <a:srgbClr val="E5E5E5"/>
                </a:solidFill>
                <a:latin typeface="Calibri"/>
                <a:ea typeface="Calibri"/>
                <a:cs typeface="Calibri"/>
                <a:sym typeface="Calibri"/>
              </a:defRPr>
            </a:lvl2pPr>
            <a:lvl3pPr indent="-228600" lvl="2" marL="1371600" algn="l">
              <a:lnSpc>
                <a:spcPct val="100000"/>
              </a:lnSpc>
              <a:spcBef>
                <a:spcPts val="900"/>
              </a:spcBef>
              <a:spcAft>
                <a:spcPts val="0"/>
              </a:spcAft>
              <a:buSzPts val="1800"/>
              <a:buNone/>
              <a:defRPr sz="1800">
                <a:solidFill>
                  <a:srgbClr val="E5E5E5"/>
                </a:solidFill>
                <a:latin typeface="Calibri"/>
                <a:ea typeface="Calibri"/>
                <a:cs typeface="Calibri"/>
                <a:sym typeface="Calibri"/>
              </a:defRPr>
            </a:lvl3pPr>
            <a:lvl4pPr indent="-228600" lvl="3" marL="1828800" algn="l">
              <a:lnSpc>
                <a:spcPct val="100000"/>
              </a:lnSpc>
              <a:spcBef>
                <a:spcPts val="900"/>
              </a:spcBef>
              <a:spcAft>
                <a:spcPts val="0"/>
              </a:spcAft>
              <a:buSzPts val="1800"/>
              <a:buNone/>
              <a:defRPr sz="1800">
                <a:solidFill>
                  <a:srgbClr val="E5E5E5"/>
                </a:solidFill>
                <a:latin typeface="Calibri"/>
                <a:ea typeface="Calibri"/>
                <a:cs typeface="Calibri"/>
                <a:sym typeface="Calibri"/>
              </a:defRPr>
            </a:lvl4pPr>
            <a:lvl5pPr indent="-228600" lvl="4" marL="2286000" algn="l">
              <a:lnSpc>
                <a:spcPct val="100000"/>
              </a:lnSpc>
              <a:spcBef>
                <a:spcPts val="900"/>
              </a:spcBef>
              <a:spcAft>
                <a:spcPts val="0"/>
              </a:spcAft>
              <a:buSzPts val="1800"/>
              <a:buNone/>
              <a:defRPr sz="1800">
                <a:solidFill>
                  <a:srgbClr val="E5E5E5"/>
                </a:solidFill>
                <a:latin typeface="Calibri"/>
                <a:ea typeface="Calibri"/>
                <a:cs typeface="Calibri"/>
                <a:sym typeface="Calibri"/>
              </a:defRPr>
            </a:lvl5pPr>
            <a:lvl6pPr indent="-342900" lvl="5" marL="2743200" algn="l">
              <a:lnSpc>
                <a:spcPct val="100000"/>
              </a:lnSpc>
              <a:spcBef>
                <a:spcPts val="900"/>
              </a:spcBef>
              <a:spcAft>
                <a:spcPts val="0"/>
              </a:spcAft>
              <a:buSzPts val="1800"/>
              <a:buAutoNum type="arabicPeriod"/>
              <a:defRPr/>
            </a:lvl6pPr>
            <a:lvl7pPr indent="-342900" lvl="6" marL="3200400" algn="l">
              <a:lnSpc>
                <a:spcPct val="100000"/>
              </a:lnSpc>
              <a:spcBef>
                <a:spcPts val="900"/>
              </a:spcBef>
              <a:spcAft>
                <a:spcPts val="0"/>
              </a:spcAft>
              <a:buClr>
                <a:schemeClr val="dk1"/>
              </a:buClr>
              <a:buSzPts val="1800"/>
              <a:buAutoNum type="alphaLcPeriod"/>
              <a:defRPr/>
            </a:lvl7pPr>
            <a:lvl8pPr indent="-342900" lvl="7" marL="3657600" algn="l">
              <a:lnSpc>
                <a:spcPct val="100000"/>
              </a:lnSpc>
              <a:spcBef>
                <a:spcPts val="900"/>
              </a:spcBef>
              <a:spcAft>
                <a:spcPts val="0"/>
              </a:spcAft>
              <a:buClr>
                <a:schemeClr val="dk1"/>
              </a:buClr>
              <a:buSzPts val="1800"/>
              <a:buAutoNum type="romanLcPeriod"/>
              <a:defRPr/>
            </a:lvl8pPr>
            <a:lvl9pPr indent="-228600" lvl="8" marL="4114800" algn="l">
              <a:lnSpc>
                <a:spcPct val="100000"/>
              </a:lnSpc>
              <a:spcBef>
                <a:spcPts val="900"/>
              </a:spcBef>
              <a:spcAft>
                <a:spcPts val="900"/>
              </a:spcAft>
              <a:buClr>
                <a:schemeClr val="dk2"/>
              </a:buClr>
              <a:buSzPts val="1800"/>
              <a:buNone/>
              <a:defRPr/>
            </a:lvl9pPr>
          </a:lstStyle>
          <a:p/>
        </p:txBody>
      </p:sp>
      <p:sp>
        <p:nvSpPr>
          <p:cNvPr id="265" name="Google Shape;265;p106"/>
          <p:cNvSpPr txBox="1"/>
          <p:nvPr/>
        </p:nvSpPr>
        <p:spPr>
          <a:xfrm>
            <a:off x="515348" y="6497876"/>
            <a:ext cx="988599" cy="33606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F2F2F2"/>
                </a:solidFill>
                <a:latin typeface="Arial"/>
                <a:ea typeface="Arial"/>
                <a:cs typeface="Arial"/>
                <a:sym typeface="Arial"/>
              </a:rPr>
              <a:t>Consulting Club </a:t>
            </a:r>
            <a:r>
              <a:rPr b="1" i="0" lang="en-US" sz="1000" u="none" cap="none" strike="noStrike">
                <a:solidFill>
                  <a:schemeClr val="accent2"/>
                </a:solidFill>
                <a:latin typeface="Arial"/>
                <a:ea typeface="Arial"/>
                <a:cs typeface="Arial"/>
                <a:sym typeface="Arial"/>
              </a:rPr>
              <a:t>@</a:t>
            </a:r>
            <a:r>
              <a:rPr b="1" i="0" lang="en-US" sz="1000" u="none" cap="none" strike="noStrike">
                <a:solidFill>
                  <a:srgbClr val="F2F2F2"/>
                </a:solidFill>
                <a:latin typeface="Arial"/>
                <a:ea typeface="Arial"/>
                <a:cs typeface="Arial"/>
                <a:sym typeface="Arial"/>
              </a:rPr>
              <a:t> Ross</a:t>
            </a:r>
            <a:endParaRPr b="1" i="0" sz="1000" u="none" cap="none" strike="noStrike">
              <a:solidFill>
                <a:srgbClr val="F2F2F2"/>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92"/>
          <p:cNvSpPr txBox="1"/>
          <p:nvPr>
            <p:ph type="title"/>
          </p:nvPr>
        </p:nvSpPr>
        <p:spPr>
          <a:xfrm>
            <a:off x="533402" y="685800"/>
            <a:ext cx="8077201" cy="9144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chemeClr val="dk1"/>
              </a:buClr>
              <a:buSzPts val="2400"/>
              <a:buFont typeface="Calibri"/>
              <a:buNone/>
              <a:defRPr b="1" i="1" sz="2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92"/>
          <p:cNvSpPr txBox="1"/>
          <p:nvPr>
            <p:ph idx="1" type="body"/>
          </p:nvPr>
        </p:nvSpPr>
        <p:spPr>
          <a:xfrm>
            <a:off x="533403" y="1752600"/>
            <a:ext cx="8077199" cy="4419600"/>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dk1"/>
              </a:buClr>
              <a:buSzPts val="2000"/>
              <a:buFont typeface="Georgia"/>
              <a:buNone/>
              <a:defRPr b="0" i="0" sz="2000" u="none" cap="none" strike="noStrike">
                <a:solidFill>
                  <a:schemeClr val="dk1"/>
                </a:solidFill>
                <a:latin typeface="Georgia"/>
                <a:ea typeface="Georgia"/>
                <a:cs typeface="Georgia"/>
                <a:sym typeface="Georgia"/>
              </a:defRPr>
            </a:lvl1pPr>
            <a:lvl2pPr indent="-355600" lvl="1" marL="91440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2pPr>
            <a:lvl3pPr indent="-355600" lvl="2" marL="137160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3pPr>
            <a:lvl4pPr indent="-355600" lvl="3" marL="182880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4pPr>
            <a:lvl5pPr indent="-355600" lvl="4" marL="2286000" marR="0" rtl="0" algn="l">
              <a:lnSpc>
                <a:spcPct val="100000"/>
              </a:lnSpc>
              <a:spcBef>
                <a:spcPts val="9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5pPr>
            <a:lvl6pPr indent="-355600" lvl="5" marL="2743200" marR="0" rtl="0" algn="l">
              <a:lnSpc>
                <a:spcPct val="100000"/>
              </a:lnSpc>
              <a:spcBef>
                <a:spcPts val="900"/>
              </a:spcBef>
              <a:spcAft>
                <a:spcPts val="0"/>
              </a:spcAft>
              <a:buClr>
                <a:schemeClr val="dk1"/>
              </a:buClr>
              <a:buSzPts val="2000"/>
              <a:buFont typeface="Calibri"/>
              <a:buAutoNum type="arabicPeriod"/>
              <a:defRPr b="0" i="0" sz="2000" u="none" cap="none" strike="noStrike">
                <a:solidFill>
                  <a:schemeClr val="dk1"/>
                </a:solidFill>
                <a:latin typeface="Georgia"/>
                <a:ea typeface="Georgia"/>
                <a:cs typeface="Georgia"/>
                <a:sym typeface="Georgia"/>
              </a:defRPr>
            </a:lvl6pPr>
            <a:lvl7pPr indent="-355600" lvl="6" marL="3200400" marR="0" rtl="0" algn="l">
              <a:lnSpc>
                <a:spcPct val="100000"/>
              </a:lnSpc>
              <a:spcBef>
                <a:spcPts val="900"/>
              </a:spcBef>
              <a:spcAft>
                <a:spcPts val="0"/>
              </a:spcAft>
              <a:buClr>
                <a:schemeClr val="dk1"/>
              </a:buClr>
              <a:buSzPts val="2000"/>
              <a:buFont typeface="Calibri"/>
              <a:buAutoNum type="alphaLcPeriod"/>
              <a:defRPr b="0" i="0" sz="2000" u="none" cap="none" strike="noStrike">
                <a:solidFill>
                  <a:schemeClr val="dk1"/>
                </a:solidFill>
                <a:latin typeface="Georgia"/>
                <a:ea typeface="Georgia"/>
                <a:cs typeface="Georgia"/>
                <a:sym typeface="Georgia"/>
              </a:defRPr>
            </a:lvl7pPr>
            <a:lvl8pPr indent="-355600" lvl="7" marL="3657600" marR="0" rtl="0" algn="l">
              <a:lnSpc>
                <a:spcPct val="100000"/>
              </a:lnSpc>
              <a:spcBef>
                <a:spcPts val="900"/>
              </a:spcBef>
              <a:spcAft>
                <a:spcPts val="0"/>
              </a:spcAft>
              <a:buClr>
                <a:schemeClr val="dk1"/>
              </a:buClr>
              <a:buSzPts val="2000"/>
              <a:buFont typeface="Calibri"/>
              <a:buAutoNum type="romanLcPeriod"/>
              <a:defRPr b="0" i="0" sz="2000" u="none" cap="none" strike="noStrike">
                <a:solidFill>
                  <a:schemeClr val="dk1"/>
                </a:solidFill>
                <a:latin typeface="Georgia"/>
                <a:ea typeface="Georgia"/>
                <a:cs typeface="Georgia"/>
                <a:sym typeface="Georgia"/>
              </a:defRPr>
            </a:lvl8pPr>
            <a:lvl9pPr indent="-228600" lvl="8" marL="4114800" marR="0" rtl="0" algn="l">
              <a:lnSpc>
                <a:spcPct val="100000"/>
              </a:lnSpc>
              <a:spcBef>
                <a:spcPts val="900"/>
              </a:spcBef>
              <a:spcAft>
                <a:spcPts val="900"/>
              </a:spcAft>
              <a:buClr>
                <a:schemeClr val="dk2"/>
              </a:buClr>
              <a:buSzPts val="2000"/>
              <a:buFont typeface="Arial"/>
              <a:buNone/>
              <a:defRPr b="1" i="0" sz="2000" u="none" cap="none" strike="noStrike">
                <a:solidFill>
                  <a:schemeClr val="dk2"/>
                </a:solidFill>
                <a:latin typeface="Georgia"/>
                <a:ea typeface="Georgia"/>
                <a:cs typeface="Georgia"/>
                <a:sym typeface="Georgia"/>
              </a:defRPr>
            </a:lvl9pPr>
          </a:lstStyle>
          <a:p/>
        </p:txBody>
      </p:sp>
      <p:sp>
        <p:nvSpPr>
          <p:cNvPr id="12" name="Google Shape;12;p92"/>
          <p:cNvSpPr txBox="1"/>
          <p:nvPr>
            <p:ph idx="12" type="sldNum"/>
          </p:nvPr>
        </p:nvSpPr>
        <p:spPr>
          <a:xfrm>
            <a:off x="7086600" y="6477000"/>
            <a:ext cx="1527048" cy="1524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3" name="Google Shape;13;p92"/>
          <p:cNvSpPr txBox="1"/>
          <p:nvPr>
            <p:ph idx="10" type="dt"/>
          </p:nvPr>
        </p:nvSpPr>
        <p:spPr>
          <a:xfrm>
            <a:off x="7086600" y="6324600"/>
            <a:ext cx="1524000" cy="152400"/>
          </a:xfrm>
          <a:prstGeom prst="rect">
            <a:avLst/>
          </a:prstGeom>
          <a:noFill/>
          <a:ln>
            <a:noFill/>
          </a:ln>
        </p:spPr>
        <p:txBody>
          <a:bodyPr anchorCtr="0" anchor="t" bIns="0" lIns="0" spcFirstLastPara="1" rIns="0" wrap="square" tIns="0">
            <a:noAutofit/>
          </a:bodyPr>
          <a:lstStyle>
            <a:lvl1pPr lvl="0" marR="0" rtl="0" algn="r">
              <a:lnSpc>
                <a:spcPct val="100000"/>
              </a:lnSpc>
              <a:spcBef>
                <a:spcPts val="0"/>
              </a:spcBef>
              <a:spcAft>
                <a:spcPts val="0"/>
              </a:spcAft>
              <a:buClr>
                <a:srgbClr val="000000"/>
              </a:buClr>
              <a:buSzPts val="1400"/>
              <a:buFont typeface="Arial"/>
              <a:buNone/>
              <a:defRPr b="0" i="0" sz="10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92"/>
          <p:cNvSpPr txBox="1"/>
          <p:nvPr>
            <p:ph idx="11" type="ftr"/>
          </p:nvPr>
        </p:nvSpPr>
        <p:spPr>
          <a:xfrm>
            <a:off x="530352" y="6324600"/>
            <a:ext cx="5260848" cy="150876"/>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10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1" Type="http://schemas.openxmlformats.org/officeDocument/2006/relationships/slide" Target="/ppt/slides/slide64.xml"/><Relationship Id="rId10" Type="http://schemas.openxmlformats.org/officeDocument/2006/relationships/slide" Target="/ppt/slides/slide53.xml"/><Relationship Id="rId13" Type="http://schemas.openxmlformats.org/officeDocument/2006/relationships/slide" Target="/ppt/slides/slide78.xml"/><Relationship Id="rId12" Type="http://schemas.openxmlformats.org/officeDocument/2006/relationships/slide" Target="/ppt/slides/slide71.xml"/><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slide" Target="/ppt/slides/slide4.xml"/><Relationship Id="rId4" Type="http://schemas.openxmlformats.org/officeDocument/2006/relationships/slide" Target="/ppt/slides/slide5.xml"/><Relationship Id="rId9" Type="http://schemas.openxmlformats.org/officeDocument/2006/relationships/slide" Target="/ppt/slides/slide48.xml"/><Relationship Id="rId14" Type="http://schemas.openxmlformats.org/officeDocument/2006/relationships/slide" Target="/ppt/slides/slide86.xml"/><Relationship Id="rId5" Type="http://schemas.openxmlformats.org/officeDocument/2006/relationships/slide" Target="/ppt/slides/slide13.xml"/><Relationship Id="rId6" Type="http://schemas.openxmlformats.org/officeDocument/2006/relationships/slide" Target="/ppt/slides/slide19.xml"/><Relationship Id="rId7" Type="http://schemas.openxmlformats.org/officeDocument/2006/relationships/slide" Target="/ppt/slides/slide26.xml"/><Relationship Id="rId8" Type="http://schemas.openxmlformats.org/officeDocument/2006/relationships/slide" Target="/ppt/slides/slide3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chart" Target="../charts/char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chart" Target="../charts/char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 Id="rId3" Type="http://schemas.openxmlformats.org/officeDocument/2006/relationships/image" Target="../media/image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 Id="rId3" Type="http://schemas.openxmlformats.org/officeDocument/2006/relationships/image" Target="../media/image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2.xml"/><Relationship Id="rId3" Type="http://schemas.openxmlformats.org/officeDocument/2006/relationships/image" Target="../media/image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3.xml"/><Relationship Id="rId3" Type="http://schemas.openxmlformats.org/officeDocument/2006/relationships/image" Target="../media/image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4.xml"/><Relationship Id="rId3" Type="http://schemas.openxmlformats.org/officeDocument/2006/relationships/image" Target="../media/image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5.xml"/><Relationship Id="rId3" Type="http://schemas.openxmlformats.org/officeDocument/2006/relationships/image" Target="../media/image9.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6.xml"/><Relationship Id="rId3" Type="http://schemas.openxmlformats.org/officeDocument/2006/relationships/image" Target="../media/image2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7.xml"/><Relationship Id="rId3" Type="http://schemas.openxmlformats.org/officeDocument/2006/relationships/image" Target="../media/image1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19.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1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13.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16.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0.xml"/><Relationship Id="rId3" Type="http://schemas.openxmlformats.org/officeDocument/2006/relationships/image" Target="../media/image10.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15.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image" Target="../media/image14.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3.xml"/><Relationship Id="rId3" Type="http://schemas.openxmlformats.org/officeDocument/2006/relationships/image" Target="../media/image20.jp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8.xml"/><Relationship Id="rId3" Type="http://schemas.openxmlformats.org/officeDocument/2006/relationships/chart" Target="../charts/char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4.xml"/><Relationship Id="rId3" Type="http://schemas.openxmlformats.org/officeDocument/2006/relationships/image" Target="../media/image17.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6.xml"/><Relationship Id="rId3" Type="http://schemas.openxmlformats.org/officeDocument/2006/relationships/image" Target="../media/image18.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 Id="rId3" Type="http://schemas.openxmlformats.org/officeDocument/2006/relationships/image" Target="../media/image24.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1"/>
          <p:cNvSpPr txBox="1"/>
          <p:nvPr>
            <p:ph idx="4294967295" type="ctrTitle"/>
          </p:nvPr>
        </p:nvSpPr>
        <p:spPr>
          <a:xfrm>
            <a:off x="541480" y="163945"/>
            <a:ext cx="712470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D8D8D8"/>
              </a:buClr>
              <a:buSzPts val="2800"/>
              <a:buFont typeface="Calibri"/>
              <a:buNone/>
            </a:pPr>
            <a:r>
              <a:rPr b="1" i="1" lang="en-US" sz="2800" u="none" cap="none" strike="noStrike">
                <a:solidFill>
                  <a:srgbClr val="D8D8D8"/>
                </a:solidFill>
                <a:latin typeface="Calibri"/>
                <a:ea typeface="Calibri"/>
                <a:cs typeface="Calibri"/>
                <a:sym typeface="Calibri"/>
              </a:rPr>
              <a:t>Ross 2017 Casebook</a:t>
            </a:r>
            <a:endParaRPr b="1" i="1" sz="2400" u="none" cap="none" strike="noStrike">
              <a:solidFill>
                <a:schemeClr val="dk1"/>
              </a:solidFill>
              <a:latin typeface="Calibri"/>
              <a:ea typeface="Calibri"/>
              <a:cs typeface="Calibri"/>
              <a:sym typeface="Calibri"/>
            </a:endParaRPr>
          </a:p>
        </p:txBody>
      </p:sp>
      <p:sp>
        <p:nvSpPr>
          <p:cNvPr id="271" name="Google Shape;271;p1"/>
          <p:cNvSpPr txBox="1"/>
          <p:nvPr>
            <p:ph idx="4294967295" type="subTitle"/>
          </p:nvPr>
        </p:nvSpPr>
        <p:spPr>
          <a:xfrm>
            <a:off x="535708" y="1345760"/>
            <a:ext cx="7056583" cy="914401"/>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Georgia"/>
              <a:buNone/>
            </a:pPr>
            <a:r>
              <a:rPr b="0" i="0" lang="en-US" sz="2000" u="none" cap="none" strike="noStrike">
                <a:solidFill>
                  <a:schemeClr val="dk1"/>
                </a:solidFill>
                <a:latin typeface="Georgia"/>
                <a:ea typeface="Georgia"/>
                <a:cs typeface="Georgia"/>
                <a:sym typeface="Georgia"/>
              </a:rPr>
              <a:t>Edited and Assembled by Consulting Club @ Ross</a:t>
            </a:r>
            <a:endParaRPr b="0" i="0" sz="2000" u="none" cap="none" strike="noStrike">
              <a:solidFill>
                <a:schemeClr val="dk1"/>
              </a:solidFill>
              <a:latin typeface="Georgia"/>
              <a:ea typeface="Georgia"/>
              <a:cs typeface="Georgia"/>
              <a:sym typeface="Georgi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2"/>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Special Thanks to our Case Contributors</a:t>
            </a:r>
            <a:endParaRPr/>
          </a:p>
        </p:txBody>
      </p:sp>
      <p:sp>
        <p:nvSpPr>
          <p:cNvPr id="277" name="Google Shape;277;p2"/>
          <p:cNvSpPr txBox="1"/>
          <p:nvPr>
            <p:ph idx="1" type="body"/>
          </p:nvPr>
        </p:nvSpPr>
        <p:spPr>
          <a:xfrm>
            <a:off x="381001" y="1283365"/>
            <a:ext cx="8341656" cy="4985087"/>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800"/>
              <a:buFont typeface="Calibri"/>
              <a:buNone/>
            </a:pPr>
            <a:r>
              <a:rPr b="1" lang="en-US" sz="1800"/>
              <a:t>	Case Writers:</a:t>
            </a:r>
            <a:endParaRPr/>
          </a:p>
          <a:p>
            <a:pPr indent="0" lvl="0" marL="0" rtl="0" algn="l">
              <a:lnSpc>
                <a:spcPct val="100000"/>
              </a:lnSpc>
              <a:spcBef>
                <a:spcPts val="300"/>
              </a:spcBef>
              <a:spcAft>
                <a:spcPts val="0"/>
              </a:spcAft>
              <a:buSzPts val="1800"/>
              <a:buFont typeface="Calibri"/>
              <a:buNone/>
            </a:pPr>
            <a:r>
              <a:rPr lang="en-US" sz="1800"/>
              <a:t>		Ashlyee Freeman</a:t>
            </a:r>
            <a:endParaRPr/>
          </a:p>
          <a:p>
            <a:pPr indent="0" lvl="0" marL="0" rtl="0" algn="l">
              <a:lnSpc>
                <a:spcPct val="100000"/>
              </a:lnSpc>
              <a:spcBef>
                <a:spcPts val="300"/>
              </a:spcBef>
              <a:spcAft>
                <a:spcPts val="0"/>
              </a:spcAft>
              <a:buSzPts val="1800"/>
              <a:buFont typeface="Calibri"/>
              <a:buNone/>
            </a:pPr>
            <a:r>
              <a:rPr lang="en-US" sz="1800"/>
              <a:t>		Pranav Gandhi</a:t>
            </a:r>
            <a:endParaRPr/>
          </a:p>
          <a:p>
            <a:pPr indent="0" lvl="0" marL="0" rtl="0" algn="l">
              <a:lnSpc>
                <a:spcPct val="100000"/>
              </a:lnSpc>
              <a:spcBef>
                <a:spcPts val="300"/>
              </a:spcBef>
              <a:spcAft>
                <a:spcPts val="0"/>
              </a:spcAft>
              <a:buSzPts val="1800"/>
              <a:buFont typeface="Calibri"/>
              <a:buNone/>
            </a:pPr>
            <a:r>
              <a:rPr lang="en-US" sz="1800"/>
              <a:t>		Sonia Joseph Griffin</a:t>
            </a:r>
            <a:endParaRPr/>
          </a:p>
          <a:p>
            <a:pPr indent="0" lvl="0" marL="0" rtl="0" algn="l">
              <a:lnSpc>
                <a:spcPct val="100000"/>
              </a:lnSpc>
              <a:spcBef>
                <a:spcPts val="300"/>
              </a:spcBef>
              <a:spcAft>
                <a:spcPts val="0"/>
              </a:spcAft>
              <a:buSzPts val="1800"/>
              <a:buFont typeface="Calibri"/>
              <a:buNone/>
            </a:pPr>
            <a:r>
              <a:rPr lang="en-US" sz="1800"/>
              <a:t>		Ben Lawson</a:t>
            </a:r>
            <a:endParaRPr/>
          </a:p>
          <a:p>
            <a:pPr indent="0" lvl="0" marL="0" rtl="0" algn="l">
              <a:lnSpc>
                <a:spcPct val="100000"/>
              </a:lnSpc>
              <a:spcBef>
                <a:spcPts val="300"/>
              </a:spcBef>
              <a:spcAft>
                <a:spcPts val="0"/>
              </a:spcAft>
              <a:buSzPts val="1800"/>
              <a:buFont typeface="Calibri"/>
              <a:buNone/>
            </a:pPr>
            <a:r>
              <a:rPr lang="en-US" sz="1800"/>
              <a:t>		Madeline Matthews</a:t>
            </a:r>
            <a:endParaRPr/>
          </a:p>
          <a:p>
            <a:pPr indent="0" lvl="0" marL="0" rtl="0" algn="l">
              <a:lnSpc>
                <a:spcPct val="100000"/>
              </a:lnSpc>
              <a:spcBef>
                <a:spcPts val="300"/>
              </a:spcBef>
              <a:spcAft>
                <a:spcPts val="0"/>
              </a:spcAft>
              <a:buSzPts val="1800"/>
              <a:buFont typeface="Calibri"/>
              <a:buNone/>
            </a:pPr>
            <a:r>
              <a:rPr lang="en-US" sz="1800"/>
              <a:t>		Victor Poon</a:t>
            </a:r>
            <a:endParaRPr/>
          </a:p>
          <a:p>
            <a:pPr indent="0" lvl="0" marL="0" rtl="0" algn="l">
              <a:lnSpc>
                <a:spcPct val="100000"/>
              </a:lnSpc>
              <a:spcBef>
                <a:spcPts val="300"/>
              </a:spcBef>
              <a:spcAft>
                <a:spcPts val="0"/>
              </a:spcAft>
              <a:buSzPts val="1800"/>
              <a:buFont typeface="Calibri"/>
              <a:buNone/>
            </a:pPr>
            <a:r>
              <a:rPr lang="en-US" sz="1800"/>
              <a:t>		Arthur Lilenbaum Valadares</a:t>
            </a:r>
            <a:endParaRPr/>
          </a:p>
          <a:p>
            <a:pPr indent="0" lvl="0" marL="0" rtl="0" algn="l">
              <a:lnSpc>
                <a:spcPct val="100000"/>
              </a:lnSpc>
              <a:spcBef>
                <a:spcPts val="300"/>
              </a:spcBef>
              <a:spcAft>
                <a:spcPts val="0"/>
              </a:spcAft>
              <a:buSzPts val="1800"/>
              <a:buFont typeface="Calibri"/>
              <a:buNone/>
            </a:pPr>
            <a:r>
              <a:rPr lang="en-US" sz="1800"/>
              <a:t>		Edward Xie</a:t>
            </a:r>
            <a:endParaRPr sz="1800"/>
          </a:p>
          <a:p>
            <a:pPr indent="0" lvl="0" marL="0" rtl="0" algn="l">
              <a:lnSpc>
                <a:spcPct val="100000"/>
              </a:lnSpc>
              <a:spcBef>
                <a:spcPts val="300"/>
              </a:spcBef>
              <a:spcAft>
                <a:spcPts val="0"/>
              </a:spcAft>
              <a:buSzPts val="1800"/>
              <a:buFont typeface="Calibri"/>
              <a:buNone/>
            </a:pPr>
            <a:r>
              <a:t/>
            </a:r>
            <a:endParaRPr sz="1800"/>
          </a:p>
          <a:p>
            <a:pPr indent="0" lvl="0" marL="0" rtl="0" algn="l">
              <a:lnSpc>
                <a:spcPct val="100000"/>
              </a:lnSpc>
              <a:spcBef>
                <a:spcPts val="300"/>
              </a:spcBef>
              <a:spcAft>
                <a:spcPts val="0"/>
              </a:spcAft>
              <a:buSzPts val="1800"/>
              <a:buFont typeface="Calibri"/>
              <a:buNone/>
            </a:pPr>
            <a:r>
              <a:rPr b="1" lang="en-US" sz="1800"/>
              <a:t>	Edited and Assembled By: </a:t>
            </a:r>
            <a:br>
              <a:rPr lang="en-US" sz="1800"/>
            </a:br>
            <a:r>
              <a:rPr lang="en-US" sz="1800"/>
              <a:t>		Chris Atkins</a:t>
            </a:r>
            <a:endParaRPr/>
          </a:p>
          <a:p>
            <a:pPr indent="0" lvl="0" marL="0" rtl="0" algn="l">
              <a:lnSpc>
                <a:spcPct val="100000"/>
              </a:lnSpc>
              <a:spcBef>
                <a:spcPts val="300"/>
              </a:spcBef>
              <a:spcAft>
                <a:spcPts val="0"/>
              </a:spcAft>
              <a:buSzPts val="1800"/>
              <a:buFont typeface="Calibri"/>
              <a:buNone/>
            </a:pPr>
            <a:r>
              <a:t/>
            </a:r>
            <a:endParaRPr sz="1800"/>
          </a:p>
          <a:p>
            <a:pPr indent="0" lvl="0" marL="0" rtl="0" algn="l">
              <a:lnSpc>
                <a:spcPct val="100000"/>
              </a:lnSpc>
              <a:spcBef>
                <a:spcPts val="300"/>
              </a:spcBef>
              <a:spcAft>
                <a:spcPts val="0"/>
              </a:spcAft>
              <a:buSzPts val="1800"/>
              <a:buFont typeface="Calibri"/>
              <a:buNone/>
            </a:pPr>
            <a:r>
              <a:rPr lang="en-US" sz="1800"/>
              <a:t>	CC</a:t>
            </a:r>
            <a:r>
              <a:rPr b="1" lang="en-US" sz="1800"/>
              <a:t>@R Education and all others who aided with content in this book!</a:t>
            </a:r>
            <a:endParaRPr/>
          </a:p>
          <a:p>
            <a:pPr indent="0" lvl="0" marL="0" rtl="0" algn="l">
              <a:lnSpc>
                <a:spcPct val="100000"/>
              </a:lnSpc>
              <a:spcBef>
                <a:spcPts val="300"/>
              </a:spcBef>
              <a:spcAft>
                <a:spcPts val="0"/>
              </a:spcAft>
              <a:buSzPts val="1800"/>
              <a:buFont typeface="Calibri"/>
              <a:buNone/>
            </a:pPr>
            <a:r>
              <a:t/>
            </a:r>
            <a:endParaRPr sz="1800"/>
          </a:p>
          <a:p>
            <a:pPr indent="45713" lvl="0" marL="68587" rtl="0" algn="l">
              <a:lnSpc>
                <a:spcPct val="100000"/>
              </a:lnSpc>
              <a:spcBef>
                <a:spcPts val="300"/>
              </a:spcBef>
              <a:spcAft>
                <a:spcPts val="0"/>
              </a:spcAft>
              <a:buSzPts val="1800"/>
              <a:buFont typeface="Calibri"/>
              <a:buNone/>
            </a:pPr>
            <a:r>
              <a:t/>
            </a:r>
            <a:endParaRPr sz="1800"/>
          </a:p>
        </p:txBody>
      </p:sp>
      <p:sp>
        <p:nvSpPr>
          <p:cNvPr id="278" name="Google Shape;278;p2"/>
          <p:cNvSpPr txBox="1"/>
          <p:nvPr>
            <p:ph idx="2" type="body"/>
          </p:nvPr>
        </p:nvSpPr>
        <p:spPr>
          <a:xfrm>
            <a:off x="503321" y="1022905"/>
            <a:ext cx="8126332"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t/>
            </a:r>
            <a:endParaRPr/>
          </a:p>
        </p:txBody>
      </p:sp>
      <p:sp>
        <p:nvSpPr>
          <p:cNvPr id="279" name="Google Shape;279;p2"/>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3"/>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Ross 2017 Casebook –  Table of Contents</a:t>
            </a:r>
            <a:endParaRPr/>
          </a:p>
        </p:txBody>
      </p:sp>
      <p:sp>
        <p:nvSpPr>
          <p:cNvPr id="285" name="Google Shape;285;p3"/>
          <p:cNvSpPr txBox="1"/>
          <p:nvPr>
            <p:ph idx="1" type="body"/>
          </p:nvPr>
        </p:nvSpPr>
        <p:spPr>
          <a:xfrm>
            <a:off x="381001" y="1283365"/>
            <a:ext cx="8341656" cy="4992175"/>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68587" lvl="0" marL="68587" rtl="0" algn="l">
              <a:lnSpc>
                <a:spcPct val="100000"/>
              </a:lnSpc>
              <a:spcBef>
                <a:spcPts val="0"/>
              </a:spcBef>
              <a:spcAft>
                <a:spcPts val="0"/>
              </a:spcAft>
              <a:buSzPts val="1800"/>
              <a:buFont typeface="Calibri"/>
              <a:buAutoNum type="arabicPeriod"/>
            </a:pPr>
            <a:r>
              <a:rPr lang="en-US" sz="1800"/>
              <a:t>Industry Overviews – In Development</a:t>
            </a:r>
            <a:endParaRPr/>
          </a:p>
          <a:p>
            <a:pPr indent="-68587" lvl="0" marL="68587" rtl="0" algn="l">
              <a:lnSpc>
                <a:spcPct val="100000"/>
              </a:lnSpc>
              <a:spcBef>
                <a:spcPts val="300"/>
              </a:spcBef>
              <a:spcAft>
                <a:spcPts val="0"/>
              </a:spcAft>
              <a:buSzPts val="1800"/>
              <a:buFont typeface="Calibri"/>
              <a:buAutoNum type="arabicPeriod"/>
            </a:pPr>
            <a:r>
              <a:rPr lang="en-US" sz="1800"/>
              <a:t>Firm Specific Overviews – In Development</a:t>
            </a:r>
            <a:endParaRPr/>
          </a:p>
          <a:p>
            <a:pPr indent="-68587" lvl="0" marL="68587" rtl="0" algn="l">
              <a:lnSpc>
                <a:spcPct val="100000"/>
              </a:lnSpc>
              <a:spcBef>
                <a:spcPts val="300"/>
              </a:spcBef>
              <a:spcAft>
                <a:spcPts val="0"/>
              </a:spcAft>
              <a:buSzPts val="1800"/>
              <a:buFont typeface="Calibri"/>
              <a:buAutoNum type="arabicPeriod"/>
            </a:pPr>
            <a:r>
              <a:rPr lang="en-US" sz="1800"/>
              <a:t>Reference Equations and Glossary – In Development (See Ross 2011)</a:t>
            </a:r>
            <a:endParaRPr/>
          </a:p>
          <a:p>
            <a:pPr indent="-68587" lvl="0" marL="68587" rtl="0" algn="l">
              <a:lnSpc>
                <a:spcPct val="100000"/>
              </a:lnSpc>
              <a:spcBef>
                <a:spcPts val="300"/>
              </a:spcBef>
              <a:spcAft>
                <a:spcPts val="0"/>
              </a:spcAft>
              <a:buSzPts val="1800"/>
              <a:buFont typeface="Calibri"/>
              <a:buAutoNum type="arabicPeriod"/>
            </a:pPr>
            <a:r>
              <a:rPr lang="en-US" sz="1800" u="sng">
                <a:solidFill>
                  <a:schemeClr val="hlink"/>
                </a:solidFill>
                <a:hlinkClick action="ppaction://hlinksldjump" r:id="rId3"/>
              </a:rPr>
              <a:t>Popular Peer Coaching Cases in Other Books</a:t>
            </a:r>
            <a:r>
              <a:rPr lang="en-US" sz="1800"/>
              <a:t> – In Development</a:t>
            </a:r>
            <a:endParaRPr/>
          </a:p>
          <a:p>
            <a:pPr indent="0" lvl="0" marL="0" rtl="0" algn="l">
              <a:lnSpc>
                <a:spcPct val="100000"/>
              </a:lnSpc>
              <a:spcBef>
                <a:spcPts val="300"/>
              </a:spcBef>
              <a:spcAft>
                <a:spcPts val="0"/>
              </a:spcAft>
              <a:buSzPts val="1800"/>
              <a:buFont typeface="Calibri"/>
              <a:buNone/>
            </a:pPr>
            <a:r>
              <a:t/>
            </a:r>
            <a:endParaRPr sz="1800"/>
          </a:p>
          <a:p>
            <a:pPr indent="0" lvl="0" marL="0" rtl="0" algn="ctr">
              <a:lnSpc>
                <a:spcPct val="100000"/>
              </a:lnSpc>
              <a:spcBef>
                <a:spcPts val="300"/>
              </a:spcBef>
              <a:spcAft>
                <a:spcPts val="0"/>
              </a:spcAft>
              <a:buSzPts val="1800"/>
              <a:buFont typeface="Calibri"/>
              <a:buNone/>
            </a:pPr>
            <a:r>
              <a:t/>
            </a:r>
            <a:endParaRPr b="1" sz="1800"/>
          </a:p>
          <a:p>
            <a:pPr indent="0" lvl="0" marL="0" rtl="0" algn="ctr">
              <a:lnSpc>
                <a:spcPct val="100000"/>
              </a:lnSpc>
              <a:spcBef>
                <a:spcPts val="300"/>
              </a:spcBef>
              <a:spcAft>
                <a:spcPts val="0"/>
              </a:spcAft>
              <a:buSzPts val="2800"/>
              <a:buFont typeface="Calibri"/>
              <a:buNone/>
            </a:pPr>
            <a:r>
              <a:rPr b="1" lang="en-US" sz="2800"/>
              <a:t>Cases</a:t>
            </a:r>
            <a:endParaRPr/>
          </a:p>
          <a:p>
            <a:pPr indent="-68587" lvl="0" marL="68587" rtl="0" algn="l">
              <a:lnSpc>
                <a:spcPct val="100000"/>
              </a:lnSpc>
              <a:spcBef>
                <a:spcPts val="300"/>
              </a:spcBef>
              <a:spcAft>
                <a:spcPts val="0"/>
              </a:spcAft>
              <a:buSzPts val="1800"/>
              <a:buFont typeface="Arial"/>
              <a:buChar char="•"/>
            </a:pPr>
            <a:r>
              <a:rPr lang="en-US" sz="1800" u="sng">
                <a:solidFill>
                  <a:schemeClr val="hlink"/>
                </a:solidFill>
                <a:hlinkClick action="ppaction://hlinksldjump" r:id="rId4"/>
              </a:rPr>
              <a:t>FLC Sports League</a:t>
            </a:r>
            <a:endParaRPr sz="1800"/>
          </a:p>
          <a:p>
            <a:pPr indent="-68587" lvl="0" marL="68587" rtl="0" algn="l">
              <a:lnSpc>
                <a:spcPct val="100000"/>
              </a:lnSpc>
              <a:spcBef>
                <a:spcPts val="300"/>
              </a:spcBef>
              <a:spcAft>
                <a:spcPts val="0"/>
              </a:spcAft>
              <a:buSzPts val="1800"/>
              <a:buFont typeface="Arial"/>
              <a:buChar char="•"/>
            </a:pPr>
            <a:r>
              <a:rPr lang="en-US" sz="1800" u="sng">
                <a:solidFill>
                  <a:schemeClr val="hlink"/>
                </a:solidFill>
                <a:hlinkClick action="ppaction://hlinksldjump" r:id="rId5"/>
              </a:rPr>
              <a:t>Libby’s Libation Lot</a:t>
            </a:r>
            <a:endParaRPr sz="1800"/>
          </a:p>
          <a:p>
            <a:pPr indent="-68587" lvl="0" marL="68587" rtl="0" algn="l">
              <a:lnSpc>
                <a:spcPct val="100000"/>
              </a:lnSpc>
              <a:spcBef>
                <a:spcPts val="300"/>
              </a:spcBef>
              <a:spcAft>
                <a:spcPts val="0"/>
              </a:spcAft>
              <a:buSzPts val="1800"/>
              <a:buFont typeface="Arial"/>
              <a:buChar char="•"/>
            </a:pPr>
            <a:r>
              <a:rPr lang="en-US" sz="1800" u="sng">
                <a:solidFill>
                  <a:schemeClr val="hlink"/>
                </a:solidFill>
                <a:hlinkClick action="ppaction://hlinksldjump" r:id="rId6"/>
              </a:rPr>
              <a:t>Auto Insurance Business Growth</a:t>
            </a:r>
            <a:endParaRPr sz="1800"/>
          </a:p>
          <a:p>
            <a:pPr indent="-68587" lvl="0" marL="68587" rtl="0" algn="l">
              <a:lnSpc>
                <a:spcPct val="100000"/>
              </a:lnSpc>
              <a:spcBef>
                <a:spcPts val="300"/>
              </a:spcBef>
              <a:spcAft>
                <a:spcPts val="0"/>
              </a:spcAft>
              <a:buSzPts val="1800"/>
              <a:buFont typeface="Arial"/>
              <a:buChar char="•"/>
            </a:pPr>
            <a:r>
              <a:rPr lang="en-US" sz="1800" u="sng">
                <a:solidFill>
                  <a:schemeClr val="hlink"/>
                </a:solidFill>
                <a:hlinkClick action="ppaction://hlinksldjump" r:id="rId7"/>
              </a:rPr>
              <a:t>Aircraft Hangar</a:t>
            </a:r>
            <a:endParaRPr sz="1800"/>
          </a:p>
          <a:p>
            <a:pPr indent="-68587" lvl="0" marL="68587" rtl="0" algn="l">
              <a:lnSpc>
                <a:spcPct val="100000"/>
              </a:lnSpc>
              <a:spcBef>
                <a:spcPts val="300"/>
              </a:spcBef>
              <a:spcAft>
                <a:spcPts val="0"/>
              </a:spcAft>
              <a:buSzPts val="1800"/>
              <a:buFont typeface="Arial"/>
              <a:buChar char="•"/>
            </a:pPr>
            <a:r>
              <a:rPr lang="en-US" sz="1800" u="sng">
                <a:solidFill>
                  <a:schemeClr val="hlink"/>
                </a:solidFill>
                <a:hlinkClick action="ppaction://hlinksldjump" r:id="rId8"/>
              </a:rPr>
              <a:t>Movie Studio Buyout</a:t>
            </a:r>
            <a:endParaRPr sz="1800"/>
          </a:p>
          <a:p>
            <a:pPr indent="-68587" lvl="0" marL="68587" rtl="0" algn="l">
              <a:lnSpc>
                <a:spcPct val="100000"/>
              </a:lnSpc>
              <a:spcBef>
                <a:spcPts val="300"/>
              </a:spcBef>
              <a:spcAft>
                <a:spcPts val="0"/>
              </a:spcAft>
              <a:buSzPts val="1800"/>
              <a:buFont typeface="Arial"/>
              <a:buChar char="•"/>
            </a:pPr>
            <a:r>
              <a:rPr lang="en-US" sz="1800" u="sng">
                <a:solidFill>
                  <a:schemeClr val="hlink"/>
                </a:solidFill>
                <a:hlinkClick action="ppaction://hlinksldjump" r:id="rId9"/>
              </a:rPr>
              <a:t>Rare Disease Business Growth</a:t>
            </a:r>
            <a:endParaRPr sz="1800"/>
          </a:p>
          <a:p>
            <a:pPr indent="0" lvl="0" marL="0" rtl="0" algn="l">
              <a:lnSpc>
                <a:spcPct val="100000"/>
              </a:lnSpc>
              <a:spcBef>
                <a:spcPts val="300"/>
              </a:spcBef>
              <a:spcAft>
                <a:spcPts val="0"/>
              </a:spcAft>
              <a:buSzPts val="1800"/>
              <a:buFont typeface="Calibri"/>
              <a:buNone/>
            </a:pPr>
            <a:r>
              <a:t/>
            </a:r>
            <a:endParaRPr sz="1800"/>
          </a:p>
          <a:p>
            <a:pPr indent="0" lvl="0" marL="0" rtl="0" algn="l">
              <a:lnSpc>
                <a:spcPct val="100000"/>
              </a:lnSpc>
              <a:spcBef>
                <a:spcPts val="300"/>
              </a:spcBef>
              <a:spcAft>
                <a:spcPts val="0"/>
              </a:spcAft>
              <a:buSzPts val="1800"/>
              <a:buFont typeface="Calibri"/>
              <a:buNone/>
            </a:pPr>
            <a:r>
              <a:rPr lang="en-US" sz="1800"/>
              <a:t>**Additional cases are currently being developed to supplement 2018 Recruitment</a:t>
            </a:r>
            <a:endParaRPr/>
          </a:p>
          <a:p>
            <a:pPr indent="45713" lvl="0" marL="68587" rtl="0" algn="l">
              <a:lnSpc>
                <a:spcPct val="100000"/>
              </a:lnSpc>
              <a:spcBef>
                <a:spcPts val="300"/>
              </a:spcBef>
              <a:spcAft>
                <a:spcPts val="0"/>
              </a:spcAft>
              <a:buSzPts val="1800"/>
              <a:buFont typeface="Calibri"/>
              <a:buNone/>
            </a:pPr>
            <a:r>
              <a:t/>
            </a:r>
            <a:endParaRPr sz="1800"/>
          </a:p>
          <a:p>
            <a:pPr indent="45713" lvl="0" marL="68587" rtl="0" algn="l">
              <a:lnSpc>
                <a:spcPct val="100000"/>
              </a:lnSpc>
              <a:spcBef>
                <a:spcPts val="300"/>
              </a:spcBef>
              <a:spcAft>
                <a:spcPts val="0"/>
              </a:spcAft>
              <a:buSzPts val="1800"/>
              <a:buFont typeface="Calibri"/>
              <a:buNone/>
            </a:pPr>
            <a:r>
              <a:t/>
            </a:r>
            <a:endParaRPr sz="1800"/>
          </a:p>
          <a:p>
            <a:pPr indent="45713" lvl="0" marL="68587" rtl="0" algn="l">
              <a:lnSpc>
                <a:spcPct val="100000"/>
              </a:lnSpc>
              <a:spcBef>
                <a:spcPts val="300"/>
              </a:spcBef>
              <a:spcAft>
                <a:spcPts val="0"/>
              </a:spcAft>
              <a:buSzPts val="1800"/>
              <a:buFont typeface="Calibri"/>
              <a:buNone/>
            </a:pPr>
            <a:r>
              <a:t/>
            </a:r>
            <a:endParaRPr sz="1800"/>
          </a:p>
        </p:txBody>
      </p:sp>
      <p:sp>
        <p:nvSpPr>
          <p:cNvPr id="286" name="Google Shape;286;p3"/>
          <p:cNvSpPr txBox="1"/>
          <p:nvPr>
            <p:ph idx="2" type="body"/>
          </p:nvPr>
        </p:nvSpPr>
        <p:spPr>
          <a:xfrm>
            <a:off x="503321" y="1022905"/>
            <a:ext cx="8126332"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Casebook Contents</a:t>
            </a:r>
            <a:endParaRPr/>
          </a:p>
        </p:txBody>
      </p:sp>
      <p:sp>
        <p:nvSpPr>
          <p:cNvPr id="287" name="Google Shape;287;p3"/>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
        <p:nvSpPr>
          <p:cNvPr id="288" name="Google Shape;288;p3"/>
          <p:cNvSpPr txBox="1"/>
          <p:nvPr/>
        </p:nvSpPr>
        <p:spPr>
          <a:xfrm>
            <a:off x="4639511" y="3734985"/>
            <a:ext cx="3978396" cy="2475890"/>
          </a:xfrm>
          <a:prstGeom prst="rect">
            <a:avLst/>
          </a:prstGeom>
          <a:noFill/>
          <a:ln>
            <a:noFill/>
          </a:ln>
        </p:spPr>
        <p:txBody>
          <a:bodyPr anchorCtr="0" anchor="t" bIns="0" lIns="0" spcFirstLastPara="1" rIns="0" wrap="square" tIns="0">
            <a:noAutofit/>
          </a:bodyPr>
          <a:lstStyle/>
          <a:p>
            <a:pPr indent="-68587" lvl="0" marL="68587" marR="0" rtl="0" algn="l">
              <a:lnSpc>
                <a:spcPct val="100000"/>
              </a:lnSpc>
              <a:spcBef>
                <a:spcPts val="0"/>
              </a:spcBef>
              <a:spcAft>
                <a:spcPts val="0"/>
              </a:spcAft>
              <a:buClr>
                <a:schemeClr val="dk1"/>
              </a:buClr>
              <a:buSzPts val="1800"/>
              <a:buFont typeface="Arial"/>
              <a:buChar char="•"/>
            </a:pPr>
            <a:r>
              <a:rPr b="0" i="0" lang="en-US" sz="1800" u="sng" cap="none" strike="noStrike">
                <a:solidFill>
                  <a:schemeClr val="dk1"/>
                </a:solidFill>
                <a:latin typeface="Calibri"/>
                <a:ea typeface="Calibri"/>
                <a:cs typeface="Calibri"/>
                <a:sym typeface="Calibri"/>
                <a:hlinkClick action="ppaction://hlinksldjump" r:id="rId10">
                  <a:extLst>
                    <a:ext uri="{A12FA001-AC4F-418D-AE19-62706E023703}">
                      <ahyp:hlinkClr val="tx"/>
                    </a:ext>
                  </a:extLst>
                </a:hlinkClick>
              </a:rPr>
              <a:t>High Speed Train</a:t>
            </a:r>
            <a:endParaRPr b="0" i="0" sz="1800" u="none" cap="none" strike="noStrike">
              <a:solidFill>
                <a:schemeClr val="dk1"/>
              </a:solidFill>
              <a:latin typeface="Calibri"/>
              <a:ea typeface="Calibri"/>
              <a:cs typeface="Calibri"/>
              <a:sym typeface="Calibri"/>
            </a:endParaRPr>
          </a:p>
          <a:p>
            <a:pPr indent="-68587" lvl="0" marL="68587" marR="0" rtl="0" algn="l">
              <a:lnSpc>
                <a:spcPct val="100000"/>
              </a:lnSpc>
              <a:spcBef>
                <a:spcPts val="300"/>
              </a:spcBef>
              <a:spcAft>
                <a:spcPts val="0"/>
              </a:spcAft>
              <a:buClr>
                <a:schemeClr val="dk1"/>
              </a:buClr>
              <a:buSzPts val="1800"/>
              <a:buFont typeface="Arial"/>
              <a:buChar char="•"/>
            </a:pPr>
            <a:r>
              <a:rPr b="0" i="0" lang="en-US" sz="1800" u="sng" cap="none" strike="noStrike">
                <a:solidFill>
                  <a:schemeClr val="dk1"/>
                </a:solidFill>
                <a:latin typeface="Calibri"/>
                <a:ea typeface="Calibri"/>
                <a:cs typeface="Calibri"/>
                <a:sym typeface="Calibri"/>
                <a:hlinkClick action="ppaction://hlinksldjump" r:id="rId11">
                  <a:extLst>
                    <a:ext uri="{A12FA001-AC4F-418D-AE19-62706E023703}">
                      <ahyp:hlinkClr val="tx"/>
                    </a:ext>
                  </a:extLst>
                </a:hlinkClick>
              </a:rPr>
              <a:t>Timeshare Exchange Co.</a:t>
            </a:r>
            <a:endParaRPr b="0" i="0" sz="1800" u="none" cap="none" strike="noStrike">
              <a:solidFill>
                <a:schemeClr val="dk1"/>
              </a:solidFill>
              <a:latin typeface="Calibri"/>
              <a:ea typeface="Calibri"/>
              <a:cs typeface="Calibri"/>
              <a:sym typeface="Calibri"/>
            </a:endParaRPr>
          </a:p>
          <a:p>
            <a:pPr indent="-68587" lvl="0" marL="68587" marR="0" rtl="0" algn="l">
              <a:lnSpc>
                <a:spcPct val="100000"/>
              </a:lnSpc>
              <a:spcBef>
                <a:spcPts val="300"/>
              </a:spcBef>
              <a:spcAft>
                <a:spcPts val="0"/>
              </a:spcAft>
              <a:buClr>
                <a:schemeClr val="dk1"/>
              </a:buClr>
              <a:buSzPts val="1800"/>
              <a:buFont typeface="Arial"/>
              <a:buChar char="•"/>
            </a:pPr>
            <a:r>
              <a:rPr b="0" i="0" lang="en-US" sz="1800" u="sng" cap="none" strike="noStrike">
                <a:solidFill>
                  <a:schemeClr val="dk1"/>
                </a:solidFill>
                <a:latin typeface="Calibri"/>
                <a:ea typeface="Calibri"/>
                <a:cs typeface="Calibri"/>
                <a:sym typeface="Calibri"/>
                <a:hlinkClick action="ppaction://hlinksldjump" r:id="rId12">
                  <a:extLst>
                    <a:ext uri="{A12FA001-AC4F-418D-AE19-62706E023703}">
                      <ahyp:hlinkClr val="tx"/>
                    </a:ext>
                  </a:extLst>
                </a:hlinkClick>
              </a:rPr>
              <a:t>Pulp Friction</a:t>
            </a:r>
            <a:endParaRPr b="0" i="0" sz="1800" u="none" cap="none" strike="noStrike">
              <a:solidFill>
                <a:schemeClr val="dk1"/>
              </a:solidFill>
              <a:latin typeface="Calibri"/>
              <a:ea typeface="Calibri"/>
              <a:cs typeface="Calibri"/>
              <a:sym typeface="Calibri"/>
            </a:endParaRPr>
          </a:p>
          <a:p>
            <a:pPr indent="-68587" lvl="0" marL="68587" marR="0" rtl="0" algn="l">
              <a:lnSpc>
                <a:spcPct val="100000"/>
              </a:lnSpc>
              <a:spcBef>
                <a:spcPts val="300"/>
              </a:spcBef>
              <a:spcAft>
                <a:spcPts val="0"/>
              </a:spcAft>
              <a:buClr>
                <a:schemeClr val="dk1"/>
              </a:buClr>
              <a:buSzPts val="1800"/>
              <a:buFont typeface="Arial"/>
              <a:buChar char="•"/>
            </a:pPr>
            <a:r>
              <a:rPr b="0" i="0" lang="en-US" sz="1800" u="sng" cap="none" strike="noStrike">
                <a:solidFill>
                  <a:schemeClr val="dk1"/>
                </a:solidFill>
                <a:latin typeface="Calibri"/>
                <a:ea typeface="Calibri"/>
                <a:cs typeface="Calibri"/>
                <a:sym typeface="Calibri"/>
                <a:hlinkClick action="ppaction://hlinksldjump" r:id="rId13">
                  <a:extLst>
                    <a:ext uri="{A12FA001-AC4F-418D-AE19-62706E023703}">
                      <ahyp:hlinkClr val="tx"/>
                    </a:ext>
                  </a:extLst>
                </a:hlinkClick>
              </a:rPr>
              <a:t>Data Aggregator</a:t>
            </a:r>
            <a:endParaRPr b="0" i="0" sz="1800" u="none" cap="none" strike="noStrike">
              <a:solidFill>
                <a:schemeClr val="dk1"/>
              </a:solidFill>
              <a:latin typeface="Calibri"/>
              <a:ea typeface="Calibri"/>
              <a:cs typeface="Calibri"/>
              <a:sym typeface="Calibri"/>
            </a:endParaRPr>
          </a:p>
          <a:p>
            <a:pPr indent="-68587" lvl="0" marL="68587" marR="0" rtl="0" algn="l">
              <a:lnSpc>
                <a:spcPct val="100000"/>
              </a:lnSpc>
              <a:spcBef>
                <a:spcPts val="300"/>
              </a:spcBef>
              <a:spcAft>
                <a:spcPts val="0"/>
              </a:spcAft>
              <a:buClr>
                <a:schemeClr val="dk1"/>
              </a:buClr>
              <a:buSzPts val="1800"/>
              <a:buFont typeface="Arial"/>
              <a:buChar char="•"/>
            </a:pPr>
            <a:r>
              <a:rPr b="0" i="0" lang="en-US" sz="1800" u="sng" cap="none" strike="noStrike">
                <a:solidFill>
                  <a:schemeClr val="dk1"/>
                </a:solidFill>
                <a:latin typeface="Calibri"/>
                <a:ea typeface="Calibri"/>
                <a:cs typeface="Calibri"/>
                <a:sym typeface="Calibri"/>
                <a:hlinkClick action="ppaction://hlinksldjump" r:id="rId14">
                  <a:extLst>
                    <a:ext uri="{A12FA001-AC4F-418D-AE19-62706E023703}">
                      <ahyp:hlinkClr val="tx"/>
                    </a:ext>
                  </a:extLst>
                </a:hlinkClick>
              </a:rPr>
              <a:t>Consumer Products Strategy</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Popular Peer Coaching Cases in Other Books</a:t>
            </a:r>
            <a:endParaRPr/>
          </a:p>
        </p:txBody>
      </p:sp>
      <p:sp>
        <p:nvSpPr>
          <p:cNvPr id="294" name="Google Shape;294;p4"/>
          <p:cNvSpPr txBox="1"/>
          <p:nvPr>
            <p:ph idx="1" type="body"/>
          </p:nvPr>
        </p:nvSpPr>
        <p:spPr>
          <a:xfrm>
            <a:off x="379884" y="1353373"/>
            <a:ext cx="2687781" cy="4924496"/>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Font typeface="Calibri"/>
              <a:buNone/>
            </a:pPr>
            <a:r>
              <a:rPr b="1" lang="en-US">
                <a:latin typeface="Calibri"/>
                <a:ea typeface="Calibri"/>
                <a:cs typeface="Calibri"/>
                <a:sym typeface="Calibri"/>
              </a:rPr>
              <a:t>Ross 2005</a:t>
            </a:r>
            <a:endParaRPr/>
          </a:p>
          <a:p>
            <a:pPr indent="-68587" lvl="0" marL="68587" rtl="0" algn="l">
              <a:lnSpc>
                <a:spcPct val="100000"/>
              </a:lnSpc>
              <a:spcBef>
                <a:spcPts val="300"/>
              </a:spcBef>
              <a:spcAft>
                <a:spcPts val="0"/>
              </a:spcAft>
              <a:buSzPts val="1400"/>
              <a:buFont typeface="Arial"/>
              <a:buChar char="•"/>
            </a:pPr>
            <a:r>
              <a:rPr lang="en-US">
                <a:latin typeface="Calibri"/>
                <a:ea typeface="Calibri"/>
                <a:cs typeface="Calibri"/>
                <a:sym typeface="Calibri"/>
              </a:rPr>
              <a:t>Argentinean Bank – E</a:t>
            </a:r>
            <a:endParaRPr/>
          </a:p>
          <a:p>
            <a:pPr indent="-68587" lvl="0" marL="68587" rtl="0" algn="l">
              <a:lnSpc>
                <a:spcPct val="100000"/>
              </a:lnSpc>
              <a:spcBef>
                <a:spcPts val="300"/>
              </a:spcBef>
              <a:spcAft>
                <a:spcPts val="0"/>
              </a:spcAft>
              <a:buSzPts val="1400"/>
              <a:buFont typeface="Arial"/>
              <a:buChar char="•"/>
            </a:pPr>
            <a:r>
              <a:rPr lang="en-US">
                <a:latin typeface="Calibri"/>
                <a:ea typeface="Calibri"/>
                <a:cs typeface="Calibri"/>
                <a:sym typeface="Calibri"/>
              </a:rPr>
              <a:t>Tissue Paper – M</a:t>
            </a:r>
            <a:endParaRPr/>
          </a:p>
          <a:p>
            <a:pPr indent="0" lvl="0" marL="0" rtl="0" algn="l">
              <a:lnSpc>
                <a:spcPct val="100000"/>
              </a:lnSpc>
              <a:spcBef>
                <a:spcPts val="300"/>
              </a:spcBef>
              <a:spcAft>
                <a:spcPts val="0"/>
              </a:spcAft>
              <a:buSzPts val="1400"/>
              <a:buFont typeface="Calibri"/>
              <a:buNone/>
            </a:pPr>
            <a:r>
              <a:t/>
            </a:r>
            <a:endParaRPr>
              <a:latin typeface="Calibri"/>
              <a:ea typeface="Calibri"/>
              <a:cs typeface="Calibri"/>
              <a:sym typeface="Calibri"/>
            </a:endParaRPr>
          </a:p>
          <a:p>
            <a:pPr indent="0" lvl="0" marL="0" rtl="0" algn="l">
              <a:lnSpc>
                <a:spcPct val="100000"/>
              </a:lnSpc>
              <a:spcBef>
                <a:spcPts val="300"/>
              </a:spcBef>
              <a:spcAft>
                <a:spcPts val="0"/>
              </a:spcAft>
              <a:buSzPts val="1400"/>
              <a:buFont typeface="Calibri"/>
              <a:buNone/>
            </a:pPr>
            <a:r>
              <a:rPr b="1" lang="en-US">
                <a:latin typeface="Calibri"/>
                <a:ea typeface="Calibri"/>
                <a:cs typeface="Calibri"/>
                <a:sym typeface="Calibri"/>
              </a:rPr>
              <a:t>Ross 2010</a:t>
            </a:r>
            <a:endParaRPr/>
          </a:p>
          <a:p>
            <a:pPr indent="-342900" lvl="0" marL="342900" rtl="0" algn="l">
              <a:lnSpc>
                <a:spcPct val="100000"/>
              </a:lnSpc>
              <a:spcBef>
                <a:spcPts val="300"/>
              </a:spcBef>
              <a:spcAft>
                <a:spcPts val="0"/>
              </a:spcAft>
              <a:buSzPts val="1400"/>
              <a:buFont typeface="Arial"/>
              <a:buChar char="•"/>
            </a:pPr>
            <a:r>
              <a:rPr lang="en-US">
                <a:latin typeface="Calibri"/>
                <a:ea typeface="Calibri"/>
                <a:cs typeface="Calibri"/>
                <a:sym typeface="Calibri"/>
              </a:rPr>
              <a:t>Gas Station – M</a:t>
            </a:r>
            <a:endParaRPr/>
          </a:p>
          <a:p>
            <a:pPr indent="-342900" lvl="0" marL="342900" rtl="0" algn="l">
              <a:lnSpc>
                <a:spcPct val="100000"/>
              </a:lnSpc>
              <a:spcBef>
                <a:spcPts val="300"/>
              </a:spcBef>
              <a:spcAft>
                <a:spcPts val="0"/>
              </a:spcAft>
              <a:buSzPts val="1400"/>
              <a:buFont typeface="Arial"/>
              <a:buChar char="•"/>
            </a:pPr>
            <a:r>
              <a:rPr lang="en-US">
                <a:latin typeface="Calibri"/>
                <a:ea typeface="Calibri"/>
                <a:cs typeface="Calibri"/>
                <a:sym typeface="Calibri"/>
              </a:rPr>
              <a:t>Pizzanomics – E</a:t>
            </a:r>
            <a:endParaRPr/>
          </a:p>
          <a:p>
            <a:pPr indent="-342900" lvl="0" marL="342900" rtl="0" algn="l">
              <a:lnSpc>
                <a:spcPct val="100000"/>
              </a:lnSpc>
              <a:spcBef>
                <a:spcPts val="300"/>
              </a:spcBef>
              <a:spcAft>
                <a:spcPts val="0"/>
              </a:spcAft>
              <a:buSzPts val="1400"/>
              <a:buFont typeface="Arial"/>
              <a:buChar char="•"/>
            </a:pPr>
            <a:r>
              <a:rPr lang="en-US">
                <a:latin typeface="Calibri"/>
                <a:ea typeface="Calibri"/>
                <a:cs typeface="Calibri"/>
                <a:sym typeface="Calibri"/>
              </a:rPr>
              <a:t>Vitamin Co – M</a:t>
            </a:r>
            <a:endParaRPr/>
          </a:p>
          <a:p>
            <a:pPr indent="-342900" lvl="0" marL="342900" rtl="0" algn="l">
              <a:lnSpc>
                <a:spcPct val="100000"/>
              </a:lnSpc>
              <a:spcBef>
                <a:spcPts val="300"/>
              </a:spcBef>
              <a:spcAft>
                <a:spcPts val="0"/>
              </a:spcAft>
              <a:buSzPts val="1400"/>
              <a:buFont typeface="Arial"/>
              <a:buChar char="•"/>
            </a:pPr>
            <a:r>
              <a:rPr lang="en-US">
                <a:latin typeface="Calibri"/>
                <a:ea typeface="Calibri"/>
                <a:cs typeface="Calibri"/>
                <a:sym typeface="Calibri"/>
              </a:rPr>
              <a:t>Wayne Rooney – M</a:t>
            </a:r>
            <a:endParaRPr/>
          </a:p>
          <a:p>
            <a:pPr indent="0" lvl="0" marL="0" rtl="0" algn="l">
              <a:lnSpc>
                <a:spcPct val="100000"/>
              </a:lnSpc>
              <a:spcBef>
                <a:spcPts val="300"/>
              </a:spcBef>
              <a:spcAft>
                <a:spcPts val="0"/>
              </a:spcAft>
              <a:buSzPts val="1400"/>
              <a:buFont typeface="Calibri"/>
              <a:buNone/>
            </a:pPr>
            <a:r>
              <a:t/>
            </a:r>
            <a:endParaRPr>
              <a:latin typeface="Calibri"/>
              <a:ea typeface="Calibri"/>
              <a:cs typeface="Calibri"/>
              <a:sym typeface="Calibri"/>
            </a:endParaRPr>
          </a:p>
          <a:p>
            <a:pPr indent="0" lvl="0" marL="0" rtl="0" algn="l">
              <a:lnSpc>
                <a:spcPct val="100000"/>
              </a:lnSpc>
              <a:spcBef>
                <a:spcPts val="300"/>
              </a:spcBef>
              <a:spcAft>
                <a:spcPts val="0"/>
              </a:spcAft>
              <a:buSzPts val="1400"/>
              <a:buFont typeface="Calibri"/>
              <a:buNone/>
            </a:pPr>
            <a:r>
              <a:rPr b="1" lang="en-US">
                <a:latin typeface="Calibri"/>
                <a:ea typeface="Calibri"/>
                <a:cs typeface="Calibri"/>
                <a:sym typeface="Calibri"/>
              </a:rPr>
              <a:t>Ross 2011</a:t>
            </a:r>
            <a:endParaRPr/>
          </a:p>
          <a:p>
            <a:pPr indent="-342900" lvl="0" marL="342900" rtl="0" algn="l">
              <a:lnSpc>
                <a:spcPct val="100000"/>
              </a:lnSpc>
              <a:spcBef>
                <a:spcPts val="300"/>
              </a:spcBef>
              <a:spcAft>
                <a:spcPts val="0"/>
              </a:spcAft>
              <a:buSzPts val="1400"/>
              <a:buFont typeface="Arial"/>
              <a:buChar char="•"/>
            </a:pPr>
            <a:r>
              <a:rPr lang="en-US">
                <a:latin typeface="Calibri"/>
                <a:ea typeface="Calibri"/>
                <a:cs typeface="Calibri"/>
                <a:sym typeface="Calibri"/>
              </a:rPr>
              <a:t>Baby Dinosaur – M</a:t>
            </a:r>
            <a:endParaRPr/>
          </a:p>
          <a:p>
            <a:pPr indent="-342900" lvl="0" marL="342900" rtl="0" algn="l">
              <a:lnSpc>
                <a:spcPct val="100000"/>
              </a:lnSpc>
              <a:spcBef>
                <a:spcPts val="300"/>
              </a:spcBef>
              <a:spcAft>
                <a:spcPts val="0"/>
              </a:spcAft>
              <a:buSzPts val="1400"/>
              <a:buFont typeface="Arial"/>
              <a:buChar char="•"/>
            </a:pPr>
            <a:r>
              <a:rPr lang="en-US">
                <a:latin typeface="Calibri"/>
                <a:ea typeface="Calibri"/>
                <a:cs typeface="Calibri"/>
                <a:sym typeface="Calibri"/>
              </a:rPr>
              <a:t>Lonestar Oil – M</a:t>
            </a:r>
            <a:endParaRPr/>
          </a:p>
          <a:p>
            <a:pPr indent="-342900" lvl="0" marL="342900" rtl="0" algn="l">
              <a:lnSpc>
                <a:spcPct val="100000"/>
              </a:lnSpc>
              <a:spcBef>
                <a:spcPts val="300"/>
              </a:spcBef>
              <a:spcAft>
                <a:spcPts val="0"/>
              </a:spcAft>
              <a:buSzPts val="1400"/>
              <a:buFont typeface="Arial"/>
              <a:buChar char="•"/>
            </a:pPr>
            <a:r>
              <a:rPr lang="en-US">
                <a:latin typeface="Calibri"/>
                <a:ea typeface="Calibri"/>
                <a:cs typeface="Calibri"/>
                <a:sym typeface="Calibri"/>
              </a:rPr>
              <a:t>Marie’s Café – M</a:t>
            </a:r>
            <a:endParaRPr/>
          </a:p>
          <a:p>
            <a:pPr indent="0" lvl="0" marL="0" rtl="0" algn="l">
              <a:lnSpc>
                <a:spcPct val="100000"/>
              </a:lnSpc>
              <a:spcBef>
                <a:spcPts val="300"/>
              </a:spcBef>
              <a:spcAft>
                <a:spcPts val="0"/>
              </a:spcAft>
              <a:buSzPts val="1400"/>
              <a:buFont typeface="Calibri"/>
              <a:buNone/>
            </a:pPr>
            <a:r>
              <a:t/>
            </a:r>
            <a:endParaRPr>
              <a:latin typeface="Calibri"/>
              <a:ea typeface="Calibri"/>
              <a:cs typeface="Calibri"/>
              <a:sym typeface="Calibri"/>
            </a:endParaRPr>
          </a:p>
          <a:p>
            <a:pPr indent="0" lvl="0" marL="0" rtl="0" algn="l">
              <a:lnSpc>
                <a:spcPct val="100000"/>
              </a:lnSpc>
              <a:spcBef>
                <a:spcPts val="300"/>
              </a:spcBef>
              <a:spcAft>
                <a:spcPts val="0"/>
              </a:spcAft>
              <a:buSzPts val="1400"/>
              <a:buFont typeface="Calibri"/>
              <a:buNone/>
            </a:pPr>
            <a:r>
              <a:rPr b="1" lang="en-US">
                <a:latin typeface="Calibri"/>
                <a:ea typeface="Calibri"/>
                <a:cs typeface="Calibri"/>
                <a:sym typeface="Calibri"/>
              </a:rPr>
              <a:t>Ross 2012</a:t>
            </a:r>
            <a:endParaRPr/>
          </a:p>
          <a:p>
            <a:pPr indent="-342900" lvl="0" marL="342900" rtl="0" algn="l">
              <a:lnSpc>
                <a:spcPct val="100000"/>
              </a:lnSpc>
              <a:spcBef>
                <a:spcPts val="300"/>
              </a:spcBef>
              <a:spcAft>
                <a:spcPts val="0"/>
              </a:spcAft>
              <a:buSzPts val="1400"/>
              <a:buFont typeface="Arial"/>
              <a:buChar char="•"/>
            </a:pPr>
            <a:r>
              <a:rPr lang="en-US">
                <a:latin typeface="Calibri"/>
                <a:ea typeface="Calibri"/>
                <a:cs typeface="Calibri"/>
                <a:sym typeface="Calibri"/>
              </a:rPr>
              <a:t>Bolsen Pharma – H</a:t>
            </a:r>
            <a:endParaRPr/>
          </a:p>
          <a:p>
            <a:pPr indent="-342900" lvl="0" marL="342900" rtl="0" algn="l">
              <a:lnSpc>
                <a:spcPct val="100000"/>
              </a:lnSpc>
              <a:spcBef>
                <a:spcPts val="300"/>
              </a:spcBef>
              <a:spcAft>
                <a:spcPts val="0"/>
              </a:spcAft>
              <a:buSzPts val="1400"/>
              <a:buFont typeface="Arial"/>
              <a:buChar char="•"/>
            </a:pPr>
            <a:r>
              <a:rPr lang="en-US">
                <a:latin typeface="Calibri"/>
                <a:ea typeface="Calibri"/>
                <a:cs typeface="Calibri"/>
                <a:sym typeface="Calibri"/>
              </a:rPr>
              <a:t>PD Gas Buyout – H</a:t>
            </a:r>
            <a:endParaRPr/>
          </a:p>
          <a:p>
            <a:pPr indent="-342900" lvl="0" marL="342900" rtl="0" algn="l">
              <a:lnSpc>
                <a:spcPct val="100000"/>
              </a:lnSpc>
              <a:spcBef>
                <a:spcPts val="300"/>
              </a:spcBef>
              <a:spcAft>
                <a:spcPts val="0"/>
              </a:spcAft>
              <a:buSzPts val="1400"/>
              <a:buFont typeface="Arial"/>
              <a:buChar char="•"/>
            </a:pPr>
            <a:r>
              <a:rPr lang="en-US">
                <a:latin typeface="Calibri"/>
                <a:ea typeface="Calibri"/>
                <a:cs typeface="Calibri"/>
                <a:sym typeface="Calibri"/>
              </a:rPr>
              <a:t>Seaworthly Floating Hotel - M</a:t>
            </a:r>
            <a:endParaRPr/>
          </a:p>
          <a:p>
            <a:pPr indent="-254000" lvl="0" marL="342900" rtl="0" algn="l">
              <a:lnSpc>
                <a:spcPct val="100000"/>
              </a:lnSpc>
              <a:spcBef>
                <a:spcPts val="300"/>
              </a:spcBef>
              <a:spcAft>
                <a:spcPts val="0"/>
              </a:spcAft>
              <a:buSzPts val="1400"/>
              <a:buFont typeface="Calibri"/>
              <a:buNone/>
            </a:pPr>
            <a:r>
              <a:t/>
            </a:r>
            <a:endParaRPr>
              <a:latin typeface="Calibri"/>
              <a:ea typeface="Calibri"/>
              <a:cs typeface="Calibri"/>
              <a:sym typeface="Calibri"/>
            </a:endParaRPr>
          </a:p>
        </p:txBody>
      </p:sp>
      <p:sp>
        <p:nvSpPr>
          <p:cNvPr id="295" name="Google Shape;295;p4"/>
          <p:cNvSpPr txBox="1"/>
          <p:nvPr>
            <p:ph idx="2" type="body"/>
          </p:nvPr>
        </p:nvSpPr>
        <p:spPr>
          <a:xfrm>
            <a:off x="3208531" y="1353374"/>
            <a:ext cx="2690077" cy="4924494"/>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Font typeface="Calibri"/>
              <a:buNone/>
            </a:pPr>
            <a:r>
              <a:rPr b="1" lang="en-US">
                <a:latin typeface="Calibri"/>
                <a:ea typeface="Calibri"/>
                <a:cs typeface="Calibri"/>
                <a:sym typeface="Calibri"/>
              </a:rPr>
              <a:t>Ross 2015</a:t>
            </a:r>
            <a:endParaRPr/>
          </a:p>
          <a:p>
            <a:pPr indent="-68587" lvl="0" marL="68587" rtl="0" algn="l">
              <a:lnSpc>
                <a:spcPct val="100000"/>
              </a:lnSpc>
              <a:spcBef>
                <a:spcPts val="300"/>
              </a:spcBef>
              <a:spcAft>
                <a:spcPts val="0"/>
              </a:spcAft>
              <a:buSzPts val="1400"/>
              <a:buFont typeface="Arial"/>
              <a:buChar char="•"/>
            </a:pPr>
            <a:r>
              <a:rPr lang="en-US">
                <a:latin typeface="Calibri"/>
                <a:ea typeface="Calibri"/>
                <a:cs typeface="Calibri"/>
                <a:sym typeface="Calibri"/>
              </a:rPr>
              <a:t>African Call Center – M</a:t>
            </a:r>
            <a:endParaRPr/>
          </a:p>
          <a:p>
            <a:pPr indent="-68587" lvl="0" marL="68587" rtl="0" algn="l">
              <a:lnSpc>
                <a:spcPct val="100000"/>
              </a:lnSpc>
              <a:spcBef>
                <a:spcPts val="300"/>
              </a:spcBef>
              <a:spcAft>
                <a:spcPts val="0"/>
              </a:spcAft>
              <a:buSzPts val="1400"/>
              <a:buFont typeface="Arial"/>
              <a:buChar char="•"/>
            </a:pPr>
            <a:r>
              <a:rPr lang="en-US">
                <a:latin typeface="Calibri"/>
                <a:ea typeface="Calibri"/>
                <a:cs typeface="Calibri"/>
                <a:sym typeface="Calibri"/>
              </a:rPr>
              <a:t>Apache Helicopters – H</a:t>
            </a:r>
            <a:endParaRPr/>
          </a:p>
          <a:p>
            <a:pPr indent="-68587" lvl="0" marL="68587" rtl="0" algn="l">
              <a:lnSpc>
                <a:spcPct val="100000"/>
              </a:lnSpc>
              <a:spcBef>
                <a:spcPts val="300"/>
              </a:spcBef>
              <a:spcAft>
                <a:spcPts val="0"/>
              </a:spcAft>
              <a:buSzPts val="1400"/>
              <a:buFont typeface="Arial"/>
              <a:buChar char="•"/>
            </a:pPr>
            <a:r>
              <a:rPr lang="en-US">
                <a:latin typeface="Calibri"/>
                <a:ea typeface="Calibri"/>
                <a:cs typeface="Calibri"/>
                <a:sym typeface="Calibri"/>
              </a:rPr>
              <a:t>Dr. Rossmans Magic Drops – E</a:t>
            </a:r>
            <a:endParaRPr/>
          </a:p>
          <a:p>
            <a:pPr indent="-68587" lvl="0" marL="68587" rtl="0" algn="l">
              <a:lnSpc>
                <a:spcPct val="100000"/>
              </a:lnSpc>
              <a:spcBef>
                <a:spcPts val="300"/>
              </a:spcBef>
              <a:spcAft>
                <a:spcPts val="0"/>
              </a:spcAft>
              <a:buSzPts val="1400"/>
              <a:buFont typeface="Arial"/>
              <a:buChar char="•"/>
            </a:pPr>
            <a:r>
              <a:rPr lang="en-US">
                <a:latin typeface="Calibri"/>
                <a:ea typeface="Calibri"/>
                <a:cs typeface="Calibri"/>
                <a:sym typeface="Calibri"/>
              </a:rPr>
              <a:t>Lawn Co – H</a:t>
            </a:r>
            <a:endParaRPr/>
          </a:p>
          <a:p>
            <a:pPr indent="-68587" lvl="0" marL="68587" rtl="0" algn="l">
              <a:lnSpc>
                <a:spcPct val="100000"/>
              </a:lnSpc>
              <a:spcBef>
                <a:spcPts val="300"/>
              </a:spcBef>
              <a:spcAft>
                <a:spcPts val="0"/>
              </a:spcAft>
              <a:buSzPts val="1400"/>
              <a:buFont typeface="Arial"/>
              <a:buChar char="•"/>
            </a:pPr>
            <a:r>
              <a:rPr lang="en-US">
                <a:latin typeface="Calibri"/>
                <a:ea typeface="Calibri"/>
                <a:cs typeface="Calibri"/>
                <a:sym typeface="Calibri"/>
              </a:rPr>
              <a:t>Midwest Hospital – H</a:t>
            </a:r>
            <a:endParaRPr/>
          </a:p>
          <a:p>
            <a:pPr indent="0" lvl="0" marL="0" rtl="0" algn="l">
              <a:lnSpc>
                <a:spcPct val="100000"/>
              </a:lnSpc>
              <a:spcBef>
                <a:spcPts val="300"/>
              </a:spcBef>
              <a:spcAft>
                <a:spcPts val="0"/>
              </a:spcAft>
              <a:buSzPts val="1400"/>
              <a:buFont typeface="Calibri"/>
              <a:buNone/>
            </a:pPr>
            <a:r>
              <a:t/>
            </a:r>
            <a:endParaRPr>
              <a:latin typeface="Calibri"/>
              <a:ea typeface="Calibri"/>
              <a:cs typeface="Calibri"/>
              <a:sym typeface="Calibri"/>
            </a:endParaRPr>
          </a:p>
          <a:p>
            <a:pPr indent="0" lvl="0" marL="0" rtl="0" algn="l">
              <a:lnSpc>
                <a:spcPct val="100000"/>
              </a:lnSpc>
              <a:spcBef>
                <a:spcPts val="300"/>
              </a:spcBef>
              <a:spcAft>
                <a:spcPts val="0"/>
              </a:spcAft>
              <a:buSzPts val="1400"/>
              <a:buFont typeface="Calibri"/>
              <a:buNone/>
            </a:pPr>
            <a:r>
              <a:rPr b="1" lang="en-US">
                <a:latin typeface="Calibri"/>
                <a:ea typeface="Calibri"/>
                <a:cs typeface="Calibri"/>
                <a:sym typeface="Calibri"/>
              </a:rPr>
              <a:t>Ross 2016</a:t>
            </a:r>
            <a:endParaRPr/>
          </a:p>
          <a:p>
            <a:pPr indent="-342900" lvl="0" marL="342900" rtl="0" algn="l">
              <a:lnSpc>
                <a:spcPct val="100000"/>
              </a:lnSpc>
              <a:spcBef>
                <a:spcPts val="300"/>
              </a:spcBef>
              <a:spcAft>
                <a:spcPts val="0"/>
              </a:spcAft>
              <a:buSzPts val="1400"/>
              <a:buFont typeface="Arial"/>
              <a:buChar char="•"/>
            </a:pPr>
            <a:r>
              <a:rPr lang="en-US">
                <a:latin typeface="Calibri"/>
                <a:ea typeface="Calibri"/>
                <a:cs typeface="Calibri"/>
                <a:sym typeface="Calibri"/>
              </a:rPr>
              <a:t>Airport Parking - E</a:t>
            </a:r>
            <a:endParaRPr/>
          </a:p>
          <a:p>
            <a:pPr indent="-342900" lvl="0" marL="342900" rtl="0" algn="l">
              <a:lnSpc>
                <a:spcPct val="100000"/>
              </a:lnSpc>
              <a:spcBef>
                <a:spcPts val="300"/>
              </a:spcBef>
              <a:spcAft>
                <a:spcPts val="0"/>
              </a:spcAft>
              <a:buSzPts val="1400"/>
              <a:buFont typeface="Arial"/>
              <a:buChar char="•"/>
            </a:pPr>
            <a:r>
              <a:rPr lang="en-US">
                <a:latin typeface="Calibri"/>
                <a:ea typeface="Calibri"/>
                <a:cs typeface="Calibri"/>
                <a:sym typeface="Calibri"/>
              </a:rPr>
              <a:t>Diesel Transportation Co – M</a:t>
            </a:r>
            <a:endParaRPr/>
          </a:p>
          <a:p>
            <a:pPr indent="-342900" lvl="0" marL="342900" rtl="0" algn="l">
              <a:lnSpc>
                <a:spcPct val="100000"/>
              </a:lnSpc>
              <a:spcBef>
                <a:spcPts val="300"/>
              </a:spcBef>
              <a:spcAft>
                <a:spcPts val="0"/>
              </a:spcAft>
              <a:buSzPts val="1400"/>
              <a:buFont typeface="Arial"/>
              <a:buChar char="•"/>
            </a:pPr>
            <a:r>
              <a:rPr lang="en-US">
                <a:latin typeface="Calibri"/>
                <a:ea typeface="Calibri"/>
                <a:cs typeface="Calibri"/>
                <a:sym typeface="Calibri"/>
              </a:rPr>
              <a:t>Fertilizer Innovation – M</a:t>
            </a:r>
            <a:endParaRPr/>
          </a:p>
          <a:p>
            <a:pPr indent="-342900" lvl="0" marL="342900" rtl="0" algn="l">
              <a:lnSpc>
                <a:spcPct val="100000"/>
              </a:lnSpc>
              <a:spcBef>
                <a:spcPts val="300"/>
              </a:spcBef>
              <a:spcAft>
                <a:spcPts val="0"/>
              </a:spcAft>
              <a:buSzPts val="1400"/>
              <a:buFont typeface="Arial"/>
              <a:buChar char="•"/>
            </a:pPr>
            <a:r>
              <a:rPr lang="en-US">
                <a:latin typeface="Calibri"/>
                <a:ea typeface="Calibri"/>
                <a:cs typeface="Calibri"/>
                <a:sym typeface="Calibri"/>
              </a:rPr>
              <a:t>German Luxury Car – M</a:t>
            </a:r>
            <a:endParaRPr/>
          </a:p>
          <a:p>
            <a:pPr indent="-342900" lvl="0" marL="342900" rtl="0" algn="l">
              <a:lnSpc>
                <a:spcPct val="100000"/>
              </a:lnSpc>
              <a:spcBef>
                <a:spcPts val="300"/>
              </a:spcBef>
              <a:spcAft>
                <a:spcPts val="0"/>
              </a:spcAft>
              <a:buSzPts val="1400"/>
              <a:buFont typeface="Arial"/>
              <a:buChar char="•"/>
            </a:pPr>
            <a:r>
              <a:rPr lang="en-US">
                <a:latin typeface="Calibri"/>
                <a:ea typeface="Calibri"/>
                <a:cs typeface="Calibri"/>
                <a:sym typeface="Calibri"/>
              </a:rPr>
              <a:t>Spare Parts – E</a:t>
            </a:r>
            <a:endParaRPr/>
          </a:p>
          <a:p>
            <a:pPr indent="0" lvl="0" marL="0" rtl="0" algn="l">
              <a:lnSpc>
                <a:spcPct val="100000"/>
              </a:lnSpc>
              <a:spcBef>
                <a:spcPts val="300"/>
              </a:spcBef>
              <a:spcAft>
                <a:spcPts val="0"/>
              </a:spcAft>
              <a:buSzPts val="1400"/>
              <a:buFont typeface="Calibri"/>
              <a:buNone/>
            </a:pPr>
            <a:r>
              <a:t/>
            </a:r>
            <a:endParaRPr>
              <a:latin typeface="Calibri"/>
              <a:ea typeface="Calibri"/>
              <a:cs typeface="Calibri"/>
              <a:sym typeface="Calibri"/>
            </a:endParaRPr>
          </a:p>
          <a:p>
            <a:pPr indent="0" lvl="0" marL="0" rtl="0" algn="l">
              <a:lnSpc>
                <a:spcPct val="100000"/>
              </a:lnSpc>
              <a:spcBef>
                <a:spcPts val="300"/>
              </a:spcBef>
              <a:spcAft>
                <a:spcPts val="0"/>
              </a:spcAft>
              <a:buSzPts val="1400"/>
              <a:buFont typeface="Calibri"/>
              <a:buNone/>
            </a:pPr>
            <a:r>
              <a:rPr b="1" lang="en-US">
                <a:latin typeface="Calibri"/>
                <a:ea typeface="Calibri"/>
                <a:cs typeface="Calibri"/>
                <a:sym typeface="Calibri"/>
              </a:rPr>
              <a:t>Darden 2014</a:t>
            </a:r>
            <a:endParaRPr/>
          </a:p>
          <a:p>
            <a:pPr indent="-285750" lvl="0" marL="285750" rtl="0" algn="l">
              <a:lnSpc>
                <a:spcPct val="100000"/>
              </a:lnSpc>
              <a:spcBef>
                <a:spcPts val="300"/>
              </a:spcBef>
              <a:spcAft>
                <a:spcPts val="0"/>
              </a:spcAft>
              <a:buSzPts val="1400"/>
              <a:buFont typeface="Arial"/>
              <a:buChar char="•"/>
            </a:pPr>
            <a:r>
              <a:rPr lang="en-US">
                <a:latin typeface="Calibri"/>
                <a:ea typeface="Calibri"/>
                <a:cs typeface="Calibri"/>
                <a:sym typeface="Calibri"/>
              </a:rPr>
              <a:t>Ski Resort – H</a:t>
            </a:r>
            <a:endParaRPr/>
          </a:p>
          <a:p>
            <a:pPr indent="0" lvl="0" marL="0" rtl="0" algn="l">
              <a:lnSpc>
                <a:spcPct val="100000"/>
              </a:lnSpc>
              <a:spcBef>
                <a:spcPts val="300"/>
              </a:spcBef>
              <a:spcAft>
                <a:spcPts val="0"/>
              </a:spcAft>
              <a:buSzPts val="1400"/>
              <a:buFont typeface="Calibri"/>
              <a:buNone/>
            </a:pPr>
            <a:r>
              <a:t/>
            </a:r>
            <a:endParaRPr>
              <a:latin typeface="Calibri"/>
              <a:ea typeface="Calibri"/>
              <a:cs typeface="Calibri"/>
              <a:sym typeface="Calibri"/>
            </a:endParaRPr>
          </a:p>
          <a:p>
            <a:pPr indent="0" lvl="0" marL="0" rtl="0" algn="l">
              <a:lnSpc>
                <a:spcPct val="100000"/>
              </a:lnSpc>
              <a:spcBef>
                <a:spcPts val="300"/>
              </a:spcBef>
              <a:spcAft>
                <a:spcPts val="0"/>
              </a:spcAft>
              <a:buSzPts val="1400"/>
              <a:buFont typeface="Calibri"/>
              <a:buNone/>
            </a:pPr>
            <a:r>
              <a:rPr b="1" lang="en-US">
                <a:latin typeface="Calibri"/>
                <a:ea typeface="Calibri"/>
                <a:cs typeface="Calibri"/>
                <a:sym typeface="Calibri"/>
              </a:rPr>
              <a:t>Fuqua 2009</a:t>
            </a:r>
            <a:endParaRPr/>
          </a:p>
          <a:p>
            <a:pPr indent="-285750" lvl="0" marL="285750" rtl="0" algn="l">
              <a:lnSpc>
                <a:spcPct val="100000"/>
              </a:lnSpc>
              <a:spcBef>
                <a:spcPts val="300"/>
              </a:spcBef>
              <a:spcAft>
                <a:spcPts val="0"/>
              </a:spcAft>
              <a:buSzPts val="1400"/>
              <a:buFont typeface="Arial"/>
              <a:buChar char="•"/>
            </a:pPr>
            <a:r>
              <a:rPr lang="en-US">
                <a:latin typeface="Calibri"/>
                <a:ea typeface="Calibri"/>
                <a:cs typeface="Calibri"/>
                <a:sym typeface="Calibri"/>
              </a:rPr>
              <a:t>Lizettes Luxury Properties – M</a:t>
            </a:r>
            <a:endParaRPr/>
          </a:p>
          <a:p>
            <a:pPr indent="0" lvl="0" marL="0" rtl="0" algn="l">
              <a:lnSpc>
                <a:spcPct val="100000"/>
              </a:lnSpc>
              <a:spcBef>
                <a:spcPts val="300"/>
              </a:spcBef>
              <a:spcAft>
                <a:spcPts val="0"/>
              </a:spcAft>
              <a:buSzPts val="1400"/>
              <a:buFont typeface="Calibri"/>
              <a:buNone/>
            </a:pPr>
            <a:r>
              <a:t/>
            </a:r>
            <a:endParaRPr>
              <a:latin typeface="Calibri"/>
              <a:ea typeface="Calibri"/>
              <a:cs typeface="Calibri"/>
              <a:sym typeface="Calibri"/>
            </a:endParaRPr>
          </a:p>
        </p:txBody>
      </p:sp>
      <p:sp>
        <p:nvSpPr>
          <p:cNvPr id="296" name="Google Shape;296;p4"/>
          <p:cNvSpPr txBox="1"/>
          <p:nvPr>
            <p:ph idx="3" type="body"/>
          </p:nvPr>
        </p:nvSpPr>
        <p:spPr>
          <a:xfrm>
            <a:off x="6039474" y="1353374"/>
            <a:ext cx="2690077" cy="4924494"/>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Font typeface="Calibri"/>
              <a:buNone/>
            </a:pPr>
            <a:r>
              <a:rPr b="1" lang="en-US">
                <a:latin typeface="Calibri"/>
                <a:ea typeface="Calibri"/>
                <a:cs typeface="Calibri"/>
                <a:sym typeface="Calibri"/>
              </a:rPr>
              <a:t>Kellogg 2011</a:t>
            </a:r>
            <a:endParaRPr/>
          </a:p>
          <a:p>
            <a:pPr indent="-285750" lvl="0" marL="285750" rtl="0" algn="l">
              <a:lnSpc>
                <a:spcPct val="100000"/>
              </a:lnSpc>
              <a:spcBef>
                <a:spcPts val="300"/>
              </a:spcBef>
              <a:spcAft>
                <a:spcPts val="0"/>
              </a:spcAft>
              <a:buSzPts val="1400"/>
              <a:buFont typeface="Arial"/>
              <a:buChar char="•"/>
            </a:pPr>
            <a:r>
              <a:rPr lang="en-US">
                <a:latin typeface="Calibri"/>
                <a:ea typeface="Calibri"/>
                <a:cs typeface="Calibri"/>
                <a:sym typeface="Calibri"/>
              </a:rPr>
              <a:t>A+ Airline – M</a:t>
            </a:r>
            <a:endParaRPr/>
          </a:p>
          <a:p>
            <a:pPr indent="-285750" lvl="0" marL="285750" rtl="0" algn="l">
              <a:lnSpc>
                <a:spcPct val="100000"/>
              </a:lnSpc>
              <a:spcBef>
                <a:spcPts val="300"/>
              </a:spcBef>
              <a:spcAft>
                <a:spcPts val="0"/>
              </a:spcAft>
              <a:buSzPts val="1400"/>
              <a:buFont typeface="Arial"/>
              <a:buChar char="•"/>
            </a:pPr>
            <a:r>
              <a:rPr lang="en-US">
                <a:latin typeface="Calibri"/>
                <a:ea typeface="Calibri"/>
                <a:cs typeface="Calibri"/>
                <a:sym typeface="Calibri"/>
              </a:rPr>
              <a:t>Bell Computers – H</a:t>
            </a:r>
            <a:endParaRPr/>
          </a:p>
          <a:p>
            <a:pPr indent="-285750" lvl="0" marL="285750" rtl="0" algn="l">
              <a:lnSpc>
                <a:spcPct val="100000"/>
              </a:lnSpc>
              <a:spcBef>
                <a:spcPts val="300"/>
              </a:spcBef>
              <a:spcAft>
                <a:spcPts val="0"/>
              </a:spcAft>
              <a:buSzPts val="1400"/>
              <a:buFont typeface="Arial"/>
              <a:buChar char="•"/>
            </a:pPr>
            <a:r>
              <a:rPr lang="en-US">
                <a:latin typeface="Calibri"/>
                <a:ea typeface="Calibri"/>
                <a:cs typeface="Calibri"/>
                <a:sym typeface="Calibri"/>
              </a:rPr>
              <a:t>GoNet ISP – H</a:t>
            </a:r>
            <a:endParaRPr/>
          </a:p>
          <a:p>
            <a:pPr indent="-285750" lvl="0" marL="285750" rtl="0" algn="l">
              <a:lnSpc>
                <a:spcPct val="100000"/>
              </a:lnSpc>
              <a:spcBef>
                <a:spcPts val="300"/>
              </a:spcBef>
              <a:spcAft>
                <a:spcPts val="0"/>
              </a:spcAft>
              <a:buSzPts val="1400"/>
              <a:buFont typeface="Arial"/>
              <a:buChar char="•"/>
            </a:pPr>
            <a:r>
              <a:rPr lang="en-US">
                <a:latin typeface="Calibri"/>
                <a:ea typeface="Calibri"/>
                <a:cs typeface="Calibri"/>
                <a:sym typeface="Calibri"/>
              </a:rPr>
              <a:t>Health Coaches – H</a:t>
            </a:r>
            <a:endParaRPr/>
          </a:p>
          <a:p>
            <a:pPr indent="-285750" lvl="0" marL="285750" rtl="0" algn="l">
              <a:lnSpc>
                <a:spcPct val="100000"/>
              </a:lnSpc>
              <a:spcBef>
                <a:spcPts val="300"/>
              </a:spcBef>
              <a:spcAft>
                <a:spcPts val="0"/>
              </a:spcAft>
              <a:buSzPts val="1400"/>
              <a:buFont typeface="Arial"/>
              <a:buChar char="•"/>
            </a:pPr>
            <a:r>
              <a:rPr lang="en-US">
                <a:latin typeface="Calibri"/>
                <a:ea typeface="Calibri"/>
                <a:cs typeface="Calibri"/>
                <a:sym typeface="Calibri"/>
              </a:rPr>
              <a:t>Hospitality Co – M</a:t>
            </a:r>
            <a:endParaRPr/>
          </a:p>
          <a:p>
            <a:pPr indent="-285750" lvl="0" marL="285750" rtl="0" algn="l">
              <a:lnSpc>
                <a:spcPct val="100000"/>
              </a:lnSpc>
              <a:spcBef>
                <a:spcPts val="300"/>
              </a:spcBef>
              <a:spcAft>
                <a:spcPts val="0"/>
              </a:spcAft>
              <a:buSzPts val="1400"/>
              <a:buFont typeface="Arial"/>
              <a:buChar char="•"/>
            </a:pPr>
            <a:r>
              <a:rPr lang="en-US">
                <a:latin typeface="Calibri"/>
                <a:ea typeface="Calibri"/>
                <a:cs typeface="Calibri"/>
                <a:sym typeface="Calibri"/>
              </a:rPr>
              <a:t>Maine Apples – M</a:t>
            </a:r>
            <a:endParaRPr/>
          </a:p>
          <a:p>
            <a:pPr indent="-285750" lvl="0" marL="285750" rtl="0" algn="l">
              <a:lnSpc>
                <a:spcPct val="100000"/>
              </a:lnSpc>
              <a:spcBef>
                <a:spcPts val="300"/>
              </a:spcBef>
              <a:spcAft>
                <a:spcPts val="0"/>
              </a:spcAft>
              <a:buSzPts val="1400"/>
              <a:buFont typeface="Arial"/>
              <a:buChar char="•"/>
            </a:pPr>
            <a:r>
              <a:rPr lang="en-US">
                <a:latin typeface="Calibri"/>
                <a:ea typeface="Calibri"/>
                <a:cs typeface="Calibri"/>
                <a:sym typeface="Calibri"/>
              </a:rPr>
              <a:t>Rock Energy – M</a:t>
            </a:r>
            <a:endParaRPr/>
          </a:p>
          <a:p>
            <a:pPr indent="-285750" lvl="0" marL="285750" rtl="0" algn="l">
              <a:lnSpc>
                <a:spcPct val="100000"/>
              </a:lnSpc>
              <a:spcBef>
                <a:spcPts val="300"/>
              </a:spcBef>
              <a:spcAft>
                <a:spcPts val="0"/>
              </a:spcAft>
              <a:buSzPts val="1400"/>
              <a:buFont typeface="Arial"/>
              <a:buChar char="•"/>
            </a:pPr>
            <a:r>
              <a:rPr lang="en-US">
                <a:latin typeface="Calibri"/>
                <a:ea typeface="Calibri"/>
                <a:cs typeface="Calibri"/>
                <a:sym typeface="Calibri"/>
              </a:rPr>
              <a:t>Syzygy Supercomputers – H</a:t>
            </a:r>
            <a:endParaRPr/>
          </a:p>
          <a:p>
            <a:pPr indent="-285750" lvl="0" marL="285750" rtl="0" algn="l">
              <a:lnSpc>
                <a:spcPct val="100000"/>
              </a:lnSpc>
              <a:spcBef>
                <a:spcPts val="300"/>
              </a:spcBef>
              <a:spcAft>
                <a:spcPts val="0"/>
              </a:spcAft>
              <a:buSzPts val="1400"/>
              <a:buFont typeface="Arial"/>
              <a:buChar char="•"/>
            </a:pPr>
            <a:r>
              <a:rPr lang="en-US">
                <a:latin typeface="Calibri"/>
                <a:ea typeface="Calibri"/>
                <a:cs typeface="Calibri"/>
                <a:sym typeface="Calibri"/>
              </a:rPr>
              <a:t>Winter Olympics Bidding – M</a:t>
            </a:r>
            <a:endParaRPr/>
          </a:p>
          <a:p>
            <a:pPr indent="-196850" lvl="0" marL="285750" rtl="0" algn="l">
              <a:lnSpc>
                <a:spcPct val="100000"/>
              </a:lnSpc>
              <a:spcBef>
                <a:spcPts val="300"/>
              </a:spcBef>
              <a:spcAft>
                <a:spcPts val="0"/>
              </a:spcAft>
              <a:buSzPts val="1400"/>
              <a:buFont typeface="Arial"/>
              <a:buNone/>
            </a:pPr>
            <a:r>
              <a:t/>
            </a:r>
            <a:endParaRPr>
              <a:latin typeface="Calibri"/>
              <a:ea typeface="Calibri"/>
              <a:cs typeface="Calibri"/>
              <a:sym typeface="Calibri"/>
            </a:endParaRPr>
          </a:p>
          <a:p>
            <a:pPr indent="0" lvl="0" marL="0" rtl="0" algn="l">
              <a:lnSpc>
                <a:spcPct val="100000"/>
              </a:lnSpc>
              <a:spcBef>
                <a:spcPts val="300"/>
              </a:spcBef>
              <a:spcAft>
                <a:spcPts val="0"/>
              </a:spcAft>
              <a:buSzPts val="1400"/>
              <a:buFont typeface="Calibri"/>
              <a:buNone/>
            </a:pPr>
            <a:r>
              <a:rPr b="1" lang="en-US">
                <a:latin typeface="Calibri"/>
                <a:ea typeface="Calibri"/>
                <a:cs typeface="Calibri"/>
                <a:sym typeface="Calibri"/>
              </a:rPr>
              <a:t>Wharton 2010</a:t>
            </a:r>
            <a:endParaRPr/>
          </a:p>
          <a:p>
            <a:pPr indent="-285750" lvl="0" marL="285750" rtl="0" algn="l">
              <a:lnSpc>
                <a:spcPct val="100000"/>
              </a:lnSpc>
              <a:spcBef>
                <a:spcPts val="300"/>
              </a:spcBef>
              <a:spcAft>
                <a:spcPts val="0"/>
              </a:spcAft>
              <a:buSzPts val="1400"/>
              <a:buFont typeface="Arial"/>
              <a:buChar char="•"/>
            </a:pPr>
            <a:r>
              <a:rPr lang="en-US">
                <a:latin typeface="Calibri"/>
                <a:ea typeface="Calibri"/>
                <a:cs typeface="Calibri"/>
                <a:sym typeface="Calibri"/>
              </a:rPr>
              <a:t>Caskets – M</a:t>
            </a:r>
            <a:endParaRPr/>
          </a:p>
          <a:p>
            <a:pPr indent="-285750" lvl="0" marL="285750" rtl="0" algn="l">
              <a:lnSpc>
                <a:spcPct val="100000"/>
              </a:lnSpc>
              <a:spcBef>
                <a:spcPts val="300"/>
              </a:spcBef>
              <a:spcAft>
                <a:spcPts val="0"/>
              </a:spcAft>
              <a:buSzPts val="1400"/>
              <a:buFont typeface="Arial"/>
              <a:buChar char="•"/>
            </a:pPr>
            <a:r>
              <a:rPr lang="en-US">
                <a:latin typeface="Calibri"/>
                <a:ea typeface="Calibri"/>
                <a:cs typeface="Calibri"/>
                <a:sym typeface="Calibri"/>
              </a:rPr>
              <a:t>Debeer’s Retail Venture – M</a:t>
            </a:r>
            <a:endParaRPr/>
          </a:p>
          <a:p>
            <a:pPr indent="-285750" lvl="0" marL="285750" rtl="0" algn="l">
              <a:lnSpc>
                <a:spcPct val="100000"/>
              </a:lnSpc>
              <a:spcBef>
                <a:spcPts val="300"/>
              </a:spcBef>
              <a:spcAft>
                <a:spcPts val="0"/>
              </a:spcAft>
              <a:buSzPts val="1400"/>
              <a:buFont typeface="Arial"/>
              <a:buChar char="•"/>
            </a:pPr>
            <a:r>
              <a:rPr lang="en-US">
                <a:latin typeface="Calibri"/>
                <a:ea typeface="Calibri"/>
                <a:cs typeface="Calibri"/>
                <a:sym typeface="Calibri"/>
              </a:rPr>
              <a:t>Jamaican Land Investment – E</a:t>
            </a:r>
            <a:endParaRPr/>
          </a:p>
          <a:p>
            <a:pPr indent="-285750" lvl="0" marL="285750" rtl="0" algn="l">
              <a:lnSpc>
                <a:spcPct val="100000"/>
              </a:lnSpc>
              <a:spcBef>
                <a:spcPts val="300"/>
              </a:spcBef>
              <a:spcAft>
                <a:spcPts val="0"/>
              </a:spcAft>
              <a:buSzPts val="1400"/>
              <a:buFont typeface="Arial"/>
              <a:buChar char="•"/>
            </a:pPr>
            <a:r>
              <a:rPr lang="en-US">
                <a:latin typeface="Calibri"/>
                <a:ea typeface="Calibri"/>
                <a:cs typeface="Calibri"/>
                <a:sym typeface="Calibri"/>
              </a:rPr>
              <a:t>Organic Pizza Crust – E</a:t>
            </a:r>
            <a:endParaRPr/>
          </a:p>
          <a:p>
            <a:pPr indent="-285750" lvl="0" marL="285750" rtl="0" algn="l">
              <a:lnSpc>
                <a:spcPct val="100000"/>
              </a:lnSpc>
              <a:spcBef>
                <a:spcPts val="300"/>
              </a:spcBef>
              <a:spcAft>
                <a:spcPts val="0"/>
              </a:spcAft>
              <a:buSzPts val="1400"/>
              <a:buFont typeface="Arial"/>
              <a:buChar char="•"/>
            </a:pPr>
            <a:r>
              <a:rPr lang="en-US">
                <a:latin typeface="Calibri"/>
                <a:ea typeface="Calibri"/>
                <a:cs typeface="Calibri"/>
                <a:sym typeface="Calibri"/>
              </a:rPr>
              <a:t>Copper Ore Mining Investment – M</a:t>
            </a:r>
            <a:endParaRPr/>
          </a:p>
          <a:p>
            <a:pPr indent="-285750" lvl="0" marL="285750" rtl="0" algn="l">
              <a:lnSpc>
                <a:spcPct val="100000"/>
              </a:lnSpc>
              <a:spcBef>
                <a:spcPts val="300"/>
              </a:spcBef>
              <a:spcAft>
                <a:spcPts val="0"/>
              </a:spcAft>
              <a:buSzPts val="1400"/>
              <a:buFont typeface="Arial"/>
              <a:buChar char="•"/>
            </a:pPr>
            <a:r>
              <a:rPr lang="en-US">
                <a:latin typeface="Calibri"/>
                <a:ea typeface="Calibri"/>
                <a:cs typeface="Calibri"/>
                <a:sym typeface="Calibri"/>
              </a:rPr>
              <a:t>Whisky Brand Turnaround – M</a:t>
            </a:r>
            <a:endParaRPr/>
          </a:p>
          <a:p>
            <a:pPr indent="0" lvl="0" marL="0" rtl="0" algn="l">
              <a:lnSpc>
                <a:spcPct val="100000"/>
              </a:lnSpc>
              <a:spcBef>
                <a:spcPts val="300"/>
              </a:spcBef>
              <a:spcAft>
                <a:spcPts val="0"/>
              </a:spcAft>
              <a:buSzPts val="1400"/>
              <a:buFont typeface="Calibri"/>
              <a:buNone/>
            </a:pPr>
            <a:r>
              <a:t/>
            </a:r>
            <a:endParaRPr>
              <a:latin typeface="Calibri"/>
              <a:ea typeface="Calibri"/>
              <a:cs typeface="Calibri"/>
              <a:sym typeface="Calibri"/>
            </a:endParaRPr>
          </a:p>
        </p:txBody>
      </p:sp>
      <p:sp>
        <p:nvSpPr>
          <p:cNvPr id="297" name="Google Shape;297;p4"/>
          <p:cNvSpPr txBox="1"/>
          <p:nvPr>
            <p:ph idx="4" type="body"/>
          </p:nvPr>
        </p:nvSpPr>
        <p:spPr>
          <a:xfrm>
            <a:off x="503321" y="1075872"/>
            <a:ext cx="2549163"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t/>
            </a:r>
            <a:endParaRPr/>
          </a:p>
        </p:txBody>
      </p:sp>
      <p:sp>
        <p:nvSpPr>
          <p:cNvPr id="298" name="Google Shape;298;p4"/>
          <p:cNvSpPr txBox="1"/>
          <p:nvPr>
            <p:ph idx="5" type="body"/>
          </p:nvPr>
        </p:nvSpPr>
        <p:spPr>
          <a:xfrm>
            <a:off x="3319646" y="1075872"/>
            <a:ext cx="2549163"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t/>
            </a:r>
            <a:endParaRPr/>
          </a:p>
        </p:txBody>
      </p:sp>
      <p:sp>
        <p:nvSpPr>
          <p:cNvPr id="299" name="Google Shape;299;p4"/>
          <p:cNvSpPr txBox="1"/>
          <p:nvPr>
            <p:ph idx="6" type="body"/>
          </p:nvPr>
        </p:nvSpPr>
        <p:spPr>
          <a:xfrm>
            <a:off x="6125605" y="1075872"/>
            <a:ext cx="2549163"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t/>
            </a:r>
            <a:endParaRPr/>
          </a:p>
        </p:txBody>
      </p:sp>
      <p:sp>
        <p:nvSpPr>
          <p:cNvPr id="300" name="Google Shape;300;p4"/>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5"/>
          <p:cNvSpPr txBox="1"/>
          <p:nvPr>
            <p:ph idx="1" type="body"/>
          </p:nvPr>
        </p:nvSpPr>
        <p:spPr>
          <a:xfrm>
            <a:off x="381001" y="1283366"/>
            <a:ext cx="8341656" cy="2182282"/>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Font typeface="Calibri"/>
              <a:buNone/>
            </a:pPr>
            <a:r>
              <a:rPr lang="en-US"/>
              <a:t>Your client is a major sports league called FLC. They organize a national championship and several other smaller competitions. Serving as the only men’s soccer league in the country, FLC currently has 10 teams. FLC is involved in general league management which includes setting rules of gameplay, organizing the US National Championship, drafts, matches, referees and deals with sponsors etc.  Currently FLC only receives revenues from royalties payed by the teams within the league and the company is interested in increasing its net income by expanding its operations.</a:t>
            </a:r>
            <a:endParaRPr/>
          </a:p>
          <a:p>
            <a:pPr indent="0" lvl="0" marL="0" rtl="0" algn="l">
              <a:lnSpc>
                <a:spcPct val="100000"/>
              </a:lnSpc>
              <a:spcBef>
                <a:spcPts val="300"/>
              </a:spcBef>
              <a:spcAft>
                <a:spcPts val="0"/>
              </a:spcAft>
              <a:buSzPts val="1400"/>
              <a:buFont typeface="Calibri"/>
              <a:buNone/>
            </a:pPr>
            <a:r>
              <a:t/>
            </a:r>
            <a:endParaRPr/>
          </a:p>
          <a:p>
            <a:pPr indent="0" lvl="0" marL="0" rtl="0" algn="l">
              <a:lnSpc>
                <a:spcPct val="100000"/>
              </a:lnSpc>
              <a:spcBef>
                <a:spcPts val="300"/>
              </a:spcBef>
              <a:spcAft>
                <a:spcPts val="0"/>
              </a:spcAft>
              <a:buSzPts val="1400"/>
              <a:buFont typeface="Calibri"/>
              <a:buNone/>
            </a:pPr>
            <a:r>
              <a:t/>
            </a:r>
            <a:endParaRPr/>
          </a:p>
        </p:txBody>
      </p:sp>
      <p:sp>
        <p:nvSpPr>
          <p:cNvPr id="306" name="Google Shape;306;p5"/>
          <p:cNvSpPr txBox="1"/>
          <p:nvPr>
            <p:ph idx="2" type="body"/>
          </p:nvPr>
        </p:nvSpPr>
        <p:spPr>
          <a:xfrm>
            <a:off x="368302" y="3910260"/>
            <a:ext cx="4107445" cy="2367609"/>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1" marL="1588" rtl="0" algn="l">
              <a:lnSpc>
                <a:spcPct val="100000"/>
              </a:lnSpc>
              <a:spcBef>
                <a:spcPts val="0"/>
              </a:spcBef>
              <a:spcAft>
                <a:spcPts val="0"/>
              </a:spcAft>
              <a:buSzPts val="1400"/>
              <a:buNone/>
            </a:pPr>
            <a:r>
              <a:rPr b="1" lang="en-US"/>
              <a:t>Difficulty: </a:t>
            </a:r>
            <a:r>
              <a:rPr lang="en-US"/>
              <a:t> Hard</a:t>
            </a:r>
            <a:endParaRPr b="1"/>
          </a:p>
          <a:p>
            <a:pPr indent="0" lvl="1" marL="1588" rtl="0" algn="l">
              <a:lnSpc>
                <a:spcPct val="100000"/>
              </a:lnSpc>
              <a:spcBef>
                <a:spcPts val="300"/>
              </a:spcBef>
              <a:spcAft>
                <a:spcPts val="0"/>
              </a:spcAft>
              <a:buSzPts val="1400"/>
              <a:buNone/>
            </a:pPr>
            <a:r>
              <a:t/>
            </a:r>
            <a:endParaRPr/>
          </a:p>
          <a:p>
            <a:pPr indent="0" lvl="1" marL="1588" rtl="0" algn="l">
              <a:lnSpc>
                <a:spcPct val="100000"/>
              </a:lnSpc>
              <a:spcBef>
                <a:spcPts val="300"/>
              </a:spcBef>
              <a:spcAft>
                <a:spcPts val="0"/>
              </a:spcAft>
              <a:buSzPts val="1400"/>
              <a:buNone/>
            </a:pPr>
            <a:r>
              <a:rPr b="1" lang="en-US"/>
              <a:t>Case Format: </a:t>
            </a:r>
            <a:r>
              <a:rPr lang="en-US"/>
              <a:t>Profitability / Market entry</a:t>
            </a:r>
            <a:endParaRPr/>
          </a:p>
          <a:p>
            <a:pPr indent="0" lvl="1" marL="1588" rtl="0" algn="l">
              <a:lnSpc>
                <a:spcPct val="100000"/>
              </a:lnSpc>
              <a:spcBef>
                <a:spcPts val="300"/>
              </a:spcBef>
              <a:spcAft>
                <a:spcPts val="0"/>
              </a:spcAft>
              <a:buSzPts val="1400"/>
              <a:buNone/>
            </a:pPr>
            <a:r>
              <a:t/>
            </a:r>
            <a:endParaRPr/>
          </a:p>
          <a:p>
            <a:pPr indent="0" lvl="1" marL="1588" rtl="0" algn="l">
              <a:lnSpc>
                <a:spcPct val="100000"/>
              </a:lnSpc>
              <a:spcBef>
                <a:spcPts val="300"/>
              </a:spcBef>
              <a:spcAft>
                <a:spcPts val="0"/>
              </a:spcAft>
              <a:buSzPts val="1400"/>
              <a:buNone/>
            </a:pPr>
            <a:r>
              <a:rPr b="1" lang="en-US"/>
              <a:t>Concepts Being Tested: </a:t>
            </a:r>
            <a:r>
              <a:rPr lang="en-US"/>
              <a:t>Market Share or Sizing, Net Income Margin</a:t>
            </a:r>
            <a:endParaRPr/>
          </a:p>
        </p:txBody>
      </p:sp>
      <p:sp>
        <p:nvSpPr>
          <p:cNvPr id="307" name="Google Shape;307;p5"/>
          <p:cNvSpPr txBox="1"/>
          <p:nvPr>
            <p:ph idx="3" type="body"/>
          </p:nvPr>
        </p:nvSpPr>
        <p:spPr>
          <a:xfrm>
            <a:off x="4596063" y="3910260"/>
            <a:ext cx="4110955" cy="2367608"/>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274313" lvl="1" marL="274313" rtl="0" algn="l">
              <a:lnSpc>
                <a:spcPct val="100000"/>
              </a:lnSpc>
              <a:spcBef>
                <a:spcPts val="0"/>
              </a:spcBef>
              <a:spcAft>
                <a:spcPts val="0"/>
              </a:spcAft>
              <a:buSzPts val="1400"/>
              <a:buChar char="•"/>
            </a:pPr>
            <a:r>
              <a:rPr lang="en-US"/>
              <a:t>In this case, the candidate should </a:t>
            </a:r>
            <a:r>
              <a:rPr b="1" lang="en-US"/>
              <a:t>NOT </a:t>
            </a:r>
            <a:r>
              <a:rPr lang="en-US"/>
              <a:t>focus on FLC’s current existing costs. The main focus is to evaluate different options to expand FLC’s operations to meet the target NI growth. </a:t>
            </a:r>
            <a:endParaRPr/>
          </a:p>
          <a:p>
            <a:pPr indent="-274313" lvl="1" marL="274313" rtl="0" algn="l">
              <a:lnSpc>
                <a:spcPct val="100000"/>
              </a:lnSpc>
              <a:spcBef>
                <a:spcPts val="300"/>
              </a:spcBef>
              <a:spcAft>
                <a:spcPts val="0"/>
              </a:spcAft>
              <a:buSzPts val="1400"/>
              <a:buChar char="•"/>
            </a:pPr>
            <a:r>
              <a:rPr lang="en-US"/>
              <a:t>This is an interviewee led case. It should conclude with a concrete recommendation from the interviewee</a:t>
            </a:r>
            <a:endParaRPr/>
          </a:p>
        </p:txBody>
      </p:sp>
      <p:sp>
        <p:nvSpPr>
          <p:cNvPr id="308" name="Google Shape;308;p5"/>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FLC Sports League</a:t>
            </a:r>
            <a:endParaRPr/>
          </a:p>
        </p:txBody>
      </p:sp>
      <p:sp>
        <p:nvSpPr>
          <p:cNvPr id="309" name="Google Shape;309;p5"/>
          <p:cNvSpPr txBox="1"/>
          <p:nvPr>
            <p:ph idx="4" type="body"/>
          </p:nvPr>
        </p:nvSpPr>
        <p:spPr>
          <a:xfrm>
            <a:off x="465670" y="996952"/>
            <a:ext cx="8209098"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Case Prompt</a:t>
            </a:r>
            <a:endParaRPr/>
          </a:p>
        </p:txBody>
      </p:sp>
      <p:sp>
        <p:nvSpPr>
          <p:cNvPr id="310" name="Google Shape;310;p5"/>
          <p:cNvSpPr txBox="1"/>
          <p:nvPr>
            <p:ph idx="5" type="body"/>
          </p:nvPr>
        </p:nvSpPr>
        <p:spPr>
          <a:xfrm>
            <a:off x="465670" y="3621892"/>
            <a:ext cx="4010077"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solidFill>
                  <a:schemeClr val="lt1"/>
                </a:solidFill>
              </a:rPr>
              <a:t>Case Info</a:t>
            </a:r>
            <a:endParaRPr/>
          </a:p>
        </p:txBody>
      </p:sp>
      <p:sp>
        <p:nvSpPr>
          <p:cNvPr id="311" name="Google Shape;311;p5"/>
          <p:cNvSpPr txBox="1"/>
          <p:nvPr>
            <p:ph idx="6" type="body"/>
          </p:nvPr>
        </p:nvSpPr>
        <p:spPr>
          <a:xfrm>
            <a:off x="4664691" y="3621892"/>
            <a:ext cx="4010077"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solidFill>
                  <a:schemeClr val="lt1"/>
                </a:solidFill>
              </a:rPr>
              <a:t>Interviewer Guidance </a:t>
            </a:r>
            <a:endParaRPr/>
          </a:p>
        </p:txBody>
      </p:sp>
      <p:sp>
        <p:nvSpPr>
          <p:cNvPr id="312" name="Google Shape;312;p5"/>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6"/>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FLC Sports League</a:t>
            </a:r>
            <a:endParaRPr/>
          </a:p>
        </p:txBody>
      </p:sp>
      <p:sp>
        <p:nvSpPr>
          <p:cNvPr id="318" name="Google Shape;318;p6"/>
          <p:cNvSpPr txBox="1"/>
          <p:nvPr>
            <p:ph idx="1" type="body"/>
          </p:nvPr>
        </p:nvSpPr>
        <p:spPr>
          <a:xfrm>
            <a:off x="368302" y="1291201"/>
            <a:ext cx="4107445" cy="4977254"/>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274313" lvl="1" marL="274313" rtl="0" algn="l">
              <a:lnSpc>
                <a:spcPct val="100000"/>
              </a:lnSpc>
              <a:spcBef>
                <a:spcPts val="0"/>
              </a:spcBef>
              <a:spcAft>
                <a:spcPts val="0"/>
              </a:spcAft>
              <a:buSzPts val="1200"/>
              <a:buChar char="•"/>
            </a:pPr>
            <a:r>
              <a:rPr lang="en-US" sz="1200"/>
              <a:t>This year, FLC’s revenue was ~$100M with 10% Net Income</a:t>
            </a:r>
            <a:endParaRPr/>
          </a:p>
          <a:p>
            <a:pPr indent="-274313" lvl="1" marL="274313" rtl="0" algn="l">
              <a:lnSpc>
                <a:spcPct val="100000"/>
              </a:lnSpc>
              <a:spcBef>
                <a:spcPts val="300"/>
              </a:spcBef>
              <a:spcAft>
                <a:spcPts val="0"/>
              </a:spcAft>
              <a:buSzPts val="1200"/>
              <a:buChar char="•"/>
            </a:pPr>
            <a:r>
              <a:rPr lang="en-US" sz="1200"/>
              <a:t>FLC wants to increase its NI by 20% in the next year, with a ROI (NI / Investment) hurdle rate of 15% </a:t>
            </a:r>
            <a:endParaRPr/>
          </a:p>
          <a:p>
            <a:pPr indent="-274313" lvl="1" marL="274313" rtl="0" algn="l">
              <a:lnSpc>
                <a:spcPct val="100000"/>
              </a:lnSpc>
              <a:spcBef>
                <a:spcPts val="300"/>
              </a:spcBef>
              <a:spcAft>
                <a:spcPts val="0"/>
              </a:spcAft>
              <a:buSzPts val="1200"/>
              <a:buChar char="•"/>
            </a:pPr>
            <a:r>
              <a:rPr lang="en-US" sz="1200"/>
              <a:t>For the purpose of this case, consider that FLC current operations and revenue management are fully optimized (no organic growth possible)</a:t>
            </a:r>
            <a:endParaRPr/>
          </a:p>
          <a:p>
            <a:pPr indent="-274313" lvl="1" marL="274313" rtl="0" algn="l">
              <a:lnSpc>
                <a:spcPct val="100000"/>
              </a:lnSpc>
              <a:spcBef>
                <a:spcPts val="300"/>
              </a:spcBef>
              <a:spcAft>
                <a:spcPts val="0"/>
              </a:spcAft>
              <a:buSzPts val="1200"/>
              <a:buChar char="•"/>
            </a:pPr>
            <a:r>
              <a:rPr lang="en-US" sz="1200"/>
              <a:t>FLC is responsible for large upfront commercial, operational and marketing costs when a new team enters the league</a:t>
            </a:r>
            <a:endParaRPr/>
          </a:p>
          <a:p>
            <a:pPr indent="-274313" lvl="1" marL="274313" rtl="0" algn="l">
              <a:lnSpc>
                <a:spcPct val="100000"/>
              </a:lnSpc>
              <a:spcBef>
                <a:spcPts val="300"/>
              </a:spcBef>
              <a:spcAft>
                <a:spcPts val="0"/>
              </a:spcAft>
              <a:buSzPts val="1200"/>
              <a:buChar char="•"/>
            </a:pPr>
            <a:r>
              <a:rPr lang="en-US" sz="1200"/>
              <a:t>FLC does not own any teams in the league</a:t>
            </a:r>
            <a:endParaRPr/>
          </a:p>
          <a:p>
            <a:pPr indent="-274313" lvl="1" marL="274313" rtl="0" algn="l">
              <a:lnSpc>
                <a:spcPct val="100000"/>
              </a:lnSpc>
              <a:spcBef>
                <a:spcPts val="300"/>
              </a:spcBef>
              <a:spcAft>
                <a:spcPts val="0"/>
              </a:spcAft>
              <a:buSzPts val="1200"/>
              <a:buChar char="•"/>
            </a:pPr>
            <a:r>
              <a:rPr lang="en-US" sz="1200"/>
              <a:t>Candidate should assume that are teams interested to join the league in any option chosen.</a:t>
            </a:r>
            <a:endParaRPr/>
          </a:p>
        </p:txBody>
      </p:sp>
      <p:sp>
        <p:nvSpPr>
          <p:cNvPr id="319" name="Google Shape;319;p6"/>
          <p:cNvSpPr txBox="1"/>
          <p:nvPr>
            <p:ph idx="2" type="body"/>
          </p:nvPr>
        </p:nvSpPr>
        <p:spPr>
          <a:xfrm>
            <a:off x="4596063" y="1291199"/>
            <a:ext cx="4110955" cy="4977253"/>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1" marL="1588" rtl="0" algn="l">
              <a:lnSpc>
                <a:spcPct val="100000"/>
              </a:lnSpc>
              <a:spcBef>
                <a:spcPts val="0"/>
              </a:spcBef>
              <a:spcAft>
                <a:spcPts val="0"/>
              </a:spcAft>
              <a:buSzPts val="1200"/>
              <a:buNone/>
            </a:pPr>
            <a:r>
              <a:rPr lang="en-US" sz="1200"/>
              <a:t>Provide Exhibit #1 when candidate requests information regarding potential revenues/ market size</a:t>
            </a:r>
            <a:endParaRPr/>
          </a:p>
          <a:p>
            <a:pPr indent="0" lvl="1" marL="1588" rtl="0" algn="l">
              <a:lnSpc>
                <a:spcPct val="100000"/>
              </a:lnSpc>
              <a:spcBef>
                <a:spcPts val="300"/>
              </a:spcBef>
              <a:spcAft>
                <a:spcPts val="0"/>
              </a:spcAft>
              <a:buSzPts val="1200"/>
              <a:buNone/>
            </a:pPr>
            <a:r>
              <a:t/>
            </a:r>
            <a:endParaRPr sz="1200"/>
          </a:p>
          <a:p>
            <a:pPr indent="0" lvl="1" marL="1588" rtl="0" algn="l">
              <a:lnSpc>
                <a:spcPct val="100000"/>
              </a:lnSpc>
              <a:spcBef>
                <a:spcPts val="300"/>
              </a:spcBef>
              <a:spcAft>
                <a:spcPts val="0"/>
              </a:spcAft>
              <a:buSzPts val="1200"/>
              <a:buNone/>
            </a:pPr>
            <a:r>
              <a:rPr lang="en-US" sz="1200"/>
              <a:t>Provide Exhibit #2 when candidate requests information on existing geographies, or suggests evaluating geographic expansion</a:t>
            </a:r>
            <a:endParaRPr/>
          </a:p>
          <a:p>
            <a:pPr indent="0" lvl="1" marL="1588" rtl="0" algn="l">
              <a:lnSpc>
                <a:spcPct val="100000"/>
              </a:lnSpc>
              <a:spcBef>
                <a:spcPts val="300"/>
              </a:spcBef>
              <a:spcAft>
                <a:spcPts val="0"/>
              </a:spcAft>
              <a:buSzPts val="1200"/>
              <a:buNone/>
            </a:pPr>
            <a:r>
              <a:t/>
            </a:r>
            <a:endParaRPr sz="1200"/>
          </a:p>
          <a:p>
            <a:pPr indent="0" lvl="1" marL="1588" rtl="0" algn="l">
              <a:lnSpc>
                <a:spcPct val="100000"/>
              </a:lnSpc>
              <a:spcBef>
                <a:spcPts val="300"/>
              </a:spcBef>
              <a:spcAft>
                <a:spcPts val="0"/>
              </a:spcAft>
              <a:buSzPts val="1200"/>
              <a:buNone/>
            </a:pPr>
            <a:r>
              <a:rPr lang="en-US" sz="1200"/>
              <a:t>Provide Exhibit #3 when candidate requests information on costs involved to accept new teams</a:t>
            </a:r>
            <a:endParaRPr/>
          </a:p>
          <a:p>
            <a:pPr indent="0" lvl="1" marL="1588" rtl="0" algn="l">
              <a:lnSpc>
                <a:spcPct val="100000"/>
              </a:lnSpc>
              <a:spcBef>
                <a:spcPts val="300"/>
              </a:spcBef>
              <a:spcAft>
                <a:spcPts val="0"/>
              </a:spcAft>
              <a:buSzPts val="1200"/>
              <a:buNone/>
            </a:pPr>
            <a:r>
              <a:t/>
            </a:r>
            <a:endParaRPr sz="1200"/>
          </a:p>
          <a:p>
            <a:pPr indent="0" lvl="1" marL="1588" rtl="0" algn="l">
              <a:lnSpc>
                <a:spcPct val="100000"/>
              </a:lnSpc>
              <a:spcBef>
                <a:spcPts val="300"/>
              </a:spcBef>
              <a:spcAft>
                <a:spcPts val="0"/>
              </a:spcAft>
              <a:buSzPts val="1200"/>
              <a:buNone/>
            </a:pPr>
            <a:r>
              <a:rPr lang="en-US" sz="1200"/>
              <a:t>Candidate should clarify that FLC is a soccer league and that FLC’s only revenue stream is royalties from teams in the league</a:t>
            </a:r>
            <a:endParaRPr/>
          </a:p>
        </p:txBody>
      </p:sp>
      <p:sp>
        <p:nvSpPr>
          <p:cNvPr id="320" name="Google Shape;320;p6"/>
          <p:cNvSpPr txBox="1"/>
          <p:nvPr>
            <p:ph idx="3" type="body"/>
          </p:nvPr>
        </p:nvSpPr>
        <p:spPr>
          <a:xfrm>
            <a:off x="465670" y="1013700"/>
            <a:ext cx="4010077"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solidFill>
                  <a:schemeClr val="lt1"/>
                </a:solidFill>
              </a:rPr>
              <a:t>Clarifying Information</a:t>
            </a:r>
            <a:endParaRPr/>
          </a:p>
        </p:txBody>
      </p:sp>
      <p:sp>
        <p:nvSpPr>
          <p:cNvPr id="321" name="Google Shape;321;p6"/>
          <p:cNvSpPr txBox="1"/>
          <p:nvPr>
            <p:ph idx="4" type="body"/>
          </p:nvPr>
        </p:nvSpPr>
        <p:spPr>
          <a:xfrm>
            <a:off x="4695825" y="1014895"/>
            <a:ext cx="4010077"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solidFill>
                  <a:schemeClr val="lt1"/>
                </a:solidFill>
              </a:rPr>
              <a:t>Guide to Handouts</a:t>
            </a:r>
            <a:endParaRPr/>
          </a:p>
        </p:txBody>
      </p:sp>
      <p:sp>
        <p:nvSpPr>
          <p:cNvPr id="322" name="Google Shape;322;p6"/>
          <p:cNvSpPr txBox="1"/>
          <p:nvPr/>
        </p:nvSpPr>
        <p:spPr>
          <a:xfrm>
            <a:off x="8820725" y="6465452"/>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7"/>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FLC Sports League</a:t>
            </a:r>
            <a:endParaRPr/>
          </a:p>
        </p:txBody>
      </p:sp>
      <p:sp>
        <p:nvSpPr>
          <p:cNvPr id="328" name="Google Shape;328;p7"/>
          <p:cNvSpPr txBox="1"/>
          <p:nvPr>
            <p:ph idx="1" type="body"/>
          </p:nvPr>
        </p:nvSpPr>
        <p:spPr>
          <a:xfrm>
            <a:off x="381001" y="1283365"/>
            <a:ext cx="8341656" cy="4985087"/>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1" marL="1588" rtl="0" algn="l">
              <a:lnSpc>
                <a:spcPct val="100000"/>
              </a:lnSpc>
              <a:spcBef>
                <a:spcPts val="0"/>
              </a:spcBef>
              <a:spcAft>
                <a:spcPts val="0"/>
              </a:spcAft>
              <a:buSzPts val="1400"/>
              <a:buNone/>
            </a:pPr>
            <a:r>
              <a:rPr b="1" lang="en-US"/>
              <a:t>Market entry – same business</a:t>
            </a:r>
            <a:endParaRPr/>
          </a:p>
          <a:p>
            <a:pPr indent="-274313" lvl="1" marL="274313" rtl="0" algn="l">
              <a:lnSpc>
                <a:spcPct val="100000"/>
              </a:lnSpc>
              <a:spcBef>
                <a:spcPts val="300"/>
              </a:spcBef>
              <a:spcAft>
                <a:spcPts val="0"/>
              </a:spcAft>
              <a:buSzPts val="1400"/>
              <a:buChar char="•"/>
            </a:pPr>
            <a:r>
              <a:rPr lang="en-US"/>
              <a:t>New sport – hockey, baseball, football</a:t>
            </a:r>
            <a:endParaRPr/>
          </a:p>
          <a:p>
            <a:pPr indent="-274313" lvl="1" marL="274313" rtl="0" algn="l">
              <a:lnSpc>
                <a:spcPct val="100000"/>
              </a:lnSpc>
              <a:spcBef>
                <a:spcPts val="300"/>
              </a:spcBef>
              <a:spcAft>
                <a:spcPts val="0"/>
              </a:spcAft>
              <a:buSzPts val="1400"/>
              <a:buChar char="•"/>
            </a:pPr>
            <a:r>
              <a:rPr lang="en-US"/>
              <a:t>New geography – recruit new teams in US cities</a:t>
            </a:r>
            <a:endParaRPr/>
          </a:p>
          <a:p>
            <a:pPr indent="-274313" lvl="1" marL="274313" rtl="0" algn="l">
              <a:lnSpc>
                <a:spcPct val="100000"/>
              </a:lnSpc>
              <a:spcBef>
                <a:spcPts val="300"/>
              </a:spcBef>
              <a:spcAft>
                <a:spcPts val="0"/>
              </a:spcAft>
              <a:buSzPts val="1400"/>
              <a:buChar char="•"/>
            </a:pPr>
            <a:r>
              <a:rPr lang="en-US"/>
              <a:t>New leagues – women, youth</a:t>
            </a:r>
            <a:endParaRPr/>
          </a:p>
          <a:p>
            <a:pPr indent="0" lvl="1" marL="1588" rtl="0" algn="l">
              <a:lnSpc>
                <a:spcPct val="100000"/>
              </a:lnSpc>
              <a:spcBef>
                <a:spcPts val="300"/>
              </a:spcBef>
              <a:spcAft>
                <a:spcPts val="0"/>
              </a:spcAft>
              <a:buSzPts val="1400"/>
              <a:buNone/>
            </a:pPr>
            <a:r>
              <a:t/>
            </a:r>
            <a:endParaRPr/>
          </a:p>
          <a:p>
            <a:pPr indent="0" lvl="1" marL="1588" rtl="0" algn="l">
              <a:lnSpc>
                <a:spcPct val="100000"/>
              </a:lnSpc>
              <a:spcBef>
                <a:spcPts val="300"/>
              </a:spcBef>
              <a:spcAft>
                <a:spcPts val="0"/>
              </a:spcAft>
              <a:buSzPts val="1400"/>
              <a:buNone/>
            </a:pPr>
            <a:r>
              <a:rPr b="1" lang="en-US"/>
              <a:t>Market entry – different business</a:t>
            </a:r>
            <a:endParaRPr/>
          </a:p>
          <a:p>
            <a:pPr indent="-274313" lvl="1" marL="274313" rtl="0" algn="l">
              <a:lnSpc>
                <a:spcPct val="100000"/>
              </a:lnSpc>
              <a:spcBef>
                <a:spcPts val="300"/>
              </a:spcBef>
              <a:spcAft>
                <a:spcPts val="0"/>
              </a:spcAft>
              <a:buSzPts val="1400"/>
              <a:buChar char="•"/>
            </a:pPr>
            <a:r>
              <a:rPr lang="en-US"/>
              <a:t>Acquiring a team – good idea, but if it is a soccer team, conflict of interests. If other sports, very risky, because FLC doesn’t have the know how.</a:t>
            </a:r>
            <a:endParaRPr/>
          </a:p>
          <a:p>
            <a:pPr indent="-185413" lvl="1" marL="274313" rtl="0" algn="l">
              <a:lnSpc>
                <a:spcPct val="100000"/>
              </a:lnSpc>
              <a:spcBef>
                <a:spcPts val="300"/>
              </a:spcBef>
              <a:spcAft>
                <a:spcPts val="0"/>
              </a:spcAft>
              <a:buSzPts val="1400"/>
              <a:buNone/>
            </a:pPr>
            <a:r>
              <a:t/>
            </a:r>
            <a:endParaRPr/>
          </a:p>
          <a:p>
            <a:pPr indent="0" lvl="1" marL="1588" rtl="0" algn="l">
              <a:lnSpc>
                <a:spcPct val="100000"/>
              </a:lnSpc>
              <a:spcBef>
                <a:spcPts val="300"/>
              </a:spcBef>
              <a:spcAft>
                <a:spcPts val="0"/>
              </a:spcAft>
              <a:buSzPts val="1400"/>
              <a:buNone/>
            </a:pPr>
            <a:r>
              <a:rPr b="1" lang="en-US"/>
              <a:t>Current business</a:t>
            </a:r>
            <a:endParaRPr/>
          </a:p>
          <a:p>
            <a:pPr indent="-274313" lvl="1" marL="274313" rtl="0" algn="l">
              <a:lnSpc>
                <a:spcPct val="100000"/>
              </a:lnSpc>
              <a:spcBef>
                <a:spcPts val="300"/>
              </a:spcBef>
              <a:spcAft>
                <a:spcPts val="0"/>
              </a:spcAft>
              <a:buSzPts val="1400"/>
              <a:buChar char="•"/>
            </a:pPr>
            <a:r>
              <a:rPr lang="en-US"/>
              <a:t>Increase royalties – Not possible, revenue management fully optimized</a:t>
            </a:r>
            <a:endParaRPr/>
          </a:p>
          <a:p>
            <a:pPr indent="-185413" lvl="1" marL="274313" rtl="0" algn="l">
              <a:lnSpc>
                <a:spcPct val="100000"/>
              </a:lnSpc>
              <a:spcBef>
                <a:spcPts val="300"/>
              </a:spcBef>
              <a:spcAft>
                <a:spcPts val="0"/>
              </a:spcAft>
              <a:buSzPts val="1400"/>
              <a:buNone/>
            </a:pPr>
            <a:r>
              <a:t/>
            </a:r>
            <a:endParaRPr/>
          </a:p>
          <a:p>
            <a:pPr indent="-274313" lvl="1" marL="274313" rtl="0" algn="l">
              <a:lnSpc>
                <a:spcPct val="100000"/>
              </a:lnSpc>
              <a:spcBef>
                <a:spcPts val="300"/>
              </a:spcBef>
              <a:spcAft>
                <a:spcPts val="0"/>
              </a:spcAft>
              <a:buSzPts val="1400"/>
              <a:buChar char="•"/>
            </a:pPr>
            <a:r>
              <a:rPr lang="en-US"/>
              <a:t>For each of the options, candidates should come with a method to evaluate revenues and costs to FLC</a:t>
            </a:r>
            <a:endParaRPr/>
          </a:p>
          <a:p>
            <a:pPr indent="0" lvl="1" marL="1588" rtl="0" algn="l">
              <a:lnSpc>
                <a:spcPct val="100000"/>
              </a:lnSpc>
              <a:spcBef>
                <a:spcPts val="300"/>
              </a:spcBef>
              <a:spcAft>
                <a:spcPts val="0"/>
              </a:spcAft>
              <a:buSzPts val="1400"/>
              <a:buNone/>
            </a:pPr>
            <a:r>
              <a:t/>
            </a:r>
            <a:endParaRPr/>
          </a:p>
          <a:p>
            <a:pPr indent="-274313" lvl="2" marL="548626" rtl="0" algn="l">
              <a:lnSpc>
                <a:spcPct val="100000"/>
              </a:lnSpc>
              <a:spcBef>
                <a:spcPts val="300"/>
              </a:spcBef>
              <a:spcAft>
                <a:spcPts val="0"/>
              </a:spcAft>
              <a:buSzPts val="1400"/>
              <a:buChar char="-"/>
            </a:pPr>
            <a:r>
              <a:rPr lang="en-US"/>
              <a:t>Revenue drivers: Royalties paid to the league (Soccer fans, Avg spent with sports, team avg revenues)</a:t>
            </a:r>
            <a:endParaRPr/>
          </a:p>
          <a:p>
            <a:pPr indent="-274313" lvl="2" marL="548626" rtl="0" algn="l">
              <a:lnSpc>
                <a:spcPct val="100000"/>
              </a:lnSpc>
              <a:spcBef>
                <a:spcPts val="300"/>
              </a:spcBef>
              <a:spcAft>
                <a:spcPts val="0"/>
              </a:spcAft>
              <a:buSzPts val="1400"/>
              <a:buChar char="-"/>
            </a:pPr>
            <a:r>
              <a:rPr lang="en-US"/>
              <a:t>Cost drivers: Marketing, Labor, SG&amp;A</a:t>
            </a:r>
            <a:endParaRPr/>
          </a:p>
          <a:p>
            <a:pPr indent="-185413" lvl="1" marL="274313" rtl="0" algn="l">
              <a:lnSpc>
                <a:spcPct val="100000"/>
              </a:lnSpc>
              <a:spcBef>
                <a:spcPts val="300"/>
              </a:spcBef>
              <a:spcAft>
                <a:spcPts val="0"/>
              </a:spcAft>
              <a:buSzPts val="1400"/>
              <a:buNone/>
            </a:pPr>
            <a:r>
              <a:t/>
            </a:r>
            <a:endParaRPr/>
          </a:p>
          <a:p>
            <a:pPr indent="0" lvl="1" marL="1588" rtl="0" algn="l">
              <a:lnSpc>
                <a:spcPct val="100000"/>
              </a:lnSpc>
              <a:spcBef>
                <a:spcPts val="300"/>
              </a:spcBef>
              <a:spcAft>
                <a:spcPts val="0"/>
              </a:spcAft>
              <a:buSzPts val="1400"/>
              <a:buNone/>
            </a:pPr>
            <a:r>
              <a:rPr lang="en-US"/>
              <a:t>Give bonus points for candidates that come with those different options and can point out different drivers / risks.</a:t>
            </a:r>
            <a:endParaRPr/>
          </a:p>
        </p:txBody>
      </p:sp>
      <p:sp>
        <p:nvSpPr>
          <p:cNvPr id="329" name="Google Shape;329;p7"/>
          <p:cNvSpPr txBox="1"/>
          <p:nvPr>
            <p:ph idx="2" type="body"/>
          </p:nvPr>
        </p:nvSpPr>
        <p:spPr>
          <a:xfrm>
            <a:off x="503321" y="1022905"/>
            <a:ext cx="8126332"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Possible Framework</a:t>
            </a:r>
            <a:endParaRPr/>
          </a:p>
        </p:txBody>
      </p:sp>
      <p:sp>
        <p:nvSpPr>
          <p:cNvPr id="330" name="Google Shape;330;p7"/>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8"/>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FLC Sports League</a:t>
            </a:r>
            <a:endParaRPr/>
          </a:p>
        </p:txBody>
      </p:sp>
      <p:graphicFrame>
        <p:nvGraphicFramePr>
          <p:cNvPr id="336" name="Google Shape;336;p8"/>
          <p:cNvGraphicFramePr/>
          <p:nvPr/>
        </p:nvGraphicFramePr>
        <p:xfrm>
          <a:off x="1038860" y="1448983"/>
          <a:ext cx="8128000" cy="2813538"/>
        </p:xfrm>
        <a:graphic>
          <a:graphicData uri="http://schemas.openxmlformats.org/drawingml/2006/chart">
            <c:chart r:id="rId3"/>
          </a:graphicData>
        </a:graphic>
      </p:graphicFrame>
      <p:sp>
        <p:nvSpPr>
          <p:cNvPr id="337" name="Google Shape;337;p8"/>
          <p:cNvSpPr/>
          <p:nvPr/>
        </p:nvSpPr>
        <p:spPr>
          <a:xfrm>
            <a:off x="313451" y="4453439"/>
            <a:ext cx="1554480" cy="653143"/>
          </a:xfrm>
          <a:prstGeom prst="homePlate">
            <a:avLst>
              <a:gd fmla="val 35930" name="adj"/>
            </a:avLst>
          </a:prstGeom>
          <a:solidFill>
            <a:schemeClr val="accent1"/>
          </a:solidFill>
          <a:ln cap="flat" cmpd="sng" w="25400">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alibri"/>
                <a:ea typeface="Calibri"/>
                <a:cs typeface="Calibri"/>
                <a:sym typeface="Calibri"/>
              </a:rPr>
              <a:t># Teams </a:t>
            </a:r>
            <a:endParaRPr b="0" i="0" sz="1400" u="none" cap="none" strike="noStrike">
              <a:solidFill>
                <a:srgbClr val="000000"/>
              </a:solidFill>
              <a:latin typeface="Arial"/>
              <a:ea typeface="Arial"/>
              <a:cs typeface="Arial"/>
              <a:sym typeface="Arial"/>
            </a:endParaRPr>
          </a:p>
        </p:txBody>
      </p:sp>
      <p:sp>
        <p:nvSpPr>
          <p:cNvPr id="338" name="Google Shape;338;p8"/>
          <p:cNvSpPr/>
          <p:nvPr/>
        </p:nvSpPr>
        <p:spPr>
          <a:xfrm>
            <a:off x="2066584" y="5392961"/>
            <a:ext cx="1120392" cy="648119"/>
          </a:xfrm>
          <a:prstGeom prst="ellipse">
            <a:avLst/>
          </a:prstGeom>
          <a:solidFill>
            <a:schemeClr val="accent1"/>
          </a:solidFill>
          <a:ln cap="flat" cmpd="sng" w="25400">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alibri"/>
                <a:ea typeface="Calibri"/>
                <a:cs typeface="Calibri"/>
                <a:sym typeface="Calibri"/>
              </a:rPr>
              <a:t>40</a:t>
            </a:r>
            <a:endParaRPr b="0" i="0" sz="1400" u="none" cap="none" strike="noStrike">
              <a:solidFill>
                <a:srgbClr val="000000"/>
              </a:solidFill>
              <a:latin typeface="Arial"/>
              <a:ea typeface="Arial"/>
              <a:cs typeface="Arial"/>
              <a:sym typeface="Arial"/>
            </a:endParaRPr>
          </a:p>
        </p:txBody>
      </p:sp>
      <p:sp>
        <p:nvSpPr>
          <p:cNvPr id="339" name="Google Shape;339;p8"/>
          <p:cNvSpPr/>
          <p:nvPr/>
        </p:nvSpPr>
        <p:spPr>
          <a:xfrm>
            <a:off x="2066584" y="4453439"/>
            <a:ext cx="1120392" cy="648119"/>
          </a:xfrm>
          <a:prstGeom prst="ellipse">
            <a:avLst/>
          </a:prstGeom>
          <a:solidFill>
            <a:schemeClr val="accent1"/>
          </a:solidFill>
          <a:ln cap="flat" cmpd="sng" w="25400">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alibri"/>
                <a:ea typeface="Calibri"/>
                <a:cs typeface="Calibri"/>
                <a:sym typeface="Calibri"/>
              </a:rPr>
              <a:t>10</a:t>
            </a:r>
            <a:endParaRPr b="0" i="0" sz="1400" u="none" cap="none" strike="noStrike">
              <a:solidFill>
                <a:srgbClr val="000000"/>
              </a:solidFill>
              <a:latin typeface="Arial"/>
              <a:ea typeface="Arial"/>
              <a:cs typeface="Arial"/>
              <a:sym typeface="Arial"/>
            </a:endParaRPr>
          </a:p>
        </p:txBody>
      </p:sp>
      <p:sp>
        <p:nvSpPr>
          <p:cNvPr id="340" name="Google Shape;340;p8"/>
          <p:cNvSpPr/>
          <p:nvPr/>
        </p:nvSpPr>
        <p:spPr>
          <a:xfrm>
            <a:off x="3890360" y="4453439"/>
            <a:ext cx="1120392" cy="648119"/>
          </a:xfrm>
          <a:prstGeom prst="ellipse">
            <a:avLst/>
          </a:prstGeom>
          <a:solidFill>
            <a:schemeClr val="accent1"/>
          </a:solidFill>
          <a:ln cap="flat" cmpd="sng" w="25400">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alibri"/>
                <a:ea typeface="Calibri"/>
                <a:cs typeface="Calibri"/>
                <a:sym typeface="Calibri"/>
              </a:rPr>
              <a:t>8</a:t>
            </a:r>
            <a:endParaRPr b="0" i="0" sz="1400" u="none" cap="none" strike="noStrike">
              <a:solidFill>
                <a:srgbClr val="000000"/>
              </a:solidFill>
              <a:latin typeface="Arial"/>
              <a:ea typeface="Arial"/>
              <a:cs typeface="Arial"/>
              <a:sym typeface="Arial"/>
            </a:endParaRPr>
          </a:p>
        </p:txBody>
      </p:sp>
      <p:sp>
        <p:nvSpPr>
          <p:cNvPr id="341" name="Google Shape;341;p8"/>
          <p:cNvSpPr/>
          <p:nvPr/>
        </p:nvSpPr>
        <p:spPr>
          <a:xfrm>
            <a:off x="5714136" y="4453439"/>
            <a:ext cx="1120392" cy="648119"/>
          </a:xfrm>
          <a:prstGeom prst="ellipse">
            <a:avLst/>
          </a:prstGeom>
          <a:solidFill>
            <a:schemeClr val="accent1"/>
          </a:solidFill>
          <a:ln cap="flat" cmpd="sng" w="25400">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alibri"/>
                <a:ea typeface="Calibri"/>
                <a:cs typeface="Calibri"/>
                <a:sym typeface="Calibri"/>
              </a:rPr>
              <a:t>10</a:t>
            </a:r>
            <a:endParaRPr b="0" i="0" sz="1400" u="none" cap="none" strike="noStrike">
              <a:solidFill>
                <a:srgbClr val="000000"/>
              </a:solidFill>
              <a:latin typeface="Arial"/>
              <a:ea typeface="Arial"/>
              <a:cs typeface="Arial"/>
              <a:sym typeface="Arial"/>
            </a:endParaRPr>
          </a:p>
        </p:txBody>
      </p:sp>
      <p:sp>
        <p:nvSpPr>
          <p:cNvPr id="342" name="Google Shape;342;p8"/>
          <p:cNvSpPr/>
          <p:nvPr/>
        </p:nvSpPr>
        <p:spPr>
          <a:xfrm>
            <a:off x="7537912" y="4453439"/>
            <a:ext cx="1120392" cy="648119"/>
          </a:xfrm>
          <a:prstGeom prst="ellipse">
            <a:avLst/>
          </a:prstGeom>
          <a:solidFill>
            <a:schemeClr val="accent1"/>
          </a:solidFill>
          <a:ln cap="flat" cmpd="sng" w="25400">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alibri"/>
                <a:ea typeface="Calibri"/>
                <a:cs typeface="Calibri"/>
                <a:sym typeface="Calibri"/>
              </a:rPr>
              <a:t>10</a:t>
            </a:r>
            <a:endParaRPr b="0" i="0" sz="1400" u="none" cap="none" strike="noStrike">
              <a:solidFill>
                <a:srgbClr val="000000"/>
              </a:solidFill>
              <a:latin typeface="Arial"/>
              <a:ea typeface="Arial"/>
              <a:cs typeface="Arial"/>
              <a:sym typeface="Arial"/>
            </a:endParaRPr>
          </a:p>
        </p:txBody>
      </p:sp>
      <p:sp>
        <p:nvSpPr>
          <p:cNvPr id="343" name="Google Shape;343;p8"/>
          <p:cNvSpPr/>
          <p:nvPr/>
        </p:nvSpPr>
        <p:spPr>
          <a:xfrm>
            <a:off x="3890360" y="5392961"/>
            <a:ext cx="1120392" cy="648119"/>
          </a:xfrm>
          <a:prstGeom prst="ellipse">
            <a:avLst/>
          </a:prstGeom>
          <a:solidFill>
            <a:schemeClr val="accent1"/>
          </a:solidFill>
          <a:ln cap="flat" cmpd="sng" w="25400">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alibri"/>
                <a:ea typeface="Calibri"/>
                <a:cs typeface="Calibri"/>
                <a:sym typeface="Calibri"/>
              </a:rPr>
              <a:t>50</a:t>
            </a:r>
            <a:endParaRPr b="0" i="0" sz="1400" u="none" cap="none" strike="noStrike">
              <a:solidFill>
                <a:srgbClr val="000000"/>
              </a:solidFill>
              <a:latin typeface="Arial"/>
              <a:ea typeface="Arial"/>
              <a:cs typeface="Arial"/>
              <a:sym typeface="Arial"/>
            </a:endParaRPr>
          </a:p>
        </p:txBody>
      </p:sp>
      <p:sp>
        <p:nvSpPr>
          <p:cNvPr id="344" name="Google Shape;344;p8"/>
          <p:cNvSpPr/>
          <p:nvPr/>
        </p:nvSpPr>
        <p:spPr>
          <a:xfrm>
            <a:off x="5714136" y="5392961"/>
            <a:ext cx="1120392" cy="648119"/>
          </a:xfrm>
          <a:prstGeom prst="ellipse">
            <a:avLst/>
          </a:prstGeom>
          <a:solidFill>
            <a:schemeClr val="accent1"/>
          </a:solidFill>
          <a:ln cap="flat" cmpd="sng" w="25400">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alibri"/>
                <a:ea typeface="Calibri"/>
                <a:cs typeface="Calibri"/>
                <a:sym typeface="Calibri"/>
              </a:rPr>
              <a:t>100</a:t>
            </a:r>
            <a:endParaRPr b="0" i="0" sz="1400" u="none" cap="none" strike="noStrike">
              <a:solidFill>
                <a:srgbClr val="000000"/>
              </a:solidFill>
              <a:latin typeface="Arial"/>
              <a:ea typeface="Arial"/>
              <a:cs typeface="Arial"/>
              <a:sym typeface="Arial"/>
            </a:endParaRPr>
          </a:p>
        </p:txBody>
      </p:sp>
      <p:sp>
        <p:nvSpPr>
          <p:cNvPr id="345" name="Google Shape;345;p8"/>
          <p:cNvSpPr/>
          <p:nvPr/>
        </p:nvSpPr>
        <p:spPr>
          <a:xfrm>
            <a:off x="7537912" y="5392961"/>
            <a:ext cx="1120392" cy="648119"/>
          </a:xfrm>
          <a:prstGeom prst="ellipse">
            <a:avLst/>
          </a:prstGeom>
          <a:solidFill>
            <a:schemeClr val="accent1"/>
          </a:solidFill>
          <a:ln cap="flat" cmpd="sng" w="25400">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alibri"/>
                <a:ea typeface="Calibri"/>
                <a:cs typeface="Calibri"/>
                <a:sym typeface="Calibri"/>
              </a:rPr>
              <a:t>60</a:t>
            </a:r>
            <a:endParaRPr b="0" i="0" sz="1400" u="none" cap="none" strike="noStrike">
              <a:solidFill>
                <a:srgbClr val="000000"/>
              </a:solidFill>
              <a:latin typeface="Arial"/>
              <a:ea typeface="Arial"/>
              <a:cs typeface="Arial"/>
              <a:sym typeface="Arial"/>
            </a:endParaRPr>
          </a:p>
        </p:txBody>
      </p:sp>
      <p:sp>
        <p:nvSpPr>
          <p:cNvPr id="346" name="Google Shape;346;p8"/>
          <p:cNvSpPr/>
          <p:nvPr/>
        </p:nvSpPr>
        <p:spPr>
          <a:xfrm>
            <a:off x="313451" y="5397984"/>
            <a:ext cx="1554480" cy="653143"/>
          </a:xfrm>
          <a:prstGeom prst="homePlate">
            <a:avLst>
              <a:gd fmla="val 35930" name="adj"/>
            </a:avLst>
          </a:prstGeom>
          <a:solidFill>
            <a:schemeClr val="accent1"/>
          </a:solidFill>
          <a:ln cap="flat" cmpd="sng" w="25400">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alibri"/>
                <a:ea typeface="Calibri"/>
                <a:cs typeface="Calibri"/>
                <a:sym typeface="Calibri"/>
              </a:rPr>
              <a:t>Avg revenue per team ($M)</a:t>
            </a:r>
            <a:endParaRPr b="0" i="0" sz="1400" u="none" cap="none" strike="noStrike">
              <a:solidFill>
                <a:srgbClr val="000000"/>
              </a:solidFill>
              <a:latin typeface="Arial"/>
              <a:ea typeface="Arial"/>
              <a:cs typeface="Arial"/>
              <a:sym typeface="Arial"/>
            </a:endParaRPr>
          </a:p>
        </p:txBody>
      </p:sp>
      <p:sp>
        <p:nvSpPr>
          <p:cNvPr id="347" name="Google Shape;347;p8"/>
          <p:cNvSpPr txBox="1"/>
          <p:nvPr/>
        </p:nvSpPr>
        <p:spPr>
          <a:xfrm>
            <a:off x="841408" y="1076449"/>
            <a:ext cx="8077200" cy="37253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800"/>
              <a:buFont typeface="Calibri"/>
              <a:buNone/>
            </a:pPr>
            <a:r>
              <a:rPr b="1" i="0" lang="en-US" sz="2800" u="none" cap="none" strike="noStrike">
                <a:solidFill>
                  <a:schemeClr val="dk1"/>
                </a:solidFill>
                <a:latin typeface="Calibri"/>
                <a:ea typeface="Calibri"/>
                <a:cs typeface="Calibri"/>
                <a:sym typeface="Calibri"/>
              </a:rPr>
              <a:t>Exhibit 1: Average royalties paid for league MGMT </a:t>
            </a:r>
            <a:endParaRPr b="0" i="0" sz="1400" u="none" cap="none" strike="noStrike">
              <a:solidFill>
                <a:srgbClr val="000000"/>
              </a:solidFill>
              <a:latin typeface="Arial"/>
              <a:ea typeface="Arial"/>
              <a:cs typeface="Arial"/>
              <a:sym typeface="Arial"/>
            </a:endParaRPr>
          </a:p>
        </p:txBody>
      </p:sp>
      <p:sp>
        <p:nvSpPr>
          <p:cNvPr id="348" name="Google Shape;348;p8"/>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9"/>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FLC Sports League</a:t>
            </a:r>
            <a:endParaRPr/>
          </a:p>
        </p:txBody>
      </p:sp>
      <p:graphicFrame>
        <p:nvGraphicFramePr>
          <p:cNvPr id="354" name="Google Shape;354;p9"/>
          <p:cNvGraphicFramePr/>
          <p:nvPr/>
        </p:nvGraphicFramePr>
        <p:xfrm>
          <a:off x="1195387" y="1538334"/>
          <a:ext cx="7791450" cy="3393831"/>
        </p:xfrm>
        <a:graphic>
          <a:graphicData uri="http://schemas.openxmlformats.org/drawingml/2006/chart">
            <c:chart r:id="rId3"/>
          </a:graphicData>
        </a:graphic>
      </p:graphicFrame>
      <p:sp>
        <p:nvSpPr>
          <p:cNvPr id="355" name="Google Shape;355;p9"/>
          <p:cNvSpPr/>
          <p:nvPr/>
        </p:nvSpPr>
        <p:spPr>
          <a:xfrm>
            <a:off x="261938" y="5286459"/>
            <a:ext cx="1685925" cy="999811"/>
          </a:xfrm>
          <a:prstGeom prst="homePlate">
            <a:avLst>
              <a:gd fmla="val 21640" name="adj"/>
            </a:avLst>
          </a:prstGeom>
          <a:solidFill>
            <a:schemeClr val="accent1"/>
          </a:solidFill>
          <a:ln cap="flat" cmpd="sng" w="25400">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alibri"/>
                <a:ea typeface="Calibri"/>
                <a:cs typeface="Calibri"/>
                <a:sym typeface="Calibri"/>
              </a:rPr>
              <a:t>New club projected revenue per sports fan (year)</a:t>
            </a:r>
            <a:endParaRPr b="0" i="0" sz="1400" u="none" cap="none" strike="noStrike">
              <a:solidFill>
                <a:srgbClr val="000000"/>
              </a:solidFill>
              <a:latin typeface="Arial"/>
              <a:ea typeface="Arial"/>
              <a:cs typeface="Arial"/>
              <a:sym typeface="Arial"/>
            </a:endParaRPr>
          </a:p>
        </p:txBody>
      </p:sp>
      <p:sp>
        <p:nvSpPr>
          <p:cNvPr id="356" name="Google Shape;356;p9"/>
          <p:cNvSpPr/>
          <p:nvPr/>
        </p:nvSpPr>
        <p:spPr>
          <a:xfrm>
            <a:off x="2061932" y="5502499"/>
            <a:ext cx="1005840" cy="648119"/>
          </a:xfrm>
          <a:prstGeom prst="ellipse">
            <a:avLst/>
          </a:prstGeom>
          <a:solidFill>
            <a:schemeClr val="accent1"/>
          </a:solidFill>
          <a:ln cap="flat" cmpd="sng" w="25400">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alibri"/>
                <a:ea typeface="Calibri"/>
                <a:cs typeface="Calibri"/>
                <a:sym typeface="Calibri"/>
              </a:rPr>
              <a:t>$30</a:t>
            </a:r>
            <a:endParaRPr b="0" i="0" sz="1400" u="none" cap="none" strike="noStrike">
              <a:solidFill>
                <a:srgbClr val="000000"/>
              </a:solidFill>
              <a:latin typeface="Arial"/>
              <a:ea typeface="Arial"/>
              <a:cs typeface="Arial"/>
              <a:sym typeface="Arial"/>
            </a:endParaRPr>
          </a:p>
        </p:txBody>
      </p:sp>
      <p:sp>
        <p:nvSpPr>
          <p:cNvPr id="357" name="Google Shape;357;p9"/>
          <p:cNvSpPr/>
          <p:nvPr/>
        </p:nvSpPr>
        <p:spPr>
          <a:xfrm>
            <a:off x="3609400" y="5502499"/>
            <a:ext cx="1005840" cy="648119"/>
          </a:xfrm>
          <a:prstGeom prst="ellipse">
            <a:avLst/>
          </a:prstGeom>
          <a:solidFill>
            <a:schemeClr val="accent1"/>
          </a:solidFill>
          <a:ln cap="flat" cmpd="sng" w="25400">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alibri"/>
                <a:ea typeface="Calibri"/>
                <a:cs typeface="Calibri"/>
                <a:sym typeface="Calibri"/>
              </a:rPr>
              <a:t>$50</a:t>
            </a:r>
            <a:endParaRPr b="0" i="0" sz="1400" u="none" cap="none" strike="noStrike">
              <a:solidFill>
                <a:srgbClr val="000000"/>
              </a:solidFill>
              <a:latin typeface="Arial"/>
              <a:ea typeface="Arial"/>
              <a:cs typeface="Arial"/>
              <a:sym typeface="Arial"/>
            </a:endParaRPr>
          </a:p>
        </p:txBody>
      </p:sp>
      <p:sp>
        <p:nvSpPr>
          <p:cNvPr id="358" name="Google Shape;358;p9"/>
          <p:cNvSpPr/>
          <p:nvPr/>
        </p:nvSpPr>
        <p:spPr>
          <a:xfrm>
            <a:off x="5193522" y="5502499"/>
            <a:ext cx="1005840" cy="648119"/>
          </a:xfrm>
          <a:prstGeom prst="ellipse">
            <a:avLst/>
          </a:prstGeom>
          <a:solidFill>
            <a:schemeClr val="accent1"/>
          </a:solidFill>
          <a:ln cap="flat" cmpd="sng" w="25400">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alibri"/>
                <a:ea typeface="Calibri"/>
                <a:cs typeface="Calibri"/>
                <a:sym typeface="Calibri"/>
              </a:rPr>
              <a:t>$25</a:t>
            </a:r>
            <a:endParaRPr b="0" i="0" sz="1400" u="none" cap="none" strike="noStrike">
              <a:solidFill>
                <a:srgbClr val="000000"/>
              </a:solidFill>
              <a:latin typeface="Arial"/>
              <a:ea typeface="Arial"/>
              <a:cs typeface="Arial"/>
              <a:sym typeface="Arial"/>
            </a:endParaRPr>
          </a:p>
        </p:txBody>
      </p:sp>
      <p:sp>
        <p:nvSpPr>
          <p:cNvPr id="359" name="Google Shape;359;p9"/>
          <p:cNvSpPr/>
          <p:nvPr/>
        </p:nvSpPr>
        <p:spPr>
          <a:xfrm>
            <a:off x="6777644" y="5502499"/>
            <a:ext cx="1005840" cy="648119"/>
          </a:xfrm>
          <a:prstGeom prst="ellipse">
            <a:avLst/>
          </a:prstGeom>
          <a:solidFill>
            <a:schemeClr val="accent1"/>
          </a:solidFill>
          <a:ln cap="flat" cmpd="sng" w="25400">
            <a:solidFill>
              <a:srgbClr val="8B8B8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alibri"/>
                <a:ea typeface="Calibri"/>
                <a:cs typeface="Calibri"/>
                <a:sym typeface="Calibri"/>
              </a:rPr>
              <a:t>$40</a:t>
            </a:r>
            <a:endParaRPr b="0" i="0" sz="1400" u="none" cap="none" strike="noStrike">
              <a:solidFill>
                <a:srgbClr val="000000"/>
              </a:solidFill>
              <a:latin typeface="Arial"/>
              <a:ea typeface="Arial"/>
              <a:cs typeface="Arial"/>
              <a:sym typeface="Arial"/>
            </a:endParaRPr>
          </a:p>
        </p:txBody>
      </p:sp>
      <p:sp>
        <p:nvSpPr>
          <p:cNvPr id="360" name="Google Shape;360;p9"/>
          <p:cNvSpPr txBox="1"/>
          <p:nvPr/>
        </p:nvSpPr>
        <p:spPr>
          <a:xfrm>
            <a:off x="658068" y="1203937"/>
            <a:ext cx="8077200" cy="37253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800"/>
              <a:buFont typeface="Calibri"/>
              <a:buNone/>
            </a:pPr>
            <a:r>
              <a:rPr b="1" i="0" lang="en-US" sz="2800" u="none" cap="none" strike="noStrike">
                <a:solidFill>
                  <a:schemeClr val="dk1"/>
                </a:solidFill>
                <a:latin typeface="Calibri"/>
                <a:ea typeface="Calibri"/>
                <a:cs typeface="Calibri"/>
                <a:sym typeface="Calibri"/>
              </a:rPr>
              <a:t>Exhibit 2: Sports fans in cities where FLC isn’t present</a:t>
            </a:r>
            <a:endParaRPr b="0" i="0" sz="1400" u="none" cap="none" strike="noStrike">
              <a:solidFill>
                <a:srgbClr val="000000"/>
              </a:solidFill>
              <a:latin typeface="Arial"/>
              <a:ea typeface="Arial"/>
              <a:cs typeface="Arial"/>
              <a:sym typeface="Arial"/>
            </a:endParaRPr>
          </a:p>
        </p:txBody>
      </p:sp>
      <p:sp>
        <p:nvSpPr>
          <p:cNvPr id="361" name="Google Shape;361;p9"/>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10"/>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FLC Sports League</a:t>
            </a:r>
            <a:endParaRPr/>
          </a:p>
        </p:txBody>
      </p:sp>
      <p:graphicFrame>
        <p:nvGraphicFramePr>
          <p:cNvPr id="367" name="Google Shape;367;p10"/>
          <p:cNvGraphicFramePr/>
          <p:nvPr/>
        </p:nvGraphicFramePr>
        <p:xfrm>
          <a:off x="762417" y="2230968"/>
          <a:ext cx="3000000" cy="3000000"/>
        </p:xfrm>
        <a:graphic>
          <a:graphicData uri="http://schemas.openxmlformats.org/drawingml/2006/table">
            <a:tbl>
              <a:tblPr bandRow="1" firstRow="1">
                <a:noFill/>
                <a:tableStyleId>{23C487A9-7F27-4D08-810F-A9A5B3B8D150}</a:tableStyleId>
              </a:tblPr>
              <a:tblGrid>
                <a:gridCol w="1157600"/>
                <a:gridCol w="1006800"/>
                <a:gridCol w="1156650"/>
              </a:tblGrid>
              <a:tr h="237125">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City</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Sport</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Cost ($M)</a:t>
                      </a:r>
                      <a:endParaRPr sz="1400" u="none" cap="none" strike="noStrike"/>
                    </a:p>
                  </a:txBody>
                  <a:tcPr marT="45725" marB="45725" marR="91450" marL="91450"/>
                </a:tc>
              </a:tr>
              <a:tr h="237125">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San Diego</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Hockey</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1</a:t>
                      </a:r>
                      <a:endParaRPr sz="1400" u="none" cap="none" strike="noStrike"/>
                    </a:p>
                  </a:txBody>
                  <a:tcPr marT="45725" marB="45725" marR="91450" marL="91450"/>
                </a:tc>
              </a:tr>
              <a:tr h="237125">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San Diego</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Baseball</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2</a:t>
                      </a:r>
                      <a:endParaRPr sz="1400" u="none" cap="none" strike="noStrike"/>
                    </a:p>
                  </a:txBody>
                  <a:tcPr marT="45725" marB="45725" marR="91450" marL="91450"/>
                </a:tc>
              </a:tr>
              <a:tr h="237125">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San Diego</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Football</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3</a:t>
                      </a:r>
                      <a:endParaRPr sz="1400" u="none" cap="none" strike="noStrike"/>
                    </a:p>
                  </a:txBody>
                  <a:tcPr marT="45725" marB="45725" marR="91450" marL="91450"/>
                </a:tc>
              </a:tr>
              <a:tr h="237125">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San Diego</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Soccer</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5</a:t>
                      </a:r>
                      <a:endParaRPr sz="1400" u="none" cap="none" strike="noStrike"/>
                    </a:p>
                  </a:txBody>
                  <a:tcPr marT="45725" marB="45725" marR="91450" marL="91450"/>
                </a:tc>
              </a:tr>
              <a:tr h="237125">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Atlanta</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Hockey</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9</a:t>
                      </a:r>
                      <a:endParaRPr sz="1400" u="none" cap="none" strike="noStrike"/>
                    </a:p>
                  </a:txBody>
                  <a:tcPr marT="45725" marB="45725" marR="91450" marL="91450"/>
                </a:tc>
              </a:tr>
              <a:tr h="237125">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Atlanta</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Baseball</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10</a:t>
                      </a:r>
                      <a:endParaRPr sz="1400" u="none" cap="none" strike="noStrike"/>
                    </a:p>
                  </a:txBody>
                  <a:tcPr marT="45725" marB="45725" marR="91450" marL="91450"/>
                </a:tc>
              </a:tr>
              <a:tr h="237125">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Atlanta</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Football</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12.5</a:t>
                      </a:r>
                      <a:endParaRPr sz="1400" u="none" cap="none" strike="noStrike"/>
                    </a:p>
                  </a:txBody>
                  <a:tcPr marT="45725" marB="45725" marR="91450" marL="91450"/>
                </a:tc>
              </a:tr>
              <a:tr h="237125">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Atlanta</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Soccer</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7.5</a:t>
                      </a:r>
                      <a:endParaRPr sz="1400" u="none" cap="none" strike="noStrike"/>
                    </a:p>
                  </a:txBody>
                  <a:tcPr marT="45725" marB="45725" marR="91450" marL="91450"/>
                </a:tc>
              </a:tr>
            </a:tbl>
          </a:graphicData>
        </a:graphic>
      </p:graphicFrame>
      <p:graphicFrame>
        <p:nvGraphicFramePr>
          <p:cNvPr id="368" name="Google Shape;368;p10"/>
          <p:cNvGraphicFramePr/>
          <p:nvPr/>
        </p:nvGraphicFramePr>
        <p:xfrm>
          <a:off x="5116052" y="2230968"/>
          <a:ext cx="3000000" cy="3000000"/>
        </p:xfrm>
        <a:graphic>
          <a:graphicData uri="http://schemas.openxmlformats.org/drawingml/2006/table">
            <a:tbl>
              <a:tblPr bandRow="1" firstRow="1">
                <a:noFill/>
                <a:tableStyleId>{23C487A9-7F27-4D08-810F-A9A5B3B8D150}</a:tableStyleId>
              </a:tblPr>
              <a:tblGrid>
                <a:gridCol w="1157600"/>
                <a:gridCol w="1006800"/>
                <a:gridCol w="1156650"/>
              </a:tblGrid>
              <a:tr h="237125">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City</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Sport</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Cost ($M)</a:t>
                      </a:r>
                      <a:endParaRPr sz="1400" u="none" cap="none" strike="noStrike"/>
                    </a:p>
                  </a:txBody>
                  <a:tcPr marT="45725" marB="45725" marR="91450" marL="91450"/>
                </a:tc>
              </a:tr>
              <a:tr h="237125">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Detroit</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Hockey</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4</a:t>
                      </a:r>
                      <a:endParaRPr sz="1400" u="none" cap="none" strike="noStrike"/>
                    </a:p>
                  </a:txBody>
                  <a:tcPr marT="45725" marB="45725" marR="91450" marL="91450"/>
                </a:tc>
              </a:tr>
              <a:tr h="237125">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Detroit</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Baseball</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1.5</a:t>
                      </a:r>
                      <a:endParaRPr sz="1400" u="none" cap="none" strike="noStrike"/>
                    </a:p>
                  </a:txBody>
                  <a:tcPr marT="45725" marB="45725" marR="91450" marL="91450"/>
                </a:tc>
              </a:tr>
              <a:tr h="237125">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Detroit</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Football</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2.5</a:t>
                      </a:r>
                      <a:endParaRPr sz="1400" u="none" cap="none" strike="noStrike"/>
                    </a:p>
                  </a:txBody>
                  <a:tcPr marT="45725" marB="45725" marR="91450" marL="91450"/>
                </a:tc>
              </a:tr>
              <a:tr h="237125">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Detroit</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Soccer</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2</a:t>
                      </a:r>
                      <a:endParaRPr sz="1400" u="none" cap="none" strike="noStrike"/>
                    </a:p>
                  </a:txBody>
                  <a:tcPr marT="45725" marB="45725" marR="91450" marL="91450"/>
                </a:tc>
              </a:tr>
              <a:tr h="237125">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Houston</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Hockey</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1</a:t>
                      </a:r>
                      <a:endParaRPr sz="1400" u="none" cap="none" strike="noStrike"/>
                    </a:p>
                  </a:txBody>
                  <a:tcPr marT="45725" marB="45725" marR="91450" marL="91450"/>
                </a:tc>
              </a:tr>
              <a:tr h="237125">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Houston</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Baseball</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4</a:t>
                      </a:r>
                      <a:endParaRPr sz="1400" u="none" cap="none" strike="noStrike"/>
                    </a:p>
                  </a:txBody>
                  <a:tcPr marT="45725" marB="45725" marR="91450" marL="91450"/>
                </a:tc>
              </a:tr>
              <a:tr h="237125">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Houston</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Football</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8</a:t>
                      </a:r>
                      <a:endParaRPr sz="1400" u="none" cap="none" strike="noStrike"/>
                    </a:p>
                  </a:txBody>
                  <a:tcPr marT="45725" marB="45725" marR="91450" marL="91450"/>
                </a:tc>
              </a:tr>
              <a:tr h="237125">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Houston</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Soccer</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4.5</a:t>
                      </a:r>
                      <a:endParaRPr sz="1400" u="none" cap="none" strike="noStrike"/>
                    </a:p>
                  </a:txBody>
                  <a:tcPr marT="45725" marB="45725" marR="91450" marL="91450"/>
                </a:tc>
              </a:tr>
            </a:tbl>
          </a:graphicData>
        </a:graphic>
      </p:graphicFrame>
      <p:sp>
        <p:nvSpPr>
          <p:cNvPr id="369" name="Google Shape;369;p10"/>
          <p:cNvSpPr txBox="1"/>
          <p:nvPr/>
        </p:nvSpPr>
        <p:spPr>
          <a:xfrm>
            <a:off x="1184308" y="1489687"/>
            <a:ext cx="8077200" cy="37253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800"/>
              <a:buFont typeface="Calibri"/>
              <a:buNone/>
            </a:pPr>
            <a:r>
              <a:rPr b="1" i="0" lang="en-US" sz="2800" u="none" cap="none" strike="noStrike">
                <a:solidFill>
                  <a:schemeClr val="dk1"/>
                </a:solidFill>
                <a:latin typeface="Calibri"/>
                <a:ea typeface="Calibri"/>
                <a:cs typeface="Calibri"/>
                <a:sym typeface="Calibri"/>
              </a:rPr>
              <a:t>Exhibit 3: FLC’s total cost to foster a new team</a:t>
            </a:r>
            <a:endParaRPr b="0" i="0" sz="1400" u="none" cap="none" strike="noStrike">
              <a:solidFill>
                <a:srgbClr val="000000"/>
              </a:solidFill>
              <a:latin typeface="Arial"/>
              <a:ea typeface="Arial"/>
              <a:cs typeface="Arial"/>
              <a:sym typeface="Arial"/>
            </a:endParaRPr>
          </a:p>
        </p:txBody>
      </p:sp>
      <p:sp>
        <p:nvSpPr>
          <p:cNvPr id="370" name="Google Shape;370;p10"/>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11"/>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FLC Sports League</a:t>
            </a:r>
            <a:endParaRPr/>
          </a:p>
        </p:txBody>
      </p:sp>
      <p:sp>
        <p:nvSpPr>
          <p:cNvPr id="376" name="Google Shape;376;p11"/>
          <p:cNvSpPr txBox="1"/>
          <p:nvPr>
            <p:ph idx="1" type="body"/>
          </p:nvPr>
        </p:nvSpPr>
        <p:spPr>
          <a:xfrm>
            <a:off x="379884" y="1353373"/>
            <a:ext cx="2687781" cy="4924496"/>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Font typeface="Calibri"/>
              <a:buNone/>
            </a:pPr>
            <a:r>
              <a:rPr lang="en-US"/>
              <a:t>A </a:t>
            </a:r>
            <a:r>
              <a:rPr b="1" lang="en-US"/>
              <a:t>good candidate </a:t>
            </a:r>
            <a:r>
              <a:rPr lang="en-US"/>
              <a:t>will exclude Hockey and Baseball from further analysis after calculations, but a </a:t>
            </a:r>
            <a:r>
              <a:rPr b="1" lang="en-US"/>
              <a:t>great candidate </a:t>
            </a:r>
            <a:r>
              <a:rPr lang="en-US"/>
              <a:t>will exclude these two sports just looking at the graph and not doing any math.</a:t>
            </a:r>
            <a:endParaRPr/>
          </a:p>
          <a:p>
            <a:pPr indent="0" lvl="0" marL="0" rtl="0" algn="l">
              <a:lnSpc>
                <a:spcPct val="100000"/>
              </a:lnSpc>
              <a:spcBef>
                <a:spcPts val="300"/>
              </a:spcBef>
              <a:spcAft>
                <a:spcPts val="0"/>
              </a:spcAft>
              <a:buSzPts val="1400"/>
              <a:buFont typeface="Calibri"/>
              <a:buNone/>
            </a:pPr>
            <a:r>
              <a:rPr b="1" lang="en-US"/>
              <a:t>Calculations:</a:t>
            </a:r>
            <a:endParaRPr/>
          </a:p>
          <a:p>
            <a:pPr indent="0" lvl="0" marL="0" rtl="0" algn="l">
              <a:lnSpc>
                <a:spcPct val="100000"/>
              </a:lnSpc>
              <a:spcBef>
                <a:spcPts val="300"/>
              </a:spcBef>
              <a:spcAft>
                <a:spcPts val="0"/>
              </a:spcAft>
              <a:buSzPts val="1400"/>
              <a:buFont typeface="Calibri"/>
              <a:buNone/>
            </a:pPr>
            <a:r>
              <a:rPr b="1" lang="en-US"/>
              <a:t>Hockey</a:t>
            </a:r>
            <a:r>
              <a:rPr lang="en-US"/>
              <a:t> – 10 x $40M x 2% = $8M</a:t>
            </a:r>
            <a:endParaRPr/>
          </a:p>
          <a:p>
            <a:pPr indent="0" lvl="0" marL="0" rtl="0" algn="l">
              <a:lnSpc>
                <a:spcPct val="100000"/>
              </a:lnSpc>
              <a:spcBef>
                <a:spcPts val="300"/>
              </a:spcBef>
              <a:spcAft>
                <a:spcPts val="0"/>
              </a:spcAft>
              <a:buSzPts val="1400"/>
              <a:buFont typeface="Calibri"/>
              <a:buNone/>
            </a:pPr>
            <a:r>
              <a:rPr b="1" lang="en-US"/>
              <a:t>Baseball</a:t>
            </a:r>
            <a:r>
              <a:rPr lang="en-US"/>
              <a:t> – 8 x $50M x 5% = $20M</a:t>
            </a:r>
            <a:endParaRPr/>
          </a:p>
          <a:p>
            <a:pPr indent="0" lvl="0" marL="0" rtl="0" algn="l">
              <a:lnSpc>
                <a:spcPct val="100000"/>
              </a:lnSpc>
              <a:spcBef>
                <a:spcPts val="300"/>
              </a:spcBef>
              <a:spcAft>
                <a:spcPts val="0"/>
              </a:spcAft>
              <a:buSzPts val="1400"/>
              <a:buFont typeface="Calibri"/>
              <a:buNone/>
            </a:pPr>
            <a:r>
              <a:rPr b="1" lang="en-US"/>
              <a:t>Football</a:t>
            </a:r>
            <a:r>
              <a:rPr lang="en-US"/>
              <a:t> – 10 x $100M x 10% = $100M</a:t>
            </a:r>
            <a:endParaRPr/>
          </a:p>
          <a:p>
            <a:pPr indent="0" lvl="0" marL="0" rtl="0" algn="l">
              <a:lnSpc>
                <a:spcPct val="100000"/>
              </a:lnSpc>
              <a:spcBef>
                <a:spcPts val="300"/>
              </a:spcBef>
              <a:spcAft>
                <a:spcPts val="0"/>
              </a:spcAft>
              <a:buSzPts val="1400"/>
              <a:buFont typeface="Calibri"/>
              <a:buNone/>
            </a:pPr>
            <a:r>
              <a:rPr b="1" lang="en-US"/>
              <a:t>Soccer </a:t>
            </a:r>
            <a:r>
              <a:rPr lang="en-US"/>
              <a:t>– 10 x $60M x 15% = $90M</a:t>
            </a:r>
            <a:endParaRPr/>
          </a:p>
          <a:p>
            <a:pPr indent="0" lvl="0" marL="0" rtl="0" algn="l">
              <a:lnSpc>
                <a:spcPct val="100000"/>
              </a:lnSpc>
              <a:spcBef>
                <a:spcPts val="300"/>
              </a:spcBef>
              <a:spcAft>
                <a:spcPts val="0"/>
              </a:spcAft>
              <a:buSzPts val="1400"/>
              <a:buFont typeface="Calibri"/>
              <a:buNone/>
            </a:pPr>
            <a:r>
              <a:t/>
            </a:r>
            <a:endParaRPr b="1"/>
          </a:p>
          <a:p>
            <a:pPr indent="0" lvl="0" marL="0" rtl="0" algn="l">
              <a:lnSpc>
                <a:spcPct val="100000"/>
              </a:lnSpc>
              <a:spcBef>
                <a:spcPts val="300"/>
              </a:spcBef>
              <a:spcAft>
                <a:spcPts val="0"/>
              </a:spcAft>
              <a:buSzPts val="1400"/>
              <a:buFont typeface="Calibri"/>
              <a:buNone/>
            </a:pPr>
            <a:r>
              <a:rPr b="1" lang="en-US"/>
              <a:t>Takeaway </a:t>
            </a:r>
            <a:endParaRPr/>
          </a:p>
          <a:p>
            <a:pPr indent="0" lvl="0" marL="0" rtl="0" algn="l">
              <a:lnSpc>
                <a:spcPct val="100000"/>
              </a:lnSpc>
              <a:spcBef>
                <a:spcPts val="300"/>
              </a:spcBef>
              <a:spcAft>
                <a:spcPts val="0"/>
              </a:spcAft>
              <a:buSzPts val="1400"/>
              <a:buFont typeface="Calibri"/>
              <a:buNone/>
            </a:pPr>
            <a:r>
              <a:rPr lang="en-US"/>
              <a:t>Move on with Soccer and Football</a:t>
            </a:r>
            <a:r>
              <a:rPr b="1" lang="en-US"/>
              <a:t> </a:t>
            </a:r>
            <a:endParaRPr/>
          </a:p>
        </p:txBody>
      </p:sp>
      <p:sp>
        <p:nvSpPr>
          <p:cNvPr id="377" name="Google Shape;377;p11"/>
          <p:cNvSpPr txBox="1"/>
          <p:nvPr>
            <p:ph idx="2" type="body"/>
          </p:nvPr>
        </p:nvSpPr>
        <p:spPr>
          <a:xfrm>
            <a:off x="3208531" y="1353374"/>
            <a:ext cx="2690077" cy="4924494"/>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Font typeface="Calibri"/>
              <a:buNone/>
            </a:pPr>
            <a:r>
              <a:rPr lang="en-US"/>
              <a:t>A </a:t>
            </a:r>
            <a:r>
              <a:rPr b="1" lang="en-US"/>
              <a:t>great candidate </a:t>
            </a:r>
            <a:r>
              <a:rPr lang="en-US"/>
              <a:t>will start with Atlanta and will remember to multiply the final revenue of each team by the royalties % and NI margin</a:t>
            </a:r>
            <a:endParaRPr/>
          </a:p>
          <a:p>
            <a:pPr indent="0" lvl="0" marL="0" rtl="0" algn="l">
              <a:lnSpc>
                <a:spcPct val="100000"/>
              </a:lnSpc>
              <a:spcBef>
                <a:spcPts val="300"/>
              </a:spcBef>
              <a:spcAft>
                <a:spcPts val="0"/>
              </a:spcAft>
              <a:buSzPts val="1400"/>
              <a:buFont typeface="Calibri"/>
              <a:buNone/>
            </a:pPr>
            <a:r>
              <a:rPr b="1" lang="en-US"/>
              <a:t>Calculations:</a:t>
            </a:r>
            <a:endParaRPr/>
          </a:p>
          <a:p>
            <a:pPr indent="0" lvl="0" marL="0" rtl="0" algn="l">
              <a:lnSpc>
                <a:spcPct val="100000"/>
              </a:lnSpc>
              <a:spcBef>
                <a:spcPts val="300"/>
              </a:spcBef>
              <a:spcAft>
                <a:spcPts val="0"/>
              </a:spcAft>
              <a:buSzPts val="1400"/>
              <a:buFont typeface="Calibri"/>
              <a:buNone/>
            </a:pPr>
            <a:r>
              <a:rPr b="1" lang="en-US"/>
              <a:t>Atlanta Football </a:t>
            </a:r>
            <a:r>
              <a:rPr lang="en-US"/>
              <a:t>–</a:t>
            </a:r>
            <a:r>
              <a:rPr b="1" lang="en-US"/>
              <a:t> </a:t>
            </a:r>
            <a:r>
              <a:rPr lang="en-US"/>
              <a:t>(4M – 2.5M) x $50 = $125M rev. x 10% royalties paid to FLC = $12.5M in new rev. x 10% NI margin = </a:t>
            </a:r>
            <a:r>
              <a:rPr b="1" lang="en-US"/>
              <a:t>$1.25M</a:t>
            </a:r>
            <a:endParaRPr/>
          </a:p>
          <a:p>
            <a:pPr indent="0" lvl="0" marL="0" rtl="0" algn="l">
              <a:lnSpc>
                <a:spcPct val="100000"/>
              </a:lnSpc>
              <a:spcBef>
                <a:spcPts val="300"/>
              </a:spcBef>
              <a:spcAft>
                <a:spcPts val="0"/>
              </a:spcAft>
              <a:buSzPts val="1400"/>
              <a:buFont typeface="Calibri"/>
              <a:buNone/>
            </a:pPr>
            <a:r>
              <a:rPr b="1" lang="en-US"/>
              <a:t>Atlanta Soccer </a:t>
            </a:r>
            <a:r>
              <a:rPr lang="en-US"/>
              <a:t>–</a:t>
            </a:r>
            <a:r>
              <a:rPr b="1" lang="en-US"/>
              <a:t> </a:t>
            </a:r>
            <a:r>
              <a:rPr lang="en-US"/>
              <a:t>(6M – 4M) x $50 = $100M x 15% royalties = </a:t>
            </a:r>
            <a:r>
              <a:rPr b="1" lang="en-US"/>
              <a:t>$15M </a:t>
            </a:r>
            <a:r>
              <a:rPr lang="en-US"/>
              <a:t>x 10% = </a:t>
            </a:r>
            <a:r>
              <a:rPr b="1" lang="en-US"/>
              <a:t>$1.5M</a:t>
            </a:r>
            <a:endParaRPr/>
          </a:p>
          <a:p>
            <a:pPr indent="0" lvl="0" marL="0" rtl="0" algn="l">
              <a:lnSpc>
                <a:spcPct val="100000"/>
              </a:lnSpc>
              <a:spcBef>
                <a:spcPts val="300"/>
              </a:spcBef>
              <a:spcAft>
                <a:spcPts val="0"/>
              </a:spcAft>
              <a:buSzPts val="1400"/>
              <a:buFont typeface="Calibri"/>
              <a:buNone/>
            </a:pPr>
            <a:r>
              <a:rPr b="1" lang="en-US"/>
              <a:t>Houston Football </a:t>
            </a:r>
            <a:r>
              <a:rPr lang="en-US"/>
              <a:t>– (4M – 2M) x $40 = $80M x 10% royalties = $8M x 10% =</a:t>
            </a:r>
            <a:r>
              <a:rPr b="1" lang="en-US"/>
              <a:t> $0.8M </a:t>
            </a:r>
            <a:endParaRPr/>
          </a:p>
          <a:p>
            <a:pPr indent="0" lvl="0" marL="0" rtl="0" algn="l">
              <a:lnSpc>
                <a:spcPct val="100000"/>
              </a:lnSpc>
              <a:spcBef>
                <a:spcPts val="300"/>
              </a:spcBef>
              <a:spcAft>
                <a:spcPts val="0"/>
              </a:spcAft>
              <a:buSzPts val="1400"/>
              <a:buFont typeface="Calibri"/>
              <a:buNone/>
            </a:pPr>
            <a:r>
              <a:rPr b="1" lang="en-US"/>
              <a:t>Houston Soccer </a:t>
            </a:r>
            <a:r>
              <a:rPr lang="en-US"/>
              <a:t>–</a:t>
            </a:r>
            <a:r>
              <a:rPr b="1" lang="en-US"/>
              <a:t> </a:t>
            </a:r>
            <a:r>
              <a:rPr lang="en-US"/>
              <a:t>(5.5M – 4M) x$40 = $60M x 15% royalties = $9M x 10% = </a:t>
            </a:r>
            <a:r>
              <a:rPr b="1" lang="en-US"/>
              <a:t>$0.9M</a:t>
            </a:r>
            <a:endParaRPr/>
          </a:p>
          <a:p>
            <a:pPr indent="0" lvl="0" marL="0" rtl="0" algn="l">
              <a:lnSpc>
                <a:spcPct val="100000"/>
              </a:lnSpc>
              <a:spcBef>
                <a:spcPts val="300"/>
              </a:spcBef>
              <a:spcAft>
                <a:spcPts val="0"/>
              </a:spcAft>
              <a:buSzPts val="1400"/>
              <a:buFont typeface="Calibri"/>
              <a:buNone/>
            </a:pPr>
            <a:r>
              <a:rPr b="1" lang="en-US"/>
              <a:t>Takeaway</a:t>
            </a:r>
            <a:endParaRPr/>
          </a:p>
          <a:p>
            <a:pPr indent="0" lvl="0" marL="0" rtl="0" algn="l">
              <a:lnSpc>
                <a:spcPct val="100000"/>
              </a:lnSpc>
              <a:spcBef>
                <a:spcPts val="300"/>
              </a:spcBef>
              <a:spcAft>
                <a:spcPts val="0"/>
              </a:spcAft>
              <a:buSzPts val="1400"/>
              <a:buFont typeface="Calibri"/>
              <a:buNone/>
            </a:pPr>
            <a:r>
              <a:rPr lang="en-US"/>
              <a:t>Atlanta and Houston good options</a:t>
            </a:r>
            <a:endParaRPr/>
          </a:p>
        </p:txBody>
      </p:sp>
      <p:sp>
        <p:nvSpPr>
          <p:cNvPr id="378" name="Google Shape;378;p11"/>
          <p:cNvSpPr txBox="1"/>
          <p:nvPr>
            <p:ph idx="3" type="body"/>
          </p:nvPr>
        </p:nvSpPr>
        <p:spPr>
          <a:xfrm>
            <a:off x="6039474" y="1353374"/>
            <a:ext cx="2690077" cy="4924494"/>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Font typeface="Calibri"/>
              <a:buNone/>
            </a:pPr>
            <a:r>
              <a:rPr lang="en-US"/>
              <a:t>A </a:t>
            </a:r>
            <a:r>
              <a:rPr b="1" lang="en-US"/>
              <a:t>good candidate </a:t>
            </a:r>
            <a:r>
              <a:rPr lang="en-US"/>
              <a:t>will get here with Atlanta soccer and football recommendation. A </a:t>
            </a:r>
            <a:r>
              <a:rPr b="1" lang="en-US"/>
              <a:t>great candidate</a:t>
            </a:r>
            <a:r>
              <a:rPr lang="en-US"/>
              <a:t> will point out possible risks of moving to another sport.</a:t>
            </a:r>
            <a:endParaRPr/>
          </a:p>
          <a:p>
            <a:pPr indent="0" lvl="0" marL="0" rtl="0" algn="l">
              <a:lnSpc>
                <a:spcPct val="100000"/>
              </a:lnSpc>
              <a:spcBef>
                <a:spcPts val="300"/>
              </a:spcBef>
              <a:spcAft>
                <a:spcPts val="0"/>
              </a:spcAft>
              <a:buSzPts val="1400"/>
              <a:buFont typeface="Calibri"/>
              <a:buNone/>
            </a:pPr>
            <a:r>
              <a:t/>
            </a:r>
            <a:endParaRPr/>
          </a:p>
          <a:p>
            <a:pPr indent="0" lvl="0" marL="0" rtl="0" algn="l">
              <a:lnSpc>
                <a:spcPct val="100000"/>
              </a:lnSpc>
              <a:spcBef>
                <a:spcPts val="300"/>
              </a:spcBef>
              <a:spcAft>
                <a:spcPts val="0"/>
              </a:spcAft>
              <a:buSzPts val="1400"/>
              <a:buFont typeface="Calibri"/>
              <a:buNone/>
            </a:pPr>
            <a:r>
              <a:rPr b="1" lang="en-US"/>
              <a:t>Calculations:</a:t>
            </a:r>
            <a:endParaRPr/>
          </a:p>
          <a:p>
            <a:pPr indent="0" lvl="0" marL="0" rtl="0" algn="l">
              <a:lnSpc>
                <a:spcPct val="100000"/>
              </a:lnSpc>
              <a:spcBef>
                <a:spcPts val="300"/>
              </a:spcBef>
              <a:spcAft>
                <a:spcPts val="0"/>
              </a:spcAft>
              <a:buSzPts val="1400"/>
              <a:buFont typeface="Calibri"/>
              <a:buNone/>
            </a:pPr>
            <a:r>
              <a:rPr b="1" lang="en-US"/>
              <a:t>Atlanta Football - </a:t>
            </a:r>
            <a:r>
              <a:rPr lang="en-US"/>
              <a:t>$1.25M NI / $12.5 cost = </a:t>
            </a:r>
            <a:r>
              <a:rPr b="1" lang="en-US"/>
              <a:t>10% ROI</a:t>
            </a:r>
            <a:endParaRPr/>
          </a:p>
          <a:p>
            <a:pPr indent="0" lvl="0" marL="0" rtl="0" algn="l">
              <a:lnSpc>
                <a:spcPct val="100000"/>
              </a:lnSpc>
              <a:spcBef>
                <a:spcPts val="300"/>
              </a:spcBef>
              <a:spcAft>
                <a:spcPts val="0"/>
              </a:spcAft>
              <a:buSzPts val="1400"/>
              <a:buFont typeface="Calibri"/>
              <a:buNone/>
            </a:pPr>
            <a:r>
              <a:rPr b="1" lang="en-US"/>
              <a:t>Atlanta Soccer </a:t>
            </a:r>
            <a:r>
              <a:rPr lang="en-US"/>
              <a:t>- $1.5M NI / $7.5M = </a:t>
            </a:r>
            <a:r>
              <a:rPr b="1" lang="en-US"/>
              <a:t>20% ROI</a:t>
            </a:r>
            <a:endParaRPr/>
          </a:p>
          <a:p>
            <a:pPr indent="0" lvl="0" marL="0" rtl="0" algn="l">
              <a:lnSpc>
                <a:spcPct val="100000"/>
              </a:lnSpc>
              <a:spcBef>
                <a:spcPts val="300"/>
              </a:spcBef>
              <a:spcAft>
                <a:spcPts val="0"/>
              </a:spcAft>
              <a:buSzPts val="1400"/>
              <a:buFont typeface="Calibri"/>
              <a:buNone/>
            </a:pPr>
            <a:r>
              <a:rPr b="1" lang="en-US"/>
              <a:t>Houston Football </a:t>
            </a:r>
            <a:r>
              <a:rPr lang="en-US"/>
              <a:t>- $0.8M / $8M = </a:t>
            </a:r>
            <a:r>
              <a:rPr b="1" lang="en-US"/>
              <a:t>10% ROI</a:t>
            </a:r>
            <a:endParaRPr/>
          </a:p>
          <a:p>
            <a:pPr indent="0" lvl="0" marL="0" rtl="0" algn="l">
              <a:lnSpc>
                <a:spcPct val="100000"/>
              </a:lnSpc>
              <a:spcBef>
                <a:spcPts val="300"/>
              </a:spcBef>
              <a:spcAft>
                <a:spcPts val="0"/>
              </a:spcAft>
              <a:buSzPts val="1400"/>
              <a:buFont typeface="Calibri"/>
              <a:buNone/>
            </a:pPr>
            <a:r>
              <a:rPr b="1" lang="en-US"/>
              <a:t>Houston Soccer </a:t>
            </a:r>
            <a:r>
              <a:rPr lang="en-US"/>
              <a:t>- $0.9M / $4.5M = </a:t>
            </a:r>
            <a:r>
              <a:rPr b="1" lang="en-US"/>
              <a:t>20% ROI</a:t>
            </a:r>
            <a:endParaRPr/>
          </a:p>
          <a:p>
            <a:pPr indent="0" lvl="0" marL="0" rtl="0" algn="l">
              <a:lnSpc>
                <a:spcPct val="100000"/>
              </a:lnSpc>
              <a:spcBef>
                <a:spcPts val="300"/>
              </a:spcBef>
              <a:spcAft>
                <a:spcPts val="0"/>
              </a:spcAft>
              <a:buSzPts val="1400"/>
              <a:buFont typeface="Calibri"/>
              <a:buNone/>
            </a:pPr>
            <a:r>
              <a:t/>
            </a:r>
            <a:endParaRPr b="1"/>
          </a:p>
          <a:p>
            <a:pPr indent="0" lvl="0" marL="0" rtl="0" algn="l">
              <a:lnSpc>
                <a:spcPct val="100000"/>
              </a:lnSpc>
              <a:spcBef>
                <a:spcPts val="300"/>
              </a:spcBef>
              <a:spcAft>
                <a:spcPts val="0"/>
              </a:spcAft>
              <a:buSzPts val="1400"/>
              <a:buFont typeface="Calibri"/>
              <a:buNone/>
            </a:pPr>
            <a:r>
              <a:rPr b="1" lang="en-US"/>
              <a:t>Takeaway</a:t>
            </a:r>
            <a:endParaRPr/>
          </a:p>
          <a:p>
            <a:pPr indent="0" lvl="0" marL="0" rtl="0" algn="l">
              <a:lnSpc>
                <a:spcPct val="100000"/>
              </a:lnSpc>
              <a:spcBef>
                <a:spcPts val="300"/>
              </a:spcBef>
              <a:spcAft>
                <a:spcPts val="0"/>
              </a:spcAft>
              <a:buSzPts val="1400"/>
              <a:buFont typeface="Calibri"/>
              <a:buNone/>
            </a:pPr>
            <a:r>
              <a:rPr lang="en-US"/>
              <a:t>Football’s ROI is lower than FLC’s hurdle rate, so FLC should move on with soccer in Atlanta and Houston</a:t>
            </a:r>
            <a:endParaRPr/>
          </a:p>
          <a:p>
            <a:pPr indent="0" lvl="0" marL="0" rtl="0" algn="l">
              <a:lnSpc>
                <a:spcPct val="100000"/>
              </a:lnSpc>
              <a:spcBef>
                <a:spcPts val="300"/>
              </a:spcBef>
              <a:spcAft>
                <a:spcPts val="0"/>
              </a:spcAft>
              <a:buSzPts val="1400"/>
              <a:buFont typeface="Calibri"/>
              <a:buNone/>
            </a:pPr>
            <a:r>
              <a:t/>
            </a:r>
            <a:endParaRPr b="1"/>
          </a:p>
        </p:txBody>
      </p:sp>
      <p:sp>
        <p:nvSpPr>
          <p:cNvPr id="379" name="Google Shape;379;p11"/>
          <p:cNvSpPr txBox="1"/>
          <p:nvPr>
            <p:ph idx="4" type="body"/>
          </p:nvPr>
        </p:nvSpPr>
        <p:spPr>
          <a:xfrm>
            <a:off x="503321" y="1075872"/>
            <a:ext cx="2549163"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Exhibit 1 Takeaways</a:t>
            </a:r>
            <a:endParaRPr/>
          </a:p>
        </p:txBody>
      </p:sp>
      <p:sp>
        <p:nvSpPr>
          <p:cNvPr id="380" name="Google Shape;380;p11"/>
          <p:cNvSpPr txBox="1"/>
          <p:nvPr>
            <p:ph idx="5" type="body"/>
          </p:nvPr>
        </p:nvSpPr>
        <p:spPr>
          <a:xfrm>
            <a:off x="3319646" y="1075872"/>
            <a:ext cx="2549163"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Exhibit 2 Takeaways</a:t>
            </a:r>
            <a:endParaRPr/>
          </a:p>
        </p:txBody>
      </p:sp>
      <p:sp>
        <p:nvSpPr>
          <p:cNvPr id="381" name="Google Shape;381;p11"/>
          <p:cNvSpPr txBox="1"/>
          <p:nvPr>
            <p:ph idx="6" type="body"/>
          </p:nvPr>
        </p:nvSpPr>
        <p:spPr>
          <a:xfrm>
            <a:off x="6125605" y="1075872"/>
            <a:ext cx="2549163"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Exhibit 3 Takeaways</a:t>
            </a:r>
            <a:endParaRPr/>
          </a:p>
        </p:txBody>
      </p:sp>
      <p:sp>
        <p:nvSpPr>
          <p:cNvPr id="382" name="Google Shape;382;p11"/>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12"/>
          <p:cNvSpPr txBox="1"/>
          <p:nvPr>
            <p:ph idx="1" type="body"/>
          </p:nvPr>
        </p:nvSpPr>
        <p:spPr>
          <a:xfrm>
            <a:off x="368302" y="3983413"/>
            <a:ext cx="4107445" cy="2289372"/>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274313" lvl="1" marL="274313" rtl="0" algn="l">
              <a:lnSpc>
                <a:spcPct val="100000"/>
              </a:lnSpc>
              <a:spcBef>
                <a:spcPts val="0"/>
              </a:spcBef>
              <a:spcAft>
                <a:spcPts val="0"/>
              </a:spcAft>
              <a:buSzPts val="1400"/>
              <a:buChar char="•"/>
            </a:pPr>
            <a:r>
              <a:rPr lang="en-US"/>
              <a:t>Start negotiating with the proponents</a:t>
            </a:r>
            <a:endParaRPr/>
          </a:p>
          <a:p>
            <a:pPr indent="-274313" lvl="1" marL="274313" rtl="0" algn="l">
              <a:lnSpc>
                <a:spcPct val="100000"/>
              </a:lnSpc>
              <a:spcBef>
                <a:spcPts val="300"/>
              </a:spcBef>
              <a:spcAft>
                <a:spcPts val="0"/>
              </a:spcAft>
              <a:buSzPts val="1400"/>
              <a:buChar char="•"/>
            </a:pPr>
            <a:r>
              <a:rPr lang="en-US"/>
              <a:t>Set up initial marketing and communication plan for the launch</a:t>
            </a:r>
            <a:endParaRPr/>
          </a:p>
          <a:p>
            <a:pPr indent="-274313" lvl="1" marL="274313" rtl="0" algn="l">
              <a:lnSpc>
                <a:spcPct val="100000"/>
              </a:lnSpc>
              <a:spcBef>
                <a:spcPts val="300"/>
              </a:spcBef>
              <a:spcAft>
                <a:spcPts val="0"/>
              </a:spcAft>
              <a:buSzPts val="1400"/>
              <a:buChar char="•"/>
            </a:pPr>
            <a:r>
              <a:rPr lang="en-US"/>
              <a:t>Client should consider other cities to keep expanding in the following years.</a:t>
            </a:r>
            <a:endParaRPr/>
          </a:p>
        </p:txBody>
      </p:sp>
      <p:sp>
        <p:nvSpPr>
          <p:cNvPr id="388" name="Google Shape;388;p12"/>
          <p:cNvSpPr txBox="1"/>
          <p:nvPr>
            <p:ph idx="2" type="body"/>
          </p:nvPr>
        </p:nvSpPr>
        <p:spPr>
          <a:xfrm>
            <a:off x="4596063" y="3983412"/>
            <a:ext cx="4110955" cy="2289373"/>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274313" lvl="1" marL="274313" rtl="0" algn="l">
              <a:lnSpc>
                <a:spcPct val="100000"/>
              </a:lnSpc>
              <a:spcBef>
                <a:spcPts val="0"/>
              </a:spcBef>
              <a:spcAft>
                <a:spcPts val="0"/>
              </a:spcAft>
              <a:buSzPts val="1400"/>
              <a:buChar char="•"/>
            </a:pPr>
            <a:r>
              <a:rPr lang="en-US"/>
              <a:t>Candidates come with two or more opportunities to expand (other sports, other cities, other leagues)</a:t>
            </a:r>
            <a:endParaRPr/>
          </a:p>
          <a:p>
            <a:pPr indent="-274313" lvl="1" marL="274313" rtl="0" algn="l">
              <a:lnSpc>
                <a:spcPct val="100000"/>
              </a:lnSpc>
              <a:spcBef>
                <a:spcPts val="300"/>
              </a:spcBef>
              <a:spcAft>
                <a:spcPts val="0"/>
              </a:spcAft>
              <a:buSzPts val="1400"/>
              <a:buChar char="•"/>
            </a:pPr>
            <a:r>
              <a:rPr lang="en-US"/>
              <a:t>Candidates that quickly realize that Hockey and Baseball are not interesting to FLC</a:t>
            </a:r>
            <a:endParaRPr/>
          </a:p>
          <a:p>
            <a:pPr indent="-274313" lvl="1" marL="274313" rtl="0" algn="l">
              <a:lnSpc>
                <a:spcPct val="100000"/>
              </a:lnSpc>
              <a:spcBef>
                <a:spcPts val="300"/>
              </a:spcBef>
              <a:spcAft>
                <a:spcPts val="0"/>
              </a:spcAft>
              <a:buSzPts val="1400"/>
              <a:buChar char="•"/>
            </a:pPr>
            <a:r>
              <a:rPr lang="en-US"/>
              <a:t>Candidates that identify risks involved in opening a Football League (lack of know how, competitiors)</a:t>
            </a:r>
            <a:endParaRPr/>
          </a:p>
          <a:p>
            <a:pPr indent="-274313" lvl="1" marL="274313" rtl="0" algn="l">
              <a:lnSpc>
                <a:spcPct val="100000"/>
              </a:lnSpc>
              <a:spcBef>
                <a:spcPts val="300"/>
              </a:spcBef>
              <a:spcAft>
                <a:spcPts val="0"/>
              </a:spcAft>
              <a:buSzPts val="1400"/>
              <a:buChar char="•"/>
            </a:pPr>
            <a:r>
              <a:rPr lang="en-US"/>
              <a:t>Candidates with perfect math calculations / organization</a:t>
            </a:r>
            <a:endParaRPr/>
          </a:p>
        </p:txBody>
      </p:sp>
      <p:sp>
        <p:nvSpPr>
          <p:cNvPr id="389" name="Google Shape;389;p12"/>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FLC Sports League</a:t>
            </a:r>
            <a:endParaRPr/>
          </a:p>
        </p:txBody>
      </p:sp>
      <p:sp>
        <p:nvSpPr>
          <p:cNvPr id="390" name="Google Shape;390;p12"/>
          <p:cNvSpPr txBox="1"/>
          <p:nvPr>
            <p:ph idx="3" type="body"/>
          </p:nvPr>
        </p:nvSpPr>
        <p:spPr>
          <a:xfrm>
            <a:off x="465670" y="3695044"/>
            <a:ext cx="4010077"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solidFill>
                  <a:schemeClr val="lt1"/>
                </a:solidFill>
              </a:rPr>
              <a:t>Next Steps</a:t>
            </a:r>
            <a:endParaRPr/>
          </a:p>
        </p:txBody>
      </p:sp>
      <p:sp>
        <p:nvSpPr>
          <p:cNvPr id="391" name="Google Shape;391;p12"/>
          <p:cNvSpPr txBox="1"/>
          <p:nvPr>
            <p:ph idx="4" type="body"/>
          </p:nvPr>
        </p:nvSpPr>
        <p:spPr>
          <a:xfrm>
            <a:off x="4664691" y="3695044"/>
            <a:ext cx="4010077"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solidFill>
                  <a:schemeClr val="lt1"/>
                </a:solidFill>
              </a:rPr>
              <a:t>Excellent Answers</a:t>
            </a:r>
            <a:endParaRPr/>
          </a:p>
          <a:p>
            <a:pPr indent="0" lvl="0" marL="0" rtl="0" algn="l">
              <a:lnSpc>
                <a:spcPct val="100000"/>
              </a:lnSpc>
              <a:spcBef>
                <a:spcPts val="900"/>
              </a:spcBef>
              <a:spcAft>
                <a:spcPts val="0"/>
              </a:spcAft>
              <a:buSzPts val="1800"/>
              <a:buFont typeface="Calibri"/>
              <a:buNone/>
            </a:pPr>
            <a:r>
              <a:t/>
            </a:r>
            <a:endParaRPr/>
          </a:p>
        </p:txBody>
      </p:sp>
      <p:sp>
        <p:nvSpPr>
          <p:cNvPr id="392" name="Google Shape;392;p12"/>
          <p:cNvSpPr txBox="1"/>
          <p:nvPr>
            <p:ph idx="5" type="body"/>
          </p:nvPr>
        </p:nvSpPr>
        <p:spPr>
          <a:xfrm>
            <a:off x="368302" y="1261135"/>
            <a:ext cx="4107445" cy="2289372"/>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Font typeface="Calibri"/>
              <a:buNone/>
            </a:pPr>
            <a:r>
              <a:rPr lang="en-US"/>
              <a:t>FLC should invest in an Atlanta ($1.5M) and a Houston ($.09M) team in order to achieve the $2.4M (24%) increase in net income and respect the ROI hurdle rate of 15% in both investments (Atlanta and Houston – 20%)</a:t>
            </a:r>
            <a:endParaRPr/>
          </a:p>
        </p:txBody>
      </p:sp>
      <p:sp>
        <p:nvSpPr>
          <p:cNvPr id="393" name="Google Shape;393;p12"/>
          <p:cNvSpPr txBox="1"/>
          <p:nvPr>
            <p:ph idx="6" type="body"/>
          </p:nvPr>
        </p:nvSpPr>
        <p:spPr>
          <a:xfrm>
            <a:off x="4596063" y="1261134"/>
            <a:ext cx="4110955" cy="2289373"/>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274313" lvl="1" marL="274313" rtl="0" algn="l">
              <a:lnSpc>
                <a:spcPct val="100000"/>
              </a:lnSpc>
              <a:spcBef>
                <a:spcPts val="0"/>
              </a:spcBef>
              <a:spcAft>
                <a:spcPts val="0"/>
              </a:spcAft>
              <a:buSzPts val="1400"/>
              <a:buChar char="•"/>
            </a:pPr>
            <a:r>
              <a:rPr lang="en-US"/>
              <a:t>Customer preference can change from soccer to other sports</a:t>
            </a:r>
            <a:endParaRPr/>
          </a:p>
          <a:p>
            <a:pPr indent="-274313" lvl="1" marL="274313" rtl="0" algn="l">
              <a:lnSpc>
                <a:spcPct val="100000"/>
              </a:lnSpc>
              <a:spcBef>
                <a:spcPts val="300"/>
              </a:spcBef>
              <a:spcAft>
                <a:spcPts val="0"/>
              </a:spcAft>
              <a:buSzPts val="1400"/>
              <a:buChar char="•"/>
            </a:pPr>
            <a:r>
              <a:rPr lang="en-US"/>
              <a:t>Average spent can be lower than expected</a:t>
            </a:r>
            <a:endParaRPr/>
          </a:p>
          <a:p>
            <a:pPr indent="-274313" lvl="1" marL="274313" rtl="0" algn="l">
              <a:lnSpc>
                <a:spcPct val="100000"/>
              </a:lnSpc>
              <a:spcBef>
                <a:spcPts val="300"/>
              </a:spcBef>
              <a:spcAft>
                <a:spcPts val="0"/>
              </a:spcAft>
              <a:buSzPts val="1400"/>
              <a:buChar char="•"/>
            </a:pPr>
            <a:r>
              <a:rPr lang="en-US"/>
              <a:t>As FLC grows, costs can increase more than expected</a:t>
            </a:r>
            <a:endParaRPr/>
          </a:p>
        </p:txBody>
      </p:sp>
      <p:sp>
        <p:nvSpPr>
          <p:cNvPr id="394" name="Google Shape;394;p12"/>
          <p:cNvSpPr txBox="1"/>
          <p:nvPr>
            <p:ph idx="7" type="body"/>
          </p:nvPr>
        </p:nvSpPr>
        <p:spPr>
          <a:xfrm>
            <a:off x="465670" y="972766"/>
            <a:ext cx="4010077"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solidFill>
                  <a:schemeClr val="lt1"/>
                </a:solidFill>
              </a:rPr>
              <a:t>Recommendation</a:t>
            </a:r>
            <a:endParaRPr/>
          </a:p>
          <a:p>
            <a:pPr indent="0" lvl="0" marL="0" rtl="0" algn="l">
              <a:lnSpc>
                <a:spcPct val="100000"/>
              </a:lnSpc>
              <a:spcBef>
                <a:spcPts val="900"/>
              </a:spcBef>
              <a:spcAft>
                <a:spcPts val="0"/>
              </a:spcAft>
              <a:buSzPts val="1800"/>
              <a:buFont typeface="Calibri"/>
              <a:buNone/>
            </a:pPr>
            <a:r>
              <a:t/>
            </a:r>
            <a:endParaRPr/>
          </a:p>
        </p:txBody>
      </p:sp>
      <p:sp>
        <p:nvSpPr>
          <p:cNvPr id="395" name="Google Shape;395;p12"/>
          <p:cNvSpPr txBox="1"/>
          <p:nvPr>
            <p:ph idx="8" type="body"/>
          </p:nvPr>
        </p:nvSpPr>
        <p:spPr>
          <a:xfrm>
            <a:off x="4664691" y="972766"/>
            <a:ext cx="4010077"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solidFill>
                  <a:schemeClr val="lt1"/>
                </a:solidFill>
              </a:rPr>
              <a:t>Risks</a:t>
            </a:r>
            <a:endParaRPr/>
          </a:p>
        </p:txBody>
      </p:sp>
      <p:sp>
        <p:nvSpPr>
          <p:cNvPr id="396" name="Google Shape;396;p12"/>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13"/>
          <p:cNvSpPr txBox="1"/>
          <p:nvPr>
            <p:ph idx="1" type="body"/>
          </p:nvPr>
        </p:nvSpPr>
        <p:spPr>
          <a:xfrm>
            <a:off x="381001" y="1283366"/>
            <a:ext cx="8341656" cy="2182282"/>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Font typeface="Calibri"/>
              <a:buNone/>
            </a:pPr>
            <a:r>
              <a:rPr lang="en-US"/>
              <a:t>Your client, Libby, owns a local lawn &amp; garden store is looking at opportunities to generate additional revenue. She is exploring the possibility of opening an outdoor bar in the parking lot of her store. She has asked for your help in assessing the opportunity</a:t>
            </a:r>
            <a:endParaRPr/>
          </a:p>
        </p:txBody>
      </p:sp>
      <p:sp>
        <p:nvSpPr>
          <p:cNvPr id="402" name="Google Shape;402;p13"/>
          <p:cNvSpPr txBox="1"/>
          <p:nvPr>
            <p:ph idx="2" type="body"/>
          </p:nvPr>
        </p:nvSpPr>
        <p:spPr>
          <a:xfrm>
            <a:off x="368302" y="3910260"/>
            <a:ext cx="4107445" cy="2367609"/>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Font typeface="Calibri"/>
              <a:buNone/>
            </a:pPr>
            <a:r>
              <a:rPr lang="en-US">
                <a:latin typeface="Calibri"/>
                <a:ea typeface="Calibri"/>
                <a:cs typeface="Calibri"/>
                <a:sym typeface="Calibri"/>
              </a:rPr>
              <a:t>Difficulty: medium</a:t>
            </a:r>
            <a:endParaRPr/>
          </a:p>
          <a:p>
            <a:pPr indent="0" lvl="0" marL="0" rtl="0" algn="l">
              <a:lnSpc>
                <a:spcPct val="100000"/>
              </a:lnSpc>
              <a:spcBef>
                <a:spcPts val="300"/>
              </a:spcBef>
              <a:spcAft>
                <a:spcPts val="0"/>
              </a:spcAft>
              <a:buSzPts val="1400"/>
              <a:buFont typeface="Calibri"/>
              <a:buNone/>
            </a:pPr>
            <a:r>
              <a:t/>
            </a:r>
            <a:endParaRPr>
              <a:latin typeface="Calibri"/>
              <a:ea typeface="Calibri"/>
              <a:cs typeface="Calibri"/>
              <a:sym typeface="Calibri"/>
            </a:endParaRPr>
          </a:p>
          <a:p>
            <a:pPr indent="0" lvl="0" marL="0" rtl="0" algn="l">
              <a:lnSpc>
                <a:spcPct val="100000"/>
              </a:lnSpc>
              <a:spcBef>
                <a:spcPts val="300"/>
              </a:spcBef>
              <a:spcAft>
                <a:spcPts val="0"/>
              </a:spcAft>
              <a:buSzPts val="1400"/>
              <a:buFont typeface="Calibri"/>
              <a:buNone/>
            </a:pPr>
            <a:r>
              <a:rPr lang="en-US">
                <a:latin typeface="Calibri"/>
                <a:ea typeface="Calibri"/>
                <a:cs typeface="Calibri"/>
                <a:sym typeface="Calibri"/>
              </a:rPr>
              <a:t>Case format: profitability / market entry</a:t>
            </a:r>
            <a:endParaRPr/>
          </a:p>
          <a:p>
            <a:pPr indent="0" lvl="0" marL="0" rtl="0" algn="l">
              <a:lnSpc>
                <a:spcPct val="100000"/>
              </a:lnSpc>
              <a:spcBef>
                <a:spcPts val="300"/>
              </a:spcBef>
              <a:spcAft>
                <a:spcPts val="0"/>
              </a:spcAft>
              <a:buSzPts val="1400"/>
              <a:buFont typeface="Calibri"/>
              <a:buNone/>
            </a:pPr>
            <a:r>
              <a:t/>
            </a:r>
            <a:endParaRPr>
              <a:latin typeface="Calibri"/>
              <a:ea typeface="Calibri"/>
              <a:cs typeface="Calibri"/>
              <a:sym typeface="Calibri"/>
            </a:endParaRPr>
          </a:p>
          <a:p>
            <a:pPr indent="0" lvl="0" marL="0" rtl="0" algn="l">
              <a:lnSpc>
                <a:spcPct val="100000"/>
              </a:lnSpc>
              <a:spcBef>
                <a:spcPts val="300"/>
              </a:spcBef>
              <a:spcAft>
                <a:spcPts val="0"/>
              </a:spcAft>
              <a:buSzPts val="1400"/>
              <a:buFont typeface="Calibri"/>
              <a:buNone/>
            </a:pPr>
            <a:r>
              <a:rPr lang="en-US">
                <a:latin typeface="Calibri"/>
                <a:ea typeface="Calibri"/>
                <a:cs typeface="Calibri"/>
                <a:sym typeface="Calibri"/>
              </a:rPr>
              <a:t>Concepts being tested: </a:t>
            </a:r>
            <a:endParaRPr/>
          </a:p>
        </p:txBody>
      </p:sp>
      <p:sp>
        <p:nvSpPr>
          <p:cNvPr id="403" name="Google Shape;403;p13"/>
          <p:cNvSpPr txBox="1"/>
          <p:nvPr>
            <p:ph idx="3" type="body"/>
          </p:nvPr>
        </p:nvSpPr>
        <p:spPr>
          <a:xfrm>
            <a:off x="4596063" y="3910260"/>
            <a:ext cx="4110955" cy="2367608"/>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11437" lvl="0" marL="11437" rtl="0" algn="l">
              <a:lnSpc>
                <a:spcPct val="100000"/>
              </a:lnSpc>
              <a:spcBef>
                <a:spcPts val="0"/>
              </a:spcBef>
              <a:spcAft>
                <a:spcPts val="0"/>
              </a:spcAft>
              <a:buSzPts val="1400"/>
              <a:buFont typeface="Arial"/>
              <a:buChar char="•"/>
            </a:pPr>
            <a:r>
              <a:rPr lang="en-US">
                <a:latin typeface="Calibri"/>
                <a:ea typeface="Calibri"/>
                <a:cs typeface="Calibri"/>
                <a:sym typeface="Calibri"/>
              </a:rPr>
              <a:t>Interviewee led case</a:t>
            </a:r>
            <a:endParaRPr/>
          </a:p>
          <a:p>
            <a:pPr indent="-11437" lvl="0" marL="11437" rtl="0" algn="l">
              <a:lnSpc>
                <a:spcPct val="100000"/>
              </a:lnSpc>
              <a:spcBef>
                <a:spcPts val="300"/>
              </a:spcBef>
              <a:spcAft>
                <a:spcPts val="0"/>
              </a:spcAft>
              <a:buSzPts val="1400"/>
              <a:buFont typeface="Arial"/>
              <a:buChar char="•"/>
            </a:pPr>
            <a:r>
              <a:rPr lang="en-US">
                <a:latin typeface="Calibri"/>
                <a:ea typeface="Calibri"/>
                <a:cs typeface="Calibri"/>
                <a:sym typeface="Calibri"/>
              </a:rPr>
              <a:t>Candidate should focus on profitability; discussion of market / competition / customer impact should be brief but should be noted at some point by the candidate</a:t>
            </a:r>
            <a:endParaRPr/>
          </a:p>
        </p:txBody>
      </p:sp>
      <p:sp>
        <p:nvSpPr>
          <p:cNvPr id="404" name="Google Shape;404;p13"/>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Libby’s Libation Lot</a:t>
            </a:r>
            <a:endParaRPr/>
          </a:p>
        </p:txBody>
      </p:sp>
      <p:sp>
        <p:nvSpPr>
          <p:cNvPr id="405" name="Google Shape;405;p13"/>
          <p:cNvSpPr txBox="1"/>
          <p:nvPr>
            <p:ph idx="4" type="body"/>
          </p:nvPr>
        </p:nvSpPr>
        <p:spPr>
          <a:xfrm>
            <a:off x="465670" y="996952"/>
            <a:ext cx="8209098"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Case Prompt</a:t>
            </a:r>
            <a:endParaRPr/>
          </a:p>
        </p:txBody>
      </p:sp>
      <p:sp>
        <p:nvSpPr>
          <p:cNvPr id="406" name="Google Shape;406;p13"/>
          <p:cNvSpPr txBox="1"/>
          <p:nvPr>
            <p:ph idx="5" type="body"/>
          </p:nvPr>
        </p:nvSpPr>
        <p:spPr>
          <a:xfrm>
            <a:off x="465670" y="3621892"/>
            <a:ext cx="4010077"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Case Info</a:t>
            </a:r>
            <a:endParaRPr/>
          </a:p>
        </p:txBody>
      </p:sp>
      <p:sp>
        <p:nvSpPr>
          <p:cNvPr id="407" name="Google Shape;407;p13"/>
          <p:cNvSpPr txBox="1"/>
          <p:nvPr>
            <p:ph idx="6" type="body"/>
          </p:nvPr>
        </p:nvSpPr>
        <p:spPr>
          <a:xfrm>
            <a:off x="4664691" y="3621892"/>
            <a:ext cx="4010077"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Interview guidance</a:t>
            </a:r>
            <a:endParaRPr/>
          </a:p>
        </p:txBody>
      </p:sp>
      <p:sp>
        <p:nvSpPr>
          <p:cNvPr id="408" name="Google Shape;408;p13"/>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14"/>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Libby’s Libation Lot</a:t>
            </a:r>
            <a:endParaRPr/>
          </a:p>
        </p:txBody>
      </p:sp>
      <p:sp>
        <p:nvSpPr>
          <p:cNvPr id="414" name="Google Shape;414;p14"/>
          <p:cNvSpPr txBox="1"/>
          <p:nvPr>
            <p:ph idx="1" type="body"/>
          </p:nvPr>
        </p:nvSpPr>
        <p:spPr>
          <a:xfrm>
            <a:off x="381001" y="1283365"/>
            <a:ext cx="8341656" cy="4985087"/>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Font typeface="Calibri"/>
              <a:buNone/>
            </a:pPr>
            <a:r>
              <a:rPr lang="en-US"/>
              <a:t>Geography: Client is located in Ann Arbor, MI</a:t>
            </a:r>
            <a:endParaRPr/>
          </a:p>
          <a:p>
            <a:pPr indent="0" lvl="0" marL="0" rtl="0" algn="l">
              <a:lnSpc>
                <a:spcPct val="100000"/>
              </a:lnSpc>
              <a:spcBef>
                <a:spcPts val="300"/>
              </a:spcBef>
              <a:spcAft>
                <a:spcPts val="0"/>
              </a:spcAft>
              <a:buSzPts val="1400"/>
              <a:buFont typeface="Calibri"/>
              <a:buNone/>
            </a:pPr>
            <a:r>
              <a:t/>
            </a:r>
            <a:endParaRPr/>
          </a:p>
          <a:p>
            <a:pPr indent="0" lvl="0" marL="0" rtl="0" algn="l">
              <a:lnSpc>
                <a:spcPct val="100000"/>
              </a:lnSpc>
              <a:spcBef>
                <a:spcPts val="300"/>
              </a:spcBef>
              <a:spcAft>
                <a:spcPts val="0"/>
              </a:spcAft>
              <a:buSzPts val="1400"/>
              <a:buFont typeface="Calibri"/>
              <a:buNone/>
            </a:pPr>
            <a:r>
              <a:rPr lang="en-US"/>
              <a:t>Goal: Client is looking to payback the investment in 3 years or less</a:t>
            </a:r>
            <a:endParaRPr/>
          </a:p>
          <a:p>
            <a:pPr indent="0" lvl="0" marL="0" rtl="0" algn="l">
              <a:lnSpc>
                <a:spcPct val="100000"/>
              </a:lnSpc>
              <a:spcBef>
                <a:spcPts val="300"/>
              </a:spcBef>
              <a:spcAft>
                <a:spcPts val="0"/>
              </a:spcAft>
              <a:buSzPts val="1400"/>
              <a:buFont typeface="Calibri"/>
              <a:buNone/>
            </a:pPr>
            <a:r>
              <a:t/>
            </a:r>
            <a:endParaRPr/>
          </a:p>
          <a:p>
            <a:pPr indent="0" lvl="0" marL="0" rtl="0" algn="l">
              <a:lnSpc>
                <a:spcPct val="100000"/>
              </a:lnSpc>
              <a:spcBef>
                <a:spcPts val="300"/>
              </a:spcBef>
              <a:spcAft>
                <a:spcPts val="0"/>
              </a:spcAft>
              <a:buSzPts val="1400"/>
              <a:buFont typeface="Calibri"/>
              <a:buNone/>
            </a:pPr>
            <a:r>
              <a:rPr lang="en-US"/>
              <a:t>Competition: there are a number of restaurants nearby selling local beer and local wine, local breweries nearby, and a beer garden across the street.</a:t>
            </a:r>
            <a:endParaRPr/>
          </a:p>
          <a:p>
            <a:pPr indent="0" lvl="0" marL="0" rtl="0" algn="l">
              <a:lnSpc>
                <a:spcPct val="100000"/>
              </a:lnSpc>
              <a:spcBef>
                <a:spcPts val="300"/>
              </a:spcBef>
              <a:spcAft>
                <a:spcPts val="0"/>
              </a:spcAft>
              <a:buSzPts val="1400"/>
              <a:buFont typeface="Calibri"/>
              <a:buNone/>
            </a:pPr>
            <a:r>
              <a:t/>
            </a:r>
            <a:endParaRPr/>
          </a:p>
          <a:p>
            <a:pPr indent="0" lvl="0" marL="0" rtl="0" algn="l">
              <a:lnSpc>
                <a:spcPct val="100000"/>
              </a:lnSpc>
              <a:spcBef>
                <a:spcPts val="300"/>
              </a:spcBef>
              <a:spcAft>
                <a:spcPts val="0"/>
              </a:spcAft>
              <a:buSzPts val="1400"/>
              <a:buFont typeface="Calibri"/>
              <a:buNone/>
            </a:pPr>
            <a:r>
              <a:rPr lang="en-US"/>
              <a:t>Experience: client has no experience in selling beer or wine, they do not have a liquor license, they only sell gardening tools, plants, etc. </a:t>
            </a:r>
            <a:endParaRPr/>
          </a:p>
          <a:p>
            <a:pPr indent="0" lvl="0" marL="0" rtl="0" algn="l">
              <a:lnSpc>
                <a:spcPct val="100000"/>
              </a:lnSpc>
              <a:spcBef>
                <a:spcPts val="300"/>
              </a:spcBef>
              <a:spcAft>
                <a:spcPts val="0"/>
              </a:spcAft>
              <a:buSzPts val="1400"/>
              <a:buFont typeface="Calibri"/>
              <a:buNone/>
            </a:pPr>
            <a:r>
              <a:t/>
            </a:r>
            <a:endParaRPr/>
          </a:p>
          <a:p>
            <a:pPr indent="0" lvl="0" marL="0" rtl="0" algn="l">
              <a:lnSpc>
                <a:spcPct val="100000"/>
              </a:lnSpc>
              <a:spcBef>
                <a:spcPts val="300"/>
              </a:spcBef>
              <a:spcAft>
                <a:spcPts val="0"/>
              </a:spcAft>
              <a:buSzPts val="1400"/>
              <a:buFont typeface="Calibri"/>
              <a:buNone/>
            </a:pPr>
            <a:r>
              <a:rPr lang="en-US"/>
              <a:t>Current business: lawn and garden store is open from 10am – 5pm everyday. Typical customer is middle-aged, full-time resident of Ann Arbor.</a:t>
            </a:r>
            <a:endParaRPr/>
          </a:p>
          <a:p>
            <a:pPr indent="0" lvl="0" marL="0" rtl="0" algn="l">
              <a:lnSpc>
                <a:spcPct val="100000"/>
              </a:lnSpc>
              <a:spcBef>
                <a:spcPts val="300"/>
              </a:spcBef>
              <a:spcAft>
                <a:spcPts val="0"/>
              </a:spcAft>
              <a:buSzPts val="1400"/>
              <a:buFont typeface="Calibri"/>
              <a:buNone/>
            </a:pPr>
            <a:r>
              <a:t/>
            </a:r>
            <a:endParaRPr/>
          </a:p>
        </p:txBody>
      </p:sp>
      <p:sp>
        <p:nvSpPr>
          <p:cNvPr id="415" name="Google Shape;415;p14"/>
          <p:cNvSpPr txBox="1"/>
          <p:nvPr>
            <p:ph idx="2" type="body"/>
          </p:nvPr>
        </p:nvSpPr>
        <p:spPr>
          <a:xfrm>
            <a:off x="503321" y="1022905"/>
            <a:ext cx="8126332"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Clarifying information</a:t>
            </a:r>
            <a:endParaRPr/>
          </a:p>
        </p:txBody>
      </p:sp>
      <p:sp>
        <p:nvSpPr>
          <p:cNvPr id="416" name="Google Shape;416;p14"/>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15"/>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Libby’s Libation Lot</a:t>
            </a:r>
            <a:endParaRPr/>
          </a:p>
        </p:txBody>
      </p:sp>
      <p:sp>
        <p:nvSpPr>
          <p:cNvPr id="422" name="Google Shape;422;p15"/>
          <p:cNvSpPr txBox="1"/>
          <p:nvPr>
            <p:ph idx="1" type="body"/>
          </p:nvPr>
        </p:nvSpPr>
        <p:spPr>
          <a:xfrm>
            <a:off x="368302" y="1292790"/>
            <a:ext cx="4107445" cy="4982279"/>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Font typeface="Calibri"/>
              <a:buNone/>
            </a:pPr>
            <a:r>
              <a:rPr lang="en-US">
                <a:latin typeface="Calibri"/>
                <a:ea typeface="Calibri"/>
                <a:cs typeface="Calibri"/>
                <a:sym typeface="Calibri"/>
              </a:rPr>
              <a:t>Revenue		</a:t>
            </a:r>
            <a:r>
              <a:rPr b="1" lang="en-US">
                <a:latin typeface="Calibri"/>
                <a:ea typeface="Calibri"/>
                <a:cs typeface="Calibri"/>
                <a:sym typeface="Calibri"/>
              </a:rPr>
              <a:t>Profit</a:t>
            </a:r>
            <a:r>
              <a:rPr lang="en-US">
                <a:latin typeface="Calibri"/>
                <a:ea typeface="Calibri"/>
                <a:cs typeface="Calibri"/>
                <a:sym typeface="Calibri"/>
              </a:rPr>
              <a:t>	     </a:t>
            </a:r>
            <a:endParaRPr/>
          </a:p>
          <a:p>
            <a:pPr indent="0" lvl="0" marL="0" rtl="0" algn="l">
              <a:lnSpc>
                <a:spcPct val="100000"/>
              </a:lnSpc>
              <a:spcBef>
                <a:spcPts val="300"/>
              </a:spcBef>
              <a:spcAft>
                <a:spcPts val="0"/>
              </a:spcAft>
              <a:buSzPts val="1400"/>
              <a:buFont typeface="Calibri"/>
              <a:buNone/>
            </a:pPr>
            <a:r>
              <a:rPr lang="en-US">
                <a:latin typeface="Calibri"/>
                <a:ea typeface="Calibri"/>
                <a:cs typeface="Calibri"/>
                <a:sym typeface="Calibri"/>
              </a:rPr>
              <a:t>    Volume</a:t>
            </a:r>
            <a:endParaRPr/>
          </a:p>
          <a:p>
            <a:pPr indent="0" lvl="0" marL="0" rtl="0" algn="l">
              <a:lnSpc>
                <a:spcPct val="100000"/>
              </a:lnSpc>
              <a:spcBef>
                <a:spcPts val="300"/>
              </a:spcBef>
              <a:spcAft>
                <a:spcPts val="0"/>
              </a:spcAft>
              <a:buSzPts val="1400"/>
              <a:buFont typeface="Calibri"/>
              <a:buNone/>
            </a:pPr>
            <a:r>
              <a:rPr lang="en-US">
                <a:latin typeface="Calibri"/>
                <a:ea typeface="Calibri"/>
                <a:cs typeface="Calibri"/>
                <a:sym typeface="Calibri"/>
              </a:rPr>
              <a:t>              Product mix -- beer, wine, soda, snacks</a:t>
            </a:r>
            <a:endParaRPr/>
          </a:p>
          <a:p>
            <a:pPr indent="0" lvl="0" marL="0" rtl="0" algn="l">
              <a:lnSpc>
                <a:spcPct val="100000"/>
              </a:lnSpc>
              <a:spcBef>
                <a:spcPts val="300"/>
              </a:spcBef>
              <a:spcAft>
                <a:spcPts val="0"/>
              </a:spcAft>
              <a:buSzPts val="1400"/>
              <a:buFont typeface="Calibri"/>
              <a:buNone/>
            </a:pPr>
            <a:r>
              <a:rPr lang="en-US">
                <a:latin typeface="Calibri"/>
                <a:ea typeface="Calibri"/>
                <a:cs typeface="Calibri"/>
                <a:sym typeface="Calibri"/>
              </a:rPr>
              <a:t>              # customers</a:t>
            </a:r>
            <a:endParaRPr/>
          </a:p>
          <a:p>
            <a:pPr indent="0" lvl="0" marL="0" rtl="0" algn="l">
              <a:lnSpc>
                <a:spcPct val="100000"/>
              </a:lnSpc>
              <a:spcBef>
                <a:spcPts val="300"/>
              </a:spcBef>
              <a:spcAft>
                <a:spcPts val="0"/>
              </a:spcAft>
              <a:buSzPts val="1400"/>
              <a:buFont typeface="Calibri"/>
              <a:buNone/>
            </a:pPr>
            <a:r>
              <a:rPr lang="en-US">
                <a:latin typeface="Calibri"/>
                <a:ea typeface="Calibri"/>
                <a:cs typeface="Calibri"/>
                <a:sym typeface="Calibri"/>
              </a:rPr>
              <a:t>              # drinks / customer</a:t>
            </a:r>
            <a:endParaRPr/>
          </a:p>
          <a:p>
            <a:pPr indent="0" lvl="0" marL="0" rtl="0" algn="l">
              <a:lnSpc>
                <a:spcPct val="100000"/>
              </a:lnSpc>
              <a:spcBef>
                <a:spcPts val="300"/>
              </a:spcBef>
              <a:spcAft>
                <a:spcPts val="0"/>
              </a:spcAft>
              <a:buSzPts val="1400"/>
              <a:buFont typeface="Calibri"/>
              <a:buNone/>
            </a:pPr>
            <a:r>
              <a:rPr lang="en-US">
                <a:latin typeface="Calibri"/>
                <a:ea typeface="Calibri"/>
                <a:cs typeface="Calibri"/>
                <a:sym typeface="Calibri"/>
              </a:rPr>
              <a:t>     Price</a:t>
            </a:r>
            <a:endParaRPr/>
          </a:p>
          <a:p>
            <a:pPr indent="0" lvl="0" marL="0" rtl="0" algn="l">
              <a:lnSpc>
                <a:spcPct val="100000"/>
              </a:lnSpc>
              <a:spcBef>
                <a:spcPts val="300"/>
              </a:spcBef>
              <a:spcAft>
                <a:spcPts val="0"/>
              </a:spcAft>
              <a:buSzPts val="1400"/>
              <a:buFont typeface="Calibri"/>
              <a:buNone/>
            </a:pPr>
            <a:r>
              <a:rPr lang="en-US">
                <a:latin typeface="Calibri"/>
                <a:ea typeface="Calibri"/>
                <a:cs typeface="Calibri"/>
                <a:sym typeface="Calibri"/>
              </a:rPr>
              <a:t>             Happy hour pricing</a:t>
            </a:r>
            <a:endParaRPr/>
          </a:p>
          <a:p>
            <a:pPr indent="0" lvl="0" marL="0" rtl="0" algn="l">
              <a:lnSpc>
                <a:spcPct val="100000"/>
              </a:lnSpc>
              <a:spcBef>
                <a:spcPts val="300"/>
              </a:spcBef>
              <a:spcAft>
                <a:spcPts val="0"/>
              </a:spcAft>
              <a:buSzPts val="1400"/>
              <a:buFont typeface="Calibri"/>
              <a:buNone/>
            </a:pPr>
            <a:r>
              <a:rPr lang="en-US">
                <a:latin typeface="Calibri"/>
                <a:ea typeface="Calibri"/>
                <a:cs typeface="Calibri"/>
                <a:sym typeface="Calibri"/>
              </a:rPr>
              <a:t>             Pricing to competition</a:t>
            </a:r>
            <a:endParaRPr/>
          </a:p>
          <a:p>
            <a:pPr indent="0" lvl="0" marL="0" rtl="0" algn="l">
              <a:lnSpc>
                <a:spcPct val="100000"/>
              </a:lnSpc>
              <a:spcBef>
                <a:spcPts val="300"/>
              </a:spcBef>
              <a:spcAft>
                <a:spcPts val="0"/>
              </a:spcAft>
              <a:buSzPts val="1400"/>
              <a:buFont typeface="Calibri"/>
              <a:buNone/>
            </a:pPr>
            <a:r>
              <a:rPr lang="en-US">
                <a:latin typeface="Calibri"/>
                <a:ea typeface="Calibri"/>
                <a:cs typeface="Calibri"/>
                <a:sym typeface="Calibri"/>
              </a:rPr>
              <a:t>             Volume pricing -- pitchers, bottles of wine</a:t>
            </a:r>
            <a:endParaRPr/>
          </a:p>
          <a:p>
            <a:pPr indent="0" lvl="0" marL="0" rtl="0" algn="l">
              <a:lnSpc>
                <a:spcPct val="100000"/>
              </a:lnSpc>
              <a:spcBef>
                <a:spcPts val="300"/>
              </a:spcBef>
              <a:spcAft>
                <a:spcPts val="0"/>
              </a:spcAft>
              <a:buSzPts val="1400"/>
              <a:buFont typeface="Calibri"/>
              <a:buNone/>
            </a:pPr>
            <a:r>
              <a:rPr lang="en-US">
                <a:latin typeface="Calibri"/>
                <a:ea typeface="Calibri"/>
                <a:cs typeface="Calibri"/>
                <a:sym typeface="Calibri"/>
              </a:rPr>
              <a:t>Cost</a:t>
            </a:r>
            <a:endParaRPr/>
          </a:p>
          <a:p>
            <a:pPr indent="0" lvl="0" marL="0" rtl="0" algn="l">
              <a:lnSpc>
                <a:spcPct val="100000"/>
              </a:lnSpc>
              <a:spcBef>
                <a:spcPts val="300"/>
              </a:spcBef>
              <a:spcAft>
                <a:spcPts val="0"/>
              </a:spcAft>
              <a:buSzPts val="1400"/>
              <a:buFont typeface="Calibri"/>
              <a:buNone/>
            </a:pPr>
            <a:r>
              <a:rPr lang="en-US">
                <a:latin typeface="Calibri"/>
                <a:ea typeface="Calibri"/>
                <a:cs typeface="Calibri"/>
                <a:sym typeface="Calibri"/>
              </a:rPr>
              <a:t>     Investment</a:t>
            </a:r>
            <a:endParaRPr/>
          </a:p>
          <a:p>
            <a:pPr indent="0" lvl="0" marL="0" rtl="0" algn="l">
              <a:lnSpc>
                <a:spcPct val="100000"/>
              </a:lnSpc>
              <a:spcBef>
                <a:spcPts val="300"/>
              </a:spcBef>
              <a:spcAft>
                <a:spcPts val="0"/>
              </a:spcAft>
              <a:buSzPts val="1400"/>
              <a:buFont typeface="Calibri"/>
              <a:buNone/>
            </a:pPr>
            <a:r>
              <a:rPr lang="en-US">
                <a:latin typeface="Calibri"/>
                <a:ea typeface="Calibri"/>
                <a:cs typeface="Calibri"/>
                <a:sym typeface="Calibri"/>
              </a:rPr>
              <a:t>               Repaving lot / bar area</a:t>
            </a:r>
            <a:endParaRPr/>
          </a:p>
          <a:p>
            <a:pPr indent="0" lvl="0" marL="0" rtl="0" algn="l">
              <a:lnSpc>
                <a:spcPct val="100000"/>
              </a:lnSpc>
              <a:spcBef>
                <a:spcPts val="300"/>
              </a:spcBef>
              <a:spcAft>
                <a:spcPts val="0"/>
              </a:spcAft>
              <a:buSzPts val="1400"/>
              <a:buFont typeface="Calibri"/>
              <a:buNone/>
            </a:pPr>
            <a:r>
              <a:rPr lang="en-US">
                <a:latin typeface="Calibri"/>
                <a:ea typeface="Calibri"/>
                <a:cs typeface="Calibri"/>
                <a:sym typeface="Calibri"/>
              </a:rPr>
              <a:t>               Tables / Chairs / Lighting / Music / glasses</a:t>
            </a:r>
            <a:endParaRPr/>
          </a:p>
          <a:p>
            <a:pPr indent="0" lvl="0" marL="0" rtl="0" algn="l">
              <a:lnSpc>
                <a:spcPct val="100000"/>
              </a:lnSpc>
              <a:spcBef>
                <a:spcPts val="300"/>
              </a:spcBef>
              <a:spcAft>
                <a:spcPts val="0"/>
              </a:spcAft>
              <a:buSzPts val="1400"/>
              <a:buFont typeface="Calibri"/>
              <a:buNone/>
            </a:pPr>
            <a:r>
              <a:rPr lang="en-US">
                <a:latin typeface="Calibri"/>
                <a:ea typeface="Calibri"/>
                <a:cs typeface="Calibri"/>
                <a:sym typeface="Calibri"/>
              </a:rPr>
              <a:t>      Fixed Cost</a:t>
            </a:r>
            <a:endParaRPr/>
          </a:p>
          <a:p>
            <a:pPr indent="0" lvl="0" marL="0" rtl="0" algn="l">
              <a:lnSpc>
                <a:spcPct val="100000"/>
              </a:lnSpc>
              <a:spcBef>
                <a:spcPts val="300"/>
              </a:spcBef>
              <a:spcAft>
                <a:spcPts val="0"/>
              </a:spcAft>
              <a:buSzPts val="1400"/>
              <a:buFont typeface="Calibri"/>
              <a:buNone/>
            </a:pPr>
            <a:r>
              <a:rPr lang="en-US">
                <a:latin typeface="Calibri"/>
                <a:ea typeface="Calibri"/>
                <a:cs typeface="Calibri"/>
                <a:sym typeface="Calibri"/>
              </a:rPr>
              <a:t>                Electricity / Equipment depr. / replacement</a:t>
            </a:r>
            <a:endParaRPr/>
          </a:p>
          <a:p>
            <a:pPr indent="0" lvl="0" marL="0" rtl="0" algn="l">
              <a:lnSpc>
                <a:spcPct val="100000"/>
              </a:lnSpc>
              <a:spcBef>
                <a:spcPts val="300"/>
              </a:spcBef>
              <a:spcAft>
                <a:spcPts val="0"/>
              </a:spcAft>
              <a:buSzPts val="1400"/>
              <a:buFont typeface="Calibri"/>
              <a:buNone/>
            </a:pPr>
            <a:r>
              <a:rPr lang="en-US">
                <a:latin typeface="Calibri"/>
                <a:ea typeface="Calibri"/>
                <a:cs typeface="Calibri"/>
                <a:sym typeface="Calibri"/>
              </a:rPr>
              <a:t>      Variable cost</a:t>
            </a:r>
            <a:endParaRPr/>
          </a:p>
          <a:p>
            <a:pPr indent="0" lvl="0" marL="0" rtl="0" algn="l">
              <a:lnSpc>
                <a:spcPct val="100000"/>
              </a:lnSpc>
              <a:spcBef>
                <a:spcPts val="300"/>
              </a:spcBef>
              <a:spcAft>
                <a:spcPts val="0"/>
              </a:spcAft>
              <a:buSzPts val="1400"/>
              <a:buFont typeface="Calibri"/>
              <a:buNone/>
            </a:pPr>
            <a:r>
              <a:rPr lang="en-US">
                <a:latin typeface="Calibri"/>
                <a:ea typeface="Calibri"/>
                <a:cs typeface="Calibri"/>
                <a:sym typeface="Calibri"/>
              </a:rPr>
              <a:t>                Beer, wine, snacks</a:t>
            </a:r>
            <a:endParaRPr/>
          </a:p>
          <a:p>
            <a:pPr indent="0" lvl="0" marL="0" rtl="0" algn="l">
              <a:lnSpc>
                <a:spcPct val="100000"/>
              </a:lnSpc>
              <a:spcBef>
                <a:spcPts val="300"/>
              </a:spcBef>
              <a:spcAft>
                <a:spcPts val="0"/>
              </a:spcAft>
              <a:buSzPts val="1400"/>
              <a:buFont typeface="Calibri"/>
              <a:buNone/>
            </a:pPr>
            <a:r>
              <a:rPr lang="en-US">
                <a:latin typeface="Calibri"/>
                <a:ea typeface="Calibri"/>
                <a:cs typeface="Calibri"/>
                <a:sym typeface="Calibri"/>
              </a:rPr>
              <a:t>Staff</a:t>
            </a:r>
            <a:endParaRPr/>
          </a:p>
          <a:p>
            <a:pPr indent="0" lvl="0" marL="0" rtl="0" algn="l">
              <a:lnSpc>
                <a:spcPct val="100000"/>
              </a:lnSpc>
              <a:spcBef>
                <a:spcPts val="300"/>
              </a:spcBef>
              <a:spcAft>
                <a:spcPts val="0"/>
              </a:spcAft>
              <a:buSzPts val="1400"/>
              <a:buFont typeface="Calibri"/>
              <a:buNone/>
            </a:pPr>
            <a:r>
              <a:rPr lang="en-US">
                <a:latin typeface="Calibri"/>
                <a:ea typeface="Calibri"/>
                <a:cs typeface="Calibri"/>
                <a:sym typeface="Calibri"/>
              </a:rPr>
              <a:t>        Bartenders, bouncer, bussers, maintenance </a:t>
            </a:r>
            <a:endParaRPr/>
          </a:p>
          <a:p>
            <a:pPr indent="0" lvl="0" marL="0" rtl="0" algn="l">
              <a:lnSpc>
                <a:spcPct val="100000"/>
              </a:lnSpc>
              <a:spcBef>
                <a:spcPts val="300"/>
              </a:spcBef>
              <a:spcAft>
                <a:spcPts val="0"/>
              </a:spcAft>
              <a:buSzPts val="1400"/>
              <a:buFont typeface="Calibri"/>
              <a:buNone/>
            </a:pPr>
            <a:r>
              <a:t/>
            </a:r>
            <a:endParaRPr/>
          </a:p>
        </p:txBody>
      </p:sp>
      <p:sp>
        <p:nvSpPr>
          <p:cNvPr id="423" name="Google Shape;423;p15"/>
          <p:cNvSpPr txBox="1"/>
          <p:nvPr>
            <p:ph idx="2" type="body"/>
          </p:nvPr>
        </p:nvSpPr>
        <p:spPr>
          <a:xfrm>
            <a:off x="4596063" y="1302453"/>
            <a:ext cx="4110955" cy="4972617"/>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Font typeface="Calibri"/>
              <a:buNone/>
            </a:pPr>
            <a:r>
              <a:rPr b="1" lang="en-US"/>
              <a:t>                                       Market</a:t>
            </a:r>
            <a:endParaRPr/>
          </a:p>
          <a:p>
            <a:pPr indent="0" lvl="0" marL="0" rtl="0" algn="l">
              <a:lnSpc>
                <a:spcPct val="100000"/>
              </a:lnSpc>
              <a:spcBef>
                <a:spcPts val="300"/>
              </a:spcBef>
              <a:spcAft>
                <a:spcPts val="0"/>
              </a:spcAft>
              <a:buSzPts val="1400"/>
              <a:buFont typeface="Calibri"/>
              <a:buNone/>
            </a:pPr>
            <a:r>
              <a:rPr lang="en-US"/>
              <a:t>Company</a:t>
            </a:r>
            <a:endParaRPr/>
          </a:p>
          <a:p>
            <a:pPr indent="0" lvl="0" marL="0" rtl="0" algn="l">
              <a:lnSpc>
                <a:spcPct val="100000"/>
              </a:lnSpc>
              <a:spcBef>
                <a:spcPts val="300"/>
              </a:spcBef>
              <a:spcAft>
                <a:spcPts val="0"/>
              </a:spcAft>
              <a:buSzPts val="1400"/>
              <a:buFont typeface="Calibri"/>
              <a:buNone/>
            </a:pPr>
            <a:r>
              <a:rPr lang="en-US"/>
              <a:t>- Alignment w/ strategy / mission</a:t>
            </a:r>
            <a:endParaRPr/>
          </a:p>
          <a:p>
            <a:pPr indent="0" lvl="0" marL="0" rtl="0" algn="l">
              <a:lnSpc>
                <a:spcPct val="100000"/>
              </a:lnSpc>
              <a:spcBef>
                <a:spcPts val="300"/>
              </a:spcBef>
              <a:spcAft>
                <a:spcPts val="0"/>
              </a:spcAft>
              <a:buSzPts val="1400"/>
              <a:buFont typeface="Calibri"/>
              <a:buNone/>
            </a:pPr>
            <a:r>
              <a:t/>
            </a:r>
            <a:endParaRPr/>
          </a:p>
          <a:p>
            <a:pPr indent="0" lvl="0" marL="0" rtl="0" algn="l">
              <a:lnSpc>
                <a:spcPct val="100000"/>
              </a:lnSpc>
              <a:spcBef>
                <a:spcPts val="300"/>
              </a:spcBef>
              <a:spcAft>
                <a:spcPts val="0"/>
              </a:spcAft>
              <a:buSzPts val="1400"/>
              <a:buFont typeface="Calibri"/>
              <a:buNone/>
            </a:pPr>
            <a:r>
              <a:rPr lang="en-US"/>
              <a:t>Customers</a:t>
            </a:r>
            <a:endParaRPr/>
          </a:p>
          <a:p>
            <a:pPr indent="0" lvl="0" marL="0" rtl="0" algn="l">
              <a:lnSpc>
                <a:spcPct val="100000"/>
              </a:lnSpc>
              <a:spcBef>
                <a:spcPts val="300"/>
              </a:spcBef>
              <a:spcAft>
                <a:spcPts val="0"/>
              </a:spcAft>
              <a:buSzPts val="1400"/>
              <a:buFont typeface="Calibri"/>
              <a:buNone/>
            </a:pPr>
            <a:r>
              <a:rPr lang="en-US"/>
              <a:t>- Impact to current customer base? (how they view the  company)</a:t>
            </a:r>
            <a:endParaRPr/>
          </a:p>
          <a:p>
            <a:pPr indent="0" lvl="0" marL="0" rtl="0" algn="l">
              <a:lnSpc>
                <a:spcPct val="100000"/>
              </a:lnSpc>
              <a:spcBef>
                <a:spcPts val="300"/>
              </a:spcBef>
              <a:spcAft>
                <a:spcPts val="0"/>
              </a:spcAft>
              <a:buSzPts val="1400"/>
              <a:buFont typeface="Calibri"/>
              <a:buNone/>
            </a:pPr>
            <a:r>
              <a:rPr lang="en-US"/>
              <a:t>- Potential to generate more knowledge about the lawn / garden store through beer garden</a:t>
            </a:r>
            <a:endParaRPr/>
          </a:p>
          <a:p>
            <a:pPr indent="0" lvl="0" marL="0" rtl="0" algn="l">
              <a:lnSpc>
                <a:spcPct val="100000"/>
              </a:lnSpc>
              <a:spcBef>
                <a:spcPts val="300"/>
              </a:spcBef>
              <a:spcAft>
                <a:spcPts val="0"/>
              </a:spcAft>
              <a:buSzPts val="1400"/>
              <a:buFont typeface="Calibri"/>
              <a:buNone/>
            </a:pPr>
            <a:r>
              <a:t/>
            </a:r>
            <a:endParaRPr/>
          </a:p>
          <a:p>
            <a:pPr indent="0" lvl="0" marL="0" rtl="0" algn="l">
              <a:lnSpc>
                <a:spcPct val="100000"/>
              </a:lnSpc>
              <a:spcBef>
                <a:spcPts val="300"/>
              </a:spcBef>
              <a:spcAft>
                <a:spcPts val="0"/>
              </a:spcAft>
              <a:buSzPts val="1400"/>
              <a:buFont typeface="Calibri"/>
              <a:buNone/>
            </a:pPr>
            <a:r>
              <a:rPr lang="en-US"/>
              <a:t>Competition</a:t>
            </a:r>
            <a:endParaRPr/>
          </a:p>
          <a:p>
            <a:pPr indent="0" lvl="0" marL="0" rtl="0" algn="l">
              <a:lnSpc>
                <a:spcPct val="100000"/>
              </a:lnSpc>
              <a:spcBef>
                <a:spcPts val="300"/>
              </a:spcBef>
              <a:spcAft>
                <a:spcPts val="0"/>
              </a:spcAft>
              <a:buSzPts val="1400"/>
              <a:buFont typeface="Calibri"/>
              <a:buNone/>
            </a:pPr>
            <a:r>
              <a:rPr lang="en-US"/>
              <a:t>- Nearby restaurants, bars, breweries</a:t>
            </a:r>
            <a:endParaRPr/>
          </a:p>
          <a:p>
            <a:pPr indent="0" lvl="0" marL="0" rtl="0" algn="l">
              <a:lnSpc>
                <a:spcPct val="100000"/>
              </a:lnSpc>
              <a:spcBef>
                <a:spcPts val="300"/>
              </a:spcBef>
              <a:spcAft>
                <a:spcPts val="0"/>
              </a:spcAft>
              <a:buSzPts val="1400"/>
              <a:buFont typeface="Calibri"/>
              <a:buNone/>
            </a:pPr>
            <a:r>
              <a:rPr lang="en-US"/>
              <a:t>- Is there room in the market for another</a:t>
            </a:r>
            <a:endParaRPr/>
          </a:p>
          <a:p>
            <a:pPr indent="0" lvl="0" marL="0" rtl="0" algn="l">
              <a:lnSpc>
                <a:spcPct val="100000"/>
              </a:lnSpc>
              <a:spcBef>
                <a:spcPts val="300"/>
              </a:spcBef>
              <a:spcAft>
                <a:spcPts val="0"/>
              </a:spcAft>
              <a:buSzPts val="1400"/>
              <a:buFont typeface="Calibri"/>
              <a:buNone/>
            </a:pPr>
            <a:r>
              <a:rPr lang="en-US"/>
              <a:t> </a:t>
            </a:r>
            <a:endParaRPr/>
          </a:p>
          <a:p>
            <a:pPr indent="0" lvl="0" marL="0" rtl="0" algn="l">
              <a:lnSpc>
                <a:spcPct val="100000"/>
              </a:lnSpc>
              <a:spcBef>
                <a:spcPts val="300"/>
              </a:spcBef>
              <a:spcAft>
                <a:spcPts val="0"/>
              </a:spcAft>
              <a:buSzPts val="1400"/>
              <a:buFont typeface="Calibri"/>
              <a:buNone/>
            </a:pPr>
            <a:r>
              <a:rPr b="1" lang="en-US"/>
              <a:t>                                            Other</a:t>
            </a:r>
            <a:endParaRPr/>
          </a:p>
          <a:p>
            <a:pPr indent="0" lvl="0" marL="0" rtl="0" algn="l">
              <a:lnSpc>
                <a:spcPct val="100000"/>
              </a:lnSpc>
              <a:spcBef>
                <a:spcPts val="300"/>
              </a:spcBef>
              <a:spcAft>
                <a:spcPts val="0"/>
              </a:spcAft>
              <a:buSzPts val="1400"/>
              <a:buFont typeface="Calibri"/>
              <a:buNone/>
            </a:pPr>
            <a:r>
              <a:rPr lang="en-US"/>
              <a:t>- Liquor license</a:t>
            </a:r>
            <a:endParaRPr/>
          </a:p>
          <a:p>
            <a:pPr indent="0" lvl="0" marL="0" rtl="0" algn="l">
              <a:lnSpc>
                <a:spcPct val="100000"/>
              </a:lnSpc>
              <a:spcBef>
                <a:spcPts val="300"/>
              </a:spcBef>
              <a:spcAft>
                <a:spcPts val="0"/>
              </a:spcAft>
              <a:buSzPts val="1400"/>
              <a:buFont typeface="Calibri"/>
              <a:buNone/>
            </a:pPr>
            <a:r>
              <a:rPr lang="en-US"/>
              <a:t>- City regulations</a:t>
            </a:r>
            <a:endParaRPr/>
          </a:p>
        </p:txBody>
      </p:sp>
      <p:sp>
        <p:nvSpPr>
          <p:cNvPr id="424" name="Google Shape;424;p15"/>
          <p:cNvSpPr txBox="1"/>
          <p:nvPr>
            <p:ph idx="3" type="body"/>
          </p:nvPr>
        </p:nvSpPr>
        <p:spPr>
          <a:xfrm>
            <a:off x="465670" y="1015291"/>
            <a:ext cx="4010077"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Possible Framework</a:t>
            </a:r>
            <a:endParaRPr/>
          </a:p>
        </p:txBody>
      </p:sp>
      <p:sp>
        <p:nvSpPr>
          <p:cNvPr id="425" name="Google Shape;425;p15"/>
          <p:cNvSpPr txBox="1"/>
          <p:nvPr>
            <p:ph idx="4" type="body"/>
          </p:nvPr>
        </p:nvSpPr>
        <p:spPr>
          <a:xfrm>
            <a:off x="4695825" y="1016486"/>
            <a:ext cx="4010077"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t/>
            </a:r>
            <a:endParaRPr/>
          </a:p>
        </p:txBody>
      </p:sp>
      <p:sp>
        <p:nvSpPr>
          <p:cNvPr id="426" name="Google Shape;426;p15"/>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16"/>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Libby’s Libation Lot</a:t>
            </a:r>
            <a:endParaRPr/>
          </a:p>
        </p:txBody>
      </p:sp>
      <p:sp>
        <p:nvSpPr>
          <p:cNvPr id="432" name="Google Shape;432;p16"/>
          <p:cNvSpPr txBox="1"/>
          <p:nvPr>
            <p:ph idx="1" type="body"/>
          </p:nvPr>
        </p:nvSpPr>
        <p:spPr>
          <a:xfrm>
            <a:off x="6046770" y="1353373"/>
            <a:ext cx="2687781" cy="4924496"/>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Font typeface="Calibri"/>
              <a:buNone/>
            </a:pPr>
            <a:r>
              <a:rPr lang="en-US" sz="1200">
                <a:latin typeface="Calibri"/>
                <a:ea typeface="Calibri"/>
                <a:cs typeface="Calibri"/>
                <a:sym typeface="Calibri"/>
              </a:rPr>
              <a:t>Guide candidate to think of revenue in terms of capacity and utilization of the space vs. total bar market in Ann Arbor</a:t>
            </a:r>
            <a:endParaRPr/>
          </a:p>
        </p:txBody>
      </p:sp>
      <p:sp>
        <p:nvSpPr>
          <p:cNvPr id="433" name="Google Shape;433;p16"/>
          <p:cNvSpPr txBox="1"/>
          <p:nvPr>
            <p:ph idx="2" type="body"/>
          </p:nvPr>
        </p:nvSpPr>
        <p:spPr>
          <a:xfrm>
            <a:off x="375872" y="1353373"/>
            <a:ext cx="5540655" cy="4924496"/>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Font typeface="Calibri"/>
              <a:buNone/>
            </a:pPr>
            <a:r>
              <a:rPr b="1" lang="en-US" sz="1200">
                <a:latin typeface="Calibri"/>
                <a:ea typeface="Calibri"/>
                <a:cs typeface="Calibri"/>
                <a:sym typeface="Calibri"/>
              </a:rPr>
              <a:t>Investment</a:t>
            </a:r>
            <a:r>
              <a:rPr lang="en-US" sz="1200">
                <a:latin typeface="Calibri"/>
                <a:ea typeface="Calibri"/>
                <a:cs typeface="Calibri"/>
                <a:sym typeface="Calibri"/>
              </a:rPr>
              <a:t>: $250k</a:t>
            </a:r>
            <a:endParaRPr/>
          </a:p>
          <a:p>
            <a:pPr indent="0" lvl="0" marL="0" rtl="0" algn="l">
              <a:lnSpc>
                <a:spcPct val="100000"/>
              </a:lnSpc>
              <a:spcBef>
                <a:spcPts val="300"/>
              </a:spcBef>
              <a:spcAft>
                <a:spcPts val="0"/>
              </a:spcAft>
              <a:buSzPts val="1200"/>
              <a:buFont typeface="Calibri"/>
              <a:buNone/>
            </a:pPr>
            <a:r>
              <a:rPr lang="en-US" sz="1200">
                <a:latin typeface="Calibri"/>
                <a:ea typeface="Calibri"/>
                <a:cs typeface="Calibri"/>
                <a:sym typeface="Calibri"/>
              </a:rPr>
              <a:t>(includes repaving, bar area, tables, chairs, glasses, etc.)</a:t>
            </a:r>
            <a:endParaRPr/>
          </a:p>
          <a:p>
            <a:pPr indent="0" lvl="0" marL="0" rtl="0" algn="l">
              <a:lnSpc>
                <a:spcPct val="100000"/>
              </a:lnSpc>
              <a:spcBef>
                <a:spcPts val="300"/>
              </a:spcBef>
              <a:spcAft>
                <a:spcPts val="0"/>
              </a:spcAft>
              <a:buSzPts val="1200"/>
              <a:buFont typeface="Calibri"/>
              <a:buNone/>
            </a:pPr>
            <a:r>
              <a:t/>
            </a:r>
            <a:endParaRPr sz="1200">
              <a:latin typeface="Calibri"/>
              <a:ea typeface="Calibri"/>
              <a:cs typeface="Calibri"/>
              <a:sym typeface="Calibri"/>
            </a:endParaRPr>
          </a:p>
          <a:p>
            <a:pPr indent="0" lvl="0" marL="0" rtl="0" algn="l">
              <a:lnSpc>
                <a:spcPct val="100000"/>
              </a:lnSpc>
              <a:spcBef>
                <a:spcPts val="300"/>
              </a:spcBef>
              <a:spcAft>
                <a:spcPts val="0"/>
              </a:spcAft>
              <a:buSzPts val="1200"/>
              <a:buFont typeface="Calibri"/>
              <a:buNone/>
            </a:pPr>
            <a:r>
              <a:rPr b="1" lang="en-US" sz="1200">
                <a:latin typeface="Calibri"/>
                <a:ea typeface="Calibri"/>
                <a:cs typeface="Calibri"/>
                <a:sym typeface="Calibri"/>
              </a:rPr>
              <a:t>Fixed costs</a:t>
            </a:r>
            <a:r>
              <a:rPr lang="en-US" sz="1200">
                <a:latin typeface="Calibri"/>
                <a:ea typeface="Calibri"/>
                <a:cs typeface="Calibri"/>
                <a:sym typeface="Calibri"/>
              </a:rPr>
              <a:t>: $8k / year</a:t>
            </a:r>
            <a:endParaRPr/>
          </a:p>
          <a:p>
            <a:pPr indent="0" lvl="0" marL="0" rtl="0" algn="l">
              <a:lnSpc>
                <a:spcPct val="100000"/>
              </a:lnSpc>
              <a:spcBef>
                <a:spcPts val="300"/>
              </a:spcBef>
              <a:spcAft>
                <a:spcPts val="0"/>
              </a:spcAft>
              <a:buSzPts val="1200"/>
              <a:buFont typeface="Calibri"/>
              <a:buNone/>
            </a:pPr>
            <a:r>
              <a:rPr lang="en-US" sz="1200">
                <a:latin typeface="Calibri"/>
                <a:ea typeface="Calibri"/>
                <a:cs typeface="Calibri"/>
                <a:sym typeface="Calibri"/>
              </a:rPr>
              <a:t>($4k electricity, $4k depreciation)</a:t>
            </a:r>
            <a:endParaRPr/>
          </a:p>
          <a:p>
            <a:pPr indent="0" lvl="0" marL="0" rtl="0" algn="l">
              <a:lnSpc>
                <a:spcPct val="100000"/>
              </a:lnSpc>
              <a:spcBef>
                <a:spcPts val="300"/>
              </a:spcBef>
              <a:spcAft>
                <a:spcPts val="0"/>
              </a:spcAft>
              <a:buSzPts val="1200"/>
              <a:buFont typeface="Calibri"/>
              <a:buNone/>
            </a:pPr>
            <a:r>
              <a:t/>
            </a:r>
            <a:endParaRPr sz="1200">
              <a:latin typeface="Calibri"/>
              <a:ea typeface="Calibri"/>
              <a:cs typeface="Calibri"/>
              <a:sym typeface="Calibri"/>
            </a:endParaRPr>
          </a:p>
          <a:p>
            <a:pPr indent="0" lvl="0" marL="0" rtl="0" algn="l">
              <a:lnSpc>
                <a:spcPct val="100000"/>
              </a:lnSpc>
              <a:spcBef>
                <a:spcPts val="300"/>
              </a:spcBef>
              <a:spcAft>
                <a:spcPts val="0"/>
              </a:spcAft>
              <a:buSzPts val="1200"/>
              <a:buFont typeface="Calibri"/>
              <a:buNone/>
            </a:pPr>
            <a:r>
              <a:rPr b="1" lang="en-US" sz="1200">
                <a:latin typeface="Calibri"/>
                <a:ea typeface="Calibri"/>
                <a:cs typeface="Calibri"/>
                <a:sym typeface="Calibri"/>
              </a:rPr>
              <a:t>Variable costs</a:t>
            </a:r>
            <a:r>
              <a:rPr lang="en-US" sz="1200">
                <a:latin typeface="Calibri"/>
                <a:ea typeface="Calibri"/>
                <a:cs typeface="Calibri"/>
                <a:sym typeface="Calibri"/>
              </a:rPr>
              <a:t>:</a:t>
            </a:r>
            <a:endParaRPr/>
          </a:p>
          <a:p>
            <a:pPr indent="0" lvl="0" marL="0" rtl="0" algn="l">
              <a:lnSpc>
                <a:spcPct val="100000"/>
              </a:lnSpc>
              <a:spcBef>
                <a:spcPts val="300"/>
              </a:spcBef>
              <a:spcAft>
                <a:spcPts val="0"/>
              </a:spcAft>
              <a:buSzPts val="1200"/>
              <a:buFont typeface="Calibri"/>
              <a:buNone/>
            </a:pPr>
            <a:r>
              <a:rPr lang="en-US" sz="1200">
                <a:latin typeface="Calibri"/>
                <a:ea typeface="Calibri"/>
                <a:cs typeface="Calibri"/>
                <a:sym typeface="Calibri"/>
              </a:rPr>
              <a:t>$4 / beer</a:t>
            </a:r>
            <a:endParaRPr/>
          </a:p>
          <a:p>
            <a:pPr indent="0" lvl="0" marL="0" rtl="0" algn="l">
              <a:lnSpc>
                <a:spcPct val="100000"/>
              </a:lnSpc>
              <a:spcBef>
                <a:spcPts val="300"/>
              </a:spcBef>
              <a:spcAft>
                <a:spcPts val="0"/>
              </a:spcAft>
              <a:buSzPts val="1200"/>
              <a:buFont typeface="Calibri"/>
              <a:buNone/>
            </a:pPr>
            <a:r>
              <a:rPr lang="en-US" sz="1200">
                <a:latin typeface="Calibri"/>
                <a:ea typeface="Calibri"/>
                <a:cs typeface="Calibri"/>
                <a:sym typeface="Calibri"/>
              </a:rPr>
              <a:t>$8 / wine</a:t>
            </a:r>
            <a:endParaRPr/>
          </a:p>
          <a:p>
            <a:pPr indent="0" lvl="0" marL="0" rtl="0" algn="l">
              <a:lnSpc>
                <a:spcPct val="100000"/>
              </a:lnSpc>
              <a:spcBef>
                <a:spcPts val="300"/>
              </a:spcBef>
              <a:spcAft>
                <a:spcPts val="0"/>
              </a:spcAft>
              <a:buSzPts val="1200"/>
              <a:buFont typeface="Calibri"/>
              <a:buNone/>
            </a:pPr>
            <a:r>
              <a:rPr lang="en-US" sz="1200">
                <a:latin typeface="Calibri"/>
                <a:ea typeface="Calibri"/>
                <a:cs typeface="Calibri"/>
                <a:sym typeface="Calibri"/>
              </a:rPr>
              <a:t>$10 / hour / employee</a:t>
            </a:r>
            <a:endParaRPr/>
          </a:p>
          <a:p>
            <a:pPr indent="0" lvl="0" marL="0" rtl="0" algn="l">
              <a:lnSpc>
                <a:spcPct val="100000"/>
              </a:lnSpc>
              <a:spcBef>
                <a:spcPts val="300"/>
              </a:spcBef>
              <a:spcAft>
                <a:spcPts val="0"/>
              </a:spcAft>
              <a:buSzPts val="1200"/>
              <a:buFont typeface="Calibri"/>
              <a:buNone/>
            </a:pPr>
            <a:r>
              <a:rPr lang="en-US" sz="1200">
                <a:latin typeface="Calibri"/>
                <a:ea typeface="Calibri"/>
                <a:cs typeface="Calibri"/>
                <a:sym typeface="Calibri"/>
              </a:rPr>
              <a:t>7 employees (3 bartenders, 2 bussers, 1 bouncer, 1 maintenance)</a:t>
            </a:r>
            <a:br>
              <a:rPr lang="en-US" sz="1200">
                <a:latin typeface="Calibri"/>
                <a:ea typeface="Calibri"/>
                <a:cs typeface="Calibri"/>
                <a:sym typeface="Calibri"/>
              </a:rPr>
            </a:br>
            <a:endParaRPr sz="1200">
              <a:latin typeface="Calibri"/>
              <a:ea typeface="Calibri"/>
              <a:cs typeface="Calibri"/>
              <a:sym typeface="Calibri"/>
            </a:endParaRPr>
          </a:p>
          <a:p>
            <a:pPr indent="0" lvl="0" marL="0" rtl="0" algn="l">
              <a:lnSpc>
                <a:spcPct val="100000"/>
              </a:lnSpc>
              <a:spcBef>
                <a:spcPts val="300"/>
              </a:spcBef>
              <a:spcAft>
                <a:spcPts val="0"/>
              </a:spcAft>
              <a:buSzPts val="1200"/>
              <a:buFont typeface="Calibri"/>
              <a:buNone/>
            </a:pPr>
            <a:r>
              <a:rPr b="1" lang="en-US" sz="1200">
                <a:latin typeface="Calibri"/>
                <a:ea typeface="Calibri"/>
                <a:cs typeface="Calibri"/>
                <a:sym typeface="Calibri"/>
              </a:rPr>
              <a:t>Revenue (market sizing)</a:t>
            </a:r>
            <a:r>
              <a:rPr lang="en-US" sz="1200">
                <a:latin typeface="Calibri"/>
                <a:ea typeface="Calibri"/>
                <a:cs typeface="Calibri"/>
                <a:sym typeface="Calibri"/>
              </a:rPr>
              <a:t>:</a:t>
            </a:r>
            <a:br>
              <a:rPr lang="en-US" sz="1200">
                <a:latin typeface="Calibri"/>
                <a:ea typeface="Calibri"/>
                <a:cs typeface="Calibri"/>
                <a:sym typeface="Calibri"/>
              </a:rPr>
            </a:br>
            <a:r>
              <a:rPr lang="en-US" sz="1200">
                <a:latin typeface="Calibri"/>
                <a:ea typeface="Calibri"/>
                <a:cs typeface="Calibri"/>
                <a:sym typeface="Calibri"/>
              </a:rPr>
              <a:t>Capacity of space: 100 seated, 20 standing (120 total)</a:t>
            </a:r>
            <a:endParaRPr/>
          </a:p>
          <a:p>
            <a:pPr indent="0" lvl="0" marL="0" rtl="0" algn="l">
              <a:lnSpc>
                <a:spcPct val="100000"/>
              </a:lnSpc>
              <a:spcBef>
                <a:spcPts val="300"/>
              </a:spcBef>
              <a:spcAft>
                <a:spcPts val="0"/>
              </a:spcAft>
              <a:buSzPts val="1200"/>
              <a:buFont typeface="Calibri"/>
              <a:buNone/>
            </a:pPr>
            <a:r>
              <a:rPr lang="en-US" sz="1200">
                <a:latin typeface="Calibri"/>
                <a:ea typeface="Calibri"/>
                <a:cs typeface="Calibri"/>
                <a:sym typeface="Calibri"/>
              </a:rPr>
              <a:t>Hours of operation: 6 – 10pm, 150 days per year</a:t>
            </a:r>
            <a:endParaRPr/>
          </a:p>
          <a:p>
            <a:pPr indent="0" lvl="0" marL="0" rtl="0" algn="l">
              <a:lnSpc>
                <a:spcPct val="100000"/>
              </a:lnSpc>
              <a:spcBef>
                <a:spcPts val="300"/>
              </a:spcBef>
              <a:spcAft>
                <a:spcPts val="0"/>
              </a:spcAft>
              <a:buSzPts val="1200"/>
              <a:buFont typeface="Calibri"/>
              <a:buNone/>
            </a:pPr>
            <a:r>
              <a:rPr lang="en-US" sz="1200">
                <a:latin typeface="Calibri"/>
                <a:ea typeface="Calibri"/>
                <a:cs typeface="Calibri"/>
                <a:sym typeface="Calibri"/>
              </a:rPr>
              <a:t>Assume: 50% capacity, each person spends $12 (2 beers or 1 wine)</a:t>
            </a:r>
            <a:endParaRPr/>
          </a:p>
          <a:p>
            <a:pPr indent="0" lvl="0" marL="0" rtl="0" algn="l">
              <a:lnSpc>
                <a:spcPct val="100000"/>
              </a:lnSpc>
              <a:spcBef>
                <a:spcPts val="300"/>
              </a:spcBef>
              <a:spcAft>
                <a:spcPts val="0"/>
              </a:spcAft>
              <a:buSzPts val="1200"/>
              <a:buFont typeface="Calibri"/>
              <a:buNone/>
            </a:pPr>
            <a:r>
              <a:rPr lang="en-US" sz="1200">
                <a:latin typeface="Calibri"/>
                <a:ea typeface="Calibri"/>
                <a:cs typeface="Calibri"/>
                <a:sym typeface="Calibri"/>
              </a:rPr>
              <a:t>Wine: $12</a:t>
            </a:r>
            <a:endParaRPr/>
          </a:p>
          <a:p>
            <a:pPr indent="0" lvl="0" marL="0" rtl="0" algn="l">
              <a:lnSpc>
                <a:spcPct val="100000"/>
              </a:lnSpc>
              <a:spcBef>
                <a:spcPts val="300"/>
              </a:spcBef>
              <a:spcAft>
                <a:spcPts val="0"/>
              </a:spcAft>
              <a:buSzPts val="1200"/>
              <a:buFont typeface="Calibri"/>
              <a:buNone/>
            </a:pPr>
            <a:r>
              <a:rPr lang="en-US" sz="1200">
                <a:latin typeface="Calibri"/>
                <a:ea typeface="Calibri"/>
                <a:cs typeface="Calibri"/>
                <a:sym typeface="Calibri"/>
              </a:rPr>
              <a:t>Beer: $6</a:t>
            </a:r>
            <a:endParaRPr/>
          </a:p>
          <a:p>
            <a:pPr indent="0" lvl="0" marL="0" rtl="0" algn="l">
              <a:lnSpc>
                <a:spcPct val="100000"/>
              </a:lnSpc>
              <a:spcBef>
                <a:spcPts val="300"/>
              </a:spcBef>
              <a:spcAft>
                <a:spcPts val="0"/>
              </a:spcAft>
              <a:buSzPts val="1400"/>
              <a:buFont typeface="Calibri"/>
              <a:buNone/>
            </a:pPr>
            <a:r>
              <a:t/>
            </a:r>
            <a:endParaRPr/>
          </a:p>
        </p:txBody>
      </p:sp>
      <p:sp>
        <p:nvSpPr>
          <p:cNvPr id="434" name="Google Shape;434;p16"/>
          <p:cNvSpPr txBox="1"/>
          <p:nvPr>
            <p:ph idx="3" type="body"/>
          </p:nvPr>
        </p:nvSpPr>
        <p:spPr>
          <a:xfrm>
            <a:off x="439818" y="1084638"/>
            <a:ext cx="5412762" cy="277497"/>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Information provided when specifically asked</a:t>
            </a:r>
            <a:endParaRPr/>
          </a:p>
        </p:txBody>
      </p:sp>
      <p:sp>
        <p:nvSpPr>
          <p:cNvPr id="435" name="Google Shape;435;p16"/>
          <p:cNvSpPr txBox="1"/>
          <p:nvPr>
            <p:ph idx="4" type="body"/>
          </p:nvPr>
        </p:nvSpPr>
        <p:spPr>
          <a:xfrm>
            <a:off x="6135406" y="1084638"/>
            <a:ext cx="2599145" cy="277497"/>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Notes for interviewer	</a:t>
            </a:r>
            <a:endParaRPr/>
          </a:p>
        </p:txBody>
      </p:sp>
      <p:sp>
        <p:nvSpPr>
          <p:cNvPr id="436" name="Google Shape;436;p16"/>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17"/>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Libby’s Libation Lot</a:t>
            </a:r>
            <a:endParaRPr/>
          </a:p>
        </p:txBody>
      </p:sp>
      <p:sp>
        <p:nvSpPr>
          <p:cNvPr id="442" name="Google Shape;442;p17"/>
          <p:cNvSpPr txBox="1"/>
          <p:nvPr>
            <p:ph idx="1" type="body"/>
          </p:nvPr>
        </p:nvSpPr>
        <p:spPr>
          <a:xfrm>
            <a:off x="381001" y="1283365"/>
            <a:ext cx="8341656" cy="4985087"/>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Font typeface="Calibri"/>
              <a:buNone/>
            </a:pPr>
            <a:r>
              <a:rPr b="1" lang="en-US"/>
              <a:t>Revenue</a:t>
            </a:r>
            <a:endParaRPr/>
          </a:p>
          <a:p>
            <a:pPr indent="0" lvl="0" marL="0" rtl="0" algn="l">
              <a:lnSpc>
                <a:spcPct val="100000"/>
              </a:lnSpc>
              <a:spcBef>
                <a:spcPts val="300"/>
              </a:spcBef>
              <a:spcAft>
                <a:spcPts val="0"/>
              </a:spcAft>
              <a:buSzPts val="1400"/>
              <a:buFont typeface="Calibri"/>
              <a:buNone/>
            </a:pPr>
            <a:r>
              <a:rPr b="1" lang="en-US"/>
              <a:t># of customers per year</a:t>
            </a:r>
            <a:r>
              <a:rPr lang="en-US"/>
              <a:t>: 120 people * 50% capacity * 4 hours per day * 150 days per year = 36,000 customers</a:t>
            </a:r>
            <a:endParaRPr/>
          </a:p>
          <a:p>
            <a:pPr indent="0" lvl="0" marL="0" rtl="0" algn="l">
              <a:lnSpc>
                <a:spcPct val="100000"/>
              </a:lnSpc>
              <a:spcBef>
                <a:spcPts val="300"/>
              </a:spcBef>
              <a:spcAft>
                <a:spcPts val="0"/>
              </a:spcAft>
              <a:buSzPts val="1400"/>
              <a:buFont typeface="Calibri"/>
              <a:buNone/>
            </a:pPr>
            <a:r>
              <a:rPr b="1" lang="en-US"/>
              <a:t>Revenue</a:t>
            </a:r>
            <a:r>
              <a:rPr lang="en-US"/>
              <a:t>: 36,000 customers * $12 per person = $432,000</a:t>
            </a:r>
            <a:endParaRPr/>
          </a:p>
          <a:p>
            <a:pPr indent="0" lvl="0" marL="0" rtl="0" algn="l">
              <a:lnSpc>
                <a:spcPct val="100000"/>
              </a:lnSpc>
              <a:spcBef>
                <a:spcPts val="300"/>
              </a:spcBef>
              <a:spcAft>
                <a:spcPts val="0"/>
              </a:spcAft>
              <a:buSzPts val="1400"/>
              <a:buFont typeface="Calibri"/>
              <a:buNone/>
            </a:pPr>
            <a:r>
              <a:t/>
            </a:r>
            <a:endParaRPr/>
          </a:p>
          <a:p>
            <a:pPr indent="0" lvl="0" marL="0" rtl="0" algn="l">
              <a:lnSpc>
                <a:spcPct val="100000"/>
              </a:lnSpc>
              <a:spcBef>
                <a:spcPts val="300"/>
              </a:spcBef>
              <a:spcAft>
                <a:spcPts val="0"/>
              </a:spcAft>
              <a:buSzPts val="1400"/>
              <a:buFont typeface="Calibri"/>
              <a:buNone/>
            </a:pPr>
            <a:r>
              <a:rPr b="1" lang="en-US"/>
              <a:t>Variable costs</a:t>
            </a:r>
            <a:endParaRPr/>
          </a:p>
          <a:p>
            <a:pPr indent="0" lvl="0" marL="0" rtl="0" algn="l">
              <a:lnSpc>
                <a:spcPct val="100000"/>
              </a:lnSpc>
              <a:spcBef>
                <a:spcPts val="300"/>
              </a:spcBef>
              <a:spcAft>
                <a:spcPts val="0"/>
              </a:spcAft>
              <a:buSzPts val="1400"/>
              <a:buFont typeface="Calibri"/>
              <a:buNone/>
            </a:pPr>
            <a:r>
              <a:rPr lang="en-US"/>
              <a:t>$8 of beer or wine per person * 36,000 = $288,000</a:t>
            </a:r>
            <a:endParaRPr/>
          </a:p>
          <a:p>
            <a:pPr indent="0" lvl="0" marL="0" rtl="0" algn="l">
              <a:lnSpc>
                <a:spcPct val="100000"/>
              </a:lnSpc>
              <a:spcBef>
                <a:spcPts val="300"/>
              </a:spcBef>
              <a:spcAft>
                <a:spcPts val="0"/>
              </a:spcAft>
              <a:buSzPts val="1400"/>
              <a:buFont typeface="Calibri"/>
              <a:buNone/>
            </a:pPr>
            <a:r>
              <a:rPr lang="en-US"/>
              <a:t>7 employees * $10 per hour * 4 hours * 150 days = 42,000</a:t>
            </a:r>
            <a:endParaRPr/>
          </a:p>
          <a:p>
            <a:pPr indent="0" lvl="0" marL="0" rtl="0" algn="l">
              <a:lnSpc>
                <a:spcPct val="100000"/>
              </a:lnSpc>
              <a:spcBef>
                <a:spcPts val="300"/>
              </a:spcBef>
              <a:spcAft>
                <a:spcPts val="0"/>
              </a:spcAft>
              <a:buSzPts val="1400"/>
              <a:buFont typeface="Calibri"/>
              <a:buNone/>
            </a:pPr>
            <a:r>
              <a:t/>
            </a:r>
            <a:endParaRPr/>
          </a:p>
          <a:p>
            <a:pPr indent="0" lvl="0" marL="0" rtl="0" algn="l">
              <a:lnSpc>
                <a:spcPct val="100000"/>
              </a:lnSpc>
              <a:spcBef>
                <a:spcPts val="300"/>
              </a:spcBef>
              <a:spcAft>
                <a:spcPts val="0"/>
              </a:spcAft>
              <a:buSzPts val="1400"/>
              <a:buFont typeface="Calibri"/>
              <a:buNone/>
            </a:pPr>
            <a:r>
              <a:rPr b="1" lang="en-US"/>
              <a:t>Fixed costs</a:t>
            </a:r>
            <a:endParaRPr/>
          </a:p>
          <a:p>
            <a:pPr indent="0" lvl="0" marL="0" rtl="0" algn="l">
              <a:lnSpc>
                <a:spcPct val="100000"/>
              </a:lnSpc>
              <a:spcBef>
                <a:spcPts val="300"/>
              </a:spcBef>
              <a:spcAft>
                <a:spcPts val="0"/>
              </a:spcAft>
              <a:buSzPts val="1400"/>
              <a:buFont typeface="Calibri"/>
              <a:buNone/>
            </a:pPr>
            <a:r>
              <a:rPr lang="en-US"/>
              <a:t>$8,000 per year</a:t>
            </a:r>
            <a:endParaRPr/>
          </a:p>
          <a:p>
            <a:pPr indent="0" lvl="0" marL="0" rtl="0" algn="l">
              <a:lnSpc>
                <a:spcPct val="100000"/>
              </a:lnSpc>
              <a:spcBef>
                <a:spcPts val="300"/>
              </a:spcBef>
              <a:spcAft>
                <a:spcPts val="0"/>
              </a:spcAft>
              <a:buSzPts val="1400"/>
              <a:buFont typeface="Calibri"/>
              <a:buNone/>
            </a:pPr>
            <a:r>
              <a:t/>
            </a:r>
            <a:endParaRPr/>
          </a:p>
          <a:p>
            <a:pPr indent="0" lvl="0" marL="0" rtl="0" algn="l">
              <a:lnSpc>
                <a:spcPct val="100000"/>
              </a:lnSpc>
              <a:spcBef>
                <a:spcPts val="300"/>
              </a:spcBef>
              <a:spcAft>
                <a:spcPts val="0"/>
              </a:spcAft>
              <a:buSzPts val="1400"/>
              <a:buFont typeface="Calibri"/>
              <a:buNone/>
            </a:pPr>
            <a:r>
              <a:rPr b="1" lang="en-US"/>
              <a:t>Annual profit</a:t>
            </a:r>
            <a:endParaRPr/>
          </a:p>
          <a:p>
            <a:pPr indent="0" lvl="0" marL="0" rtl="0" algn="l">
              <a:lnSpc>
                <a:spcPct val="100000"/>
              </a:lnSpc>
              <a:spcBef>
                <a:spcPts val="300"/>
              </a:spcBef>
              <a:spcAft>
                <a:spcPts val="0"/>
              </a:spcAft>
              <a:buSzPts val="1400"/>
              <a:buFont typeface="Calibri"/>
              <a:buNone/>
            </a:pPr>
            <a:r>
              <a:rPr lang="en-US"/>
              <a:t>$432,000 - $288,000 - $42,000 - $8,000 = $94,000</a:t>
            </a:r>
            <a:endParaRPr/>
          </a:p>
          <a:p>
            <a:pPr indent="0" lvl="0" marL="0" rtl="0" algn="l">
              <a:lnSpc>
                <a:spcPct val="100000"/>
              </a:lnSpc>
              <a:spcBef>
                <a:spcPts val="300"/>
              </a:spcBef>
              <a:spcAft>
                <a:spcPts val="0"/>
              </a:spcAft>
              <a:buSzPts val="1400"/>
              <a:buFont typeface="Calibri"/>
              <a:buNone/>
            </a:pPr>
            <a:r>
              <a:t/>
            </a:r>
            <a:endParaRPr/>
          </a:p>
          <a:p>
            <a:pPr indent="0" lvl="0" marL="0" rtl="0" algn="l">
              <a:lnSpc>
                <a:spcPct val="100000"/>
              </a:lnSpc>
              <a:spcBef>
                <a:spcPts val="300"/>
              </a:spcBef>
              <a:spcAft>
                <a:spcPts val="0"/>
              </a:spcAft>
              <a:buSzPts val="1400"/>
              <a:buFont typeface="Calibri"/>
              <a:buNone/>
            </a:pPr>
            <a:r>
              <a:rPr b="1" lang="en-US"/>
              <a:t>Can we get payback in 3 years</a:t>
            </a:r>
            <a:endParaRPr/>
          </a:p>
          <a:p>
            <a:pPr indent="0" lvl="0" marL="0" rtl="0" algn="l">
              <a:lnSpc>
                <a:spcPct val="100000"/>
              </a:lnSpc>
              <a:spcBef>
                <a:spcPts val="300"/>
              </a:spcBef>
              <a:spcAft>
                <a:spcPts val="0"/>
              </a:spcAft>
              <a:buSzPts val="1400"/>
              <a:buFont typeface="Calibri"/>
              <a:buNone/>
            </a:pPr>
            <a:r>
              <a:rPr lang="en-US"/>
              <a:t>Assume 0% discount rate</a:t>
            </a:r>
            <a:endParaRPr/>
          </a:p>
          <a:p>
            <a:pPr indent="0" lvl="0" marL="0" rtl="0" algn="l">
              <a:lnSpc>
                <a:spcPct val="100000"/>
              </a:lnSpc>
              <a:spcBef>
                <a:spcPts val="300"/>
              </a:spcBef>
              <a:spcAft>
                <a:spcPts val="0"/>
              </a:spcAft>
              <a:buSzPts val="1400"/>
              <a:buFont typeface="Calibri"/>
              <a:buNone/>
            </a:pPr>
            <a:r>
              <a:rPr lang="en-US"/>
              <a:t>3 years: $282,000 in profit</a:t>
            </a:r>
            <a:endParaRPr/>
          </a:p>
          <a:p>
            <a:pPr indent="0" lvl="0" marL="0" rtl="0" algn="l">
              <a:lnSpc>
                <a:spcPct val="100000"/>
              </a:lnSpc>
              <a:spcBef>
                <a:spcPts val="300"/>
              </a:spcBef>
              <a:spcAft>
                <a:spcPts val="0"/>
              </a:spcAft>
              <a:buSzPts val="1400"/>
              <a:buFont typeface="Calibri"/>
              <a:buNone/>
            </a:pPr>
            <a:r>
              <a:rPr lang="en-US"/>
              <a:t>Cover $250,000 investment</a:t>
            </a:r>
            <a:endParaRPr/>
          </a:p>
          <a:p>
            <a:pPr indent="0" lvl="0" marL="0" rtl="0" algn="l">
              <a:lnSpc>
                <a:spcPct val="100000"/>
              </a:lnSpc>
              <a:spcBef>
                <a:spcPts val="300"/>
              </a:spcBef>
              <a:spcAft>
                <a:spcPts val="0"/>
              </a:spcAft>
              <a:buSzPts val="1400"/>
              <a:buFont typeface="Calibri"/>
              <a:buNone/>
            </a:pPr>
            <a:r>
              <a:t/>
            </a:r>
            <a:endParaRPr/>
          </a:p>
        </p:txBody>
      </p:sp>
      <p:sp>
        <p:nvSpPr>
          <p:cNvPr id="443" name="Google Shape;443;p17"/>
          <p:cNvSpPr txBox="1"/>
          <p:nvPr>
            <p:ph idx="2" type="body"/>
          </p:nvPr>
        </p:nvSpPr>
        <p:spPr>
          <a:xfrm>
            <a:off x="503321" y="1022905"/>
            <a:ext cx="8126332"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Math solution</a:t>
            </a:r>
            <a:endParaRPr/>
          </a:p>
        </p:txBody>
      </p:sp>
      <p:sp>
        <p:nvSpPr>
          <p:cNvPr id="444" name="Google Shape;444;p17"/>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18"/>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Libby’s Libation Lot</a:t>
            </a:r>
            <a:endParaRPr/>
          </a:p>
        </p:txBody>
      </p:sp>
      <p:sp>
        <p:nvSpPr>
          <p:cNvPr id="450" name="Google Shape;450;p18"/>
          <p:cNvSpPr txBox="1"/>
          <p:nvPr>
            <p:ph idx="1" type="body"/>
          </p:nvPr>
        </p:nvSpPr>
        <p:spPr>
          <a:xfrm>
            <a:off x="381001" y="4110784"/>
            <a:ext cx="8341656" cy="2182282"/>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Font typeface="Calibri"/>
              <a:buNone/>
            </a:pPr>
            <a:r>
              <a:rPr lang="en-US"/>
              <a:t>Yes, they should move forward because we can payback the investment in less than 3 years</a:t>
            </a:r>
            <a:endParaRPr/>
          </a:p>
          <a:p>
            <a:pPr indent="0" lvl="0" marL="0" rtl="0" algn="l">
              <a:lnSpc>
                <a:spcPct val="100000"/>
              </a:lnSpc>
              <a:spcBef>
                <a:spcPts val="300"/>
              </a:spcBef>
              <a:spcAft>
                <a:spcPts val="0"/>
              </a:spcAft>
              <a:buSzPts val="1400"/>
              <a:buFont typeface="Calibri"/>
              <a:buNone/>
            </a:pPr>
            <a:r>
              <a:t/>
            </a:r>
            <a:endParaRPr/>
          </a:p>
          <a:p>
            <a:pPr indent="0" lvl="0" marL="0" rtl="0" algn="l">
              <a:lnSpc>
                <a:spcPct val="100000"/>
              </a:lnSpc>
              <a:spcBef>
                <a:spcPts val="300"/>
              </a:spcBef>
              <a:spcAft>
                <a:spcPts val="0"/>
              </a:spcAft>
              <a:buSzPts val="1400"/>
              <a:buFont typeface="Calibri"/>
              <a:buNone/>
            </a:pPr>
            <a:r>
              <a:rPr lang="en-US"/>
              <a:t>Risks / Mitigation (next step):</a:t>
            </a:r>
            <a:endParaRPr/>
          </a:p>
          <a:p>
            <a:pPr indent="0" lvl="0" marL="0" rtl="0" algn="l">
              <a:lnSpc>
                <a:spcPct val="100000"/>
              </a:lnSpc>
              <a:spcBef>
                <a:spcPts val="300"/>
              </a:spcBef>
              <a:spcAft>
                <a:spcPts val="0"/>
              </a:spcAft>
              <a:buSzPts val="1400"/>
              <a:buFont typeface="Calibri"/>
              <a:buNone/>
            </a:pPr>
            <a:r>
              <a:rPr lang="en-US"/>
              <a:t>R: capacity assumptions may be too high; M: analysis of market share potential</a:t>
            </a:r>
            <a:endParaRPr/>
          </a:p>
          <a:p>
            <a:pPr indent="0" lvl="0" marL="0" rtl="0" algn="l">
              <a:lnSpc>
                <a:spcPct val="100000"/>
              </a:lnSpc>
              <a:spcBef>
                <a:spcPts val="300"/>
              </a:spcBef>
              <a:spcAft>
                <a:spcPts val="0"/>
              </a:spcAft>
              <a:buSzPts val="1400"/>
              <a:buFont typeface="Calibri"/>
              <a:buNone/>
            </a:pPr>
            <a:r>
              <a:rPr lang="en-US"/>
              <a:t>R: negative impact to lawn and garden brand; M: interview / survey current customers</a:t>
            </a:r>
            <a:endParaRPr/>
          </a:p>
          <a:p>
            <a:pPr indent="0" lvl="0" marL="0" rtl="0" algn="l">
              <a:lnSpc>
                <a:spcPct val="100000"/>
              </a:lnSpc>
              <a:spcBef>
                <a:spcPts val="300"/>
              </a:spcBef>
              <a:spcAft>
                <a:spcPts val="0"/>
              </a:spcAft>
              <a:buSzPts val="1400"/>
              <a:buFont typeface="Calibri"/>
              <a:buNone/>
            </a:pPr>
            <a:r>
              <a:rPr lang="en-US"/>
              <a:t>R: client has no expertise in bar business; M: consulting team can provide additional guidance on approach / ongoing management</a:t>
            </a:r>
            <a:endParaRPr/>
          </a:p>
          <a:p>
            <a:pPr indent="0" lvl="0" marL="0" rtl="0" algn="l">
              <a:lnSpc>
                <a:spcPct val="100000"/>
              </a:lnSpc>
              <a:spcBef>
                <a:spcPts val="300"/>
              </a:spcBef>
              <a:spcAft>
                <a:spcPts val="0"/>
              </a:spcAft>
              <a:buSzPts val="1400"/>
              <a:buFont typeface="Calibri"/>
              <a:buNone/>
            </a:pPr>
            <a:r>
              <a:t/>
            </a:r>
            <a:endParaRPr/>
          </a:p>
        </p:txBody>
      </p:sp>
      <p:sp>
        <p:nvSpPr>
          <p:cNvPr id="451" name="Google Shape;451;p18"/>
          <p:cNvSpPr txBox="1"/>
          <p:nvPr>
            <p:ph idx="2" type="body"/>
          </p:nvPr>
        </p:nvSpPr>
        <p:spPr>
          <a:xfrm>
            <a:off x="368302" y="1311435"/>
            <a:ext cx="4107445" cy="2367609"/>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Font typeface="Calibri"/>
              <a:buNone/>
            </a:pPr>
            <a:r>
              <a:rPr lang="en-US"/>
              <a:t>Strength of competition</a:t>
            </a:r>
            <a:endParaRPr/>
          </a:p>
          <a:p>
            <a:pPr indent="0" lvl="0" marL="0" rtl="0" algn="l">
              <a:lnSpc>
                <a:spcPct val="100000"/>
              </a:lnSpc>
              <a:spcBef>
                <a:spcPts val="300"/>
              </a:spcBef>
              <a:spcAft>
                <a:spcPts val="0"/>
              </a:spcAft>
              <a:buSzPts val="1400"/>
              <a:buFont typeface="Calibri"/>
              <a:buNone/>
            </a:pPr>
            <a:r>
              <a:rPr lang="en-US"/>
              <a:t>Impact to customers of lawn and garden store</a:t>
            </a:r>
            <a:endParaRPr/>
          </a:p>
          <a:p>
            <a:pPr indent="0" lvl="0" marL="0" rtl="0" algn="l">
              <a:lnSpc>
                <a:spcPct val="100000"/>
              </a:lnSpc>
              <a:spcBef>
                <a:spcPts val="300"/>
              </a:spcBef>
              <a:spcAft>
                <a:spcPts val="0"/>
              </a:spcAft>
              <a:buSzPts val="1400"/>
              <a:buFont typeface="Calibri"/>
              <a:buNone/>
            </a:pPr>
            <a:r>
              <a:t/>
            </a:r>
            <a:endParaRPr/>
          </a:p>
          <a:p>
            <a:pPr indent="0" lvl="0" marL="0" rtl="0" algn="l">
              <a:lnSpc>
                <a:spcPct val="100000"/>
              </a:lnSpc>
              <a:spcBef>
                <a:spcPts val="300"/>
              </a:spcBef>
              <a:spcAft>
                <a:spcPts val="0"/>
              </a:spcAft>
              <a:buSzPts val="1400"/>
              <a:buFont typeface="Calibri"/>
              <a:buNone/>
            </a:pPr>
            <a:r>
              <a:t/>
            </a:r>
            <a:endParaRPr/>
          </a:p>
        </p:txBody>
      </p:sp>
      <p:sp>
        <p:nvSpPr>
          <p:cNvPr id="452" name="Google Shape;452;p18"/>
          <p:cNvSpPr txBox="1"/>
          <p:nvPr>
            <p:ph idx="3" type="body"/>
          </p:nvPr>
        </p:nvSpPr>
        <p:spPr>
          <a:xfrm>
            <a:off x="4596063" y="1311435"/>
            <a:ext cx="4110955" cy="2367608"/>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Font typeface="Calibri"/>
              <a:buNone/>
            </a:pPr>
            <a:r>
              <a:rPr lang="en-US"/>
              <a:t>Ask about a discount rate</a:t>
            </a:r>
            <a:endParaRPr/>
          </a:p>
          <a:p>
            <a:pPr indent="0" lvl="0" marL="0" rtl="0" algn="l">
              <a:lnSpc>
                <a:spcPct val="100000"/>
              </a:lnSpc>
              <a:spcBef>
                <a:spcPts val="300"/>
              </a:spcBef>
              <a:spcAft>
                <a:spcPts val="0"/>
              </a:spcAft>
              <a:buSzPts val="1400"/>
              <a:buFont typeface="Calibri"/>
              <a:buNone/>
            </a:pPr>
            <a:r>
              <a:rPr lang="en-US"/>
              <a:t>Ask if there are other ways to use this investment money?</a:t>
            </a:r>
            <a:endParaRPr/>
          </a:p>
        </p:txBody>
      </p:sp>
      <p:sp>
        <p:nvSpPr>
          <p:cNvPr id="453" name="Google Shape;453;p18"/>
          <p:cNvSpPr txBox="1"/>
          <p:nvPr>
            <p:ph idx="4" type="body"/>
          </p:nvPr>
        </p:nvSpPr>
        <p:spPr>
          <a:xfrm>
            <a:off x="442331" y="1022684"/>
            <a:ext cx="4010077"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Additional areas of discussion</a:t>
            </a:r>
            <a:endParaRPr/>
          </a:p>
        </p:txBody>
      </p:sp>
      <p:sp>
        <p:nvSpPr>
          <p:cNvPr id="454" name="Google Shape;454;p18"/>
          <p:cNvSpPr txBox="1"/>
          <p:nvPr>
            <p:ph idx="5" type="body"/>
          </p:nvPr>
        </p:nvSpPr>
        <p:spPr>
          <a:xfrm>
            <a:off x="4680284" y="1022684"/>
            <a:ext cx="4010077"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Bonus points</a:t>
            </a:r>
            <a:endParaRPr/>
          </a:p>
        </p:txBody>
      </p:sp>
      <p:sp>
        <p:nvSpPr>
          <p:cNvPr id="455" name="Google Shape;455;p18"/>
          <p:cNvSpPr txBox="1"/>
          <p:nvPr>
            <p:ph idx="6" type="body"/>
          </p:nvPr>
        </p:nvSpPr>
        <p:spPr>
          <a:xfrm>
            <a:off x="465670" y="3840462"/>
            <a:ext cx="8224691"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Recommendation</a:t>
            </a:r>
            <a:endParaRPr/>
          </a:p>
        </p:txBody>
      </p:sp>
      <p:sp>
        <p:nvSpPr>
          <p:cNvPr id="456" name="Google Shape;456;p18"/>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19"/>
          <p:cNvSpPr txBox="1"/>
          <p:nvPr>
            <p:ph idx="1" type="body"/>
          </p:nvPr>
        </p:nvSpPr>
        <p:spPr>
          <a:xfrm>
            <a:off x="381001" y="1283366"/>
            <a:ext cx="8341656" cy="2182282"/>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Font typeface="Calibri"/>
              <a:buNone/>
            </a:pPr>
            <a:r>
              <a:rPr lang="en-US"/>
              <a:t>In 2006, a top 5 auto insurance company in Singapore is looking to grow its revenues from new customer premiums by 3 times the market growth rate over the next 5 years</a:t>
            </a:r>
            <a:endParaRPr/>
          </a:p>
          <a:p>
            <a:pPr indent="0" lvl="0" marL="0" rtl="0" algn="l">
              <a:lnSpc>
                <a:spcPct val="100000"/>
              </a:lnSpc>
              <a:spcBef>
                <a:spcPts val="300"/>
              </a:spcBef>
              <a:spcAft>
                <a:spcPts val="0"/>
              </a:spcAft>
              <a:buSzPts val="1400"/>
              <a:buFont typeface="Calibri"/>
              <a:buNone/>
            </a:pPr>
            <a:r>
              <a:t/>
            </a:r>
            <a:endParaRPr/>
          </a:p>
          <a:p>
            <a:pPr indent="0" lvl="0" marL="0" rtl="0" algn="l">
              <a:lnSpc>
                <a:spcPct val="100000"/>
              </a:lnSpc>
              <a:spcBef>
                <a:spcPts val="300"/>
              </a:spcBef>
              <a:spcAft>
                <a:spcPts val="0"/>
              </a:spcAft>
              <a:buSzPts val="1400"/>
              <a:buFont typeface="Calibri"/>
              <a:buNone/>
            </a:pPr>
            <a:r>
              <a:rPr lang="en-US"/>
              <a:t>The CEO is asking BCG to help find out: </a:t>
            </a:r>
            <a:endParaRPr/>
          </a:p>
          <a:p>
            <a:pPr indent="-342900" lvl="0" marL="342900" rtl="0" algn="l">
              <a:lnSpc>
                <a:spcPct val="100000"/>
              </a:lnSpc>
              <a:spcBef>
                <a:spcPts val="300"/>
              </a:spcBef>
              <a:spcAft>
                <a:spcPts val="0"/>
              </a:spcAft>
              <a:buSzPts val="1400"/>
              <a:buFont typeface="Calibri"/>
              <a:buAutoNum type="arabicPeriod"/>
            </a:pPr>
            <a:r>
              <a:rPr lang="en-US"/>
              <a:t>Is it feasible </a:t>
            </a:r>
            <a:endParaRPr/>
          </a:p>
          <a:p>
            <a:pPr indent="-342900" lvl="0" marL="342900" rtl="0" algn="l">
              <a:lnSpc>
                <a:spcPct val="100000"/>
              </a:lnSpc>
              <a:spcBef>
                <a:spcPts val="300"/>
              </a:spcBef>
              <a:spcAft>
                <a:spcPts val="0"/>
              </a:spcAft>
              <a:buSzPts val="1400"/>
              <a:buFont typeface="Calibri"/>
              <a:buAutoNum type="arabicPeriod"/>
            </a:pPr>
            <a:r>
              <a:rPr lang="en-US"/>
              <a:t>If feasible, how do we achieve it </a:t>
            </a:r>
            <a:endParaRPr/>
          </a:p>
          <a:p>
            <a:pPr indent="0" lvl="0" marL="0" rtl="0" algn="l">
              <a:lnSpc>
                <a:spcPct val="100000"/>
              </a:lnSpc>
              <a:spcBef>
                <a:spcPts val="300"/>
              </a:spcBef>
              <a:spcAft>
                <a:spcPts val="0"/>
              </a:spcAft>
              <a:buSzPts val="1400"/>
              <a:buFont typeface="Calibri"/>
              <a:buNone/>
            </a:pPr>
            <a:r>
              <a:t/>
            </a:r>
            <a:endParaRPr/>
          </a:p>
        </p:txBody>
      </p:sp>
      <p:sp>
        <p:nvSpPr>
          <p:cNvPr id="462" name="Google Shape;462;p19"/>
          <p:cNvSpPr txBox="1"/>
          <p:nvPr>
            <p:ph idx="2" type="body"/>
          </p:nvPr>
        </p:nvSpPr>
        <p:spPr>
          <a:xfrm>
            <a:off x="368302" y="3910260"/>
            <a:ext cx="4107445" cy="2367609"/>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Font typeface="Calibri"/>
              <a:buNone/>
            </a:pPr>
            <a:r>
              <a:rPr lang="en-US"/>
              <a:t>Industry: Insurance</a:t>
            </a:r>
            <a:endParaRPr/>
          </a:p>
          <a:p>
            <a:pPr indent="0" lvl="0" marL="0" rtl="0" algn="l">
              <a:lnSpc>
                <a:spcPct val="100000"/>
              </a:lnSpc>
              <a:spcBef>
                <a:spcPts val="300"/>
              </a:spcBef>
              <a:spcAft>
                <a:spcPts val="0"/>
              </a:spcAft>
              <a:buSzPts val="1400"/>
              <a:buFont typeface="Calibri"/>
              <a:buNone/>
            </a:pPr>
            <a:r>
              <a:rPr lang="en-US"/>
              <a:t>Format: Revenue Growth</a:t>
            </a:r>
            <a:endParaRPr/>
          </a:p>
          <a:p>
            <a:pPr indent="0" lvl="0" marL="0" rtl="0" algn="l">
              <a:lnSpc>
                <a:spcPct val="100000"/>
              </a:lnSpc>
              <a:spcBef>
                <a:spcPts val="300"/>
              </a:spcBef>
              <a:spcAft>
                <a:spcPts val="0"/>
              </a:spcAft>
              <a:buSzPts val="1400"/>
              <a:buFont typeface="Calibri"/>
              <a:buNone/>
            </a:pPr>
            <a:r>
              <a:rPr lang="en-US"/>
              <a:t>Difficulty: Medium</a:t>
            </a:r>
            <a:endParaRPr/>
          </a:p>
          <a:p>
            <a:pPr indent="0" lvl="0" marL="0" rtl="0" algn="l">
              <a:lnSpc>
                <a:spcPct val="100000"/>
              </a:lnSpc>
              <a:spcBef>
                <a:spcPts val="300"/>
              </a:spcBef>
              <a:spcAft>
                <a:spcPts val="0"/>
              </a:spcAft>
              <a:buSzPts val="1400"/>
              <a:buFont typeface="Calibri"/>
              <a:buNone/>
            </a:pPr>
            <a:r>
              <a:rPr lang="en-US"/>
              <a:t>Concept Tested: Revenue Model, Organizational Problem Analysis </a:t>
            </a:r>
            <a:endParaRPr/>
          </a:p>
          <a:p>
            <a:pPr indent="0" lvl="0" marL="0" rtl="0" algn="l">
              <a:lnSpc>
                <a:spcPct val="100000"/>
              </a:lnSpc>
              <a:spcBef>
                <a:spcPts val="300"/>
              </a:spcBef>
              <a:spcAft>
                <a:spcPts val="0"/>
              </a:spcAft>
              <a:buSzPts val="1400"/>
              <a:buFont typeface="Calibri"/>
              <a:buNone/>
            </a:pPr>
            <a:r>
              <a:t/>
            </a:r>
            <a:endParaRPr/>
          </a:p>
        </p:txBody>
      </p:sp>
      <p:sp>
        <p:nvSpPr>
          <p:cNvPr id="463" name="Google Shape;463;p19"/>
          <p:cNvSpPr txBox="1"/>
          <p:nvPr>
            <p:ph idx="3" type="body"/>
          </p:nvPr>
        </p:nvSpPr>
        <p:spPr>
          <a:xfrm>
            <a:off x="4596063" y="3910260"/>
            <a:ext cx="4110955" cy="2367608"/>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342900" lvl="0" marL="342900" rtl="0" algn="l">
              <a:lnSpc>
                <a:spcPct val="100000"/>
              </a:lnSpc>
              <a:spcBef>
                <a:spcPts val="0"/>
              </a:spcBef>
              <a:spcAft>
                <a:spcPts val="0"/>
              </a:spcAft>
              <a:buSzPts val="1400"/>
              <a:buFont typeface="Calibri"/>
              <a:buAutoNum type="arabicPeriod"/>
            </a:pPr>
            <a:r>
              <a:rPr lang="en-US"/>
              <a:t>This is a interviewee lead case</a:t>
            </a:r>
            <a:endParaRPr/>
          </a:p>
          <a:p>
            <a:pPr indent="-342900" lvl="0" marL="342900" rtl="0" algn="l">
              <a:lnSpc>
                <a:spcPct val="100000"/>
              </a:lnSpc>
              <a:spcBef>
                <a:spcPts val="300"/>
              </a:spcBef>
              <a:spcAft>
                <a:spcPts val="0"/>
              </a:spcAft>
              <a:buSzPts val="1400"/>
              <a:buFont typeface="Calibri"/>
              <a:buAutoNum type="arabicPeriod"/>
            </a:pPr>
            <a:r>
              <a:rPr lang="en-US"/>
              <a:t>It is critical for the candidate to break down revenue by sales channels</a:t>
            </a:r>
            <a:endParaRPr/>
          </a:p>
          <a:p>
            <a:pPr indent="-342900" lvl="0" marL="342900" rtl="0" algn="l">
              <a:lnSpc>
                <a:spcPct val="100000"/>
              </a:lnSpc>
              <a:spcBef>
                <a:spcPts val="300"/>
              </a:spcBef>
              <a:spcAft>
                <a:spcPts val="0"/>
              </a:spcAft>
              <a:buSzPts val="1400"/>
              <a:buFont typeface="Calibri"/>
              <a:buAutoNum type="arabicPeriod"/>
            </a:pPr>
            <a:r>
              <a:rPr lang="en-US"/>
              <a:t>After the candidate identifies online channels as the best growth engine, ask candidate to brainstorm reasons that would cause our client to lag behind competition with online customer premium growth</a:t>
            </a:r>
            <a:endParaRPr/>
          </a:p>
          <a:p>
            <a:pPr indent="0" lvl="0" marL="0" rtl="0" algn="l">
              <a:lnSpc>
                <a:spcPct val="100000"/>
              </a:lnSpc>
              <a:spcBef>
                <a:spcPts val="300"/>
              </a:spcBef>
              <a:spcAft>
                <a:spcPts val="0"/>
              </a:spcAft>
              <a:buSzPts val="1400"/>
              <a:buFont typeface="Calibri"/>
              <a:buNone/>
            </a:pPr>
            <a:r>
              <a:t/>
            </a:r>
            <a:endParaRPr/>
          </a:p>
        </p:txBody>
      </p:sp>
      <p:sp>
        <p:nvSpPr>
          <p:cNvPr id="464" name="Google Shape;464;p19"/>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Auto Insurance Business Growth</a:t>
            </a:r>
            <a:br>
              <a:rPr lang="en-US"/>
            </a:br>
            <a:endParaRPr/>
          </a:p>
        </p:txBody>
      </p:sp>
      <p:sp>
        <p:nvSpPr>
          <p:cNvPr id="465" name="Google Shape;465;p19"/>
          <p:cNvSpPr txBox="1"/>
          <p:nvPr>
            <p:ph idx="4" type="body"/>
          </p:nvPr>
        </p:nvSpPr>
        <p:spPr>
          <a:xfrm>
            <a:off x="465670" y="996952"/>
            <a:ext cx="8209098"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Problem Statement</a:t>
            </a:r>
            <a:endParaRPr/>
          </a:p>
          <a:p>
            <a:pPr indent="0" lvl="0" marL="0" rtl="0" algn="l">
              <a:lnSpc>
                <a:spcPct val="100000"/>
              </a:lnSpc>
              <a:spcBef>
                <a:spcPts val="900"/>
              </a:spcBef>
              <a:spcAft>
                <a:spcPts val="0"/>
              </a:spcAft>
              <a:buSzPts val="1800"/>
              <a:buFont typeface="Calibri"/>
              <a:buNone/>
            </a:pPr>
            <a:r>
              <a:t/>
            </a:r>
            <a:endParaRPr/>
          </a:p>
        </p:txBody>
      </p:sp>
      <p:sp>
        <p:nvSpPr>
          <p:cNvPr id="466" name="Google Shape;466;p19"/>
          <p:cNvSpPr txBox="1"/>
          <p:nvPr>
            <p:ph idx="5" type="body"/>
          </p:nvPr>
        </p:nvSpPr>
        <p:spPr>
          <a:xfrm>
            <a:off x="465670" y="3621892"/>
            <a:ext cx="4010077"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Type of Case</a:t>
            </a:r>
            <a:endParaRPr/>
          </a:p>
          <a:p>
            <a:pPr indent="0" lvl="0" marL="0" rtl="0" algn="l">
              <a:lnSpc>
                <a:spcPct val="100000"/>
              </a:lnSpc>
              <a:spcBef>
                <a:spcPts val="900"/>
              </a:spcBef>
              <a:spcAft>
                <a:spcPts val="0"/>
              </a:spcAft>
              <a:buSzPts val="1800"/>
              <a:buFont typeface="Calibri"/>
              <a:buNone/>
            </a:pPr>
            <a:r>
              <a:t/>
            </a:r>
            <a:endParaRPr/>
          </a:p>
        </p:txBody>
      </p:sp>
      <p:sp>
        <p:nvSpPr>
          <p:cNvPr id="467" name="Google Shape;467;p19"/>
          <p:cNvSpPr txBox="1"/>
          <p:nvPr>
            <p:ph idx="6" type="body"/>
          </p:nvPr>
        </p:nvSpPr>
        <p:spPr>
          <a:xfrm>
            <a:off x="4664691" y="3621892"/>
            <a:ext cx="4010077"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Interview Guidance</a:t>
            </a:r>
            <a:endParaRPr/>
          </a:p>
          <a:p>
            <a:pPr indent="0" lvl="0" marL="0" rtl="0" algn="l">
              <a:lnSpc>
                <a:spcPct val="100000"/>
              </a:lnSpc>
              <a:spcBef>
                <a:spcPts val="900"/>
              </a:spcBef>
              <a:spcAft>
                <a:spcPts val="0"/>
              </a:spcAft>
              <a:buSzPts val="1800"/>
              <a:buFont typeface="Calibri"/>
              <a:buNone/>
            </a:pPr>
            <a:r>
              <a:t/>
            </a:r>
            <a:endParaRPr/>
          </a:p>
        </p:txBody>
      </p:sp>
      <p:sp>
        <p:nvSpPr>
          <p:cNvPr id="468" name="Google Shape;468;p19"/>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20"/>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Auto Insurance Business Growth – Framework</a:t>
            </a:r>
            <a:br>
              <a:rPr lang="en-US"/>
            </a:br>
            <a:endParaRPr/>
          </a:p>
        </p:txBody>
      </p:sp>
      <p:sp>
        <p:nvSpPr>
          <p:cNvPr id="474" name="Google Shape;474;p20"/>
          <p:cNvSpPr txBox="1"/>
          <p:nvPr>
            <p:ph idx="1" type="body"/>
          </p:nvPr>
        </p:nvSpPr>
        <p:spPr>
          <a:xfrm>
            <a:off x="368302" y="1292790"/>
            <a:ext cx="4107445" cy="4982279"/>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285750" lvl="0" marL="285750" rtl="0" algn="l">
              <a:lnSpc>
                <a:spcPct val="100000"/>
              </a:lnSpc>
              <a:spcBef>
                <a:spcPts val="0"/>
              </a:spcBef>
              <a:spcAft>
                <a:spcPts val="0"/>
              </a:spcAft>
              <a:buSzPts val="1600"/>
              <a:buFont typeface="Calibri"/>
              <a:buChar char="-"/>
            </a:pPr>
            <a:r>
              <a:rPr lang="en-US" sz="1600"/>
              <a:t>Channels</a:t>
            </a:r>
            <a:endParaRPr/>
          </a:p>
          <a:p>
            <a:pPr indent="-285750" lvl="1" marL="742950" rtl="0" algn="l">
              <a:lnSpc>
                <a:spcPct val="100000"/>
              </a:lnSpc>
              <a:spcBef>
                <a:spcPts val="300"/>
              </a:spcBef>
              <a:spcAft>
                <a:spcPts val="0"/>
              </a:spcAft>
              <a:buSzPts val="1600"/>
              <a:buFont typeface="Calibri"/>
              <a:buChar char="-"/>
            </a:pPr>
            <a:r>
              <a:rPr lang="en-US" sz="1600"/>
              <a:t>Agent Channel</a:t>
            </a:r>
            <a:endParaRPr/>
          </a:p>
          <a:p>
            <a:pPr indent="-285750" lvl="2" marL="1200150" rtl="0" algn="l">
              <a:lnSpc>
                <a:spcPct val="100000"/>
              </a:lnSpc>
              <a:spcBef>
                <a:spcPts val="300"/>
              </a:spcBef>
              <a:spcAft>
                <a:spcPts val="0"/>
              </a:spcAft>
              <a:buSzPts val="1600"/>
              <a:buFont typeface="Calibri"/>
              <a:buChar char="-"/>
            </a:pPr>
            <a:r>
              <a:rPr lang="en-US" sz="1600"/>
              <a:t>Market Size</a:t>
            </a:r>
            <a:endParaRPr/>
          </a:p>
          <a:p>
            <a:pPr indent="-285750" lvl="2" marL="1200150" rtl="0" algn="l">
              <a:lnSpc>
                <a:spcPct val="100000"/>
              </a:lnSpc>
              <a:spcBef>
                <a:spcPts val="300"/>
              </a:spcBef>
              <a:spcAft>
                <a:spcPts val="0"/>
              </a:spcAft>
              <a:buSzPts val="1600"/>
              <a:buFont typeface="Calibri"/>
              <a:buChar char="-"/>
            </a:pPr>
            <a:r>
              <a:rPr lang="en-US" sz="1600"/>
              <a:t>Market Growth</a:t>
            </a:r>
            <a:endParaRPr/>
          </a:p>
          <a:p>
            <a:pPr indent="-285750" lvl="2" marL="1200150" rtl="0" algn="l">
              <a:lnSpc>
                <a:spcPct val="100000"/>
              </a:lnSpc>
              <a:spcBef>
                <a:spcPts val="300"/>
              </a:spcBef>
              <a:spcAft>
                <a:spcPts val="0"/>
              </a:spcAft>
              <a:buSzPts val="1600"/>
              <a:buFont typeface="Calibri"/>
              <a:buChar char="-"/>
            </a:pPr>
            <a:r>
              <a:rPr lang="en-US" sz="1600"/>
              <a:t>Competitor Growth</a:t>
            </a:r>
            <a:endParaRPr/>
          </a:p>
          <a:p>
            <a:pPr indent="-285750" lvl="1" marL="742950" rtl="0" algn="l">
              <a:lnSpc>
                <a:spcPct val="100000"/>
              </a:lnSpc>
              <a:spcBef>
                <a:spcPts val="300"/>
              </a:spcBef>
              <a:spcAft>
                <a:spcPts val="0"/>
              </a:spcAft>
              <a:buSzPts val="1600"/>
              <a:buFont typeface="Calibri"/>
              <a:buChar char="-"/>
            </a:pPr>
            <a:r>
              <a:rPr lang="en-US" sz="1600"/>
              <a:t>Call Center Channel</a:t>
            </a:r>
            <a:endParaRPr/>
          </a:p>
          <a:p>
            <a:pPr indent="-285750" lvl="2" marL="1200150" rtl="0" algn="l">
              <a:lnSpc>
                <a:spcPct val="100000"/>
              </a:lnSpc>
              <a:spcBef>
                <a:spcPts val="300"/>
              </a:spcBef>
              <a:spcAft>
                <a:spcPts val="0"/>
              </a:spcAft>
              <a:buSzPts val="1600"/>
              <a:buFont typeface="Calibri"/>
              <a:buChar char="-"/>
            </a:pPr>
            <a:r>
              <a:rPr lang="en-US" sz="1600"/>
              <a:t>Market Size</a:t>
            </a:r>
            <a:endParaRPr/>
          </a:p>
          <a:p>
            <a:pPr indent="-285750" lvl="2" marL="1200150" rtl="0" algn="l">
              <a:lnSpc>
                <a:spcPct val="100000"/>
              </a:lnSpc>
              <a:spcBef>
                <a:spcPts val="300"/>
              </a:spcBef>
              <a:spcAft>
                <a:spcPts val="0"/>
              </a:spcAft>
              <a:buSzPts val="1600"/>
              <a:buFont typeface="Calibri"/>
              <a:buChar char="-"/>
            </a:pPr>
            <a:r>
              <a:rPr lang="en-US" sz="1600"/>
              <a:t>Market Growth</a:t>
            </a:r>
            <a:endParaRPr/>
          </a:p>
          <a:p>
            <a:pPr indent="-285750" lvl="2" marL="1200150" rtl="0" algn="l">
              <a:lnSpc>
                <a:spcPct val="100000"/>
              </a:lnSpc>
              <a:spcBef>
                <a:spcPts val="300"/>
              </a:spcBef>
              <a:spcAft>
                <a:spcPts val="0"/>
              </a:spcAft>
              <a:buSzPts val="1600"/>
              <a:buFont typeface="Calibri"/>
              <a:buChar char="-"/>
            </a:pPr>
            <a:r>
              <a:rPr lang="en-US" sz="1600"/>
              <a:t>Competitor Growth</a:t>
            </a:r>
            <a:endParaRPr/>
          </a:p>
          <a:p>
            <a:pPr indent="-285750" lvl="1" marL="742950" rtl="0" algn="l">
              <a:lnSpc>
                <a:spcPct val="100000"/>
              </a:lnSpc>
              <a:spcBef>
                <a:spcPts val="300"/>
              </a:spcBef>
              <a:spcAft>
                <a:spcPts val="0"/>
              </a:spcAft>
              <a:buSzPts val="1600"/>
              <a:buFont typeface="Calibri"/>
              <a:buChar char="-"/>
            </a:pPr>
            <a:r>
              <a:rPr b="1" lang="en-US" sz="1600"/>
              <a:t>Online Channel</a:t>
            </a:r>
            <a:endParaRPr/>
          </a:p>
          <a:p>
            <a:pPr indent="-285750" lvl="2" marL="1200150" rtl="0" algn="l">
              <a:lnSpc>
                <a:spcPct val="100000"/>
              </a:lnSpc>
              <a:spcBef>
                <a:spcPts val="300"/>
              </a:spcBef>
              <a:spcAft>
                <a:spcPts val="0"/>
              </a:spcAft>
              <a:buSzPts val="1600"/>
              <a:buFont typeface="Calibri"/>
              <a:buChar char="-"/>
            </a:pPr>
            <a:r>
              <a:rPr b="1" lang="en-US" sz="1600"/>
              <a:t>Market Size</a:t>
            </a:r>
            <a:endParaRPr/>
          </a:p>
          <a:p>
            <a:pPr indent="-285750" lvl="2" marL="1200150" rtl="0" algn="l">
              <a:lnSpc>
                <a:spcPct val="100000"/>
              </a:lnSpc>
              <a:spcBef>
                <a:spcPts val="300"/>
              </a:spcBef>
              <a:spcAft>
                <a:spcPts val="0"/>
              </a:spcAft>
              <a:buSzPts val="1600"/>
              <a:buFont typeface="Calibri"/>
              <a:buChar char="-"/>
            </a:pPr>
            <a:r>
              <a:rPr b="1" lang="en-US" sz="1600"/>
              <a:t>Market Growth</a:t>
            </a:r>
            <a:endParaRPr/>
          </a:p>
          <a:p>
            <a:pPr indent="-285750" lvl="2" marL="1200150" rtl="0" algn="l">
              <a:lnSpc>
                <a:spcPct val="100000"/>
              </a:lnSpc>
              <a:spcBef>
                <a:spcPts val="300"/>
              </a:spcBef>
              <a:spcAft>
                <a:spcPts val="0"/>
              </a:spcAft>
              <a:buSzPts val="1600"/>
              <a:buFont typeface="Calibri"/>
              <a:buChar char="-"/>
            </a:pPr>
            <a:r>
              <a:rPr b="1" lang="en-US" sz="1600"/>
              <a:t>Competitor Growth</a:t>
            </a:r>
            <a:endParaRPr/>
          </a:p>
          <a:p>
            <a:pPr indent="-285750" lvl="0" marL="285750" rtl="0" algn="l">
              <a:lnSpc>
                <a:spcPct val="100000"/>
              </a:lnSpc>
              <a:spcBef>
                <a:spcPts val="300"/>
              </a:spcBef>
              <a:spcAft>
                <a:spcPts val="0"/>
              </a:spcAft>
              <a:buSzPts val="1600"/>
              <a:buFont typeface="Calibri"/>
              <a:buChar char="-"/>
            </a:pPr>
            <a:r>
              <a:rPr lang="en-US" sz="1600"/>
              <a:t>Avg. Customer Spending $</a:t>
            </a:r>
            <a:endParaRPr/>
          </a:p>
          <a:p>
            <a:pPr indent="-285750" lvl="1" marL="742950" rtl="0" algn="l">
              <a:lnSpc>
                <a:spcPct val="100000"/>
              </a:lnSpc>
              <a:spcBef>
                <a:spcPts val="300"/>
              </a:spcBef>
              <a:spcAft>
                <a:spcPts val="0"/>
              </a:spcAft>
              <a:buSzPts val="1600"/>
              <a:buFont typeface="Calibri"/>
              <a:buChar char="-"/>
            </a:pPr>
            <a:r>
              <a:rPr lang="en-US" sz="1600"/>
              <a:t>Competitor performance</a:t>
            </a:r>
            <a:endParaRPr/>
          </a:p>
          <a:p>
            <a:pPr indent="-285750" lvl="0" marL="285750" rtl="0" algn="l">
              <a:lnSpc>
                <a:spcPct val="100000"/>
              </a:lnSpc>
              <a:spcBef>
                <a:spcPts val="300"/>
              </a:spcBef>
              <a:spcAft>
                <a:spcPts val="0"/>
              </a:spcAft>
              <a:buSzPts val="1600"/>
              <a:buFont typeface="Calibri"/>
              <a:buChar char="-"/>
            </a:pPr>
            <a:r>
              <a:rPr lang="en-US" sz="1600"/>
              <a:t>Customer #</a:t>
            </a:r>
            <a:endParaRPr/>
          </a:p>
          <a:p>
            <a:pPr indent="0" lvl="0" marL="0" rtl="0" algn="l">
              <a:lnSpc>
                <a:spcPct val="100000"/>
              </a:lnSpc>
              <a:spcBef>
                <a:spcPts val="300"/>
              </a:spcBef>
              <a:spcAft>
                <a:spcPts val="0"/>
              </a:spcAft>
              <a:buSzPts val="1400"/>
              <a:buFont typeface="Calibri"/>
              <a:buNone/>
            </a:pPr>
            <a:r>
              <a:t/>
            </a:r>
            <a:endParaRPr/>
          </a:p>
        </p:txBody>
      </p:sp>
      <p:sp>
        <p:nvSpPr>
          <p:cNvPr id="475" name="Google Shape;475;p20"/>
          <p:cNvSpPr txBox="1"/>
          <p:nvPr>
            <p:ph idx="2" type="body"/>
          </p:nvPr>
        </p:nvSpPr>
        <p:spPr>
          <a:xfrm>
            <a:off x="4596063" y="1302453"/>
            <a:ext cx="4110955" cy="4972617"/>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285750" lvl="0" marL="285750" rtl="0" algn="l">
              <a:lnSpc>
                <a:spcPct val="100000"/>
              </a:lnSpc>
              <a:spcBef>
                <a:spcPts val="0"/>
              </a:spcBef>
              <a:spcAft>
                <a:spcPts val="0"/>
              </a:spcAft>
              <a:buSzPts val="1600"/>
              <a:buFont typeface="Calibri"/>
              <a:buChar char="-"/>
            </a:pPr>
            <a:r>
              <a:rPr lang="en-US" sz="1600"/>
              <a:t>Compliment Service</a:t>
            </a:r>
            <a:endParaRPr/>
          </a:p>
          <a:p>
            <a:pPr indent="-285750" lvl="0" marL="285750" rtl="0" algn="l">
              <a:lnSpc>
                <a:spcPct val="100000"/>
              </a:lnSpc>
              <a:spcBef>
                <a:spcPts val="300"/>
              </a:spcBef>
              <a:spcAft>
                <a:spcPts val="0"/>
              </a:spcAft>
              <a:buSzPts val="1600"/>
              <a:buFont typeface="Calibri"/>
              <a:buChar char="-"/>
            </a:pPr>
            <a:r>
              <a:rPr lang="en-US" sz="1600"/>
              <a:t>New Products</a:t>
            </a:r>
            <a:endParaRPr/>
          </a:p>
          <a:p>
            <a:pPr indent="-285750" lvl="0" marL="285750" rtl="0" algn="l">
              <a:lnSpc>
                <a:spcPct val="100000"/>
              </a:lnSpc>
              <a:spcBef>
                <a:spcPts val="300"/>
              </a:spcBef>
              <a:spcAft>
                <a:spcPts val="0"/>
              </a:spcAft>
              <a:buSzPts val="1600"/>
              <a:buFont typeface="Calibri"/>
              <a:buChar char="-"/>
            </a:pPr>
            <a:r>
              <a:rPr lang="en-US" sz="1600"/>
              <a:t>Acquisition</a:t>
            </a:r>
            <a:endParaRPr/>
          </a:p>
          <a:p>
            <a:pPr indent="0" lvl="0" marL="0" rtl="0" algn="l">
              <a:lnSpc>
                <a:spcPct val="100000"/>
              </a:lnSpc>
              <a:spcBef>
                <a:spcPts val="300"/>
              </a:spcBef>
              <a:spcAft>
                <a:spcPts val="0"/>
              </a:spcAft>
              <a:buSzPts val="1400"/>
              <a:buFont typeface="Calibri"/>
              <a:buNone/>
            </a:pPr>
            <a:r>
              <a:t/>
            </a:r>
            <a:endParaRPr/>
          </a:p>
        </p:txBody>
      </p:sp>
      <p:sp>
        <p:nvSpPr>
          <p:cNvPr id="476" name="Google Shape;476;p20"/>
          <p:cNvSpPr txBox="1"/>
          <p:nvPr>
            <p:ph idx="3" type="body"/>
          </p:nvPr>
        </p:nvSpPr>
        <p:spPr>
          <a:xfrm>
            <a:off x="465670" y="1015291"/>
            <a:ext cx="4010077"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Existing Revenue</a:t>
            </a:r>
            <a:endParaRPr/>
          </a:p>
          <a:p>
            <a:pPr indent="0" lvl="0" marL="0" rtl="0" algn="l">
              <a:lnSpc>
                <a:spcPct val="100000"/>
              </a:lnSpc>
              <a:spcBef>
                <a:spcPts val="900"/>
              </a:spcBef>
              <a:spcAft>
                <a:spcPts val="0"/>
              </a:spcAft>
              <a:buSzPts val="1800"/>
              <a:buFont typeface="Calibri"/>
              <a:buNone/>
            </a:pPr>
            <a:r>
              <a:t/>
            </a:r>
            <a:endParaRPr/>
          </a:p>
        </p:txBody>
      </p:sp>
      <p:sp>
        <p:nvSpPr>
          <p:cNvPr id="477" name="Google Shape;477;p20"/>
          <p:cNvSpPr txBox="1"/>
          <p:nvPr>
            <p:ph idx="4" type="body"/>
          </p:nvPr>
        </p:nvSpPr>
        <p:spPr>
          <a:xfrm>
            <a:off x="4695825" y="1016486"/>
            <a:ext cx="4010077"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New Revenue</a:t>
            </a:r>
            <a:endParaRPr/>
          </a:p>
          <a:p>
            <a:pPr indent="0" lvl="0" marL="0" rtl="0" algn="l">
              <a:lnSpc>
                <a:spcPct val="100000"/>
              </a:lnSpc>
              <a:spcBef>
                <a:spcPts val="900"/>
              </a:spcBef>
              <a:spcAft>
                <a:spcPts val="0"/>
              </a:spcAft>
              <a:buSzPts val="1800"/>
              <a:buFont typeface="Calibri"/>
              <a:buNone/>
            </a:pPr>
            <a:r>
              <a:t/>
            </a:r>
            <a:endParaRPr/>
          </a:p>
        </p:txBody>
      </p:sp>
      <p:sp>
        <p:nvSpPr>
          <p:cNvPr id="478" name="Google Shape;478;p20"/>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21"/>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Auto Insurance Business Growth</a:t>
            </a:r>
            <a:br>
              <a:rPr lang="en-US"/>
            </a:br>
            <a:endParaRPr/>
          </a:p>
        </p:txBody>
      </p:sp>
      <p:sp>
        <p:nvSpPr>
          <p:cNvPr id="484" name="Google Shape;484;p21"/>
          <p:cNvSpPr txBox="1"/>
          <p:nvPr>
            <p:ph idx="1" type="body"/>
          </p:nvPr>
        </p:nvSpPr>
        <p:spPr>
          <a:xfrm>
            <a:off x="381001" y="4110784"/>
            <a:ext cx="8341656" cy="2182282"/>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342900" lvl="0" marL="342900" rtl="0" algn="l">
              <a:lnSpc>
                <a:spcPct val="100000"/>
              </a:lnSpc>
              <a:spcBef>
                <a:spcPts val="0"/>
              </a:spcBef>
              <a:spcAft>
                <a:spcPts val="0"/>
              </a:spcAft>
              <a:buSzPts val="1400"/>
              <a:buFont typeface="Calibri"/>
              <a:buAutoNum type="arabicPeriod"/>
            </a:pPr>
            <a:r>
              <a:rPr lang="en-US"/>
              <a:t>Market will grow 20% over next 5 years</a:t>
            </a:r>
            <a:endParaRPr/>
          </a:p>
          <a:p>
            <a:pPr indent="-342900" lvl="0" marL="342900" rtl="0" algn="l">
              <a:lnSpc>
                <a:spcPct val="100000"/>
              </a:lnSpc>
              <a:spcBef>
                <a:spcPts val="300"/>
              </a:spcBef>
              <a:spcAft>
                <a:spcPts val="0"/>
              </a:spcAft>
              <a:buSzPts val="1400"/>
              <a:buFont typeface="Calibri"/>
              <a:buAutoNum type="arabicPeriod"/>
            </a:pPr>
            <a:r>
              <a:rPr lang="en-US"/>
              <a:t>The client’s company generated $500M of revenue over the past year</a:t>
            </a:r>
            <a:endParaRPr/>
          </a:p>
          <a:p>
            <a:pPr indent="-342900" lvl="0" marL="342900" rtl="0" algn="l">
              <a:lnSpc>
                <a:spcPct val="100000"/>
              </a:lnSpc>
              <a:spcBef>
                <a:spcPts val="300"/>
              </a:spcBef>
              <a:spcAft>
                <a:spcPts val="0"/>
              </a:spcAft>
              <a:buSzPts val="1400"/>
              <a:buFont typeface="Calibri"/>
              <a:buAutoNum type="arabicPeriod"/>
            </a:pPr>
            <a:r>
              <a:rPr lang="en-US"/>
              <a:t>Auto insurance is the only product the company sells and It is hard to build business on other insurance products within 5 years due to various constraints such as regulation control and strong competition</a:t>
            </a:r>
            <a:endParaRPr/>
          </a:p>
          <a:p>
            <a:pPr indent="-342900" lvl="0" marL="342900" rtl="0" algn="l">
              <a:lnSpc>
                <a:spcPct val="100000"/>
              </a:lnSpc>
              <a:spcBef>
                <a:spcPts val="300"/>
              </a:spcBef>
              <a:spcAft>
                <a:spcPts val="0"/>
              </a:spcAft>
              <a:buSzPts val="1400"/>
              <a:buFont typeface="Calibri"/>
              <a:buAutoNum type="arabicPeriod"/>
            </a:pPr>
            <a:r>
              <a:rPr lang="en-US"/>
              <a:t>Consumers purchase auto insurance through 3 channels: sales agent, call center and online with sales agents accounting for most historical sales</a:t>
            </a:r>
            <a:endParaRPr/>
          </a:p>
          <a:p>
            <a:pPr indent="-342900" lvl="0" marL="342900" rtl="0" algn="l">
              <a:lnSpc>
                <a:spcPct val="100000"/>
              </a:lnSpc>
              <a:spcBef>
                <a:spcPts val="300"/>
              </a:spcBef>
              <a:spcAft>
                <a:spcPts val="0"/>
              </a:spcAft>
              <a:buSzPts val="1400"/>
              <a:buFont typeface="Calibri"/>
              <a:buAutoNum type="arabicPeriod"/>
            </a:pPr>
            <a:r>
              <a:rPr lang="en-US"/>
              <a:t>Competitors have a much higher growth rate than us, but no particular figure is available</a:t>
            </a:r>
            <a:endParaRPr/>
          </a:p>
          <a:p>
            <a:pPr indent="-342900" lvl="0" marL="342900" rtl="0" algn="l">
              <a:lnSpc>
                <a:spcPct val="100000"/>
              </a:lnSpc>
              <a:spcBef>
                <a:spcPts val="300"/>
              </a:spcBef>
              <a:spcAft>
                <a:spcPts val="0"/>
              </a:spcAft>
              <a:buSzPts val="1400"/>
              <a:buFont typeface="Calibri"/>
              <a:buAutoNum type="arabicPeriod"/>
            </a:pPr>
            <a:r>
              <a:rPr lang="en-US"/>
              <a:t>Merger or acquisition is not an option due to tight cash flow and large cost to conduct M&amp;A</a:t>
            </a:r>
            <a:endParaRPr/>
          </a:p>
          <a:p>
            <a:pPr indent="0" lvl="0" marL="0" rtl="0" algn="l">
              <a:lnSpc>
                <a:spcPct val="100000"/>
              </a:lnSpc>
              <a:spcBef>
                <a:spcPts val="300"/>
              </a:spcBef>
              <a:spcAft>
                <a:spcPts val="0"/>
              </a:spcAft>
              <a:buSzPts val="1400"/>
              <a:buFont typeface="Calibri"/>
              <a:buNone/>
            </a:pPr>
            <a:r>
              <a:t/>
            </a:r>
            <a:endParaRPr/>
          </a:p>
        </p:txBody>
      </p:sp>
      <p:sp>
        <p:nvSpPr>
          <p:cNvPr id="485" name="Google Shape;485;p21"/>
          <p:cNvSpPr txBox="1"/>
          <p:nvPr>
            <p:ph idx="2" type="body"/>
          </p:nvPr>
        </p:nvSpPr>
        <p:spPr>
          <a:xfrm>
            <a:off x="368302" y="1311435"/>
            <a:ext cx="4107445" cy="2367609"/>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68587" lvl="0" marL="68587" rtl="0" algn="l">
              <a:lnSpc>
                <a:spcPct val="100000"/>
              </a:lnSpc>
              <a:spcBef>
                <a:spcPts val="0"/>
              </a:spcBef>
              <a:spcAft>
                <a:spcPts val="0"/>
              </a:spcAft>
              <a:buSzPts val="1400"/>
              <a:buFont typeface="Calibri"/>
              <a:buAutoNum type="arabicPeriod"/>
            </a:pPr>
            <a:r>
              <a:rPr lang="en-US"/>
              <a:t>BCG is brought in to work on the revenue growth problem and profitability is not in the scope</a:t>
            </a:r>
            <a:endParaRPr/>
          </a:p>
          <a:p>
            <a:pPr indent="-68587" lvl="0" marL="68587" rtl="0" algn="l">
              <a:lnSpc>
                <a:spcPct val="100000"/>
              </a:lnSpc>
              <a:spcBef>
                <a:spcPts val="300"/>
              </a:spcBef>
              <a:spcAft>
                <a:spcPts val="0"/>
              </a:spcAft>
              <a:buSzPts val="1400"/>
              <a:buFont typeface="Calibri"/>
              <a:buAutoNum type="arabicPeriod"/>
            </a:pPr>
            <a:r>
              <a:rPr lang="en-US"/>
              <a:t>Revenue growth rate from new customers (3x market growth rate) is the only goal pursued by our client </a:t>
            </a:r>
            <a:endParaRPr/>
          </a:p>
          <a:p>
            <a:pPr indent="-68587" lvl="0" marL="68587" rtl="0" algn="l">
              <a:lnSpc>
                <a:spcPct val="100000"/>
              </a:lnSpc>
              <a:spcBef>
                <a:spcPts val="300"/>
              </a:spcBef>
              <a:spcAft>
                <a:spcPts val="0"/>
              </a:spcAft>
              <a:buSzPts val="1400"/>
              <a:buFont typeface="Calibri"/>
              <a:buAutoNum type="arabicPeriod"/>
            </a:pPr>
            <a:r>
              <a:rPr lang="en-US"/>
              <a:t>Candidate needs to answer the first question on feasibility and then look into how it can be achieved</a:t>
            </a:r>
            <a:endParaRPr/>
          </a:p>
          <a:p>
            <a:pPr indent="0" lvl="0" marL="0" rtl="0" algn="l">
              <a:lnSpc>
                <a:spcPct val="100000"/>
              </a:lnSpc>
              <a:spcBef>
                <a:spcPts val="300"/>
              </a:spcBef>
              <a:spcAft>
                <a:spcPts val="0"/>
              </a:spcAft>
              <a:buSzPts val="1400"/>
              <a:buFont typeface="Calibri"/>
              <a:buNone/>
            </a:pPr>
            <a:r>
              <a:t/>
            </a:r>
            <a:endParaRPr/>
          </a:p>
          <a:p>
            <a:pPr indent="0" lvl="0" marL="0" rtl="0" algn="l">
              <a:lnSpc>
                <a:spcPct val="100000"/>
              </a:lnSpc>
              <a:spcBef>
                <a:spcPts val="300"/>
              </a:spcBef>
              <a:spcAft>
                <a:spcPts val="0"/>
              </a:spcAft>
              <a:buSzPts val="1400"/>
              <a:buFont typeface="Calibri"/>
              <a:buNone/>
            </a:pPr>
            <a:r>
              <a:t/>
            </a:r>
            <a:endParaRPr/>
          </a:p>
          <a:p>
            <a:pPr indent="0" lvl="0" marL="0" rtl="0" algn="l">
              <a:lnSpc>
                <a:spcPct val="100000"/>
              </a:lnSpc>
              <a:spcBef>
                <a:spcPts val="300"/>
              </a:spcBef>
              <a:spcAft>
                <a:spcPts val="0"/>
              </a:spcAft>
              <a:buSzPts val="1400"/>
              <a:buFont typeface="Calibri"/>
              <a:buNone/>
            </a:pPr>
            <a:r>
              <a:t/>
            </a:r>
            <a:endParaRPr/>
          </a:p>
        </p:txBody>
      </p:sp>
      <p:sp>
        <p:nvSpPr>
          <p:cNvPr id="486" name="Google Shape;486;p21"/>
          <p:cNvSpPr txBox="1"/>
          <p:nvPr>
            <p:ph idx="3" type="body"/>
          </p:nvPr>
        </p:nvSpPr>
        <p:spPr>
          <a:xfrm>
            <a:off x="4596063" y="1311435"/>
            <a:ext cx="4110955" cy="2367608"/>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Font typeface="Calibri"/>
              <a:buNone/>
            </a:pPr>
            <a:r>
              <a:rPr lang="en-US"/>
              <a:t>In the auto insurance business, a customer’s insurance contract is renewed every year. A new customer is one who did not buy insurance from us during the year prior. </a:t>
            </a:r>
            <a:endParaRPr/>
          </a:p>
          <a:p>
            <a:pPr indent="0" lvl="0" marL="0" rtl="0" algn="l">
              <a:lnSpc>
                <a:spcPct val="100000"/>
              </a:lnSpc>
              <a:spcBef>
                <a:spcPts val="300"/>
              </a:spcBef>
              <a:spcAft>
                <a:spcPts val="0"/>
              </a:spcAft>
              <a:buSzPts val="1400"/>
              <a:buFont typeface="Calibri"/>
              <a:buNone/>
            </a:pPr>
            <a:r>
              <a:t/>
            </a:r>
            <a:endParaRPr/>
          </a:p>
        </p:txBody>
      </p:sp>
      <p:sp>
        <p:nvSpPr>
          <p:cNvPr id="487" name="Google Shape;487;p21"/>
          <p:cNvSpPr txBox="1"/>
          <p:nvPr>
            <p:ph idx="4" type="body"/>
          </p:nvPr>
        </p:nvSpPr>
        <p:spPr>
          <a:xfrm>
            <a:off x="442331" y="1022684"/>
            <a:ext cx="4010077"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Clarifying Information</a:t>
            </a:r>
            <a:endParaRPr/>
          </a:p>
        </p:txBody>
      </p:sp>
      <p:sp>
        <p:nvSpPr>
          <p:cNvPr id="488" name="Google Shape;488;p21"/>
          <p:cNvSpPr txBox="1"/>
          <p:nvPr>
            <p:ph idx="5" type="body"/>
          </p:nvPr>
        </p:nvSpPr>
        <p:spPr>
          <a:xfrm>
            <a:off x="4680284" y="1022684"/>
            <a:ext cx="4010077"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New customer definition</a:t>
            </a:r>
            <a:endParaRPr/>
          </a:p>
        </p:txBody>
      </p:sp>
      <p:sp>
        <p:nvSpPr>
          <p:cNvPr id="489" name="Google Shape;489;p21"/>
          <p:cNvSpPr txBox="1"/>
          <p:nvPr>
            <p:ph idx="6" type="body"/>
          </p:nvPr>
        </p:nvSpPr>
        <p:spPr>
          <a:xfrm>
            <a:off x="465670" y="3840462"/>
            <a:ext cx="8224691"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Additional Information to Provide upon request</a:t>
            </a:r>
            <a:endParaRPr/>
          </a:p>
        </p:txBody>
      </p:sp>
      <p:sp>
        <p:nvSpPr>
          <p:cNvPr id="490" name="Google Shape;490;p21"/>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22"/>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Auto Insurance Business Growth – Exhibit 1</a:t>
            </a:r>
            <a:endParaRPr/>
          </a:p>
        </p:txBody>
      </p:sp>
      <p:graphicFrame>
        <p:nvGraphicFramePr>
          <p:cNvPr id="496" name="Google Shape;496;p22"/>
          <p:cNvGraphicFramePr/>
          <p:nvPr/>
        </p:nvGraphicFramePr>
        <p:xfrm>
          <a:off x="381000" y="1282700"/>
          <a:ext cx="3000000" cy="3000000"/>
        </p:xfrm>
        <a:graphic>
          <a:graphicData uri="http://schemas.openxmlformats.org/drawingml/2006/table">
            <a:tbl>
              <a:tblPr bandRow="1" firstRow="1">
                <a:noFill/>
                <a:tableStyleId>{23C487A9-7F27-4D08-810F-A9A5B3B8D150}</a:tableStyleId>
              </a:tblPr>
              <a:tblGrid>
                <a:gridCol w="2780775"/>
                <a:gridCol w="2780775"/>
                <a:gridCol w="2780775"/>
              </a:tblGrid>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dk2"/>
                          </a:solidFill>
                        </a:rPr>
                        <a:t>Channel</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dk2"/>
                          </a:solidFill>
                        </a:rPr>
                        <a:t>Market Size Now</a:t>
                      </a:r>
                      <a:endParaRPr sz="1800" u="none" cap="none" strike="noStrike">
                        <a:solidFill>
                          <a:schemeClr val="dk2"/>
                        </a:solidFill>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dk2"/>
                          </a:solidFill>
                        </a:rPr>
                        <a:t>Market Size in 5 years</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Agent</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8 billion</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7 billion</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Call Center</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7 billion</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7 billion</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Online</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5 billion</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10 billion</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Total</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20 billion</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24 billion</a:t>
                      </a:r>
                      <a:endParaRPr sz="1400" u="none" cap="none" strike="noStrike"/>
                    </a:p>
                  </a:txBody>
                  <a:tcPr marT="45725" marB="45725" marR="91450" marL="91450"/>
                </a:tc>
              </a:tr>
            </a:tbl>
          </a:graphicData>
        </a:graphic>
      </p:graphicFrame>
      <p:sp>
        <p:nvSpPr>
          <p:cNvPr id="497" name="Google Shape;497;p22"/>
          <p:cNvSpPr txBox="1"/>
          <p:nvPr>
            <p:ph idx="2" type="body"/>
          </p:nvPr>
        </p:nvSpPr>
        <p:spPr>
          <a:xfrm>
            <a:off x="503321" y="1022905"/>
            <a:ext cx="8126332"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Market Growth by Channel</a:t>
            </a:r>
            <a:endParaRPr/>
          </a:p>
        </p:txBody>
      </p:sp>
      <p:sp>
        <p:nvSpPr>
          <p:cNvPr id="498" name="Google Shape;498;p22"/>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23"/>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Auto Insurance Business Growth</a:t>
            </a:r>
            <a:br>
              <a:rPr lang="en-US"/>
            </a:br>
            <a:endParaRPr/>
          </a:p>
        </p:txBody>
      </p:sp>
      <p:sp>
        <p:nvSpPr>
          <p:cNvPr id="504" name="Google Shape;504;p23"/>
          <p:cNvSpPr txBox="1"/>
          <p:nvPr>
            <p:ph idx="1" type="body"/>
          </p:nvPr>
        </p:nvSpPr>
        <p:spPr>
          <a:xfrm>
            <a:off x="381001" y="1283365"/>
            <a:ext cx="8341656" cy="4985087"/>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Font typeface="Calibri"/>
              <a:buNone/>
            </a:pPr>
            <a:r>
              <a:rPr b="1" lang="en-US"/>
              <a:t>Guidance: To evaluate the feasibility of obtaining premium revenue growth at 3X market growth rate, candidate needs to look into the overall market growth and understand the take-up % needed to achieve that. An excellent candidate will look into this path. Otherwise guide candidate to this path</a:t>
            </a:r>
            <a:endParaRPr/>
          </a:p>
          <a:p>
            <a:pPr indent="0" lvl="0" marL="0" rtl="0" algn="l">
              <a:lnSpc>
                <a:spcPct val="100000"/>
              </a:lnSpc>
              <a:spcBef>
                <a:spcPts val="300"/>
              </a:spcBef>
              <a:spcAft>
                <a:spcPts val="0"/>
              </a:spcAft>
              <a:buSzPts val="1400"/>
              <a:buFont typeface="Calibri"/>
              <a:buNone/>
            </a:pPr>
            <a:r>
              <a:t/>
            </a:r>
            <a:endParaRPr b="1"/>
          </a:p>
          <a:p>
            <a:pPr indent="0" lvl="0" marL="0" rtl="0" algn="l">
              <a:lnSpc>
                <a:spcPct val="100000"/>
              </a:lnSpc>
              <a:spcBef>
                <a:spcPts val="300"/>
              </a:spcBef>
              <a:spcAft>
                <a:spcPts val="0"/>
              </a:spcAft>
              <a:buSzPts val="1400"/>
              <a:buFont typeface="Calibri"/>
              <a:buNone/>
            </a:pPr>
            <a:r>
              <a:rPr lang="en-US"/>
              <a:t>If we focus our growth efforts specifically on the online channel, while maintaining growth rates from sales agents and call centers, how much percent of the online market growth we need to capture? Is it feasible in your opinion?</a:t>
            </a:r>
            <a:endParaRPr/>
          </a:p>
          <a:p>
            <a:pPr indent="0" lvl="0" marL="0" rtl="0" algn="l">
              <a:lnSpc>
                <a:spcPct val="100000"/>
              </a:lnSpc>
              <a:spcBef>
                <a:spcPts val="300"/>
              </a:spcBef>
              <a:spcAft>
                <a:spcPts val="0"/>
              </a:spcAft>
              <a:buSzPts val="1400"/>
              <a:buFont typeface="Calibri"/>
              <a:buNone/>
            </a:pPr>
            <a:r>
              <a:t/>
            </a:r>
            <a:endParaRPr/>
          </a:p>
          <a:p>
            <a:pPr indent="0" lvl="0" marL="0" rtl="0" algn="l">
              <a:lnSpc>
                <a:spcPct val="100000"/>
              </a:lnSpc>
              <a:spcBef>
                <a:spcPts val="300"/>
              </a:spcBef>
              <a:spcAft>
                <a:spcPts val="0"/>
              </a:spcAft>
              <a:buSzPts val="1400"/>
              <a:buFont typeface="Calibri"/>
              <a:buNone/>
            </a:pPr>
            <a:r>
              <a:rPr lang="en-US"/>
              <a:t>Current Revenue: $500M</a:t>
            </a:r>
            <a:endParaRPr/>
          </a:p>
          <a:p>
            <a:pPr indent="0" lvl="0" marL="0" rtl="0" algn="l">
              <a:lnSpc>
                <a:spcPct val="100000"/>
              </a:lnSpc>
              <a:spcBef>
                <a:spcPts val="300"/>
              </a:spcBef>
              <a:spcAft>
                <a:spcPts val="0"/>
              </a:spcAft>
              <a:buSzPts val="1400"/>
              <a:buFont typeface="Calibri"/>
              <a:buNone/>
            </a:pPr>
            <a:r>
              <a:rPr lang="en-US"/>
              <a:t>Market Growth: 20%, Target Growth: 20% *3 = 60%</a:t>
            </a:r>
            <a:endParaRPr/>
          </a:p>
          <a:p>
            <a:pPr indent="0" lvl="0" marL="0" rtl="0" algn="l">
              <a:lnSpc>
                <a:spcPct val="100000"/>
              </a:lnSpc>
              <a:spcBef>
                <a:spcPts val="300"/>
              </a:spcBef>
              <a:spcAft>
                <a:spcPts val="0"/>
              </a:spcAft>
              <a:buSzPts val="1400"/>
              <a:buFont typeface="Calibri"/>
              <a:buNone/>
            </a:pPr>
            <a:r>
              <a:rPr lang="en-US"/>
              <a:t>Absolute Growth Value:  $500M * 60% = $300M</a:t>
            </a:r>
            <a:endParaRPr/>
          </a:p>
          <a:p>
            <a:pPr indent="0" lvl="0" marL="0" rtl="0" algn="l">
              <a:lnSpc>
                <a:spcPct val="100000"/>
              </a:lnSpc>
              <a:spcBef>
                <a:spcPts val="300"/>
              </a:spcBef>
              <a:spcAft>
                <a:spcPts val="0"/>
              </a:spcAft>
              <a:buSzPts val="1400"/>
              <a:buFont typeface="Calibri"/>
              <a:buNone/>
            </a:pPr>
            <a:r>
              <a:t/>
            </a:r>
            <a:endParaRPr/>
          </a:p>
          <a:p>
            <a:pPr indent="0" lvl="0" marL="0" rtl="0" algn="l">
              <a:lnSpc>
                <a:spcPct val="100000"/>
              </a:lnSpc>
              <a:spcBef>
                <a:spcPts val="300"/>
              </a:spcBef>
              <a:spcAft>
                <a:spcPts val="0"/>
              </a:spcAft>
              <a:buSzPts val="1400"/>
              <a:buFont typeface="Calibri"/>
              <a:buNone/>
            </a:pPr>
            <a:r>
              <a:rPr lang="en-US"/>
              <a:t>Online Chanel Growth: $10B – $5B = $5B</a:t>
            </a:r>
            <a:endParaRPr/>
          </a:p>
          <a:p>
            <a:pPr indent="0" lvl="0" marL="0" rtl="0" algn="l">
              <a:lnSpc>
                <a:spcPct val="100000"/>
              </a:lnSpc>
              <a:spcBef>
                <a:spcPts val="300"/>
              </a:spcBef>
              <a:spcAft>
                <a:spcPts val="0"/>
              </a:spcAft>
              <a:buSzPts val="1400"/>
              <a:buFont typeface="Calibri"/>
              <a:buNone/>
            </a:pPr>
            <a:r>
              <a:t/>
            </a:r>
            <a:endParaRPr/>
          </a:p>
          <a:p>
            <a:pPr indent="0" lvl="0" marL="0" rtl="0" algn="l">
              <a:lnSpc>
                <a:spcPct val="100000"/>
              </a:lnSpc>
              <a:spcBef>
                <a:spcPts val="300"/>
              </a:spcBef>
              <a:spcAft>
                <a:spcPts val="0"/>
              </a:spcAft>
              <a:buSzPts val="1400"/>
              <a:buFont typeface="Calibri"/>
              <a:buNone/>
            </a:pPr>
            <a:r>
              <a:rPr lang="en-US"/>
              <a:t>Market growth portion to be captured: $300M / $5B = 6%</a:t>
            </a:r>
            <a:endParaRPr/>
          </a:p>
          <a:p>
            <a:pPr indent="0" lvl="0" marL="0" rtl="0" algn="l">
              <a:lnSpc>
                <a:spcPct val="100000"/>
              </a:lnSpc>
              <a:spcBef>
                <a:spcPts val="300"/>
              </a:spcBef>
              <a:spcAft>
                <a:spcPts val="0"/>
              </a:spcAft>
              <a:buSzPts val="1400"/>
              <a:buFont typeface="Calibri"/>
              <a:buNone/>
            </a:pPr>
            <a:r>
              <a:t/>
            </a:r>
            <a:endParaRPr/>
          </a:p>
          <a:p>
            <a:pPr indent="0" lvl="0" marL="0" rtl="0" algn="l">
              <a:lnSpc>
                <a:spcPct val="100000"/>
              </a:lnSpc>
              <a:spcBef>
                <a:spcPts val="300"/>
              </a:spcBef>
              <a:spcAft>
                <a:spcPts val="0"/>
              </a:spcAft>
              <a:buSzPts val="1400"/>
              <a:buFont typeface="Calibri"/>
              <a:buNone/>
            </a:pPr>
            <a:r>
              <a:rPr lang="en-US"/>
              <a:t>6% is a relatively small portion of overall market growth, thus it is feasible</a:t>
            </a:r>
            <a:endParaRPr/>
          </a:p>
          <a:p>
            <a:pPr indent="0" lvl="0" marL="0" rtl="0" algn="l">
              <a:lnSpc>
                <a:spcPct val="100000"/>
              </a:lnSpc>
              <a:spcBef>
                <a:spcPts val="300"/>
              </a:spcBef>
              <a:spcAft>
                <a:spcPts val="0"/>
              </a:spcAft>
              <a:buSzPts val="1400"/>
              <a:buFont typeface="Calibri"/>
              <a:buNone/>
            </a:pPr>
            <a:r>
              <a:t/>
            </a:r>
            <a:endParaRPr/>
          </a:p>
          <a:p>
            <a:pPr indent="0" lvl="0" marL="0" rtl="0" algn="l">
              <a:lnSpc>
                <a:spcPct val="100000"/>
              </a:lnSpc>
              <a:spcBef>
                <a:spcPts val="300"/>
              </a:spcBef>
              <a:spcAft>
                <a:spcPts val="0"/>
              </a:spcAft>
              <a:buSzPts val="1400"/>
              <a:buFont typeface="Calibri"/>
              <a:buNone/>
            </a:pPr>
            <a:r>
              <a:rPr lang="en-US"/>
              <a:t>Good Insight: There is likely low fragmentation in a highly consolidated insurance industry (general characteristics), thus capturing 6% of market growth is very feasible</a:t>
            </a:r>
            <a:endParaRPr/>
          </a:p>
          <a:p>
            <a:pPr indent="0" lvl="0" marL="0" rtl="0" algn="l">
              <a:lnSpc>
                <a:spcPct val="100000"/>
              </a:lnSpc>
              <a:spcBef>
                <a:spcPts val="300"/>
              </a:spcBef>
              <a:spcAft>
                <a:spcPts val="0"/>
              </a:spcAft>
              <a:buSzPts val="1400"/>
              <a:buFont typeface="Calibri"/>
              <a:buNone/>
            </a:pPr>
            <a:r>
              <a:t/>
            </a:r>
            <a:endParaRPr/>
          </a:p>
        </p:txBody>
      </p:sp>
      <p:sp>
        <p:nvSpPr>
          <p:cNvPr id="505" name="Google Shape;505;p23"/>
          <p:cNvSpPr txBox="1"/>
          <p:nvPr>
            <p:ph idx="2" type="body"/>
          </p:nvPr>
        </p:nvSpPr>
        <p:spPr>
          <a:xfrm>
            <a:off x="503321" y="1022905"/>
            <a:ext cx="8126332"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Sample Calculations</a:t>
            </a:r>
            <a:endParaRPr/>
          </a:p>
        </p:txBody>
      </p:sp>
      <p:sp>
        <p:nvSpPr>
          <p:cNvPr id="506" name="Google Shape;506;p23"/>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24"/>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Auto Insurance Business Growth</a:t>
            </a:r>
            <a:endParaRPr/>
          </a:p>
        </p:txBody>
      </p:sp>
      <p:sp>
        <p:nvSpPr>
          <p:cNvPr id="512" name="Google Shape;512;p24"/>
          <p:cNvSpPr txBox="1"/>
          <p:nvPr>
            <p:ph idx="1" type="body"/>
          </p:nvPr>
        </p:nvSpPr>
        <p:spPr>
          <a:xfrm>
            <a:off x="381001" y="1283365"/>
            <a:ext cx="8341656" cy="4985087"/>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Font typeface="Calibri"/>
              <a:buNone/>
            </a:pPr>
            <a:r>
              <a:rPr b="1" lang="en-US"/>
              <a:t>Guidance: After determining the growth target is feasible, the candidate should look into the 2</a:t>
            </a:r>
            <a:r>
              <a:rPr b="1" baseline="30000" lang="en-US"/>
              <a:t>nd</a:t>
            </a:r>
            <a:r>
              <a:rPr b="1" lang="en-US"/>
              <a:t> question on how to achieve it. Benchmarking against competition is the way to find out that client's online channel is lagging behind. Excellent candidate can drive to ask the competition benchmark. Otherwise guide candidate to this path</a:t>
            </a:r>
            <a:endParaRPr/>
          </a:p>
          <a:p>
            <a:pPr indent="0" lvl="0" marL="0" rtl="0" algn="l">
              <a:lnSpc>
                <a:spcPct val="100000"/>
              </a:lnSpc>
              <a:spcBef>
                <a:spcPts val="300"/>
              </a:spcBef>
              <a:spcAft>
                <a:spcPts val="0"/>
              </a:spcAft>
              <a:buSzPts val="1400"/>
              <a:buFont typeface="Calibri"/>
              <a:buNone/>
            </a:pPr>
            <a:r>
              <a:t/>
            </a:r>
            <a:endParaRPr b="1"/>
          </a:p>
          <a:p>
            <a:pPr indent="0" lvl="0" marL="0" rtl="0" algn="l">
              <a:lnSpc>
                <a:spcPct val="100000"/>
              </a:lnSpc>
              <a:spcBef>
                <a:spcPts val="300"/>
              </a:spcBef>
              <a:spcAft>
                <a:spcPts val="0"/>
              </a:spcAft>
              <a:buSzPts val="1400"/>
              <a:buFont typeface="Calibri"/>
              <a:buNone/>
            </a:pPr>
            <a:r>
              <a:rPr lang="en-US"/>
              <a:t>Currently, our online channel revenue growth is far behind our competitor, what do you think can be the reason?</a:t>
            </a:r>
            <a:endParaRPr/>
          </a:p>
          <a:p>
            <a:pPr indent="0" lvl="0" marL="0" rtl="0" algn="l">
              <a:lnSpc>
                <a:spcPct val="100000"/>
              </a:lnSpc>
              <a:spcBef>
                <a:spcPts val="300"/>
              </a:spcBef>
              <a:spcAft>
                <a:spcPts val="0"/>
              </a:spcAft>
              <a:buSzPts val="1400"/>
              <a:buFont typeface="Calibri"/>
              <a:buNone/>
            </a:pPr>
            <a:r>
              <a:t/>
            </a:r>
            <a:endParaRPr/>
          </a:p>
          <a:p>
            <a:pPr indent="-342900" lvl="0" marL="342900" rtl="0" algn="l">
              <a:lnSpc>
                <a:spcPct val="100000"/>
              </a:lnSpc>
              <a:spcBef>
                <a:spcPts val="300"/>
              </a:spcBef>
              <a:spcAft>
                <a:spcPts val="0"/>
              </a:spcAft>
              <a:buSzPts val="1400"/>
              <a:buFont typeface="Calibri"/>
              <a:buAutoNum type="arabicPeriod"/>
            </a:pPr>
            <a:r>
              <a:rPr lang="en-US"/>
              <a:t>Lacking talent to work on online product for great user acquisition</a:t>
            </a:r>
            <a:endParaRPr/>
          </a:p>
          <a:p>
            <a:pPr indent="-342900" lvl="0" marL="342900" rtl="0" algn="l">
              <a:lnSpc>
                <a:spcPct val="100000"/>
              </a:lnSpc>
              <a:spcBef>
                <a:spcPts val="300"/>
              </a:spcBef>
              <a:spcAft>
                <a:spcPts val="0"/>
              </a:spcAft>
              <a:buSzPts val="1400"/>
              <a:buFont typeface="Calibri"/>
              <a:buAutoNum type="arabicPeriod"/>
            </a:pPr>
            <a:r>
              <a:rPr lang="en-US"/>
              <a:t>Lacking capability of digital marketing to bring more traffic and better customer conversion</a:t>
            </a:r>
            <a:endParaRPr/>
          </a:p>
          <a:p>
            <a:pPr indent="-342900" lvl="0" marL="342900" rtl="0" algn="l">
              <a:lnSpc>
                <a:spcPct val="100000"/>
              </a:lnSpc>
              <a:spcBef>
                <a:spcPts val="300"/>
              </a:spcBef>
              <a:spcAft>
                <a:spcPts val="0"/>
              </a:spcAft>
              <a:buSzPts val="1400"/>
              <a:buFont typeface="Calibri"/>
              <a:buAutoNum type="arabicPeriod"/>
            </a:pPr>
            <a:r>
              <a:rPr lang="en-US"/>
              <a:t>Price disadvantage to attract customers</a:t>
            </a:r>
            <a:endParaRPr/>
          </a:p>
          <a:p>
            <a:pPr indent="-342900" lvl="0" marL="342900" rtl="0" algn="l">
              <a:lnSpc>
                <a:spcPct val="100000"/>
              </a:lnSpc>
              <a:spcBef>
                <a:spcPts val="300"/>
              </a:spcBef>
              <a:spcAft>
                <a:spcPts val="0"/>
              </a:spcAft>
              <a:buSzPts val="1400"/>
              <a:buFont typeface="Calibri"/>
              <a:buAutoNum type="arabicPeriod"/>
            </a:pPr>
            <a:r>
              <a:rPr b="1" lang="en-US"/>
              <a:t>Misalignment of goals and incentives to promote online channel growth from structure dominated by sales agents.</a:t>
            </a:r>
            <a:endParaRPr/>
          </a:p>
          <a:p>
            <a:pPr indent="-342900" lvl="1" marL="617213" rtl="0" algn="l">
              <a:lnSpc>
                <a:spcPct val="100000"/>
              </a:lnSpc>
              <a:spcBef>
                <a:spcPts val="300"/>
              </a:spcBef>
              <a:spcAft>
                <a:spcPts val="0"/>
              </a:spcAft>
              <a:buSzPts val="1400"/>
              <a:buAutoNum type="arabicPeriod"/>
            </a:pPr>
            <a:r>
              <a:rPr b="1" lang="en-US"/>
              <a:t>Ex: Proper incentives could promote “hybrid model” where sales agents support the online interface</a:t>
            </a:r>
            <a:endParaRPr/>
          </a:p>
          <a:p>
            <a:pPr indent="0" lvl="0" marL="0" rtl="0" algn="l">
              <a:lnSpc>
                <a:spcPct val="100000"/>
              </a:lnSpc>
              <a:spcBef>
                <a:spcPts val="300"/>
              </a:spcBef>
              <a:spcAft>
                <a:spcPts val="0"/>
              </a:spcAft>
              <a:buSzPts val="1400"/>
              <a:buFont typeface="Calibri"/>
              <a:buNone/>
            </a:pPr>
            <a:r>
              <a:t/>
            </a:r>
            <a:endParaRPr b="1"/>
          </a:p>
          <a:p>
            <a:pPr indent="0" lvl="0" marL="0" rtl="0" algn="l">
              <a:lnSpc>
                <a:spcPct val="100000"/>
              </a:lnSpc>
              <a:spcBef>
                <a:spcPts val="300"/>
              </a:spcBef>
              <a:spcAft>
                <a:spcPts val="0"/>
              </a:spcAft>
              <a:buSzPts val="1400"/>
              <a:buFont typeface="Calibri"/>
              <a:buNone/>
            </a:pPr>
            <a:r>
              <a:rPr b="1" lang="en-US"/>
              <a:t>Note: Drive candidate to discover point 4, which will differentiate an excellent candidate from good candidate</a:t>
            </a:r>
            <a:endParaRPr b="1"/>
          </a:p>
          <a:p>
            <a:pPr indent="0" lvl="0" marL="0" rtl="0" algn="l">
              <a:lnSpc>
                <a:spcPct val="100000"/>
              </a:lnSpc>
              <a:spcBef>
                <a:spcPts val="300"/>
              </a:spcBef>
              <a:spcAft>
                <a:spcPts val="0"/>
              </a:spcAft>
              <a:buSzPts val="1400"/>
              <a:buFont typeface="Calibri"/>
              <a:buNone/>
            </a:pPr>
            <a:r>
              <a:t/>
            </a:r>
            <a:endParaRPr/>
          </a:p>
        </p:txBody>
      </p:sp>
      <p:sp>
        <p:nvSpPr>
          <p:cNvPr id="513" name="Google Shape;513;p24"/>
          <p:cNvSpPr txBox="1"/>
          <p:nvPr>
            <p:ph idx="2" type="body"/>
          </p:nvPr>
        </p:nvSpPr>
        <p:spPr>
          <a:xfrm>
            <a:off x="503321" y="1022905"/>
            <a:ext cx="8126332"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Key to achieve the ambitious growth rate – Brainstorm &amp; Potential Answer</a:t>
            </a:r>
            <a:endParaRPr/>
          </a:p>
        </p:txBody>
      </p:sp>
      <p:sp>
        <p:nvSpPr>
          <p:cNvPr id="514" name="Google Shape;514;p24"/>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25"/>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Auto Insurance Business Growth</a:t>
            </a:r>
            <a:endParaRPr/>
          </a:p>
        </p:txBody>
      </p:sp>
      <p:sp>
        <p:nvSpPr>
          <p:cNvPr id="520" name="Google Shape;520;p25"/>
          <p:cNvSpPr txBox="1"/>
          <p:nvPr>
            <p:ph idx="1" type="body"/>
          </p:nvPr>
        </p:nvSpPr>
        <p:spPr>
          <a:xfrm>
            <a:off x="379884" y="1353373"/>
            <a:ext cx="2687781" cy="4924496"/>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Font typeface="Calibri"/>
              <a:buNone/>
            </a:pPr>
            <a:r>
              <a:rPr b="1" lang="en-US"/>
              <a:t>Yes, we can achieve 60% growth given</a:t>
            </a:r>
            <a:endParaRPr b="1"/>
          </a:p>
          <a:p>
            <a:pPr indent="0" lvl="0" marL="0" rtl="0" algn="l">
              <a:lnSpc>
                <a:spcPct val="100000"/>
              </a:lnSpc>
              <a:spcBef>
                <a:spcPts val="300"/>
              </a:spcBef>
              <a:spcAft>
                <a:spcPts val="0"/>
              </a:spcAft>
              <a:buSzPts val="1400"/>
              <a:buFont typeface="Calibri"/>
              <a:buNone/>
            </a:pPr>
            <a:r>
              <a:rPr lang="en-US"/>
              <a:t>1. Fast growth of online channel</a:t>
            </a:r>
            <a:endParaRPr/>
          </a:p>
          <a:p>
            <a:pPr indent="0" lvl="0" marL="0" rtl="0" algn="l">
              <a:lnSpc>
                <a:spcPct val="100000"/>
              </a:lnSpc>
              <a:spcBef>
                <a:spcPts val="300"/>
              </a:spcBef>
              <a:spcAft>
                <a:spcPts val="0"/>
              </a:spcAft>
              <a:buSzPts val="1400"/>
              <a:buFont typeface="Calibri"/>
              <a:buNone/>
            </a:pPr>
            <a:r>
              <a:rPr lang="en-US"/>
              <a:t>2. We only need to capture 6% of the online channel market</a:t>
            </a:r>
            <a:endParaRPr/>
          </a:p>
          <a:p>
            <a:pPr indent="0" lvl="0" marL="0" rtl="0" algn="l">
              <a:lnSpc>
                <a:spcPct val="100000"/>
              </a:lnSpc>
              <a:spcBef>
                <a:spcPts val="300"/>
              </a:spcBef>
              <a:spcAft>
                <a:spcPts val="0"/>
              </a:spcAft>
              <a:buSzPts val="1400"/>
              <a:buFont typeface="Calibri"/>
              <a:buNone/>
            </a:pPr>
            <a:r>
              <a:t/>
            </a:r>
            <a:endParaRPr/>
          </a:p>
        </p:txBody>
      </p:sp>
      <p:sp>
        <p:nvSpPr>
          <p:cNvPr id="521" name="Google Shape;521;p25"/>
          <p:cNvSpPr txBox="1"/>
          <p:nvPr>
            <p:ph idx="2" type="body"/>
          </p:nvPr>
        </p:nvSpPr>
        <p:spPr>
          <a:xfrm>
            <a:off x="3208531" y="1353374"/>
            <a:ext cx="2690077" cy="4924494"/>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Font typeface="Calibri"/>
              <a:buNone/>
            </a:pPr>
            <a:r>
              <a:rPr b="1" lang="en-US"/>
              <a:t>We can achieve this target by</a:t>
            </a:r>
            <a:endParaRPr b="1"/>
          </a:p>
          <a:p>
            <a:pPr indent="0" lvl="0" marL="0" rtl="0" algn="l">
              <a:lnSpc>
                <a:spcPct val="100000"/>
              </a:lnSpc>
              <a:spcBef>
                <a:spcPts val="300"/>
              </a:spcBef>
              <a:spcAft>
                <a:spcPts val="0"/>
              </a:spcAft>
              <a:buSzPts val="1400"/>
              <a:buFont typeface="Calibri"/>
              <a:buNone/>
            </a:pPr>
            <a:r>
              <a:rPr lang="en-US"/>
              <a:t>1. Re-design organization structure to allow more resource allocation to online channel</a:t>
            </a:r>
            <a:endParaRPr/>
          </a:p>
          <a:p>
            <a:pPr indent="0" lvl="0" marL="0" rtl="0" algn="l">
              <a:lnSpc>
                <a:spcPct val="100000"/>
              </a:lnSpc>
              <a:spcBef>
                <a:spcPts val="300"/>
              </a:spcBef>
              <a:spcAft>
                <a:spcPts val="0"/>
              </a:spcAft>
              <a:buSzPts val="1400"/>
              <a:buFont typeface="Calibri"/>
              <a:buNone/>
            </a:pPr>
            <a:r>
              <a:rPr lang="en-US"/>
              <a:t>2. Improve online channel user experience</a:t>
            </a:r>
            <a:endParaRPr/>
          </a:p>
          <a:p>
            <a:pPr indent="0" lvl="0" marL="0" rtl="0" algn="l">
              <a:lnSpc>
                <a:spcPct val="100000"/>
              </a:lnSpc>
              <a:spcBef>
                <a:spcPts val="300"/>
              </a:spcBef>
              <a:spcAft>
                <a:spcPts val="0"/>
              </a:spcAft>
              <a:buSzPts val="1400"/>
              <a:buFont typeface="Calibri"/>
              <a:buNone/>
            </a:pPr>
            <a:r>
              <a:rPr lang="en-US"/>
              <a:t>3. Improve digital marketing to draw traffic to online channel</a:t>
            </a:r>
            <a:endParaRPr/>
          </a:p>
          <a:p>
            <a:pPr indent="0" lvl="0" marL="0" rtl="0" algn="l">
              <a:lnSpc>
                <a:spcPct val="100000"/>
              </a:lnSpc>
              <a:spcBef>
                <a:spcPts val="300"/>
              </a:spcBef>
              <a:spcAft>
                <a:spcPts val="0"/>
              </a:spcAft>
              <a:buSzPts val="1400"/>
              <a:buFont typeface="Calibri"/>
              <a:buNone/>
            </a:pPr>
            <a:r>
              <a:t/>
            </a:r>
            <a:endParaRPr/>
          </a:p>
        </p:txBody>
      </p:sp>
      <p:sp>
        <p:nvSpPr>
          <p:cNvPr id="522" name="Google Shape;522;p25"/>
          <p:cNvSpPr txBox="1"/>
          <p:nvPr>
            <p:ph idx="3" type="body"/>
          </p:nvPr>
        </p:nvSpPr>
        <p:spPr>
          <a:xfrm>
            <a:off x="6039474" y="1353374"/>
            <a:ext cx="2690077" cy="4924494"/>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Font typeface="Calibri"/>
              <a:buNone/>
            </a:pPr>
            <a:r>
              <a:rPr b="1" lang="en-US"/>
              <a:t>Risk:</a:t>
            </a:r>
            <a:endParaRPr b="1"/>
          </a:p>
          <a:p>
            <a:pPr indent="-342900" lvl="0" marL="342900" rtl="0" algn="l">
              <a:lnSpc>
                <a:spcPct val="100000"/>
              </a:lnSpc>
              <a:spcBef>
                <a:spcPts val="300"/>
              </a:spcBef>
              <a:spcAft>
                <a:spcPts val="0"/>
              </a:spcAft>
              <a:buSzPts val="1400"/>
              <a:buFont typeface="Calibri"/>
              <a:buAutoNum type="arabicPeriod"/>
            </a:pPr>
            <a:r>
              <a:rPr lang="en-US"/>
              <a:t>Organizational change is challenging</a:t>
            </a:r>
            <a:endParaRPr/>
          </a:p>
          <a:p>
            <a:pPr indent="0" lvl="0" marL="0" rtl="0" algn="l">
              <a:lnSpc>
                <a:spcPct val="100000"/>
              </a:lnSpc>
              <a:spcBef>
                <a:spcPts val="300"/>
              </a:spcBef>
              <a:spcAft>
                <a:spcPts val="0"/>
              </a:spcAft>
              <a:buSzPts val="1400"/>
              <a:buFont typeface="Calibri"/>
              <a:buNone/>
            </a:pPr>
            <a:r>
              <a:t/>
            </a:r>
            <a:endParaRPr/>
          </a:p>
          <a:p>
            <a:pPr indent="0" lvl="0" marL="0" rtl="0" algn="l">
              <a:lnSpc>
                <a:spcPct val="100000"/>
              </a:lnSpc>
              <a:spcBef>
                <a:spcPts val="300"/>
              </a:spcBef>
              <a:spcAft>
                <a:spcPts val="0"/>
              </a:spcAft>
              <a:buSzPts val="1400"/>
              <a:buFont typeface="Calibri"/>
              <a:buNone/>
            </a:pPr>
            <a:r>
              <a:rPr b="1" lang="en-US"/>
              <a:t>Follow-up: </a:t>
            </a:r>
            <a:endParaRPr/>
          </a:p>
          <a:p>
            <a:pPr indent="0" lvl="0" marL="0" rtl="0" algn="l">
              <a:lnSpc>
                <a:spcPct val="100000"/>
              </a:lnSpc>
              <a:spcBef>
                <a:spcPts val="300"/>
              </a:spcBef>
              <a:spcAft>
                <a:spcPts val="0"/>
              </a:spcAft>
              <a:buSzPts val="1400"/>
              <a:buFont typeface="Calibri"/>
              <a:buNone/>
            </a:pPr>
            <a:r>
              <a:rPr lang="en-US"/>
              <a:t>1. Explore options to resolve the organizational issue, e.g. spin out the business unit to run independently</a:t>
            </a:r>
            <a:endParaRPr/>
          </a:p>
          <a:p>
            <a:pPr indent="0" lvl="0" marL="0" rtl="0" algn="l">
              <a:lnSpc>
                <a:spcPct val="100000"/>
              </a:lnSpc>
              <a:spcBef>
                <a:spcPts val="300"/>
              </a:spcBef>
              <a:spcAft>
                <a:spcPts val="0"/>
              </a:spcAft>
              <a:buSzPts val="1400"/>
              <a:buFont typeface="Calibri"/>
              <a:buNone/>
            </a:pPr>
            <a:r>
              <a:rPr lang="en-US"/>
              <a:t>2. Change management performance matrix to allow more resource allocated to online channel</a:t>
            </a:r>
            <a:endParaRPr/>
          </a:p>
          <a:p>
            <a:pPr indent="0" lvl="0" marL="0" rtl="0" algn="l">
              <a:lnSpc>
                <a:spcPct val="100000"/>
              </a:lnSpc>
              <a:spcBef>
                <a:spcPts val="300"/>
              </a:spcBef>
              <a:spcAft>
                <a:spcPts val="0"/>
              </a:spcAft>
              <a:buSzPts val="1400"/>
              <a:buFont typeface="Calibri"/>
              <a:buNone/>
            </a:pPr>
            <a:r>
              <a:t/>
            </a:r>
            <a:endParaRPr/>
          </a:p>
        </p:txBody>
      </p:sp>
      <p:sp>
        <p:nvSpPr>
          <p:cNvPr id="523" name="Google Shape;523;p25"/>
          <p:cNvSpPr txBox="1"/>
          <p:nvPr>
            <p:ph idx="4" type="body"/>
          </p:nvPr>
        </p:nvSpPr>
        <p:spPr>
          <a:xfrm>
            <a:off x="503321" y="1075872"/>
            <a:ext cx="2549163"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Answer to feasibility</a:t>
            </a:r>
            <a:endParaRPr/>
          </a:p>
        </p:txBody>
      </p:sp>
      <p:sp>
        <p:nvSpPr>
          <p:cNvPr id="524" name="Google Shape;524;p25"/>
          <p:cNvSpPr txBox="1"/>
          <p:nvPr>
            <p:ph idx="5" type="body"/>
          </p:nvPr>
        </p:nvSpPr>
        <p:spPr>
          <a:xfrm>
            <a:off x="3319646" y="1075872"/>
            <a:ext cx="2549163"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Answer to how</a:t>
            </a:r>
            <a:endParaRPr/>
          </a:p>
        </p:txBody>
      </p:sp>
      <p:sp>
        <p:nvSpPr>
          <p:cNvPr id="525" name="Google Shape;525;p25"/>
          <p:cNvSpPr txBox="1"/>
          <p:nvPr>
            <p:ph idx="6" type="body"/>
          </p:nvPr>
        </p:nvSpPr>
        <p:spPr>
          <a:xfrm>
            <a:off x="6125605" y="1075872"/>
            <a:ext cx="2549163"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Risk and Follow-up</a:t>
            </a:r>
            <a:endParaRPr/>
          </a:p>
        </p:txBody>
      </p:sp>
      <p:sp>
        <p:nvSpPr>
          <p:cNvPr id="526" name="Google Shape;526;p25"/>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26"/>
          <p:cNvSpPr txBox="1"/>
          <p:nvPr>
            <p:ph idx="1" type="body"/>
          </p:nvPr>
        </p:nvSpPr>
        <p:spPr>
          <a:xfrm>
            <a:off x="381001" y="1283366"/>
            <a:ext cx="8341656" cy="2182282"/>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Font typeface="Calibri"/>
              <a:buNone/>
            </a:pPr>
            <a:r>
              <a:rPr lang="en-US"/>
              <a:t>Our client, an independent aircraft hangar, has found that revenues have been very unpredictable and they have not been able to meet their earnings targets. They have engaged your firm to understand why and to turn it around.</a:t>
            </a:r>
            <a:endParaRPr/>
          </a:p>
        </p:txBody>
      </p:sp>
      <p:sp>
        <p:nvSpPr>
          <p:cNvPr id="532" name="Google Shape;532;p26"/>
          <p:cNvSpPr txBox="1"/>
          <p:nvPr>
            <p:ph idx="2" type="body"/>
          </p:nvPr>
        </p:nvSpPr>
        <p:spPr>
          <a:xfrm>
            <a:off x="368302" y="3910260"/>
            <a:ext cx="4107445" cy="2367609"/>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Font typeface="Calibri"/>
              <a:buNone/>
            </a:pPr>
            <a:r>
              <a:rPr lang="en-US"/>
              <a:t>Type: Operations</a:t>
            </a:r>
            <a:endParaRPr/>
          </a:p>
          <a:p>
            <a:pPr indent="0" lvl="0" marL="0" rtl="0" algn="l">
              <a:lnSpc>
                <a:spcPct val="100000"/>
              </a:lnSpc>
              <a:spcBef>
                <a:spcPts val="300"/>
              </a:spcBef>
              <a:spcAft>
                <a:spcPts val="0"/>
              </a:spcAft>
              <a:buSzPts val="1400"/>
              <a:buFont typeface="Calibri"/>
              <a:buNone/>
            </a:pPr>
            <a:r>
              <a:t/>
            </a:r>
            <a:endParaRPr/>
          </a:p>
          <a:p>
            <a:pPr indent="0" lvl="0" marL="0" rtl="0" algn="l">
              <a:lnSpc>
                <a:spcPct val="100000"/>
              </a:lnSpc>
              <a:spcBef>
                <a:spcPts val="300"/>
              </a:spcBef>
              <a:spcAft>
                <a:spcPts val="0"/>
              </a:spcAft>
              <a:buSzPts val="1400"/>
              <a:buFont typeface="Calibri"/>
              <a:buNone/>
            </a:pPr>
            <a:r>
              <a:rPr lang="en-US"/>
              <a:t>Difficulty: Very Hard</a:t>
            </a:r>
            <a:endParaRPr/>
          </a:p>
          <a:p>
            <a:pPr indent="0" lvl="0" marL="0" rtl="0" algn="l">
              <a:lnSpc>
                <a:spcPct val="100000"/>
              </a:lnSpc>
              <a:spcBef>
                <a:spcPts val="300"/>
              </a:spcBef>
              <a:spcAft>
                <a:spcPts val="0"/>
              </a:spcAft>
              <a:buSzPts val="1400"/>
              <a:buFont typeface="Calibri"/>
              <a:buNone/>
            </a:pPr>
            <a:r>
              <a:t/>
            </a:r>
            <a:endParaRPr/>
          </a:p>
          <a:p>
            <a:pPr indent="0" lvl="0" marL="0" rtl="0" algn="l">
              <a:lnSpc>
                <a:spcPct val="100000"/>
              </a:lnSpc>
              <a:spcBef>
                <a:spcPts val="300"/>
              </a:spcBef>
              <a:spcAft>
                <a:spcPts val="0"/>
              </a:spcAft>
              <a:buSzPts val="1400"/>
              <a:buFont typeface="Calibri"/>
              <a:buNone/>
            </a:pPr>
            <a:r>
              <a:rPr lang="en-US"/>
              <a:t>Concepts tested: General industry knowledge, heavy quantitative, operations</a:t>
            </a:r>
            <a:endParaRPr/>
          </a:p>
        </p:txBody>
      </p:sp>
      <p:sp>
        <p:nvSpPr>
          <p:cNvPr id="533" name="Google Shape;533;p26"/>
          <p:cNvSpPr txBox="1"/>
          <p:nvPr>
            <p:ph idx="3" type="body"/>
          </p:nvPr>
        </p:nvSpPr>
        <p:spPr>
          <a:xfrm>
            <a:off x="4596063" y="3910260"/>
            <a:ext cx="4110955" cy="2367608"/>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Font typeface="Calibri"/>
              <a:buNone/>
            </a:pPr>
            <a:r>
              <a:rPr lang="en-US"/>
              <a:t>This case is very quant heavy which requires a bit of reasoning to understand how to put the equations together.</a:t>
            </a:r>
            <a:endParaRPr/>
          </a:p>
          <a:p>
            <a:pPr indent="0" lvl="0" marL="0" rtl="0" algn="l">
              <a:lnSpc>
                <a:spcPct val="100000"/>
              </a:lnSpc>
              <a:spcBef>
                <a:spcPts val="300"/>
              </a:spcBef>
              <a:spcAft>
                <a:spcPts val="0"/>
              </a:spcAft>
              <a:buSzPts val="1400"/>
              <a:buFont typeface="Calibri"/>
              <a:buNone/>
            </a:pPr>
            <a:r>
              <a:t/>
            </a:r>
            <a:endParaRPr/>
          </a:p>
          <a:p>
            <a:pPr indent="0" lvl="0" marL="0" rtl="0" algn="l">
              <a:lnSpc>
                <a:spcPct val="100000"/>
              </a:lnSpc>
              <a:spcBef>
                <a:spcPts val="300"/>
              </a:spcBef>
              <a:spcAft>
                <a:spcPts val="0"/>
              </a:spcAft>
              <a:buSzPts val="1400"/>
              <a:buFont typeface="Calibri"/>
              <a:buNone/>
            </a:pPr>
            <a:r>
              <a:rPr lang="en-US"/>
              <a:t>Interviewer guidance may be necessary to help piece together the equations. However, a superior candidate will not need such guidance.</a:t>
            </a:r>
            <a:endParaRPr/>
          </a:p>
        </p:txBody>
      </p:sp>
      <p:sp>
        <p:nvSpPr>
          <p:cNvPr id="534" name="Google Shape;534;p26"/>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Aircraft Hangar</a:t>
            </a:r>
            <a:endParaRPr/>
          </a:p>
        </p:txBody>
      </p:sp>
      <p:sp>
        <p:nvSpPr>
          <p:cNvPr id="535" name="Google Shape;535;p26"/>
          <p:cNvSpPr txBox="1"/>
          <p:nvPr>
            <p:ph idx="4" type="body"/>
          </p:nvPr>
        </p:nvSpPr>
        <p:spPr>
          <a:xfrm>
            <a:off x="465670" y="996952"/>
            <a:ext cx="8209098"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Problem Statement</a:t>
            </a:r>
            <a:endParaRPr/>
          </a:p>
        </p:txBody>
      </p:sp>
      <p:sp>
        <p:nvSpPr>
          <p:cNvPr id="536" name="Google Shape;536;p26"/>
          <p:cNvSpPr txBox="1"/>
          <p:nvPr>
            <p:ph idx="5" type="body"/>
          </p:nvPr>
        </p:nvSpPr>
        <p:spPr>
          <a:xfrm>
            <a:off x="465670" y="3621892"/>
            <a:ext cx="4010077"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Type of case</a:t>
            </a:r>
            <a:endParaRPr/>
          </a:p>
        </p:txBody>
      </p:sp>
      <p:sp>
        <p:nvSpPr>
          <p:cNvPr id="537" name="Google Shape;537;p26"/>
          <p:cNvSpPr txBox="1"/>
          <p:nvPr>
            <p:ph idx="6" type="body"/>
          </p:nvPr>
        </p:nvSpPr>
        <p:spPr>
          <a:xfrm>
            <a:off x="4664691" y="3621892"/>
            <a:ext cx="4010077"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Interviewer Guidance</a:t>
            </a:r>
            <a:endParaRPr/>
          </a:p>
        </p:txBody>
      </p:sp>
      <p:sp>
        <p:nvSpPr>
          <p:cNvPr id="538" name="Google Shape;538;p26"/>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27"/>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Aircraft Hangar</a:t>
            </a:r>
            <a:endParaRPr/>
          </a:p>
        </p:txBody>
      </p:sp>
      <p:sp>
        <p:nvSpPr>
          <p:cNvPr id="544" name="Google Shape;544;p27"/>
          <p:cNvSpPr txBox="1"/>
          <p:nvPr>
            <p:ph idx="1" type="body"/>
          </p:nvPr>
        </p:nvSpPr>
        <p:spPr>
          <a:xfrm>
            <a:off x="368302" y="1292790"/>
            <a:ext cx="4107445" cy="4982279"/>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285750" lvl="1" marL="285750" rtl="0" algn="l">
              <a:lnSpc>
                <a:spcPct val="100000"/>
              </a:lnSpc>
              <a:spcBef>
                <a:spcPts val="0"/>
              </a:spcBef>
              <a:spcAft>
                <a:spcPts val="0"/>
              </a:spcAft>
              <a:buSzPts val="1400"/>
              <a:buFont typeface="Arial"/>
              <a:buChar char="•"/>
            </a:pPr>
            <a:r>
              <a:rPr lang="en-US"/>
              <a:t>Demand for the hangar is ample so it is occupied year-round.</a:t>
            </a:r>
            <a:endParaRPr/>
          </a:p>
          <a:p>
            <a:pPr indent="-196850" lvl="1" marL="285750" rtl="0" algn="l">
              <a:lnSpc>
                <a:spcPct val="100000"/>
              </a:lnSpc>
              <a:spcBef>
                <a:spcPts val="300"/>
              </a:spcBef>
              <a:spcAft>
                <a:spcPts val="0"/>
              </a:spcAft>
              <a:buSzPts val="1400"/>
              <a:buFont typeface="Arial"/>
              <a:buNone/>
            </a:pPr>
            <a:r>
              <a:t/>
            </a:r>
            <a:endParaRPr/>
          </a:p>
          <a:p>
            <a:pPr indent="-285750" lvl="1" marL="285750" rtl="0" algn="l">
              <a:lnSpc>
                <a:spcPct val="100000"/>
              </a:lnSpc>
              <a:spcBef>
                <a:spcPts val="300"/>
              </a:spcBef>
              <a:spcAft>
                <a:spcPts val="0"/>
              </a:spcAft>
              <a:buSzPts val="1400"/>
              <a:buFont typeface="Arial"/>
              <a:buChar char="•"/>
            </a:pPr>
            <a:r>
              <a:rPr lang="en-US"/>
              <a:t>The management team bought the hangar from its previous owners who were unable to turn a reasonable profit from it. The current management has been running it for two years.</a:t>
            </a:r>
            <a:endParaRPr/>
          </a:p>
          <a:p>
            <a:pPr indent="-196850" lvl="1" marL="285750" rtl="0" algn="l">
              <a:lnSpc>
                <a:spcPct val="100000"/>
              </a:lnSpc>
              <a:spcBef>
                <a:spcPts val="300"/>
              </a:spcBef>
              <a:spcAft>
                <a:spcPts val="0"/>
              </a:spcAft>
              <a:buSzPts val="1400"/>
              <a:buFont typeface="Arial"/>
              <a:buNone/>
            </a:pPr>
            <a:r>
              <a:t/>
            </a:r>
            <a:endParaRPr/>
          </a:p>
          <a:p>
            <a:pPr indent="-285750" lvl="1" marL="285750" rtl="0" algn="l">
              <a:lnSpc>
                <a:spcPct val="100000"/>
              </a:lnSpc>
              <a:spcBef>
                <a:spcPts val="300"/>
              </a:spcBef>
              <a:spcAft>
                <a:spcPts val="0"/>
              </a:spcAft>
              <a:buSzPts val="1400"/>
              <a:buFont typeface="Arial"/>
              <a:buChar char="•"/>
            </a:pPr>
            <a:r>
              <a:rPr lang="en-US"/>
              <a:t>An aircraft hangar generates revenue by selling maintenance services to commercial clients (American Airlines) and freight clients (FedEx).</a:t>
            </a:r>
            <a:endParaRPr/>
          </a:p>
          <a:p>
            <a:pPr indent="-196850" lvl="1" marL="285750" rtl="0" algn="l">
              <a:lnSpc>
                <a:spcPct val="100000"/>
              </a:lnSpc>
              <a:spcBef>
                <a:spcPts val="300"/>
              </a:spcBef>
              <a:spcAft>
                <a:spcPts val="0"/>
              </a:spcAft>
              <a:buSzPts val="1400"/>
              <a:buFont typeface="Arial"/>
              <a:buNone/>
            </a:pPr>
            <a:r>
              <a:t/>
            </a:r>
            <a:endParaRPr/>
          </a:p>
          <a:p>
            <a:pPr indent="-285750" lvl="1" marL="285750" rtl="0" algn="l">
              <a:lnSpc>
                <a:spcPct val="100000"/>
              </a:lnSpc>
              <a:spcBef>
                <a:spcPts val="300"/>
              </a:spcBef>
              <a:spcAft>
                <a:spcPts val="0"/>
              </a:spcAft>
              <a:buSzPts val="1400"/>
              <a:buFont typeface="Arial"/>
              <a:buChar char="•"/>
            </a:pPr>
            <a:r>
              <a:rPr lang="en-US"/>
              <a:t>Assume that only regular maintenance is done – no special, customized, or non-routine work is completed in this hangar.</a:t>
            </a:r>
            <a:endParaRPr/>
          </a:p>
          <a:p>
            <a:pPr indent="-196850" lvl="1" marL="285750" rtl="0" algn="l">
              <a:lnSpc>
                <a:spcPct val="100000"/>
              </a:lnSpc>
              <a:spcBef>
                <a:spcPts val="300"/>
              </a:spcBef>
              <a:spcAft>
                <a:spcPts val="0"/>
              </a:spcAft>
              <a:buSzPts val="1400"/>
              <a:buFont typeface="Arial"/>
              <a:buNone/>
            </a:pPr>
            <a:r>
              <a:t/>
            </a:r>
            <a:endParaRPr/>
          </a:p>
          <a:p>
            <a:pPr indent="-285750" lvl="1" marL="285750" rtl="0" algn="l">
              <a:lnSpc>
                <a:spcPct val="100000"/>
              </a:lnSpc>
              <a:spcBef>
                <a:spcPts val="300"/>
              </a:spcBef>
              <a:spcAft>
                <a:spcPts val="0"/>
              </a:spcAft>
              <a:buSzPts val="1400"/>
              <a:buFont typeface="Arial"/>
              <a:buChar char="•"/>
            </a:pPr>
            <a:r>
              <a:rPr lang="en-US"/>
              <a:t>Boeing 737, 757, and 767 can be serviced by the client. Profitability within each of these models is consistent.</a:t>
            </a:r>
            <a:endParaRPr/>
          </a:p>
          <a:p>
            <a:pPr indent="0" lvl="1" marL="0" rtl="0" algn="l">
              <a:lnSpc>
                <a:spcPct val="100000"/>
              </a:lnSpc>
              <a:spcBef>
                <a:spcPts val="300"/>
              </a:spcBef>
              <a:spcAft>
                <a:spcPts val="0"/>
              </a:spcAft>
              <a:buSzPts val="1400"/>
              <a:buNone/>
            </a:pPr>
            <a:r>
              <a:t/>
            </a:r>
            <a:endParaRPr/>
          </a:p>
        </p:txBody>
      </p:sp>
      <p:sp>
        <p:nvSpPr>
          <p:cNvPr id="545" name="Google Shape;545;p27"/>
          <p:cNvSpPr txBox="1"/>
          <p:nvPr>
            <p:ph idx="2" type="body"/>
          </p:nvPr>
        </p:nvSpPr>
        <p:spPr>
          <a:xfrm>
            <a:off x="4594947" y="1292791"/>
            <a:ext cx="4110955" cy="4975662"/>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11437" lvl="0" marL="11437" rtl="0" algn="l">
              <a:lnSpc>
                <a:spcPct val="100000"/>
              </a:lnSpc>
              <a:spcBef>
                <a:spcPts val="0"/>
              </a:spcBef>
              <a:spcAft>
                <a:spcPts val="0"/>
              </a:spcAft>
              <a:buSzPts val="1400"/>
              <a:buFont typeface="Arial"/>
              <a:buChar char="•"/>
            </a:pPr>
            <a:r>
              <a:rPr lang="en-US"/>
              <a:t>300 work days in a year</a:t>
            </a:r>
            <a:endParaRPr/>
          </a:p>
          <a:p>
            <a:pPr indent="-285750" lvl="1" marL="285750" rtl="0" algn="l">
              <a:lnSpc>
                <a:spcPct val="100000"/>
              </a:lnSpc>
              <a:spcBef>
                <a:spcPts val="300"/>
              </a:spcBef>
              <a:spcAft>
                <a:spcPts val="0"/>
              </a:spcAft>
              <a:buSzPts val="1400"/>
              <a:buFont typeface="Arial"/>
              <a:buChar char="•"/>
            </a:pPr>
            <a:r>
              <a:rPr lang="en-US"/>
              <a:t>The same maintenance work is done on every aircraft of the same model which comes in</a:t>
            </a:r>
            <a:endParaRPr/>
          </a:p>
        </p:txBody>
      </p:sp>
      <p:sp>
        <p:nvSpPr>
          <p:cNvPr id="546" name="Google Shape;546;p27"/>
          <p:cNvSpPr txBox="1"/>
          <p:nvPr>
            <p:ph idx="3" type="body"/>
          </p:nvPr>
        </p:nvSpPr>
        <p:spPr>
          <a:xfrm>
            <a:off x="465670" y="1015291"/>
            <a:ext cx="4010077"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Clarifying Information</a:t>
            </a:r>
            <a:endParaRPr/>
          </a:p>
        </p:txBody>
      </p:sp>
      <p:sp>
        <p:nvSpPr>
          <p:cNvPr id="547" name="Google Shape;547;p27"/>
          <p:cNvSpPr txBox="1"/>
          <p:nvPr>
            <p:ph idx="4" type="body"/>
          </p:nvPr>
        </p:nvSpPr>
        <p:spPr>
          <a:xfrm>
            <a:off x="4695825" y="1016486"/>
            <a:ext cx="4010077"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Calculating assumptions</a:t>
            </a:r>
            <a:endParaRPr/>
          </a:p>
        </p:txBody>
      </p:sp>
      <p:sp>
        <p:nvSpPr>
          <p:cNvPr id="548" name="Google Shape;548;p27"/>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30"/>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Aircraft Hangar – Recommended Solution</a:t>
            </a:r>
            <a:endParaRPr/>
          </a:p>
        </p:txBody>
      </p:sp>
      <p:graphicFrame>
        <p:nvGraphicFramePr>
          <p:cNvPr id="554" name="Google Shape;554;p30"/>
          <p:cNvGraphicFramePr/>
          <p:nvPr/>
        </p:nvGraphicFramePr>
        <p:xfrm>
          <a:off x="381000" y="1408535"/>
          <a:ext cx="3000000" cy="3000000"/>
        </p:xfrm>
        <a:graphic>
          <a:graphicData uri="http://schemas.openxmlformats.org/drawingml/2006/table">
            <a:tbl>
              <a:tblPr bandRow="1" firstRow="1">
                <a:noFill/>
                <a:tableStyleId>{23C487A9-7F27-4D08-810F-A9A5B3B8D150}</a:tableStyleId>
              </a:tblPr>
              <a:tblGrid>
                <a:gridCol w="2085575"/>
                <a:gridCol w="2085575"/>
                <a:gridCol w="2085575"/>
                <a:gridCol w="2085575"/>
              </a:tblGrid>
              <a:tr h="370850">
                <a:tc>
                  <a:txBody>
                    <a:bodyPr/>
                    <a:lstStyle/>
                    <a:p>
                      <a:pPr indent="0" lvl="0" marL="0" marR="0" rtl="0" algn="ctr">
                        <a:lnSpc>
                          <a:spcPct val="100000"/>
                        </a:lnSpc>
                        <a:spcBef>
                          <a:spcPts val="0"/>
                        </a:spcBef>
                        <a:spcAft>
                          <a:spcPts val="0"/>
                        </a:spcAft>
                        <a:buClr>
                          <a:srgbClr val="000000"/>
                        </a:buClr>
                        <a:buSzPts val="1400"/>
                        <a:buFont typeface="Arial"/>
                        <a:buNone/>
                      </a:pPr>
                      <a:r>
                        <a:rPr b="0" i="1" lang="en-US" sz="1400" u="none" cap="none" strike="noStrike"/>
                        <a:t>Per aircraft, in $ millions</a:t>
                      </a:r>
                      <a:endParaRPr b="0" i="1"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737</a:t>
                      </a:r>
                      <a:endParaRPr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757</a:t>
                      </a:r>
                      <a:endParaRPr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767</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Revenues generated</a:t>
                      </a:r>
                      <a:endParaRPr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$0.60</a:t>
                      </a:r>
                      <a:endParaRPr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$1.00</a:t>
                      </a:r>
                      <a:endParaRPr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$1.10</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Labor costs</a:t>
                      </a:r>
                      <a:endParaRPr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$0.32</a:t>
                      </a:r>
                      <a:endParaRPr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$0.50</a:t>
                      </a:r>
                      <a:endParaRPr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$0.64</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Materials costs</a:t>
                      </a:r>
                      <a:endParaRPr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$0.08</a:t>
                      </a:r>
                      <a:endParaRPr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$0.05</a:t>
                      </a:r>
                      <a:endParaRPr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$0.06</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Contribution margin</a:t>
                      </a:r>
                      <a:endParaRPr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$0.20</a:t>
                      </a:r>
                      <a:endParaRPr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$0.45</a:t>
                      </a:r>
                      <a:endParaRPr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$0.40</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Days to process</a:t>
                      </a:r>
                      <a:endParaRPr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4</a:t>
                      </a:r>
                      <a:endParaRPr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5</a:t>
                      </a:r>
                      <a:endParaRPr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8</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CM per day</a:t>
                      </a:r>
                      <a:endParaRPr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$0.05</a:t>
                      </a:r>
                      <a:endParaRPr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$0.09</a:t>
                      </a:r>
                      <a:endParaRPr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$0.05</a:t>
                      </a:r>
                      <a:endParaRPr sz="1800" u="none" cap="none" strike="noStrike"/>
                    </a:p>
                  </a:txBody>
                  <a:tcPr marT="45725" marB="45725" marR="91450" marL="91450"/>
                </a:tc>
              </a:tr>
            </a:tbl>
          </a:graphicData>
        </a:graphic>
      </p:graphicFrame>
      <p:sp>
        <p:nvSpPr>
          <p:cNvPr id="555" name="Google Shape;555;p30"/>
          <p:cNvSpPr txBox="1"/>
          <p:nvPr>
            <p:ph idx="2" type="body"/>
          </p:nvPr>
        </p:nvSpPr>
        <p:spPr>
          <a:xfrm>
            <a:off x="503321" y="1022905"/>
            <a:ext cx="8126332"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Margin per aircraft</a:t>
            </a:r>
            <a:endParaRPr/>
          </a:p>
        </p:txBody>
      </p:sp>
      <p:graphicFrame>
        <p:nvGraphicFramePr>
          <p:cNvPr id="556" name="Google Shape;556;p30"/>
          <p:cNvGraphicFramePr/>
          <p:nvPr/>
        </p:nvGraphicFramePr>
        <p:xfrm>
          <a:off x="827435" y="4348592"/>
          <a:ext cx="3000000" cy="3000000"/>
        </p:xfrm>
        <a:graphic>
          <a:graphicData uri="http://schemas.openxmlformats.org/drawingml/2006/table">
            <a:tbl>
              <a:tblPr bandRow="1" firstRow="1">
                <a:noFill/>
                <a:tableStyleId>{23C487A9-7F27-4D08-810F-A9A5B3B8D150}</a:tableStyleId>
              </a:tblPr>
              <a:tblGrid>
                <a:gridCol w="3724725"/>
                <a:gridCol w="3724725"/>
              </a:tblGrid>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Desirable aircraft mix</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757</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Contribution margin per aircraft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$0.45</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Number of aircraft processed</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300 / 4 days * 3 hangars</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Contribution margin</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$101.25 million</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Net income</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$81.25 million</a:t>
                      </a:r>
                      <a:endParaRPr sz="1800" u="none" cap="none" strike="noStrike"/>
                    </a:p>
                  </a:txBody>
                  <a:tcPr marT="45725" marB="45725" marR="91450" marL="91450"/>
                </a:tc>
              </a:tr>
            </a:tbl>
          </a:graphicData>
        </a:graphic>
      </p:graphicFrame>
      <p:sp>
        <p:nvSpPr>
          <p:cNvPr id="557" name="Google Shape;557;p30"/>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28"/>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Aircraft Hangar – Exhibit A</a:t>
            </a:r>
            <a:endParaRPr/>
          </a:p>
        </p:txBody>
      </p:sp>
      <p:graphicFrame>
        <p:nvGraphicFramePr>
          <p:cNvPr id="563" name="Google Shape;563;p28"/>
          <p:cNvGraphicFramePr/>
          <p:nvPr/>
        </p:nvGraphicFramePr>
        <p:xfrm>
          <a:off x="381000" y="1408535"/>
          <a:ext cx="3000000" cy="3000000"/>
        </p:xfrm>
        <a:graphic>
          <a:graphicData uri="http://schemas.openxmlformats.org/drawingml/2006/table">
            <a:tbl>
              <a:tblPr bandRow="1" firstRow="1">
                <a:noFill/>
                <a:tableStyleId>{23C487A9-7F27-4D08-810F-A9A5B3B8D150}</a:tableStyleId>
              </a:tblPr>
              <a:tblGrid>
                <a:gridCol w="2085575"/>
                <a:gridCol w="2085575"/>
                <a:gridCol w="2085575"/>
                <a:gridCol w="2085575"/>
              </a:tblGrid>
              <a:tr h="370850">
                <a:tc>
                  <a:txBody>
                    <a:bodyPr/>
                    <a:lstStyle/>
                    <a:p>
                      <a:pPr indent="0" lvl="0" marL="0" marR="0" rtl="0" algn="ctr">
                        <a:lnSpc>
                          <a:spcPct val="100000"/>
                        </a:lnSpc>
                        <a:spcBef>
                          <a:spcPts val="0"/>
                        </a:spcBef>
                        <a:spcAft>
                          <a:spcPts val="0"/>
                        </a:spcAft>
                        <a:buClr>
                          <a:srgbClr val="000000"/>
                        </a:buClr>
                        <a:buSzPts val="1800"/>
                        <a:buFont typeface="Arial"/>
                        <a:buNone/>
                      </a:pPr>
                      <a:r>
                        <a:t/>
                      </a:r>
                      <a:endParaRPr b="0" i="1"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Hangar bay 1</a:t>
                      </a:r>
                      <a:endParaRPr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Hangar bay 2</a:t>
                      </a:r>
                      <a:endParaRPr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Hangar bay 3</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Aircraft processed</a:t>
                      </a:r>
                      <a:endParaRPr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65</a:t>
                      </a:r>
                      <a:endParaRPr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48</a:t>
                      </a:r>
                      <a:endParaRPr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37</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737</a:t>
                      </a:r>
                      <a:endParaRPr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55</a:t>
                      </a:r>
                      <a:endParaRPr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757</a:t>
                      </a:r>
                      <a:endParaRPr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28</a:t>
                      </a:r>
                      <a:endParaRPr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767</a:t>
                      </a:r>
                      <a:endParaRPr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10</a:t>
                      </a:r>
                      <a:endParaRPr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20</a:t>
                      </a:r>
                      <a:endParaRPr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37</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Revenues generated</a:t>
                      </a:r>
                      <a:endParaRPr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$44 million</a:t>
                      </a:r>
                      <a:endParaRPr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$50 million</a:t>
                      </a:r>
                      <a:endParaRPr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$40.7 million</a:t>
                      </a:r>
                      <a:endParaRPr sz="1800" u="none" cap="none" strike="noStrike"/>
                    </a:p>
                  </a:txBody>
                  <a:tcPr marT="45725" marB="45725" marR="91450" marL="91450"/>
                </a:tc>
              </a:tr>
            </a:tbl>
          </a:graphicData>
        </a:graphic>
      </p:graphicFrame>
      <p:sp>
        <p:nvSpPr>
          <p:cNvPr id="564" name="Google Shape;564;p28"/>
          <p:cNvSpPr txBox="1"/>
          <p:nvPr>
            <p:ph idx="2" type="body"/>
          </p:nvPr>
        </p:nvSpPr>
        <p:spPr>
          <a:xfrm>
            <a:off x="503321" y="1022905"/>
            <a:ext cx="8126332"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Exhibit A: 2016 ERP output</a:t>
            </a:r>
            <a:endParaRPr/>
          </a:p>
        </p:txBody>
      </p:sp>
      <p:sp>
        <p:nvSpPr>
          <p:cNvPr id="565" name="Google Shape;565;p28"/>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29"/>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Aircraft Hangar – Exhibit B</a:t>
            </a:r>
            <a:endParaRPr/>
          </a:p>
        </p:txBody>
      </p:sp>
      <p:graphicFrame>
        <p:nvGraphicFramePr>
          <p:cNvPr id="571" name="Google Shape;571;p29"/>
          <p:cNvGraphicFramePr/>
          <p:nvPr/>
        </p:nvGraphicFramePr>
        <p:xfrm>
          <a:off x="838898" y="1601482"/>
          <a:ext cx="3000000" cy="3000000"/>
        </p:xfrm>
        <a:graphic>
          <a:graphicData uri="http://schemas.openxmlformats.org/drawingml/2006/table">
            <a:tbl>
              <a:tblPr bandRow="1" firstRow="1">
                <a:noFill/>
                <a:tableStyleId>{23C487A9-7F27-4D08-810F-A9A5B3B8D150}</a:tableStyleId>
              </a:tblPr>
              <a:tblGrid>
                <a:gridCol w="2013350"/>
                <a:gridCol w="2629950"/>
                <a:gridCol w="2629950"/>
              </a:tblGrid>
              <a:tr h="370850">
                <a:tc>
                  <a:txBody>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Processing time</a:t>
                      </a:r>
                      <a:endParaRPr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Movement time</a:t>
                      </a:r>
                      <a:r>
                        <a:rPr baseline="30000" lang="en-US" sz="1800" u="none" cap="none" strike="noStrike"/>
                        <a:t>1</a:t>
                      </a:r>
                      <a:endParaRPr baseline="30000"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737</a:t>
                      </a:r>
                      <a:endParaRPr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3 days</a:t>
                      </a:r>
                      <a:endParaRPr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1 day</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757</a:t>
                      </a:r>
                      <a:endParaRPr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4 days</a:t>
                      </a:r>
                      <a:endParaRPr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1 day</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767</a:t>
                      </a:r>
                      <a:endParaRPr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7 days</a:t>
                      </a:r>
                      <a:endParaRPr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1 day</a:t>
                      </a:r>
                      <a:endParaRPr sz="1800" u="none" cap="none" strike="noStrike"/>
                    </a:p>
                  </a:txBody>
                  <a:tcPr marT="45725" marB="45725" marR="91450" marL="91450"/>
                </a:tc>
              </a:tr>
            </a:tbl>
          </a:graphicData>
        </a:graphic>
      </p:graphicFrame>
      <p:sp>
        <p:nvSpPr>
          <p:cNvPr id="572" name="Google Shape;572;p29"/>
          <p:cNvSpPr txBox="1"/>
          <p:nvPr>
            <p:ph idx="2" type="body"/>
          </p:nvPr>
        </p:nvSpPr>
        <p:spPr>
          <a:xfrm>
            <a:off x="503321" y="1022905"/>
            <a:ext cx="8126332"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Exhibit B: 2016 Head mechanic notes</a:t>
            </a:r>
            <a:endParaRPr/>
          </a:p>
        </p:txBody>
      </p:sp>
      <p:graphicFrame>
        <p:nvGraphicFramePr>
          <p:cNvPr id="573" name="Google Shape;573;p29"/>
          <p:cNvGraphicFramePr/>
          <p:nvPr/>
        </p:nvGraphicFramePr>
        <p:xfrm>
          <a:off x="838898" y="3385919"/>
          <a:ext cx="3000000" cy="3000000"/>
        </p:xfrm>
        <a:graphic>
          <a:graphicData uri="http://schemas.openxmlformats.org/drawingml/2006/table">
            <a:tbl>
              <a:tblPr bandRow="1" firstRow="1">
                <a:noFill/>
                <a:tableStyleId>{23C487A9-7F27-4D08-810F-A9A5B3B8D150}</a:tableStyleId>
              </a:tblPr>
              <a:tblGrid>
                <a:gridCol w="2003350"/>
                <a:gridCol w="1708150"/>
                <a:gridCol w="1780875"/>
                <a:gridCol w="1780875"/>
              </a:tblGrid>
              <a:tr h="370850">
                <a:tc>
                  <a:txBody>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Daily labor cost per aircraft</a:t>
                      </a:r>
                      <a:endParaRPr sz="18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Flat materials cost per aircraft</a:t>
                      </a:r>
                      <a:endParaRPr sz="18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Total annual fixed costs</a:t>
                      </a:r>
                      <a:endParaRPr sz="1800" u="none" cap="none" strike="noStrike"/>
                    </a:p>
                  </a:txBody>
                  <a:tcPr marT="45725" marB="45725" marR="91450" marL="91450" anchor="ctr"/>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737</a:t>
                      </a:r>
                      <a:endParaRPr sz="18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$80,000</a:t>
                      </a:r>
                      <a:endParaRPr sz="18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$80,000</a:t>
                      </a:r>
                      <a:endParaRPr sz="1800" u="none" cap="none" strike="noStrike"/>
                    </a:p>
                  </a:txBody>
                  <a:tcPr marT="45725" marB="45725" marR="91450" marL="91450" anchor="ctr"/>
                </a:tc>
                <a:tc rowSpan="3">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$20 million</a:t>
                      </a:r>
                      <a:endParaRPr sz="1800" u="none" cap="none" strike="noStrike"/>
                    </a:p>
                  </a:txBody>
                  <a:tcPr marT="45725" marB="45725" marR="91450" marL="91450" anchor="ctr"/>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757</a:t>
                      </a:r>
                      <a:endParaRPr sz="18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$100,000</a:t>
                      </a:r>
                      <a:endParaRPr sz="18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$50,000</a:t>
                      </a:r>
                      <a:endParaRPr sz="1800" u="none" cap="none" strike="noStrike"/>
                    </a:p>
                  </a:txBody>
                  <a:tcPr marT="45725" marB="45725" marR="91450" marL="91450" anchor="ctr"/>
                </a:tc>
                <a:tc vMerge="1"/>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767</a:t>
                      </a:r>
                      <a:endParaRPr sz="18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$80,000</a:t>
                      </a:r>
                      <a:endParaRPr sz="18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$60,000</a:t>
                      </a:r>
                      <a:endParaRPr sz="1800" u="none" cap="none" strike="noStrike"/>
                    </a:p>
                  </a:txBody>
                  <a:tcPr marT="45725" marB="45725" marR="91450" marL="91450" anchor="ctr"/>
                </a:tc>
                <a:tc vMerge="1"/>
              </a:tr>
            </a:tbl>
          </a:graphicData>
        </a:graphic>
      </p:graphicFrame>
      <p:sp>
        <p:nvSpPr>
          <p:cNvPr id="574" name="Google Shape;574;p29"/>
          <p:cNvSpPr txBox="1"/>
          <p:nvPr/>
        </p:nvSpPr>
        <p:spPr>
          <a:xfrm>
            <a:off x="838898" y="5564221"/>
            <a:ext cx="7273255" cy="27021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baseline="30000" i="0" lang="en-US" sz="1100" u="none" cap="none" strike="noStrike">
                <a:solidFill>
                  <a:schemeClr val="dk1"/>
                </a:solidFill>
                <a:latin typeface="Georgia"/>
                <a:ea typeface="Georgia"/>
                <a:cs typeface="Georgia"/>
                <a:sym typeface="Georgia"/>
              </a:rPr>
              <a:t>1</a:t>
            </a:r>
            <a:r>
              <a:rPr b="0" i="0" lang="en-US" sz="1100" u="none" cap="none" strike="noStrike">
                <a:solidFill>
                  <a:schemeClr val="dk1"/>
                </a:solidFill>
                <a:latin typeface="Georgia"/>
                <a:ea typeface="Georgia"/>
                <a:cs typeface="Georgia"/>
                <a:sym typeface="Georgia"/>
              </a:rPr>
              <a:t> Processing time is the time it takes for maintenance work to be completed on a plane from the time it begins to the time it is complete. Movement time is the time it takes to move an aircraft out of the hangar after work is finished plus the time it takes to move a new aircraft into the hangar before work can begin.</a:t>
            </a:r>
            <a:endParaRPr b="0" i="0" sz="1100" u="none" cap="none" strike="noStrike">
              <a:solidFill>
                <a:schemeClr val="dk1"/>
              </a:solidFill>
              <a:latin typeface="Georgia"/>
              <a:ea typeface="Georgia"/>
              <a:cs typeface="Georgia"/>
              <a:sym typeface="Georgia"/>
            </a:endParaRPr>
          </a:p>
        </p:txBody>
      </p:sp>
      <p:sp>
        <p:nvSpPr>
          <p:cNvPr id="575" name="Google Shape;575;p29"/>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p31"/>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Aircraft Hangar</a:t>
            </a:r>
            <a:endParaRPr/>
          </a:p>
        </p:txBody>
      </p:sp>
      <p:sp>
        <p:nvSpPr>
          <p:cNvPr id="581" name="Google Shape;581;p31"/>
          <p:cNvSpPr txBox="1"/>
          <p:nvPr>
            <p:ph idx="1" type="body"/>
          </p:nvPr>
        </p:nvSpPr>
        <p:spPr>
          <a:xfrm>
            <a:off x="368302" y="1292790"/>
            <a:ext cx="4107445" cy="4982279"/>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11437" lvl="0" marL="11437" rtl="0" algn="l">
              <a:lnSpc>
                <a:spcPct val="100000"/>
              </a:lnSpc>
              <a:spcBef>
                <a:spcPts val="0"/>
              </a:spcBef>
              <a:spcAft>
                <a:spcPts val="0"/>
              </a:spcAft>
              <a:buSzPts val="1400"/>
              <a:buFont typeface="Arial"/>
              <a:buChar char="•"/>
            </a:pPr>
            <a:r>
              <a:rPr lang="en-US"/>
              <a:t>Different aircraft have different revenue figures</a:t>
            </a:r>
            <a:endParaRPr/>
          </a:p>
          <a:p>
            <a:pPr indent="-285750" lvl="1" marL="285750" rtl="0" algn="l">
              <a:lnSpc>
                <a:spcPct val="100000"/>
              </a:lnSpc>
              <a:spcBef>
                <a:spcPts val="300"/>
              </a:spcBef>
              <a:spcAft>
                <a:spcPts val="0"/>
              </a:spcAft>
              <a:buSzPts val="1400"/>
              <a:buFont typeface="Arial"/>
              <a:buChar char="•"/>
            </a:pPr>
            <a:r>
              <a:rPr lang="en-US"/>
              <a:t>First move is to calculate the revenues generated per aircraft processed</a:t>
            </a:r>
            <a:endParaRPr/>
          </a:p>
          <a:p>
            <a:pPr indent="0" lvl="1" marL="0" rtl="0" algn="l">
              <a:lnSpc>
                <a:spcPct val="100000"/>
              </a:lnSpc>
              <a:spcBef>
                <a:spcPts val="300"/>
              </a:spcBef>
              <a:spcAft>
                <a:spcPts val="0"/>
              </a:spcAft>
              <a:buSzPts val="1400"/>
              <a:buNone/>
            </a:pPr>
            <a:r>
              <a:t/>
            </a:r>
            <a:endParaRPr/>
          </a:p>
          <a:p>
            <a:pPr indent="0" lvl="1" marL="0" rtl="0" algn="l">
              <a:lnSpc>
                <a:spcPct val="100000"/>
              </a:lnSpc>
              <a:spcBef>
                <a:spcPts val="300"/>
              </a:spcBef>
              <a:spcAft>
                <a:spcPts val="0"/>
              </a:spcAft>
              <a:buSzPts val="1400"/>
              <a:buNone/>
            </a:pPr>
            <a:r>
              <a:rPr b="1" lang="en-US"/>
              <a:t>Recommended method</a:t>
            </a:r>
            <a:endParaRPr/>
          </a:p>
          <a:p>
            <a:pPr indent="-285750" lvl="1" marL="285750" rtl="0" algn="l">
              <a:lnSpc>
                <a:spcPct val="100000"/>
              </a:lnSpc>
              <a:spcBef>
                <a:spcPts val="300"/>
              </a:spcBef>
              <a:spcAft>
                <a:spcPts val="0"/>
              </a:spcAft>
              <a:buSzPts val="1400"/>
              <a:buFont typeface="Arial"/>
              <a:buChar char="•"/>
            </a:pPr>
            <a:r>
              <a:rPr lang="en-US"/>
              <a:t>Start with calculating 767 revenues, then isolate for 757, and then 737</a:t>
            </a:r>
            <a:endParaRPr/>
          </a:p>
          <a:p>
            <a:pPr indent="-285750" lvl="2" marL="560063" rtl="0" algn="l">
              <a:lnSpc>
                <a:spcPct val="100000"/>
              </a:lnSpc>
              <a:spcBef>
                <a:spcPts val="300"/>
              </a:spcBef>
              <a:spcAft>
                <a:spcPts val="0"/>
              </a:spcAft>
              <a:buSzPts val="1400"/>
              <a:buFont typeface="Arial"/>
              <a:buChar char="•"/>
            </a:pPr>
            <a:r>
              <a:rPr lang="en-US"/>
              <a:t>$1.1m for each 767</a:t>
            </a:r>
            <a:endParaRPr/>
          </a:p>
          <a:p>
            <a:pPr indent="-285750" lvl="2" marL="560063" rtl="0" algn="l">
              <a:lnSpc>
                <a:spcPct val="100000"/>
              </a:lnSpc>
              <a:spcBef>
                <a:spcPts val="300"/>
              </a:spcBef>
              <a:spcAft>
                <a:spcPts val="0"/>
              </a:spcAft>
              <a:buSzPts val="1400"/>
              <a:buFont typeface="Arial"/>
              <a:buChar char="•"/>
            </a:pPr>
            <a:r>
              <a:rPr lang="en-US"/>
              <a:t>$1.0m for each 757</a:t>
            </a:r>
            <a:endParaRPr/>
          </a:p>
          <a:p>
            <a:pPr indent="-285750" lvl="2" marL="560063" rtl="0" algn="l">
              <a:lnSpc>
                <a:spcPct val="100000"/>
              </a:lnSpc>
              <a:spcBef>
                <a:spcPts val="300"/>
              </a:spcBef>
              <a:spcAft>
                <a:spcPts val="0"/>
              </a:spcAft>
              <a:buSzPts val="1400"/>
              <a:buFont typeface="Arial"/>
              <a:buChar char="•"/>
            </a:pPr>
            <a:r>
              <a:rPr lang="en-US"/>
              <a:t>$0.6m for each 737</a:t>
            </a:r>
            <a:endParaRPr/>
          </a:p>
          <a:p>
            <a:pPr indent="-196850" lvl="1" marL="285750" rtl="0" algn="l">
              <a:lnSpc>
                <a:spcPct val="100000"/>
              </a:lnSpc>
              <a:spcBef>
                <a:spcPts val="300"/>
              </a:spcBef>
              <a:spcAft>
                <a:spcPts val="0"/>
              </a:spcAft>
              <a:buSzPts val="1400"/>
              <a:buFont typeface="Arial"/>
              <a:buNone/>
            </a:pPr>
            <a:r>
              <a:t/>
            </a:r>
            <a:endParaRPr/>
          </a:p>
        </p:txBody>
      </p:sp>
      <p:sp>
        <p:nvSpPr>
          <p:cNvPr id="582" name="Google Shape;582;p31"/>
          <p:cNvSpPr txBox="1"/>
          <p:nvPr>
            <p:ph idx="2" type="body"/>
          </p:nvPr>
        </p:nvSpPr>
        <p:spPr>
          <a:xfrm>
            <a:off x="4596063" y="1292791"/>
            <a:ext cx="4110955" cy="4975662"/>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285750" lvl="1" marL="285750" rtl="0" algn="l">
              <a:lnSpc>
                <a:spcPct val="100000"/>
              </a:lnSpc>
              <a:spcBef>
                <a:spcPts val="0"/>
              </a:spcBef>
              <a:spcAft>
                <a:spcPts val="0"/>
              </a:spcAft>
              <a:buSzPts val="1200"/>
              <a:buFont typeface="Arial"/>
              <a:buChar char="•"/>
            </a:pPr>
            <a:r>
              <a:rPr lang="en-US" sz="1200"/>
              <a:t>When the interviewee sees this exhibit, he/she should come to understand that we want to find out revenues / day for each type of aircraft in the hangar.</a:t>
            </a:r>
            <a:endParaRPr/>
          </a:p>
          <a:p>
            <a:pPr indent="-285750" lvl="1" marL="285750" rtl="0" algn="l">
              <a:lnSpc>
                <a:spcPct val="100000"/>
              </a:lnSpc>
              <a:spcBef>
                <a:spcPts val="300"/>
              </a:spcBef>
              <a:spcAft>
                <a:spcPts val="0"/>
              </a:spcAft>
              <a:buSzPts val="1200"/>
              <a:buFont typeface="Arial"/>
              <a:buChar char="•"/>
            </a:pPr>
            <a:r>
              <a:rPr lang="en-US" sz="1200"/>
              <a:t>Therefore,</a:t>
            </a:r>
            <a:r>
              <a:rPr b="1" lang="en-US" sz="1200"/>
              <a:t> the goal with this exhibit </a:t>
            </a:r>
            <a:r>
              <a:rPr lang="en-US" sz="1200"/>
              <a:t>is to understand how much it costs to process each aircraft. This can be done on a “per day” basis or a “per aircraft” basis, before aggregating to a full year basis.</a:t>
            </a:r>
            <a:endParaRPr/>
          </a:p>
          <a:p>
            <a:pPr indent="-285750" lvl="1" marL="285750" rtl="0" algn="l">
              <a:lnSpc>
                <a:spcPct val="100000"/>
              </a:lnSpc>
              <a:spcBef>
                <a:spcPts val="300"/>
              </a:spcBef>
              <a:spcAft>
                <a:spcPts val="0"/>
              </a:spcAft>
              <a:buSzPts val="1200"/>
              <a:buFont typeface="Arial"/>
              <a:buChar char="•"/>
            </a:pPr>
            <a:r>
              <a:rPr lang="en-US" sz="1200"/>
              <a:t>Movement time can be added to the beginning or end of each aircraft job. Therefore processing time and movement time should be added together</a:t>
            </a:r>
            <a:endParaRPr/>
          </a:p>
          <a:p>
            <a:pPr indent="0" lvl="1" marL="0" rtl="0" algn="l">
              <a:lnSpc>
                <a:spcPct val="100000"/>
              </a:lnSpc>
              <a:spcBef>
                <a:spcPts val="300"/>
              </a:spcBef>
              <a:spcAft>
                <a:spcPts val="0"/>
              </a:spcAft>
              <a:buSzPts val="1200"/>
              <a:buNone/>
            </a:pPr>
            <a:r>
              <a:t/>
            </a:r>
            <a:endParaRPr sz="1200"/>
          </a:p>
          <a:p>
            <a:pPr indent="0" lvl="1" marL="0" rtl="0" algn="l">
              <a:lnSpc>
                <a:spcPct val="100000"/>
              </a:lnSpc>
              <a:spcBef>
                <a:spcPts val="300"/>
              </a:spcBef>
              <a:spcAft>
                <a:spcPts val="0"/>
              </a:spcAft>
              <a:buSzPts val="1200"/>
              <a:buNone/>
            </a:pPr>
            <a:r>
              <a:rPr b="1" lang="en-US" sz="1200"/>
              <a:t>Recommended method</a:t>
            </a:r>
            <a:endParaRPr/>
          </a:p>
          <a:p>
            <a:pPr indent="-274313" lvl="1" marL="274313" rtl="0" algn="l">
              <a:lnSpc>
                <a:spcPct val="100000"/>
              </a:lnSpc>
              <a:spcBef>
                <a:spcPts val="300"/>
              </a:spcBef>
              <a:spcAft>
                <a:spcPts val="0"/>
              </a:spcAft>
              <a:buSzPts val="1200"/>
              <a:buChar char="•"/>
            </a:pPr>
            <a:r>
              <a:rPr lang="en-US" sz="1200"/>
              <a:t>Total hangar time</a:t>
            </a:r>
            <a:endParaRPr/>
          </a:p>
          <a:p>
            <a:pPr indent="-274313" lvl="2" marL="548626" rtl="0" algn="l">
              <a:lnSpc>
                <a:spcPct val="100000"/>
              </a:lnSpc>
              <a:spcBef>
                <a:spcPts val="300"/>
              </a:spcBef>
              <a:spcAft>
                <a:spcPts val="0"/>
              </a:spcAft>
              <a:buSzPts val="1200"/>
              <a:buFont typeface="Arial"/>
              <a:buChar char="•"/>
            </a:pPr>
            <a:r>
              <a:rPr lang="en-US" sz="1200"/>
              <a:t>4 days for 737</a:t>
            </a:r>
            <a:endParaRPr/>
          </a:p>
          <a:p>
            <a:pPr indent="-274313" lvl="2" marL="548626" rtl="0" algn="l">
              <a:lnSpc>
                <a:spcPct val="100000"/>
              </a:lnSpc>
              <a:spcBef>
                <a:spcPts val="300"/>
              </a:spcBef>
              <a:spcAft>
                <a:spcPts val="0"/>
              </a:spcAft>
              <a:buSzPts val="1200"/>
              <a:buFont typeface="Arial"/>
              <a:buChar char="•"/>
            </a:pPr>
            <a:r>
              <a:rPr lang="en-US" sz="1200"/>
              <a:t>5 days for 757</a:t>
            </a:r>
            <a:endParaRPr/>
          </a:p>
          <a:p>
            <a:pPr indent="-274313" lvl="2" marL="548626" rtl="0" algn="l">
              <a:lnSpc>
                <a:spcPct val="100000"/>
              </a:lnSpc>
              <a:spcBef>
                <a:spcPts val="300"/>
              </a:spcBef>
              <a:spcAft>
                <a:spcPts val="0"/>
              </a:spcAft>
              <a:buSzPts val="1200"/>
              <a:buFont typeface="Arial"/>
              <a:buChar char="•"/>
            </a:pPr>
            <a:r>
              <a:rPr lang="en-US" sz="1200"/>
              <a:t>8 days for 767</a:t>
            </a:r>
            <a:endParaRPr/>
          </a:p>
          <a:p>
            <a:pPr indent="-274313" lvl="1" marL="274313" rtl="0" algn="l">
              <a:lnSpc>
                <a:spcPct val="100000"/>
              </a:lnSpc>
              <a:spcBef>
                <a:spcPts val="300"/>
              </a:spcBef>
              <a:spcAft>
                <a:spcPts val="0"/>
              </a:spcAft>
              <a:buSzPts val="1200"/>
              <a:buFont typeface="Arial"/>
              <a:buChar char="•"/>
            </a:pPr>
            <a:r>
              <a:rPr lang="en-US" sz="1200"/>
              <a:t>Total labor cost</a:t>
            </a:r>
            <a:endParaRPr/>
          </a:p>
          <a:p>
            <a:pPr indent="-274313" lvl="2" marL="548626" rtl="0" algn="l">
              <a:lnSpc>
                <a:spcPct val="100000"/>
              </a:lnSpc>
              <a:spcBef>
                <a:spcPts val="300"/>
              </a:spcBef>
              <a:spcAft>
                <a:spcPts val="0"/>
              </a:spcAft>
              <a:buSzPts val="1200"/>
              <a:buFont typeface="Arial"/>
              <a:buChar char="•"/>
            </a:pPr>
            <a:r>
              <a:rPr lang="en-US" sz="1200"/>
              <a:t>$320,000 for 737</a:t>
            </a:r>
            <a:endParaRPr/>
          </a:p>
          <a:p>
            <a:pPr indent="-274313" lvl="2" marL="548626" rtl="0" algn="l">
              <a:lnSpc>
                <a:spcPct val="100000"/>
              </a:lnSpc>
              <a:spcBef>
                <a:spcPts val="300"/>
              </a:spcBef>
              <a:spcAft>
                <a:spcPts val="0"/>
              </a:spcAft>
              <a:buSzPts val="1200"/>
              <a:buFont typeface="Arial"/>
              <a:buChar char="•"/>
            </a:pPr>
            <a:r>
              <a:rPr lang="en-US" sz="1200"/>
              <a:t>$500,000 for 757</a:t>
            </a:r>
            <a:endParaRPr/>
          </a:p>
          <a:p>
            <a:pPr indent="-274313" lvl="2" marL="548626" rtl="0" algn="l">
              <a:lnSpc>
                <a:spcPct val="100000"/>
              </a:lnSpc>
              <a:spcBef>
                <a:spcPts val="300"/>
              </a:spcBef>
              <a:spcAft>
                <a:spcPts val="0"/>
              </a:spcAft>
              <a:buSzPts val="1200"/>
              <a:buFont typeface="Arial"/>
              <a:buChar char="•"/>
            </a:pPr>
            <a:r>
              <a:rPr lang="en-US" sz="1200"/>
              <a:t>$640,000 for 767</a:t>
            </a:r>
            <a:endParaRPr/>
          </a:p>
          <a:p>
            <a:pPr indent="0" lvl="1" marL="0" rtl="0" algn="l">
              <a:lnSpc>
                <a:spcPct val="100000"/>
              </a:lnSpc>
              <a:spcBef>
                <a:spcPts val="300"/>
              </a:spcBef>
              <a:spcAft>
                <a:spcPts val="0"/>
              </a:spcAft>
              <a:buSzPts val="1200"/>
              <a:buNone/>
            </a:pPr>
            <a:r>
              <a:t/>
            </a:r>
            <a:endParaRPr sz="1200"/>
          </a:p>
        </p:txBody>
      </p:sp>
      <p:sp>
        <p:nvSpPr>
          <p:cNvPr id="583" name="Google Shape;583;p31"/>
          <p:cNvSpPr txBox="1"/>
          <p:nvPr>
            <p:ph idx="3" type="body"/>
          </p:nvPr>
        </p:nvSpPr>
        <p:spPr>
          <a:xfrm>
            <a:off x="465670" y="1015291"/>
            <a:ext cx="4010077"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Insights – Exhibit A</a:t>
            </a:r>
            <a:endParaRPr/>
          </a:p>
        </p:txBody>
      </p:sp>
      <p:sp>
        <p:nvSpPr>
          <p:cNvPr id="584" name="Google Shape;584;p31"/>
          <p:cNvSpPr txBox="1"/>
          <p:nvPr>
            <p:ph idx="4" type="body"/>
          </p:nvPr>
        </p:nvSpPr>
        <p:spPr>
          <a:xfrm>
            <a:off x="4695825" y="1016486"/>
            <a:ext cx="4010077"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Insights – Exhibit B</a:t>
            </a:r>
            <a:endParaRPr/>
          </a:p>
        </p:txBody>
      </p:sp>
      <p:sp>
        <p:nvSpPr>
          <p:cNvPr id="585" name="Google Shape;585;p31"/>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sp>
        <p:nvSpPr>
          <p:cNvPr id="590" name="Google Shape;590;p32"/>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Aircraft Hangar – Recommended Solution</a:t>
            </a:r>
            <a:endParaRPr/>
          </a:p>
        </p:txBody>
      </p:sp>
      <p:sp>
        <p:nvSpPr>
          <p:cNvPr id="591" name="Google Shape;591;p32"/>
          <p:cNvSpPr txBox="1"/>
          <p:nvPr>
            <p:ph idx="1" type="body"/>
          </p:nvPr>
        </p:nvSpPr>
        <p:spPr>
          <a:xfrm>
            <a:off x="381001" y="4110784"/>
            <a:ext cx="8341656" cy="2182282"/>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11437" lvl="0" marL="11437" rtl="0" algn="l">
              <a:lnSpc>
                <a:spcPct val="100000"/>
              </a:lnSpc>
              <a:spcBef>
                <a:spcPts val="0"/>
              </a:spcBef>
              <a:spcAft>
                <a:spcPts val="0"/>
              </a:spcAft>
              <a:buSzPts val="1400"/>
              <a:buFont typeface="Arial"/>
              <a:buChar char="•"/>
            </a:pPr>
            <a:r>
              <a:rPr lang="en-US"/>
              <a:t>Secure maintenance contracts with airlines which use the 757</a:t>
            </a:r>
            <a:endParaRPr/>
          </a:p>
          <a:p>
            <a:pPr indent="-285750" lvl="1" marL="285750" rtl="0" algn="l">
              <a:lnSpc>
                <a:spcPct val="100000"/>
              </a:lnSpc>
              <a:spcBef>
                <a:spcPts val="300"/>
              </a:spcBef>
              <a:spcAft>
                <a:spcPts val="0"/>
              </a:spcAft>
              <a:buSzPts val="1400"/>
              <a:buFont typeface="Arial"/>
              <a:buChar char="•"/>
            </a:pPr>
            <a:r>
              <a:rPr lang="en-US"/>
              <a:t>Assess pricing of competitors to align daily contribution margin to be “indifferent” between the different aircrafts</a:t>
            </a:r>
            <a:endParaRPr/>
          </a:p>
        </p:txBody>
      </p:sp>
      <p:sp>
        <p:nvSpPr>
          <p:cNvPr id="592" name="Google Shape;592;p32"/>
          <p:cNvSpPr txBox="1"/>
          <p:nvPr>
            <p:ph idx="2" type="body"/>
          </p:nvPr>
        </p:nvSpPr>
        <p:spPr>
          <a:xfrm>
            <a:off x="368302" y="1311435"/>
            <a:ext cx="4107445" cy="2367609"/>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Font typeface="Calibri"/>
              <a:buNone/>
            </a:pPr>
            <a:r>
              <a:rPr lang="en-US"/>
              <a:t>Aircraft Hangar should attempt to sell 757 work, as it is most profitable. It would be able to reliably earn $81.25 million.</a:t>
            </a:r>
            <a:endParaRPr/>
          </a:p>
        </p:txBody>
      </p:sp>
      <p:sp>
        <p:nvSpPr>
          <p:cNvPr id="593" name="Google Shape;593;p32"/>
          <p:cNvSpPr txBox="1"/>
          <p:nvPr>
            <p:ph idx="3" type="body"/>
          </p:nvPr>
        </p:nvSpPr>
        <p:spPr>
          <a:xfrm>
            <a:off x="4596063" y="1311435"/>
            <a:ext cx="4110955" cy="2367608"/>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11437" lvl="0" marL="11437" rtl="0" algn="l">
              <a:lnSpc>
                <a:spcPct val="100000"/>
              </a:lnSpc>
              <a:spcBef>
                <a:spcPts val="0"/>
              </a:spcBef>
              <a:spcAft>
                <a:spcPts val="0"/>
              </a:spcAft>
              <a:buSzPts val="1400"/>
              <a:buFont typeface="Arial"/>
              <a:buChar char="•"/>
            </a:pPr>
            <a:r>
              <a:rPr lang="en-US"/>
              <a:t>Popularity of aircraft? Is demand there?</a:t>
            </a:r>
            <a:endParaRPr/>
          </a:p>
          <a:p>
            <a:pPr indent="-285750" lvl="1" marL="285750" rtl="0" algn="l">
              <a:lnSpc>
                <a:spcPct val="100000"/>
              </a:lnSpc>
              <a:spcBef>
                <a:spcPts val="300"/>
              </a:spcBef>
              <a:spcAft>
                <a:spcPts val="0"/>
              </a:spcAft>
              <a:buSzPts val="1400"/>
              <a:buFont typeface="Arial"/>
              <a:buChar char="•"/>
            </a:pPr>
            <a:r>
              <a:rPr lang="en-US"/>
              <a:t>Are the mechanics knowledgeable and trained in the 757?</a:t>
            </a:r>
            <a:endParaRPr/>
          </a:p>
          <a:p>
            <a:pPr indent="-285750" lvl="1" marL="285750" rtl="0" algn="l">
              <a:lnSpc>
                <a:spcPct val="100000"/>
              </a:lnSpc>
              <a:spcBef>
                <a:spcPts val="300"/>
              </a:spcBef>
              <a:spcAft>
                <a:spcPts val="0"/>
              </a:spcAft>
              <a:buSzPts val="1400"/>
              <a:buFont typeface="Arial"/>
              <a:buChar char="•"/>
            </a:pPr>
            <a:r>
              <a:rPr lang="en-US"/>
              <a:t>Is there a reason the 757 was not in as much before? Maybe strong competition?</a:t>
            </a:r>
            <a:endParaRPr/>
          </a:p>
        </p:txBody>
      </p:sp>
      <p:sp>
        <p:nvSpPr>
          <p:cNvPr id="594" name="Google Shape;594;p32"/>
          <p:cNvSpPr txBox="1"/>
          <p:nvPr>
            <p:ph idx="4" type="body"/>
          </p:nvPr>
        </p:nvSpPr>
        <p:spPr>
          <a:xfrm>
            <a:off x="442331" y="1022684"/>
            <a:ext cx="4010077"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Conclusion</a:t>
            </a:r>
            <a:endParaRPr/>
          </a:p>
        </p:txBody>
      </p:sp>
      <p:sp>
        <p:nvSpPr>
          <p:cNvPr id="595" name="Google Shape;595;p32"/>
          <p:cNvSpPr txBox="1"/>
          <p:nvPr>
            <p:ph idx="5" type="body"/>
          </p:nvPr>
        </p:nvSpPr>
        <p:spPr>
          <a:xfrm>
            <a:off x="4680284" y="1022684"/>
            <a:ext cx="4010077"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Risks (could name several)</a:t>
            </a:r>
            <a:endParaRPr/>
          </a:p>
        </p:txBody>
      </p:sp>
      <p:sp>
        <p:nvSpPr>
          <p:cNvPr id="596" name="Google Shape;596;p32"/>
          <p:cNvSpPr txBox="1"/>
          <p:nvPr>
            <p:ph idx="6" type="body"/>
          </p:nvPr>
        </p:nvSpPr>
        <p:spPr>
          <a:xfrm>
            <a:off x="465670" y="3840462"/>
            <a:ext cx="8224691"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Next steps</a:t>
            </a:r>
            <a:endParaRPr/>
          </a:p>
        </p:txBody>
      </p:sp>
      <p:sp>
        <p:nvSpPr>
          <p:cNvPr id="597" name="Google Shape;597;p32"/>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sp>
        <p:nvSpPr>
          <p:cNvPr id="602" name="Google Shape;602;p33"/>
          <p:cNvSpPr txBox="1"/>
          <p:nvPr>
            <p:ph idx="1" type="body"/>
          </p:nvPr>
        </p:nvSpPr>
        <p:spPr>
          <a:xfrm>
            <a:off x="381001" y="1283366"/>
            <a:ext cx="8341656" cy="2182282"/>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Font typeface="Calibri"/>
              <a:buNone/>
            </a:pPr>
            <a:r>
              <a:rPr lang="en-US"/>
              <a:t>Our client, Trust Studios, is looking to purchase a movie studio and has hired our firm for advice. Trust Studios was founded this year by Ethan Trust, a self-made billionaire, after attending this years Academy Awards.</a:t>
            </a:r>
            <a:endParaRPr/>
          </a:p>
          <a:p>
            <a:pPr indent="0" lvl="0" marL="0" rtl="0" algn="l">
              <a:lnSpc>
                <a:spcPct val="100000"/>
              </a:lnSpc>
              <a:spcBef>
                <a:spcPts val="300"/>
              </a:spcBef>
              <a:spcAft>
                <a:spcPts val="0"/>
              </a:spcAft>
              <a:buSzPts val="1400"/>
              <a:buFont typeface="Calibri"/>
              <a:buNone/>
            </a:pPr>
            <a:r>
              <a:t/>
            </a:r>
            <a:endParaRPr/>
          </a:p>
        </p:txBody>
      </p:sp>
      <p:sp>
        <p:nvSpPr>
          <p:cNvPr id="603" name="Google Shape;603;p33"/>
          <p:cNvSpPr txBox="1"/>
          <p:nvPr>
            <p:ph idx="2" type="body"/>
          </p:nvPr>
        </p:nvSpPr>
        <p:spPr>
          <a:xfrm>
            <a:off x="368302" y="3910260"/>
            <a:ext cx="4107445" cy="2367609"/>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1" marL="1588" rtl="0" algn="l">
              <a:lnSpc>
                <a:spcPct val="100000"/>
              </a:lnSpc>
              <a:spcBef>
                <a:spcPts val="0"/>
              </a:spcBef>
              <a:spcAft>
                <a:spcPts val="0"/>
              </a:spcAft>
              <a:buSzPts val="1400"/>
              <a:buNone/>
            </a:pPr>
            <a:r>
              <a:rPr b="1" lang="en-US"/>
              <a:t>Difficulty:</a:t>
            </a:r>
            <a:r>
              <a:rPr lang="en-US"/>
              <a:t> Hard</a:t>
            </a:r>
            <a:endParaRPr b="1"/>
          </a:p>
          <a:p>
            <a:pPr indent="0" lvl="1" marL="1588" rtl="0" algn="l">
              <a:lnSpc>
                <a:spcPct val="100000"/>
              </a:lnSpc>
              <a:spcBef>
                <a:spcPts val="300"/>
              </a:spcBef>
              <a:spcAft>
                <a:spcPts val="0"/>
              </a:spcAft>
              <a:buSzPts val="1400"/>
              <a:buNone/>
            </a:pPr>
            <a:r>
              <a:t/>
            </a:r>
            <a:endParaRPr/>
          </a:p>
          <a:p>
            <a:pPr indent="0" lvl="1" marL="1588" rtl="0" algn="l">
              <a:lnSpc>
                <a:spcPct val="100000"/>
              </a:lnSpc>
              <a:spcBef>
                <a:spcPts val="300"/>
              </a:spcBef>
              <a:spcAft>
                <a:spcPts val="0"/>
              </a:spcAft>
              <a:buSzPts val="1400"/>
              <a:buNone/>
            </a:pPr>
            <a:r>
              <a:rPr b="1" lang="en-US"/>
              <a:t>Case Format: </a:t>
            </a:r>
            <a:r>
              <a:rPr lang="en-US"/>
              <a:t>Interviewee Led / Profitability</a:t>
            </a:r>
            <a:endParaRPr/>
          </a:p>
          <a:p>
            <a:pPr indent="0" lvl="1" marL="1588" rtl="0" algn="l">
              <a:lnSpc>
                <a:spcPct val="100000"/>
              </a:lnSpc>
              <a:spcBef>
                <a:spcPts val="300"/>
              </a:spcBef>
              <a:spcAft>
                <a:spcPts val="0"/>
              </a:spcAft>
              <a:buSzPts val="1400"/>
              <a:buNone/>
            </a:pPr>
            <a:r>
              <a:t/>
            </a:r>
            <a:endParaRPr/>
          </a:p>
          <a:p>
            <a:pPr indent="0" lvl="1" marL="1588" rtl="0" algn="l">
              <a:lnSpc>
                <a:spcPct val="100000"/>
              </a:lnSpc>
              <a:spcBef>
                <a:spcPts val="300"/>
              </a:spcBef>
              <a:spcAft>
                <a:spcPts val="0"/>
              </a:spcAft>
              <a:buSzPts val="1400"/>
              <a:buNone/>
            </a:pPr>
            <a:r>
              <a:rPr b="1" lang="en-US"/>
              <a:t>Concepts Being Tested:</a:t>
            </a:r>
            <a:r>
              <a:rPr lang="en-US"/>
              <a:t> Valuation, Chart Interpretation, Trend Analysis</a:t>
            </a:r>
            <a:endParaRPr/>
          </a:p>
          <a:p>
            <a:pPr indent="0" lvl="0" marL="0" rtl="0" algn="l">
              <a:lnSpc>
                <a:spcPct val="100000"/>
              </a:lnSpc>
              <a:spcBef>
                <a:spcPts val="300"/>
              </a:spcBef>
              <a:spcAft>
                <a:spcPts val="0"/>
              </a:spcAft>
              <a:buSzPts val="1400"/>
              <a:buFont typeface="Calibri"/>
              <a:buNone/>
            </a:pPr>
            <a:r>
              <a:t/>
            </a:r>
            <a:endParaRPr/>
          </a:p>
        </p:txBody>
      </p:sp>
      <p:sp>
        <p:nvSpPr>
          <p:cNvPr id="604" name="Google Shape;604;p33"/>
          <p:cNvSpPr txBox="1"/>
          <p:nvPr>
            <p:ph idx="3" type="body"/>
          </p:nvPr>
        </p:nvSpPr>
        <p:spPr>
          <a:xfrm>
            <a:off x="4596063" y="3910260"/>
            <a:ext cx="4110955" cy="2367608"/>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1" marL="1588" rtl="0" algn="l">
              <a:lnSpc>
                <a:spcPct val="100000"/>
              </a:lnSpc>
              <a:spcBef>
                <a:spcPts val="0"/>
              </a:spcBef>
              <a:spcAft>
                <a:spcPts val="0"/>
              </a:spcAft>
              <a:buSzPts val="1400"/>
              <a:buNone/>
            </a:pPr>
            <a:r>
              <a:rPr lang="en-US"/>
              <a:t>- This case is designed to test a candidate’s ability to analyze charts and prepare them for a written case.</a:t>
            </a:r>
            <a:endParaRPr/>
          </a:p>
          <a:p>
            <a:pPr indent="0" lvl="1" marL="1588" rtl="0" algn="l">
              <a:lnSpc>
                <a:spcPct val="100000"/>
              </a:lnSpc>
              <a:spcBef>
                <a:spcPts val="300"/>
              </a:spcBef>
              <a:spcAft>
                <a:spcPts val="0"/>
              </a:spcAft>
              <a:buSzPts val="1400"/>
              <a:buNone/>
            </a:pPr>
            <a:r>
              <a:rPr lang="en-US"/>
              <a:t>- Allow the candidate to lead the case through the framework then give them a data dump with all the exhibits. This will force the candidate to stay structured and properly synthesize a lot of information at once. Also recommend giving a time limit to discuss the exhibits.</a:t>
            </a:r>
            <a:endParaRPr/>
          </a:p>
          <a:p>
            <a:pPr indent="0" lvl="1" marL="1588" rtl="0" algn="l">
              <a:lnSpc>
                <a:spcPct val="100000"/>
              </a:lnSpc>
              <a:spcBef>
                <a:spcPts val="300"/>
              </a:spcBef>
              <a:spcAft>
                <a:spcPts val="0"/>
              </a:spcAft>
              <a:buSzPts val="1400"/>
              <a:buNone/>
            </a:pPr>
            <a:r>
              <a:rPr lang="en-US"/>
              <a:t>- The candidate should focus on buying a studio that can break even and that is likely to win an Oscar.</a:t>
            </a:r>
            <a:endParaRPr/>
          </a:p>
          <a:p>
            <a:pPr indent="0" lvl="0" marL="0" rtl="0" algn="l">
              <a:lnSpc>
                <a:spcPct val="100000"/>
              </a:lnSpc>
              <a:spcBef>
                <a:spcPts val="300"/>
              </a:spcBef>
              <a:spcAft>
                <a:spcPts val="0"/>
              </a:spcAft>
              <a:buSzPts val="1400"/>
              <a:buFont typeface="Calibri"/>
              <a:buNone/>
            </a:pPr>
            <a:r>
              <a:t/>
            </a:r>
            <a:endParaRPr/>
          </a:p>
        </p:txBody>
      </p:sp>
      <p:sp>
        <p:nvSpPr>
          <p:cNvPr id="605" name="Google Shape;605;p33"/>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 Movie Studio Buyout</a:t>
            </a:r>
            <a:endParaRPr/>
          </a:p>
        </p:txBody>
      </p:sp>
      <p:sp>
        <p:nvSpPr>
          <p:cNvPr id="606" name="Google Shape;606;p33"/>
          <p:cNvSpPr txBox="1"/>
          <p:nvPr>
            <p:ph idx="4" type="body"/>
          </p:nvPr>
        </p:nvSpPr>
        <p:spPr>
          <a:xfrm>
            <a:off x="465670" y="996952"/>
            <a:ext cx="8209098"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Case Prompt</a:t>
            </a:r>
            <a:endParaRPr/>
          </a:p>
        </p:txBody>
      </p:sp>
      <p:sp>
        <p:nvSpPr>
          <p:cNvPr id="607" name="Google Shape;607;p33"/>
          <p:cNvSpPr txBox="1"/>
          <p:nvPr>
            <p:ph idx="5" type="body"/>
          </p:nvPr>
        </p:nvSpPr>
        <p:spPr>
          <a:xfrm>
            <a:off x="465670" y="3621892"/>
            <a:ext cx="4010077"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Case Info</a:t>
            </a:r>
            <a:endParaRPr/>
          </a:p>
        </p:txBody>
      </p:sp>
      <p:sp>
        <p:nvSpPr>
          <p:cNvPr id="608" name="Google Shape;608;p33"/>
          <p:cNvSpPr txBox="1"/>
          <p:nvPr>
            <p:ph idx="6" type="body"/>
          </p:nvPr>
        </p:nvSpPr>
        <p:spPr>
          <a:xfrm>
            <a:off x="4664691" y="3621892"/>
            <a:ext cx="4010077"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Interviewer Guidance</a:t>
            </a:r>
            <a:endParaRPr/>
          </a:p>
        </p:txBody>
      </p:sp>
      <p:sp>
        <p:nvSpPr>
          <p:cNvPr id="609" name="Google Shape;609;p33"/>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p34"/>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Movie Studio Buyout</a:t>
            </a:r>
            <a:endParaRPr/>
          </a:p>
        </p:txBody>
      </p:sp>
      <p:sp>
        <p:nvSpPr>
          <p:cNvPr id="615" name="Google Shape;615;p34"/>
          <p:cNvSpPr txBox="1"/>
          <p:nvPr>
            <p:ph idx="1" type="body"/>
          </p:nvPr>
        </p:nvSpPr>
        <p:spPr>
          <a:xfrm>
            <a:off x="368302" y="1302452"/>
            <a:ext cx="4107445" cy="4972618"/>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274313" lvl="1" marL="274313" rtl="0" algn="l">
              <a:lnSpc>
                <a:spcPct val="100000"/>
              </a:lnSpc>
              <a:spcBef>
                <a:spcPts val="0"/>
              </a:spcBef>
              <a:spcAft>
                <a:spcPts val="0"/>
              </a:spcAft>
              <a:buSzPts val="1400"/>
              <a:buFont typeface="Calibri"/>
              <a:buChar char="-"/>
            </a:pPr>
            <a:r>
              <a:rPr lang="en-US"/>
              <a:t>Trust Studios has not produced any movies and only has 3 employees</a:t>
            </a:r>
            <a:endParaRPr/>
          </a:p>
          <a:p>
            <a:pPr indent="-274313" lvl="1" marL="274313" rtl="0" algn="l">
              <a:lnSpc>
                <a:spcPct val="100000"/>
              </a:lnSpc>
              <a:spcBef>
                <a:spcPts val="300"/>
              </a:spcBef>
              <a:spcAft>
                <a:spcPts val="0"/>
              </a:spcAft>
              <a:buSzPts val="1400"/>
              <a:buFont typeface="Calibri"/>
              <a:buChar char="-"/>
            </a:pPr>
            <a:r>
              <a:rPr lang="en-US"/>
              <a:t>Ethan Trust made his billions building next generation luxury green campers/recreational vehicles</a:t>
            </a:r>
            <a:endParaRPr/>
          </a:p>
          <a:p>
            <a:pPr indent="-274313" lvl="1" marL="274313" rtl="0" algn="l">
              <a:lnSpc>
                <a:spcPct val="100000"/>
              </a:lnSpc>
              <a:spcBef>
                <a:spcPts val="300"/>
              </a:spcBef>
              <a:spcAft>
                <a:spcPts val="0"/>
              </a:spcAft>
              <a:buSzPts val="1400"/>
              <a:buFont typeface="Calibri"/>
              <a:buChar char="-"/>
            </a:pPr>
            <a:r>
              <a:rPr lang="en-US"/>
              <a:t>Mr. Trust was overwhelmed by the glitz and glam of the Academy Awards Ceremony and wants to win an Oscar</a:t>
            </a:r>
            <a:endParaRPr/>
          </a:p>
          <a:p>
            <a:pPr indent="-274313" lvl="1" marL="274313" rtl="0" algn="l">
              <a:lnSpc>
                <a:spcPct val="100000"/>
              </a:lnSpc>
              <a:spcBef>
                <a:spcPts val="300"/>
              </a:spcBef>
              <a:spcAft>
                <a:spcPts val="0"/>
              </a:spcAft>
              <a:buSzPts val="1400"/>
              <a:buFont typeface="Calibri"/>
              <a:buChar char="-"/>
            </a:pPr>
            <a:r>
              <a:rPr lang="en-US"/>
              <a:t>Even Mr. Trust’s philanthropic endeavors have been cash flow positive and he at least wants to break even over 5 years</a:t>
            </a:r>
            <a:endParaRPr/>
          </a:p>
          <a:p>
            <a:pPr indent="-274313" lvl="1" marL="274313" rtl="0" algn="l">
              <a:lnSpc>
                <a:spcPct val="100000"/>
              </a:lnSpc>
              <a:spcBef>
                <a:spcPts val="300"/>
              </a:spcBef>
              <a:spcAft>
                <a:spcPts val="0"/>
              </a:spcAft>
              <a:buSzPts val="1400"/>
              <a:buFont typeface="Calibri"/>
              <a:buChar char="-"/>
            </a:pPr>
            <a:r>
              <a:rPr lang="en-US"/>
              <a:t>Trust Studios was initially targeting LionsGate (LG) because they have won a number of Oscars and are a top ten movie studio</a:t>
            </a:r>
            <a:endParaRPr/>
          </a:p>
          <a:p>
            <a:pPr indent="0" lvl="0" marL="0" rtl="0" algn="l">
              <a:lnSpc>
                <a:spcPct val="100000"/>
              </a:lnSpc>
              <a:spcBef>
                <a:spcPts val="300"/>
              </a:spcBef>
              <a:spcAft>
                <a:spcPts val="0"/>
              </a:spcAft>
              <a:buSzPts val="1400"/>
              <a:buFont typeface="Calibri"/>
              <a:buNone/>
            </a:pPr>
            <a:r>
              <a:t/>
            </a:r>
            <a:endParaRPr/>
          </a:p>
        </p:txBody>
      </p:sp>
      <p:sp>
        <p:nvSpPr>
          <p:cNvPr id="616" name="Google Shape;616;p34"/>
          <p:cNvSpPr txBox="1"/>
          <p:nvPr>
            <p:ph idx="2" type="body"/>
          </p:nvPr>
        </p:nvSpPr>
        <p:spPr>
          <a:xfrm>
            <a:off x="4596063" y="1302453"/>
            <a:ext cx="4110955" cy="4972617"/>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1" marL="1588" rtl="0" algn="l">
              <a:lnSpc>
                <a:spcPct val="100000"/>
              </a:lnSpc>
              <a:spcBef>
                <a:spcPts val="0"/>
              </a:spcBef>
              <a:spcAft>
                <a:spcPts val="0"/>
              </a:spcAft>
              <a:buSzPts val="1400"/>
              <a:buNone/>
            </a:pPr>
            <a:r>
              <a:rPr lang="en-US"/>
              <a:t>Recommend giving the candidate all the handouts at once after they walk through their framework. This will force the candidate to 1. stay structured and refer back to their framework, and 2. analyze, prioritize, and synthesize a large amount of data. A technique to make this transition is after they walk through the framework, say something such as, “I think that framework makes sense; I am excited to see your recommendation at the end. We have done a little research into the movie studio industry and have come up with this raw data but are not sure how to interpret it. Hopefully some of it fits in to your framework and can go toward your recommendation. Our Mr. Trust is visiting us in 15 minutes for initial recommendations, what are your thoughts?”</a:t>
            </a:r>
            <a:endParaRPr/>
          </a:p>
          <a:p>
            <a:pPr indent="0" lvl="1" marL="1588" rtl="0" algn="l">
              <a:lnSpc>
                <a:spcPct val="100000"/>
              </a:lnSpc>
              <a:spcBef>
                <a:spcPts val="300"/>
              </a:spcBef>
              <a:spcAft>
                <a:spcPts val="0"/>
              </a:spcAft>
              <a:buSzPts val="1400"/>
              <a:buNone/>
            </a:pPr>
            <a:r>
              <a:t/>
            </a:r>
            <a:endParaRPr/>
          </a:p>
          <a:p>
            <a:pPr indent="0" lvl="1" marL="1588" rtl="0" algn="l">
              <a:lnSpc>
                <a:spcPct val="100000"/>
              </a:lnSpc>
              <a:spcBef>
                <a:spcPts val="300"/>
              </a:spcBef>
              <a:spcAft>
                <a:spcPts val="0"/>
              </a:spcAft>
              <a:buSzPts val="1400"/>
              <a:buNone/>
            </a:pPr>
            <a:r>
              <a:rPr lang="en-US"/>
              <a:t>The case presents itself initially to be about profits, but little calculation is needed to present good recommendations.</a:t>
            </a:r>
            <a:endParaRPr/>
          </a:p>
          <a:p>
            <a:pPr indent="0" lvl="1" marL="1588" rtl="0" algn="l">
              <a:lnSpc>
                <a:spcPct val="100000"/>
              </a:lnSpc>
              <a:spcBef>
                <a:spcPts val="300"/>
              </a:spcBef>
              <a:spcAft>
                <a:spcPts val="0"/>
              </a:spcAft>
              <a:buSzPts val="1400"/>
              <a:buNone/>
            </a:pPr>
            <a:r>
              <a:rPr lang="en-US"/>
              <a:t>If the candidate does not ask, recommend telling them the initial target of LionsGate (LG).</a:t>
            </a:r>
            <a:endParaRPr/>
          </a:p>
          <a:p>
            <a:pPr indent="0" lvl="0" marL="0" rtl="0" algn="l">
              <a:lnSpc>
                <a:spcPct val="100000"/>
              </a:lnSpc>
              <a:spcBef>
                <a:spcPts val="300"/>
              </a:spcBef>
              <a:spcAft>
                <a:spcPts val="0"/>
              </a:spcAft>
              <a:buSzPts val="1400"/>
              <a:buFont typeface="Calibri"/>
              <a:buNone/>
            </a:pPr>
            <a:r>
              <a:t/>
            </a:r>
            <a:endParaRPr/>
          </a:p>
        </p:txBody>
      </p:sp>
      <p:sp>
        <p:nvSpPr>
          <p:cNvPr id="617" name="Google Shape;617;p34"/>
          <p:cNvSpPr txBox="1"/>
          <p:nvPr>
            <p:ph idx="3" type="body"/>
          </p:nvPr>
        </p:nvSpPr>
        <p:spPr>
          <a:xfrm>
            <a:off x="465670" y="1015291"/>
            <a:ext cx="4010077"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Clarifying Information</a:t>
            </a:r>
            <a:endParaRPr/>
          </a:p>
        </p:txBody>
      </p:sp>
      <p:sp>
        <p:nvSpPr>
          <p:cNvPr id="618" name="Google Shape;618;p34"/>
          <p:cNvSpPr txBox="1"/>
          <p:nvPr>
            <p:ph idx="4" type="body"/>
          </p:nvPr>
        </p:nvSpPr>
        <p:spPr>
          <a:xfrm>
            <a:off x="4695825" y="1016486"/>
            <a:ext cx="4010077"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Guide to Handouts</a:t>
            </a:r>
            <a:endParaRPr/>
          </a:p>
        </p:txBody>
      </p:sp>
      <p:sp>
        <p:nvSpPr>
          <p:cNvPr id="619" name="Google Shape;619;p34"/>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sp>
        <p:nvSpPr>
          <p:cNvPr id="624" name="Google Shape;624;p35"/>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Movie Studio Buyout – Potential Framework</a:t>
            </a:r>
            <a:endParaRPr/>
          </a:p>
        </p:txBody>
      </p:sp>
      <p:sp>
        <p:nvSpPr>
          <p:cNvPr id="625" name="Google Shape;625;p35"/>
          <p:cNvSpPr/>
          <p:nvPr/>
        </p:nvSpPr>
        <p:spPr>
          <a:xfrm>
            <a:off x="2652009" y="1064648"/>
            <a:ext cx="3968318" cy="363984"/>
          </a:xfrm>
          <a:prstGeom prst="rect">
            <a:avLst/>
          </a:prstGeom>
          <a:solidFill>
            <a:srgbClr val="A5A5A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accent5"/>
                </a:solidFill>
                <a:latin typeface="Georgia"/>
                <a:ea typeface="Georgia"/>
                <a:cs typeface="Georgia"/>
                <a:sym typeface="Georgia"/>
              </a:rPr>
              <a:t>Should Trust Studios purchase LG</a:t>
            </a:r>
            <a:endParaRPr b="0" i="0" sz="1400" u="none" cap="none" strike="noStrike">
              <a:solidFill>
                <a:srgbClr val="000000"/>
              </a:solidFill>
              <a:latin typeface="Arial"/>
              <a:ea typeface="Arial"/>
              <a:cs typeface="Arial"/>
              <a:sym typeface="Arial"/>
            </a:endParaRPr>
          </a:p>
        </p:txBody>
      </p:sp>
      <p:sp>
        <p:nvSpPr>
          <p:cNvPr id="626" name="Google Shape;626;p35"/>
          <p:cNvSpPr/>
          <p:nvPr/>
        </p:nvSpPr>
        <p:spPr>
          <a:xfrm>
            <a:off x="6507332" y="1652727"/>
            <a:ext cx="2460593" cy="363984"/>
          </a:xfrm>
          <a:prstGeom prst="rect">
            <a:avLst/>
          </a:prstGeom>
          <a:solidFill>
            <a:srgbClr val="BFBFB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accent5"/>
                </a:solidFill>
                <a:latin typeface="Georgia"/>
                <a:ea typeface="Georgia"/>
                <a:cs typeface="Georgia"/>
                <a:sym typeface="Georgia"/>
              </a:rPr>
              <a:t>Oscar chances</a:t>
            </a:r>
            <a:endParaRPr b="0" i="0" sz="1400" u="none" cap="none" strike="noStrike">
              <a:solidFill>
                <a:srgbClr val="000000"/>
              </a:solidFill>
              <a:latin typeface="Arial"/>
              <a:ea typeface="Arial"/>
              <a:cs typeface="Arial"/>
              <a:sym typeface="Arial"/>
            </a:endParaRPr>
          </a:p>
        </p:txBody>
      </p:sp>
      <p:sp>
        <p:nvSpPr>
          <p:cNvPr id="627" name="Google Shape;627;p35"/>
          <p:cNvSpPr/>
          <p:nvPr/>
        </p:nvSpPr>
        <p:spPr>
          <a:xfrm>
            <a:off x="119849" y="1654079"/>
            <a:ext cx="6156664" cy="363984"/>
          </a:xfrm>
          <a:prstGeom prst="rect">
            <a:avLst/>
          </a:prstGeom>
          <a:solidFill>
            <a:srgbClr val="BFBFB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accent5"/>
                </a:solidFill>
                <a:latin typeface="Georgia"/>
                <a:ea typeface="Georgia"/>
                <a:cs typeface="Georgia"/>
                <a:sym typeface="Georgia"/>
              </a:rPr>
              <a:t>LG profitability</a:t>
            </a:r>
            <a:endParaRPr b="0" i="0" sz="1400" u="none" cap="none" strike="noStrike">
              <a:solidFill>
                <a:srgbClr val="000000"/>
              </a:solidFill>
              <a:latin typeface="Arial"/>
              <a:ea typeface="Arial"/>
              <a:cs typeface="Arial"/>
              <a:sym typeface="Arial"/>
            </a:endParaRPr>
          </a:p>
        </p:txBody>
      </p:sp>
      <p:sp>
        <p:nvSpPr>
          <p:cNvPr id="628" name="Google Shape;628;p35"/>
          <p:cNvSpPr/>
          <p:nvPr/>
        </p:nvSpPr>
        <p:spPr>
          <a:xfrm>
            <a:off x="6507332" y="2595592"/>
            <a:ext cx="2460593" cy="476563"/>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accent5"/>
                </a:solidFill>
                <a:latin typeface="Georgia"/>
                <a:ea typeface="Georgia"/>
                <a:cs typeface="Georgia"/>
                <a:sym typeface="Georgia"/>
              </a:rPr>
              <a:t>LG is producing movie types that win awards</a:t>
            </a:r>
            <a:endParaRPr b="0" i="0" sz="1400" u="none" cap="none" strike="noStrike">
              <a:solidFill>
                <a:srgbClr val="000000"/>
              </a:solidFill>
              <a:latin typeface="Arial"/>
              <a:ea typeface="Arial"/>
              <a:cs typeface="Arial"/>
              <a:sym typeface="Arial"/>
            </a:endParaRPr>
          </a:p>
        </p:txBody>
      </p:sp>
      <p:sp>
        <p:nvSpPr>
          <p:cNvPr id="629" name="Google Shape;629;p35"/>
          <p:cNvSpPr/>
          <p:nvPr/>
        </p:nvSpPr>
        <p:spPr>
          <a:xfrm>
            <a:off x="6507332" y="3207737"/>
            <a:ext cx="2460593" cy="472253"/>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accent5"/>
                </a:solidFill>
                <a:latin typeface="Georgia"/>
                <a:ea typeface="Georgia"/>
                <a:cs typeface="Georgia"/>
                <a:sym typeface="Georgia"/>
              </a:rPr>
              <a:t>LG has won awards in the past</a:t>
            </a:r>
            <a:endParaRPr b="0" i="0" sz="1400" u="none" cap="none" strike="noStrike">
              <a:solidFill>
                <a:srgbClr val="000000"/>
              </a:solidFill>
              <a:latin typeface="Arial"/>
              <a:ea typeface="Arial"/>
              <a:cs typeface="Arial"/>
              <a:sym typeface="Arial"/>
            </a:endParaRPr>
          </a:p>
        </p:txBody>
      </p:sp>
      <p:sp>
        <p:nvSpPr>
          <p:cNvPr id="630" name="Google Shape;630;p35"/>
          <p:cNvSpPr/>
          <p:nvPr/>
        </p:nvSpPr>
        <p:spPr>
          <a:xfrm>
            <a:off x="119849" y="3837988"/>
            <a:ext cx="2969578" cy="476563"/>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accent5"/>
                </a:solidFill>
                <a:latin typeface="Georgia"/>
                <a:ea typeface="Georgia"/>
                <a:cs typeface="Georgia"/>
                <a:sym typeface="Georgia"/>
              </a:rPr>
              <a:t>Ticket price (national or by location)</a:t>
            </a:r>
            <a:endParaRPr b="0" i="0" sz="1400" u="none" cap="none" strike="noStrike">
              <a:solidFill>
                <a:srgbClr val="000000"/>
              </a:solidFill>
              <a:latin typeface="Arial"/>
              <a:ea typeface="Arial"/>
              <a:cs typeface="Arial"/>
              <a:sym typeface="Arial"/>
            </a:endParaRPr>
          </a:p>
        </p:txBody>
      </p:sp>
      <p:sp>
        <p:nvSpPr>
          <p:cNvPr id="631" name="Google Shape;631;p35"/>
          <p:cNvSpPr/>
          <p:nvPr/>
        </p:nvSpPr>
        <p:spPr>
          <a:xfrm>
            <a:off x="119849" y="2077922"/>
            <a:ext cx="2969579" cy="363984"/>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accent5"/>
                </a:solidFill>
                <a:latin typeface="Georgia"/>
                <a:ea typeface="Georgia"/>
                <a:cs typeface="Georgia"/>
                <a:sym typeface="Georgia"/>
              </a:rPr>
              <a:t>Gross revenue</a:t>
            </a:r>
            <a:endParaRPr b="0" i="0" sz="1400" u="none" cap="none" strike="noStrike">
              <a:solidFill>
                <a:srgbClr val="000000"/>
              </a:solidFill>
              <a:latin typeface="Arial"/>
              <a:ea typeface="Arial"/>
              <a:cs typeface="Arial"/>
              <a:sym typeface="Arial"/>
            </a:endParaRPr>
          </a:p>
        </p:txBody>
      </p:sp>
      <p:sp>
        <p:nvSpPr>
          <p:cNvPr id="632" name="Google Shape;632;p35"/>
          <p:cNvSpPr/>
          <p:nvPr/>
        </p:nvSpPr>
        <p:spPr>
          <a:xfrm>
            <a:off x="3409025" y="2077922"/>
            <a:ext cx="2867488" cy="363984"/>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accent5"/>
                </a:solidFill>
                <a:latin typeface="Georgia"/>
                <a:ea typeface="Georgia"/>
                <a:cs typeface="Georgia"/>
                <a:sym typeface="Georgia"/>
              </a:rPr>
              <a:t>Costs</a:t>
            </a:r>
            <a:endParaRPr b="0" i="0" sz="1400" u="none" cap="none" strike="noStrike">
              <a:solidFill>
                <a:srgbClr val="000000"/>
              </a:solidFill>
              <a:latin typeface="Arial"/>
              <a:ea typeface="Arial"/>
              <a:cs typeface="Arial"/>
              <a:sym typeface="Arial"/>
            </a:endParaRPr>
          </a:p>
        </p:txBody>
      </p:sp>
      <p:sp>
        <p:nvSpPr>
          <p:cNvPr id="633" name="Google Shape;633;p35"/>
          <p:cNvSpPr/>
          <p:nvPr/>
        </p:nvSpPr>
        <p:spPr>
          <a:xfrm>
            <a:off x="119849" y="2595593"/>
            <a:ext cx="2969578" cy="476563"/>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accent5"/>
                </a:solidFill>
                <a:latin typeface="Georgia"/>
                <a:ea typeface="Georgia"/>
                <a:cs typeface="Georgia"/>
                <a:sym typeface="Georgia"/>
              </a:rPr>
              <a:t>Number of tickets sold per movie</a:t>
            </a:r>
            <a:endParaRPr b="0" i="0" sz="1400" u="none" cap="none" strike="noStrike">
              <a:solidFill>
                <a:srgbClr val="000000"/>
              </a:solidFill>
              <a:latin typeface="Arial"/>
              <a:ea typeface="Arial"/>
              <a:cs typeface="Arial"/>
              <a:sym typeface="Arial"/>
            </a:endParaRPr>
          </a:p>
        </p:txBody>
      </p:sp>
      <p:sp>
        <p:nvSpPr>
          <p:cNvPr id="634" name="Google Shape;634;p35"/>
          <p:cNvSpPr/>
          <p:nvPr/>
        </p:nvSpPr>
        <p:spPr>
          <a:xfrm>
            <a:off x="119849" y="4468238"/>
            <a:ext cx="2969578" cy="476563"/>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accent5"/>
                </a:solidFill>
                <a:latin typeface="Georgia"/>
                <a:ea typeface="Georgia"/>
                <a:cs typeface="Georgia"/>
                <a:sym typeface="Georgia"/>
              </a:rPr>
              <a:t>Number of movies produced</a:t>
            </a:r>
            <a:endParaRPr b="0" i="0" sz="1400" u="none" cap="none" strike="noStrike">
              <a:solidFill>
                <a:srgbClr val="000000"/>
              </a:solidFill>
              <a:latin typeface="Arial"/>
              <a:ea typeface="Arial"/>
              <a:cs typeface="Arial"/>
              <a:sym typeface="Arial"/>
            </a:endParaRPr>
          </a:p>
        </p:txBody>
      </p:sp>
      <p:sp>
        <p:nvSpPr>
          <p:cNvPr id="635" name="Google Shape;635;p35"/>
          <p:cNvSpPr/>
          <p:nvPr/>
        </p:nvSpPr>
        <p:spPr>
          <a:xfrm>
            <a:off x="370646" y="3207738"/>
            <a:ext cx="2718781" cy="476563"/>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accent5"/>
                </a:solidFill>
                <a:latin typeface="Georgia"/>
                <a:ea typeface="Georgia"/>
                <a:cs typeface="Georgia"/>
                <a:sym typeface="Georgia"/>
              </a:rPr>
              <a:t>Mix of movie genres (action vs drama &amp; small budget vs large)</a:t>
            </a:r>
            <a:endParaRPr b="0" i="0" sz="1400" u="none" cap="none" strike="noStrike">
              <a:solidFill>
                <a:srgbClr val="000000"/>
              </a:solidFill>
              <a:latin typeface="Arial"/>
              <a:ea typeface="Arial"/>
              <a:cs typeface="Arial"/>
              <a:sym typeface="Arial"/>
            </a:endParaRPr>
          </a:p>
        </p:txBody>
      </p:sp>
      <p:sp>
        <p:nvSpPr>
          <p:cNvPr id="636" name="Google Shape;636;p35"/>
          <p:cNvSpPr/>
          <p:nvPr/>
        </p:nvSpPr>
        <p:spPr>
          <a:xfrm>
            <a:off x="119849" y="5098488"/>
            <a:ext cx="2969578" cy="476563"/>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accent5"/>
                </a:solidFill>
                <a:latin typeface="Georgia"/>
                <a:ea typeface="Georgia"/>
                <a:cs typeface="Georgia"/>
                <a:sym typeface="Georgia"/>
              </a:rPr>
              <a:t>Ancillary (action figures, video games, cartoons, etc.)</a:t>
            </a:r>
            <a:endParaRPr b="0" i="0" sz="1400" u="none" cap="none" strike="noStrike">
              <a:solidFill>
                <a:srgbClr val="000000"/>
              </a:solidFill>
              <a:latin typeface="Arial"/>
              <a:ea typeface="Arial"/>
              <a:cs typeface="Arial"/>
              <a:sym typeface="Arial"/>
            </a:endParaRPr>
          </a:p>
        </p:txBody>
      </p:sp>
      <p:sp>
        <p:nvSpPr>
          <p:cNvPr id="637" name="Google Shape;637;p35"/>
          <p:cNvSpPr/>
          <p:nvPr/>
        </p:nvSpPr>
        <p:spPr>
          <a:xfrm>
            <a:off x="3409025" y="2595593"/>
            <a:ext cx="2867488" cy="476563"/>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accent5"/>
                </a:solidFill>
                <a:latin typeface="Georgia"/>
                <a:ea typeface="Georgia"/>
                <a:cs typeface="Georgia"/>
                <a:sym typeface="Georgia"/>
              </a:rPr>
              <a:t>Number of movies produced</a:t>
            </a:r>
            <a:endParaRPr b="0" i="0" sz="1400" u="none" cap="none" strike="noStrike">
              <a:solidFill>
                <a:srgbClr val="000000"/>
              </a:solidFill>
              <a:latin typeface="Arial"/>
              <a:ea typeface="Arial"/>
              <a:cs typeface="Arial"/>
              <a:sym typeface="Arial"/>
            </a:endParaRPr>
          </a:p>
        </p:txBody>
      </p:sp>
      <p:sp>
        <p:nvSpPr>
          <p:cNvPr id="638" name="Google Shape;638;p35"/>
          <p:cNvSpPr/>
          <p:nvPr/>
        </p:nvSpPr>
        <p:spPr>
          <a:xfrm>
            <a:off x="3409025" y="3207737"/>
            <a:ext cx="2867488" cy="476563"/>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accent5"/>
                </a:solidFill>
                <a:latin typeface="Georgia"/>
                <a:ea typeface="Georgia"/>
                <a:cs typeface="Georgia"/>
                <a:sym typeface="Georgia"/>
              </a:rPr>
              <a:t>Marketing (national, cobranding)</a:t>
            </a:r>
            <a:endParaRPr b="0" i="0" sz="1400" u="none" cap="none" strike="noStrike">
              <a:solidFill>
                <a:srgbClr val="000000"/>
              </a:solidFill>
              <a:latin typeface="Arial"/>
              <a:ea typeface="Arial"/>
              <a:cs typeface="Arial"/>
              <a:sym typeface="Arial"/>
            </a:endParaRPr>
          </a:p>
        </p:txBody>
      </p:sp>
      <p:sp>
        <p:nvSpPr>
          <p:cNvPr id="639" name="Google Shape;639;p35"/>
          <p:cNvSpPr/>
          <p:nvPr/>
        </p:nvSpPr>
        <p:spPr>
          <a:xfrm>
            <a:off x="3409025" y="3837987"/>
            <a:ext cx="2867488" cy="476563"/>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accent5"/>
                </a:solidFill>
                <a:latin typeface="Georgia"/>
                <a:ea typeface="Georgia"/>
                <a:cs typeface="Georgia"/>
                <a:sym typeface="Georgia"/>
              </a:rPr>
              <a:t>Actors (A-lists vs B-lists)</a:t>
            </a:r>
            <a:endParaRPr b="0" i="0" sz="1400" u="none" cap="none" strike="noStrike">
              <a:solidFill>
                <a:srgbClr val="000000"/>
              </a:solidFill>
              <a:latin typeface="Arial"/>
              <a:ea typeface="Arial"/>
              <a:cs typeface="Arial"/>
              <a:sym typeface="Arial"/>
            </a:endParaRPr>
          </a:p>
        </p:txBody>
      </p:sp>
      <p:sp>
        <p:nvSpPr>
          <p:cNvPr id="640" name="Google Shape;640;p35"/>
          <p:cNvSpPr/>
          <p:nvPr/>
        </p:nvSpPr>
        <p:spPr>
          <a:xfrm>
            <a:off x="3409025" y="4468237"/>
            <a:ext cx="2867488" cy="476563"/>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accent5"/>
                </a:solidFill>
                <a:latin typeface="Georgia"/>
                <a:ea typeface="Georgia"/>
                <a:cs typeface="Georgia"/>
                <a:sym typeface="Georgia"/>
              </a:rPr>
              <a:t>Logistical (set design, on-location)</a:t>
            </a:r>
            <a:endParaRPr b="0" i="0" sz="1400" u="none" cap="none" strike="noStrike">
              <a:solidFill>
                <a:srgbClr val="000000"/>
              </a:solidFill>
              <a:latin typeface="Arial"/>
              <a:ea typeface="Arial"/>
              <a:cs typeface="Arial"/>
              <a:sym typeface="Arial"/>
            </a:endParaRPr>
          </a:p>
        </p:txBody>
      </p:sp>
      <p:sp>
        <p:nvSpPr>
          <p:cNvPr id="641" name="Google Shape;641;p35"/>
          <p:cNvSpPr/>
          <p:nvPr/>
        </p:nvSpPr>
        <p:spPr>
          <a:xfrm>
            <a:off x="3409025" y="5098488"/>
            <a:ext cx="2867488" cy="476563"/>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accent5"/>
                </a:solidFill>
                <a:latin typeface="Georgia"/>
                <a:ea typeface="Georgia"/>
                <a:cs typeface="Georgia"/>
                <a:sym typeface="Georgia"/>
              </a:rPr>
              <a:t>Crew (director, others)</a:t>
            </a:r>
            <a:endParaRPr b="0" i="0" sz="1400" u="none" cap="none" strike="noStrike">
              <a:solidFill>
                <a:srgbClr val="000000"/>
              </a:solidFill>
              <a:latin typeface="Arial"/>
              <a:ea typeface="Arial"/>
              <a:cs typeface="Arial"/>
              <a:sym typeface="Arial"/>
            </a:endParaRPr>
          </a:p>
        </p:txBody>
      </p:sp>
      <p:sp>
        <p:nvSpPr>
          <p:cNvPr id="642" name="Google Shape;642;p35"/>
          <p:cNvSpPr/>
          <p:nvPr/>
        </p:nvSpPr>
        <p:spPr>
          <a:xfrm>
            <a:off x="3409025" y="5728739"/>
            <a:ext cx="2867488" cy="476563"/>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accent5"/>
                </a:solidFill>
                <a:latin typeface="Georgia"/>
                <a:ea typeface="Georgia"/>
                <a:cs typeface="Georgia"/>
                <a:sym typeface="Georgia"/>
              </a:rPr>
              <a:t>CGI (action vs others)</a:t>
            </a:r>
            <a:endParaRPr b="0" i="0" sz="1400" u="none" cap="none" strike="noStrike">
              <a:solidFill>
                <a:srgbClr val="000000"/>
              </a:solidFill>
              <a:latin typeface="Arial"/>
              <a:ea typeface="Arial"/>
              <a:cs typeface="Arial"/>
              <a:sym typeface="Arial"/>
            </a:endParaRPr>
          </a:p>
        </p:txBody>
      </p:sp>
      <p:sp>
        <p:nvSpPr>
          <p:cNvPr id="643" name="Google Shape;643;p35"/>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36"/>
          <p:cNvSpPr txBox="1"/>
          <p:nvPr>
            <p:ph idx="1" type="body"/>
          </p:nvPr>
        </p:nvSpPr>
        <p:spPr>
          <a:xfrm>
            <a:off x="368302" y="3983413"/>
            <a:ext cx="4107445" cy="2289372"/>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1" marL="1588" rtl="0" algn="l">
              <a:lnSpc>
                <a:spcPct val="100000"/>
              </a:lnSpc>
              <a:spcBef>
                <a:spcPts val="0"/>
              </a:spcBef>
              <a:spcAft>
                <a:spcPts val="0"/>
              </a:spcAft>
              <a:buSzPts val="1400"/>
              <a:buNone/>
            </a:pPr>
            <a:r>
              <a:rPr lang="en-US"/>
              <a:t>-Top 5 movies account for ~25% of the market</a:t>
            </a:r>
            <a:endParaRPr/>
          </a:p>
          <a:p>
            <a:pPr indent="0" lvl="1" marL="1588" rtl="0" algn="l">
              <a:lnSpc>
                <a:spcPct val="100000"/>
              </a:lnSpc>
              <a:spcBef>
                <a:spcPts val="300"/>
              </a:spcBef>
              <a:spcAft>
                <a:spcPts val="0"/>
              </a:spcAft>
              <a:buSzPts val="1400"/>
              <a:buNone/>
            </a:pPr>
            <a:r>
              <a:rPr lang="en-US"/>
              <a:t>-Most top 5 movies’ genres are either series, action, or kids.</a:t>
            </a:r>
            <a:endParaRPr/>
          </a:p>
          <a:p>
            <a:pPr indent="0" lvl="1" marL="1588" rtl="0" algn="l">
              <a:lnSpc>
                <a:spcPct val="100000"/>
              </a:lnSpc>
              <a:spcBef>
                <a:spcPts val="300"/>
              </a:spcBef>
              <a:spcAft>
                <a:spcPts val="0"/>
              </a:spcAft>
              <a:buSzPts val="1400"/>
              <a:buNone/>
            </a:pPr>
            <a:r>
              <a:rPr lang="en-US"/>
              <a:t>-Top 5 movies do not win many awards.</a:t>
            </a:r>
            <a:endParaRPr/>
          </a:p>
          <a:p>
            <a:pPr indent="0" lvl="1" marL="1588" rtl="0" algn="l">
              <a:lnSpc>
                <a:spcPct val="100000"/>
              </a:lnSpc>
              <a:spcBef>
                <a:spcPts val="300"/>
              </a:spcBef>
              <a:spcAft>
                <a:spcPts val="0"/>
              </a:spcAft>
              <a:buSzPts val="1400"/>
              <a:buNone/>
            </a:pPr>
            <a:r>
              <a:rPr lang="en-US"/>
              <a:t>-Top 5 movies are highly rated. (not relevant)</a:t>
            </a:r>
            <a:endParaRPr/>
          </a:p>
          <a:p>
            <a:pPr indent="0" lvl="1" marL="1588" rtl="0" algn="l">
              <a:lnSpc>
                <a:spcPct val="100000"/>
              </a:lnSpc>
              <a:spcBef>
                <a:spcPts val="300"/>
              </a:spcBef>
              <a:spcAft>
                <a:spcPts val="0"/>
              </a:spcAft>
              <a:buSzPts val="1400"/>
              <a:buNone/>
            </a:pPr>
            <a:r>
              <a:rPr lang="en-US"/>
              <a:t>-LG produced the “Starving Kids Fight” series in 2012-2014 and this made up ~50% of their revenue.</a:t>
            </a:r>
            <a:endParaRPr/>
          </a:p>
          <a:p>
            <a:pPr indent="0" lvl="0" marL="0" rtl="0" algn="l">
              <a:lnSpc>
                <a:spcPct val="100000"/>
              </a:lnSpc>
              <a:spcBef>
                <a:spcPts val="300"/>
              </a:spcBef>
              <a:spcAft>
                <a:spcPts val="0"/>
              </a:spcAft>
              <a:buSzPts val="1400"/>
              <a:buFont typeface="Calibri"/>
              <a:buNone/>
            </a:pPr>
            <a:r>
              <a:t/>
            </a:r>
            <a:endParaRPr/>
          </a:p>
        </p:txBody>
      </p:sp>
      <p:sp>
        <p:nvSpPr>
          <p:cNvPr id="649" name="Google Shape;649;p36"/>
          <p:cNvSpPr txBox="1"/>
          <p:nvPr>
            <p:ph idx="2" type="body"/>
          </p:nvPr>
        </p:nvSpPr>
        <p:spPr>
          <a:xfrm>
            <a:off x="4596063" y="3983412"/>
            <a:ext cx="4110955" cy="2289373"/>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1" marL="1588" rtl="0" algn="l">
              <a:lnSpc>
                <a:spcPct val="100000"/>
              </a:lnSpc>
              <a:spcBef>
                <a:spcPts val="0"/>
              </a:spcBef>
              <a:spcAft>
                <a:spcPts val="0"/>
              </a:spcAft>
              <a:buSzPts val="1400"/>
              <a:buNone/>
            </a:pPr>
            <a:r>
              <a:rPr lang="en-US"/>
              <a:t>-~75% of the movie market is action, series, or kids films.</a:t>
            </a:r>
            <a:endParaRPr/>
          </a:p>
          <a:p>
            <a:pPr indent="0" lvl="1" marL="1588" rtl="0" algn="l">
              <a:lnSpc>
                <a:spcPct val="100000"/>
              </a:lnSpc>
              <a:spcBef>
                <a:spcPts val="300"/>
              </a:spcBef>
              <a:spcAft>
                <a:spcPts val="0"/>
              </a:spcAft>
              <a:buSzPts val="1400"/>
              <a:buNone/>
            </a:pPr>
            <a:r>
              <a:rPr lang="en-US"/>
              <a:t>-Other production firms make up a disproportionately large percentage of sales for “other” type movies.</a:t>
            </a:r>
            <a:endParaRPr/>
          </a:p>
          <a:p>
            <a:pPr indent="0" lvl="1" marL="1588" rtl="0" algn="l">
              <a:lnSpc>
                <a:spcPct val="100000"/>
              </a:lnSpc>
              <a:spcBef>
                <a:spcPts val="300"/>
              </a:spcBef>
              <a:spcAft>
                <a:spcPts val="0"/>
              </a:spcAft>
              <a:buSzPts val="1400"/>
              <a:buNone/>
            </a:pPr>
            <a:r>
              <a:rPr lang="en-US"/>
              <a:t>-LG made a large percentage of its revenue from action and series movies (see Starving Kids Fight, Exhibit 3)</a:t>
            </a:r>
            <a:endParaRPr/>
          </a:p>
          <a:p>
            <a:pPr indent="0" lvl="0" marL="0" rtl="0" algn="l">
              <a:lnSpc>
                <a:spcPct val="100000"/>
              </a:lnSpc>
              <a:spcBef>
                <a:spcPts val="300"/>
              </a:spcBef>
              <a:spcAft>
                <a:spcPts val="0"/>
              </a:spcAft>
              <a:buSzPts val="1400"/>
              <a:buFont typeface="Calibri"/>
              <a:buNone/>
            </a:pPr>
            <a:r>
              <a:t/>
            </a:r>
            <a:endParaRPr/>
          </a:p>
        </p:txBody>
      </p:sp>
      <p:sp>
        <p:nvSpPr>
          <p:cNvPr id="650" name="Google Shape;650;p36"/>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Movie Studio Buyout – Chart Takeaways</a:t>
            </a:r>
            <a:endParaRPr/>
          </a:p>
        </p:txBody>
      </p:sp>
      <p:sp>
        <p:nvSpPr>
          <p:cNvPr id="651" name="Google Shape;651;p36"/>
          <p:cNvSpPr txBox="1"/>
          <p:nvPr>
            <p:ph idx="3" type="body"/>
          </p:nvPr>
        </p:nvSpPr>
        <p:spPr>
          <a:xfrm>
            <a:off x="465670" y="3695044"/>
            <a:ext cx="4010077"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Exhibit 3: Top 5 Movies</a:t>
            </a:r>
            <a:endParaRPr/>
          </a:p>
        </p:txBody>
      </p:sp>
      <p:sp>
        <p:nvSpPr>
          <p:cNvPr id="652" name="Google Shape;652;p36"/>
          <p:cNvSpPr txBox="1"/>
          <p:nvPr>
            <p:ph idx="4" type="body"/>
          </p:nvPr>
        </p:nvSpPr>
        <p:spPr>
          <a:xfrm>
            <a:off x="4664691" y="3695044"/>
            <a:ext cx="4010077"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Exhibit 4: Gross Sales Total</a:t>
            </a:r>
            <a:endParaRPr/>
          </a:p>
        </p:txBody>
      </p:sp>
      <p:sp>
        <p:nvSpPr>
          <p:cNvPr id="653" name="Google Shape;653;p36"/>
          <p:cNvSpPr txBox="1"/>
          <p:nvPr>
            <p:ph idx="5" type="body"/>
          </p:nvPr>
        </p:nvSpPr>
        <p:spPr>
          <a:xfrm>
            <a:off x="368302" y="1261135"/>
            <a:ext cx="4107445" cy="2289372"/>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1" marL="1588" rtl="0" algn="l">
              <a:lnSpc>
                <a:spcPct val="100000"/>
              </a:lnSpc>
              <a:spcBef>
                <a:spcPts val="0"/>
              </a:spcBef>
              <a:spcAft>
                <a:spcPts val="0"/>
              </a:spcAft>
              <a:buSzPts val="1400"/>
              <a:buNone/>
            </a:pPr>
            <a:r>
              <a:rPr lang="en-US"/>
              <a:t>-The top 4 movie producers make up ~75% of the market, up from ~50% in 2012.</a:t>
            </a:r>
            <a:endParaRPr/>
          </a:p>
          <a:p>
            <a:pPr indent="0" lvl="1" marL="1588" rtl="0" algn="l">
              <a:lnSpc>
                <a:spcPct val="100000"/>
              </a:lnSpc>
              <a:spcBef>
                <a:spcPts val="300"/>
              </a:spcBef>
              <a:spcAft>
                <a:spcPts val="0"/>
              </a:spcAft>
              <a:buSzPts val="1400"/>
              <a:buNone/>
            </a:pPr>
            <a:r>
              <a:rPr lang="en-US"/>
              <a:t>-The movie market has been fairly stable over the last 5 years with an average market size of just under $9 billion.</a:t>
            </a:r>
            <a:endParaRPr/>
          </a:p>
          <a:p>
            <a:pPr indent="0" lvl="1" marL="1588" rtl="0" algn="l">
              <a:lnSpc>
                <a:spcPct val="100000"/>
              </a:lnSpc>
              <a:spcBef>
                <a:spcPts val="300"/>
              </a:spcBef>
              <a:spcAft>
                <a:spcPts val="0"/>
              </a:spcAft>
              <a:buSzPts val="1400"/>
              <a:buNone/>
            </a:pPr>
            <a:r>
              <a:rPr lang="en-US"/>
              <a:t>-LG sales dropped from ~$1 billion in 2012 to ~$500 million in 2016.</a:t>
            </a:r>
            <a:endParaRPr/>
          </a:p>
          <a:p>
            <a:pPr indent="0" lvl="0" marL="0" rtl="0" algn="l">
              <a:lnSpc>
                <a:spcPct val="100000"/>
              </a:lnSpc>
              <a:spcBef>
                <a:spcPts val="300"/>
              </a:spcBef>
              <a:spcAft>
                <a:spcPts val="0"/>
              </a:spcAft>
              <a:buSzPts val="1400"/>
              <a:buFont typeface="Calibri"/>
              <a:buNone/>
            </a:pPr>
            <a:r>
              <a:t/>
            </a:r>
            <a:endParaRPr/>
          </a:p>
        </p:txBody>
      </p:sp>
      <p:sp>
        <p:nvSpPr>
          <p:cNvPr id="654" name="Google Shape;654;p36"/>
          <p:cNvSpPr txBox="1"/>
          <p:nvPr>
            <p:ph idx="6" type="body"/>
          </p:nvPr>
        </p:nvSpPr>
        <p:spPr>
          <a:xfrm>
            <a:off x="4596063" y="1261134"/>
            <a:ext cx="4110955" cy="2289373"/>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1" marL="1588" rtl="0" algn="l">
              <a:lnSpc>
                <a:spcPct val="100000"/>
              </a:lnSpc>
              <a:spcBef>
                <a:spcPts val="0"/>
              </a:spcBef>
              <a:spcAft>
                <a:spcPts val="0"/>
              </a:spcAft>
              <a:buSzPts val="1400"/>
              <a:buNone/>
            </a:pPr>
            <a:r>
              <a:rPr lang="en-US"/>
              <a:t>-The top 4 producers have been gaining market share over the last 5 years while not increasing the number of movies produced.</a:t>
            </a:r>
            <a:endParaRPr/>
          </a:p>
          <a:p>
            <a:pPr indent="0" lvl="1" marL="1588" rtl="0" algn="l">
              <a:lnSpc>
                <a:spcPct val="100000"/>
              </a:lnSpc>
              <a:spcBef>
                <a:spcPts val="300"/>
              </a:spcBef>
              <a:spcAft>
                <a:spcPts val="0"/>
              </a:spcAft>
              <a:buSzPts val="1400"/>
              <a:buNone/>
            </a:pPr>
            <a:r>
              <a:rPr lang="en-US"/>
              <a:t>-Most of the top movie producers make ~20 movies a year.</a:t>
            </a:r>
            <a:endParaRPr/>
          </a:p>
          <a:p>
            <a:pPr indent="0" lvl="1" marL="1588" rtl="0" algn="l">
              <a:lnSpc>
                <a:spcPct val="100000"/>
              </a:lnSpc>
              <a:spcBef>
                <a:spcPts val="300"/>
              </a:spcBef>
              <a:spcAft>
                <a:spcPts val="0"/>
              </a:spcAft>
              <a:buSzPts val="1400"/>
              <a:buNone/>
            </a:pPr>
            <a:r>
              <a:rPr lang="en-US"/>
              <a:t>-LG has lost 50% of its market share and is producing more movies</a:t>
            </a:r>
            <a:endParaRPr/>
          </a:p>
          <a:p>
            <a:pPr indent="0" lvl="0" marL="0" rtl="0" algn="l">
              <a:lnSpc>
                <a:spcPct val="100000"/>
              </a:lnSpc>
              <a:spcBef>
                <a:spcPts val="300"/>
              </a:spcBef>
              <a:spcAft>
                <a:spcPts val="0"/>
              </a:spcAft>
              <a:buSzPts val="1400"/>
              <a:buFont typeface="Calibri"/>
              <a:buNone/>
            </a:pPr>
            <a:r>
              <a:t/>
            </a:r>
            <a:endParaRPr/>
          </a:p>
        </p:txBody>
      </p:sp>
      <p:sp>
        <p:nvSpPr>
          <p:cNvPr id="655" name="Google Shape;655;p36"/>
          <p:cNvSpPr txBox="1"/>
          <p:nvPr>
            <p:ph idx="7" type="body"/>
          </p:nvPr>
        </p:nvSpPr>
        <p:spPr>
          <a:xfrm>
            <a:off x="465670" y="972766"/>
            <a:ext cx="4010077"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Exhibit 1: Gross Sales</a:t>
            </a:r>
            <a:endParaRPr/>
          </a:p>
        </p:txBody>
      </p:sp>
      <p:sp>
        <p:nvSpPr>
          <p:cNvPr id="656" name="Google Shape;656;p36"/>
          <p:cNvSpPr txBox="1"/>
          <p:nvPr>
            <p:ph idx="8" type="body"/>
          </p:nvPr>
        </p:nvSpPr>
        <p:spPr>
          <a:xfrm>
            <a:off x="4664691" y="972766"/>
            <a:ext cx="4010077"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Exhibit 2: Movies and Market Share</a:t>
            </a:r>
            <a:endParaRPr/>
          </a:p>
        </p:txBody>
      </p:sp>
      <p:sp>
        <p:nvSpPr>
          <p:cNvPr id="657" name="Google Shape;657;p36"/>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sp>
        <p:nvSpPr>
          <p:cNvPr id="662" name="Google Shape;662;p37"/>
          <p:cNvSpPr txBox="1"/>
          <p:nvPr>
            <p:ph idx="1" type="body"/>
          </p:nvPr>
        </p:nvSpPr>
        <p:spPr>
          <a:xfrm>
            <a:off x="368302" y="3983413"/>
            <a:ext cx="4107445" cy="2289372"/>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1" marL="1588" rtl="0" algn="l">
              <a:lnSpc>
                <a:spcPct val="100000"/>
              </a:lnSpc>
              <a:spcBef>
                <a:spcPts val="0"/>
              </a:spcBef>
              <a:spcAft>
                <a:spcPts val="0"/>
              </a:spcAft>
              <a:buSzPts val="1400"/>
              <a:buNone/>
            </a:pPr>
            <a:r>
              <a:rPr lang="en-US"/>
              <a:t>- This graph is extraneous information (movies that are ranked higher in general have higher sales).</a:t>
            </a:r>
            <a:endParaRPr/>
          </a:p>
        </p:txBody>
      </p:sp>
      <p:sp>
        <p:nvSpPr>
          <p:cNvPr id="663" name="Google Shape;663;p37"/>
          <p:cNvSpPr txBox="1"/>
          <p:nvPr>
            <p:ph idx="2" type="body"/>
          </p:nvPr>
        </p:nvSpPr>
        <p:spPr>
          <a:xfrm>
            <a:off x="4596063" y="3983412"/>
            <a:ext cx="4110955" cy="2289373"/>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1" marL="1588" rtl="0" algn="l">
              <a:lnSpc>
                <a:spcPct val="100000"/>
              </a:lnSpc>
              <a:spcBef>
                <a:spcPts val="0"/>
              </a:spcBef>
              <a:spcAft>
                <a:spcPts val="0"/>
              </a:spcAft>
              <a:buSzPts val="1400"/>
              <a:buNone/>
            </a:pPr>
            <a:r>
              <a:rPr lang="en-US"/>
              <a:t>-High budget films cost 10X more than low budget films.</a:t>
            </a:r>
            <a:endParaRPr/>
          </a:p>
        </p:txBody>
      </p:sp>
      <p:sp>
        <p:nvSpPr>
          <p:cNvPr id="664" name="Google Shape;664;p37"/>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Movie Studio Buyout – Chart Takeaways</a:t>
            </a:r>
            <a:endParaRPr/>
          </a:p>
        </p:txBody>
      </p:sp>
      <p:sp>
        <p:nvSpPr>
          <p:cNvPr id="665" name="Google Shape;665;p37"/>
          <p:cNvSpPr txBox="1"/>
          <p:nvPr>
            <p:ph idx="3" type="body"/>
          </p:nvPr>
        </p:nvSpPr>
        <p:spPr>
          <a:xfrm>
            <a:off x="465670" y="3695044"/>
            <a:ext cx="4010077"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Exhibit 7: Movie Ratings</a:t>
            </a:r>
            <a:endParaRPr/>
          </a:p>
        </p:txBody>
      </p:sp>
      <p:sp>
        <p:nvSpPr>
          <p:cNvPr id="666" name="Google Shape;666;p37"/>
          <p:cNvSpPr txBox="1"/>
          <p:nvPr>
            <p:ph idx="4" type="body"/>
          </p:nvPr>
        </p:nvSpPr>
        <p:spPr>
          <a:xfrm>
            <a:off x="4664691" y="3695044"/>
            <a:ext cx="4010077"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Exhibit 8: Movie Production Expenses</a:t>
            </a:r>
            <a:endParaRPr/>
          </a:p>
        </p:txBody>
      </p:sp>
      <p:sp>
        <p:nvSpPr>
          <p:cNvPr id="667" name="Google Shape;667;p37"/>
          <p:cNvSpPr txBox="1"/>
          <p:nvPr>
            <p:ph idx="5" type="body"/>
          </p:nvPr>
        </p:nvSpPr>
        <p:spPr>
          <a:xfrm>
            <a:off x="368302" y="1261135"/>
            <a:ext cx="4107445" cy="2289372"/>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1" marL="1588" rtl="0" algn="l">
              <a:lnSpc>
                <a:spcPct val="100000"/>
              </a:lnSpc>
              <a:spcBef>
                <a:spcPts val="0"/>
              </a:spcBef>
              <a:spcAft>
                <a:spcPts val="0"/>
              </a:spcAft>
              <a:buSzPts val="1400"/>
              <a:buNone/>
            </a:pPr>
            <a:r>
              <a:rPr lang="en-US"/>
              <a:t>-LG has won an average of 1.8 Oscars a year.</a:t>
            </a:r>
            <a:endParaRPr/>
          </a:p>
          <a:p>
            <a:pPr indent="0" lvl="1" marL="1588" rtl="0" algn="l">
              <a:lnSpc>
                <a:spcPct val="100000"/>
              </a:lnSpc>
              <a:spcBef>
                <a:spcPts val="300"/>
              </a:spcBef>
              <a:spcAft>
                <a:spcPts val="0"/>
              </a:spcAft>
              <a:buSzPts val="1400"/>
              <a:buNone/>
            </a:pPr>
            <a:r>
              <a:rPr lang="en-US"/>
              <a:t>-Revenue does not correlate with awards.</a:t>
            </a:r>
            <a:endParaRPr/>
          </a:p>
          <a:p>
            <a:pPr indent="0" lvl="1" marL="1588" rtl="0" algn="l">
              <a:lnSpc>
                <a:spcPct val="100000"/>
              </a:lnSpc>
              <a:spcBef>
                <a:spcPts val="300"/>
              </a:spcBef>
              <a:spcAft>
                <a:spcPts val="0"/>
              </a:spcAft>
              <a:buSzPts val="1400"/>
              <a:buNone/>
            </a:pPr>
            <a:r>
              <a:rPr lang="en-US"/>
              <a:t>-On average a studio needs ~5 nominations to win an award. (not relevant)</a:t>
            </a:r>
            <a:endParaRPr/>
          </a:p>
          <a:p>
            <a:pPr indent="0" lvl="0" marL="0" rtl="0" algn="l">
              <a:lnSpc>
                <a:spcPct val="100000"/>
              </a:lnSpc>
              <a:spcBef>
                <a:spcPts val="300"/>
              </a:spcBef>
              <a:spcAft>
                <a:spcPts val="0"/>
              </a:spcAft>
              <a:buSzPts val="1400"/>
              <a:buFont typeface="Calibri"/>
              <a:buNone/>
            </a:pPr>
            <a:r>
              <a:t/>
            </a:r>
            <a:endParaRPr/>
          </a:p>
        </p:txBody>
      </p:sp>
      <p:sp>
        <p:nvSpPr>
          <p:cNvPr id="668" name="Google Shape;668;p37"/>
          <p:cNvSpPr txBox="1"/>
          <p:nvPr>
            <p:ph idx="6" type="body"/>
          </p:nvPr>
        </p:nvSpPr>
        <p:spPr>
          <a:xfrm>
            <a:off x="4596063" y="1261134"/>
            <a:ext cx="4110955" cy="2289373"/>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1" marL="1588" rtl="0" algn="l">
              <a:lnSpc>
                <a:spcPct val="100000"/>
              </a:lnSpc>
              <a:spcBef>
                <a:spcPts val="0"/>
              </a:spcBef>
              <a:spcAft>
                <a:spcPts val="0"/>
              </a:spcAft>
              <a:buSzPts val="1400"/>
              <a:buNone/>
            </a:pPr>
            <a:r>
              <a:rPr lang="en-US"/>
              <a:t>-Best picture winners win multiple awards.</a:t>
            </a:r>
            <a:endParaRPr/>
          </a:p>
          <a:p>
            <a:pPr indent="0" lvl="1" marL="1588" rtl="0" algn="l">
              <a:lnSpc>
                <a:spcPct val="100000"/>
              </a:lnSpc>
              <a:spcBef>
                <a:spcPts val="300"/>
              </a:spcBef>
              <a:spcAft>
                <a:spcPts val="0"/>
              </a:spcAft>
              <a:buSzPts val="1400"/>
              <a:buNone/>
            </a:pPr>
            <a:r>
              <a:rPr lang="en-US"/>
              <a:t>-Best picture winners are rarely action, series, or kids.</a:t>
            </a:r>
            <a:endParaRPr/>
          </a:p>
          <a:p>
            <a:pPr indent="0" lvl="1" marL="1588" rtl="0" algn="l">
              <a:lnSpc>
                <a:spcPct val="100000"/>
              </a:lnSpc>
              <a:spcBef>
                <a:spcPts val="300"/>
              </a:spcBef>
              <a:spcAft>
                <a:spcPts val="0"/>
              </a:spcAft>
              <a:buSzPts val="1400"/>
              <a:buNone/>
            </a:pPr>
            <a:r>
              <a:rPr lang="en-US"/>
              <a:t>-Best picture winners are usually not grossing enough to be in the Top 5 pictures.</a:t>
            </a:r>
            <a:endParaRPr/>
          </a:p>
          <a:p>
            <a:pPr indent="0" lvl="0" marL="0" rtl="0" algn="l">
              <a:lnSpc>
                <a:spcPct val="100000"/>
              </a:lnSpc>
              <a:spcBef>
                <a:spcPts val="300"/>
              </a:spcBef>
              <a:spcAft>
                <a:spcPts val="0"/>
              </a:spcAft>
              <a:buSzPts val="1400"/>
              <a:buFont typeface="Calibri"/>
              <a:buNone/>
            </a:pPr>
            <a:r>
              <a:t/>
            </a:r>
            <a:endParaRPr/>
          </a:p>
        </p:txBody>
      </p:sp>
      <p:sp>
        <p:nvSpPr>
          <p:cNvPr id="669" name="Google Shape;669;p37"/>
          <p:cNvSpPr txBox="1"/>
          <p:nvPr>
            <p:ph idx="7" type="body"/>
          </p:nvPr>
        </p:nvSpPr>
        <p:spPr>
          <a:xfrm>
            <a:off x="465670" y="972766"/>
            <a:ext cx="4010077"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Exhibit 5: Studio Awards (2012 – 2016)</a:t>
            </a:r>
            <a:endParaRPr/>
          </a:p>
        </p:txBody>
      </p:sp>
      <p:sp>
        <p:nvSpPr>
          <p:cNvPr id="670" name="Google Shape;670;p37"/>
          <p:cNvSpPr txBox="1"/>
          <p:nvPr>
            <p:ph idx="8" type="body"/>
          </p:nvPr>
        </p:nvSpPr>
        <p:spPr>
          <a:xfrm>
            <a:off x="4664691" y="972766"/>
            <a:ext cx="4010077"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Exhibit 6: Oscar Best Picture Winners</a:t>
            </a:r>
            <a:endParaRPr/>
          </a:p>
        </p:txBody>
      </p:sp>
      <p:sp>
        <p:nvSpPr>
          <p:cNvPr id="671" name="Google Shape;671;p37"/>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 name="Shape 675"/>
        <p:cNvGrpSpPr/>
        <p:nvPr/>
      </p:nvGrpSpPr>
      <p:grpSpPr>
        <a:xfrm>
          <a:off x="0" y="0"/>
          <a:ext cx="0" cy="0"/>
          <a:chOff x="0" y="0"/>
          <a:chExt cx="0" cy="0"/>
        </a:xfrm>
      </p:grpSpPr>
      <p:sp>
        <p:nvSpPr>
          <p:cNvPr id="676" name="Google Shape;676;p38"/>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Movie Studio Buyout</a:t>
            </a:r>
            <a:endParaRPr/>
          </a:p>
        </p:txBody>
      </p:sp>
      <p:sp>
        <p:nvSpPr>
          <p:cNvPr id="677" name="Google Shape;677;p38"/>
          <p:cNvSpPr txBox="1"/>
          <p:nvPr>
            <p:ph idx="1" type="body"/>
          </p:nvPr>
        </p:nvSpPr>
        <p:spPr>
          <a:xfrm>
            <a:off x="381001" y="1283365"/>
            <a:ext cx="8341656" cy="4985087"/>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Font typeface="Calibri"/>
              <a:buNone/>
            </a:pPr>
            <a:r>
              <a:rPr lang="en-US"/>
              <a:t>*With how open-ended this case is, a very successful answer may not use any of the calculations below and the numbers are not expected to be exact since they come off graphs.</a:t>
            </a:r>
            <a:endParaRPr/>
          </a:p>
          <a:p>
            <a:pPr indent="0" lvl="0" marL="0" rtl="0" algn="l">
              <a:lnSpc>
                <a:spcPct val="100000"/>
              </a:lnSpc>
              <a:spcBef>
                <a:spcPts val="300"/>
              </a:spcBef>
              <a:spcAft>
                <a:spcPts val="0"/>
              </a:spcAft>
              <a:buSzPts val="1400"/>
              <a:buFont typeface="Calibri"/>
              <a:buNone/>
            </a:pPr>
            <a:r>
              <a:t/>
            </a:r>
            <a:endParaRPr/>
          </a:p>
          <a:p>
            <a:pPr indent="0" lvl="0" marL="0" rtl="0" algn="l">
              <a:lnSpc>
                <a:spcPct val="100000"/>
              </a:lnSpc>
              <a:spcBef>
                <a:spcPts val="300"/>
              </a:spcBef>
              <a:spcAft>
                <a:spcPts val="0"/>
              </a:spcAft>
              <a:buSzPts val="1400"/>
              <a:buFont typeface="Calibri"/>
              <a:buNone/>
            </a:pPr>
            <a:r>
              <a:rPr lang="en-US"/>
              <a:t>With 25 movies a year (Exhibit 2) at $25 million (Exhibit 8, assuming least expensive case using low budget films), LG has costs = $625 million</a:t>
            </a:r>
            <a:endParaRPr/>
          </a:p>
          <a:p>
            <a:pPr indent="0" lvl="0" marL="0" rtl="0" algn="l">
              <a:lnSpc>
                <a:spcPct val="100000"/>
              </a:lnSpc>
              <a:spcBef>
                <a:spcPts val="300"/>
              </a:spcBef>
              <a:spcAft>
                <a:spcPts val="0"/>
              </a:spcAft>
              <a:buSzPts val="1400"/>
              <a:buFont typeface="Calibri"/>
              <a:buNone/>
            </a:pPr>
            <a:r>
              <a:t/>
            </a:r>
            <a:endParaRPr/>
          </a:p>
          <a:p>
            <a:pPr indent="0" lvl="0" marL="0" rtl="0" algn="l">
              <a:lnSpc>
                <a:spcPct val="100000"/>
              </a:lnSpc>
              <a:spcBef>
                <a:spcPts val="300"/>
              </a:spcBef>
              <a:spcAft>
                <a:spcPts val="0"/>
              </a:spcAft>
              <a:buSzPts val="1400"/>
              <a:buFont typeface="Calibri"/>
              <a:buNone/>
            </a:pPr>
            <a:r>
              <a:rPr lang="en-US"/>
              <a:t>LG’s 2016 profit is $500 million (Exhibit 1) - $625 million = </a:t>
            </a:r>
            <a:r>
              <a:rPr lang="en-US">
                <a:solidFill>
                  <a:srgbClr val="FF0000"/>
                </a:solidFill>
              </a:rPr>
              <a:t>-$125 million</a:t>
            </a:r>
            <a:endParaRPr/>
          </a:p>
          <a:p>
            <a:pPr indent="0" lvl="0" marL="0" rtl="0" algn="l">
              <a:lnSpc>
                <a:spcPct val="100000"/>
              </a:lnSpc>
              <a:spcBef>
                <a:spcPts val="300"/>
              </a:spcBef>
              <a:spcAft>
                <a:spcPts val="0"/>
              </a:spcAft>
              <a:buSzPts val="1400"/>
              <a:buFont typeface="Calibri"/>
              <a:buNone/>
            </a:pPr>
            <a:r>
              <a:t/>
            </a:r>
            <a:endParaRPr>
              <a:solidFill>
                <a:srgbClr val="FF0000"/>
              </a:solidFill>
            </a:endParaRPr>
          </a:p>
          <a:p>
            <a:pPr indent="0" lvl="0" marL="0" rtl="0" algn="l">
              <a:lnSpc>
                <a:spcPct val="100000"/>
              </a:lnSpc>
              <a:spcBef>
                <a:spcPts val="300"/>
              </a:spcBef>
              <a:spcAft>
                <a:spcPts val="0"/>
              </a:spcAft>
              <a:buSzPts val="1400"/>
              <a:buFont typeface="Calibri"/>
              <a:buNone/>
            </a:pPr>
            <a:r>
              <a:t/>
            </a:r>
            <a:endParaRPr>
              <a:solidFill>
                <a:srgbClr val="FF0000"/>
              </a:solidFill>
            </a:endParaRPr>
          </a:p>
          <a:p>
            <a:pPr indent="0" lvl="0" marL="0" rtl="0" algn="l">
              <a:lnSpc>
                <a:spcPct val="100000"/>
              </a:lnSpc>
              <a:spcBef>
                <a:spcPts val="300"/>
              </a:spcBef>
              <a:spcAft>
                <a:spcPts val="0"/>
              </a:spcAft>
              <a:buSzPts val="1400"/>
              <a:buFont typeface="Calibri"/>
              <a:buNone/>
            </a:pPr>
            <a:r>
              <a:rPr lang="en-US"/>
              <a:t>Top 5 movies from 2012-2016 generated ~$10.5 billion (Exhibit 3) while all movies generated $44 billion (Exhibit 1, 4)</a:t>
            </a:r>
            <a:endParaRPr/>
          </a:p>
          <a:p>
            <a:pPr indent="0" lvl="0" marL="0" rtl="0" algn="l">
              <a:lnSpc>
                <a:spcPct val="100000"/>
              </a:lnSpc>
              <a:spcBef>
                <a:spcPts val="300"/>
              </a:spcBef>
              <a:spcAft>
                <a:spcPts val="0"/>
              </a:spcAft>
              <a:buSzPts val="1400"/>
              <a:buFont typeface="Calibri"/>
              <a:buNone/>
            </a:pPr>
            <a:r>
              <a:t/>
            </a:r>
            <a:endParaRPr/>
          </a:p>
          <a:p>
            <a:pPr indent="0" lvl="0" marL="0" rtl="0" algn="l">
              <a:lnSpc>
                <a:spcPct val="100000"/>
              </a:lnSpc>
              <a:spcBef>
                <a:spcPts val="300"/>
              </a:spcBef>
              <a:spcAft>
                <a:spcPts val="0"/>
              </a:spcAft>
              <a:buSzPts val="1400"/>
              <a:buFont typeface="Calibri"/>
              <a:buNone/>
            </a:pPr>
            <a:r>
              <a:rPr lang="en-US"/>
              <a:t>$10.5 / $44  = ~25% of all movie revenue is from the top 5 movies</a:t>
            </a:r>
            <a:endParaRPr/>
          </a:p>
        </p:txBody>
      </p:sp>
      <p:sp>
        <p:nvSpPr>
          <p:cNvPr id="678" name="Google Shape;678;p38"/>
          <p:cNvSpPr txBox="1"/>
          <p:nvPr>
            <p:ph idx="2" type="body"/>
          </p:nvPr>
        </p:nvSpPr>
        <p:spPr>
          <a:xfrm>
            <a:off x="503321" y="1022905"/>
            <a:ext cx="8126332"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Sample Calculations</a:t>
            </a:r>
            <a:endParaRPr/>
          </a:p>
        </p:txBody>
      </p:sp>
      <p:sp>
        <p:nvSpPr>
          <p:cNvPr id="679" name="Google Shape;679;p38"/>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3" name="Shape 683"/>
        <p:cNvGrpSpPr/>
        <p:nvPr/>
      </p:nvGrpSpPr>
      <p:grpSpPr>
        <a:xfrm>
          <a:off x="0" y="0"/>
          <a:ext cx="0" cy="0"/>
          <a:chOff x="0" y="0"/>
          <a:chExt cx="0" cy="0"/>
        </a:xfrm>
      </p:grpSpPr>
      <p:sp>
        <p:nvSpPr>
          <p:cNvPr id="684" name="Google Shape;684;p39"/>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Movie Studio Buyout</a:t>
            </a:r>
            <a:endParaRPr/>
          </a:p>
        </p:txBody>
      </p:sp>
      <p:sp>
        <p:nvSpPr>
          <p:cNvPr id="685" name="Google Shape;685;p39"/>
          <p:cNvSpPr txBox="1"/>
          <p:nvPr>
            <p:ph idx="1" type="body"/>
          </p:nvPr>
        </p:nvSpPr>
        <p:spPr>
          <a:xfrm>
            <a:off x="503321" y="4771454"/>
            <a:ext cx="8126332" cy="277497"/>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Excellent Case Insights</a:t>
            </a:r>
            <a:endParaRPr/>
          </a:p>
        </p:txBody>
      </p:sp>
      <p:sp>
        <p:nvSpPr>
          <p:cNvPr id="686" name="Google Shape;686;p39"/>
          <p:cNvSpPr txBox="1"/>
          <p:nvPr>
            <p:ph idx="2" type="body"/>
          </p:nvPr>
        </p:nvSpPr>
        <p:spPr>
          <a:xfrm>
            <a:off x="381001" y="5032406"/>
            <a:ext cx="8341656" cy="1243266"/>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274313" lvl="1" marL="274313" rtl="0" algn="l">
              <a:lnSpc>
                <a:spcPct val="100000"/>
              </a:lnSpc>
              <a:spcBef>
                <a:spcPts val="0"/>
              </a:spcBef>
              <a:spcAft>
                <a:spcPts val="0"/>
              </a:spcAft>
              <a:buSzPts val="1400"/>
              <a:buChar char="•"/>
            </a:pPr>
            <a:r>
              <a:rPr lang="en-US"/>
              <a:t>Top grossing movies are likely to be action, series, and kids movies but those genres are not likely to win awards</a:t>
            </a:r>
            <a:endParaRPr/>
          </a:p>
          <a:p>
            <a:pPr indent="-274313" lvl="1" marL="274313" rtl="0" algn="l">
              <a:lnSpc>
                <a:spcPct val="100000"/>
              </a:lnSpc>
              <a:spcBef>
                <a:spcPts val="300"/>
              </a:spcBef>
              <a:spcAft>
                <a:spcPts val="0"/>
              </a:spcAft>
              <a:buSzPts val="1400"/>
              <a:buChar char="•"/>
            </a:pPr>
            <a:r>
              <a:rPr lang="en-US"/>
              <a:t>1 movie series made up nearly half of LG’s revenue during 2012-2014 resulting in a large drop in revenue in 2015-2016</a:t>
            </a:r>
            <a:endParaRPr/>
          </a:p>
          <a:p>
            <a:pPr indent="0" lvl="0" marL="0" rtl="0" algn="l">
              <a:lnSpc>
                <a:spcPct val="100000"/>
              </a:lnSpc>
              <a:spcBef>
                <a:spcPts val="300"/>
              </a:spcBef>
              <a:spcAft>
                <a:spcPts val="0"/>
              </a:spcAft>
              <a:buSzPts val="1400"/>
              <a:buFont typeface="Calibri"/>
              <a:buNone/>
            </a:pPr>
            <a:r>
              <a:t/>
            </a:r>
            <a:endParaRPr/>
          </a:p>
        </p:txBody>
      </p:sp>
      <p:sp>
        <p:nvSpPr>
          <p:cNvPr id="687" name="Google Shape;687;p39"/>
          <p:cNvSpPr txBox="1"/>
          <p:nvPr>
            <p:ph idx="3" type="body"/>
          </p:nvPr>
        </p:nvSpPr>
        <p:spPr>
          <a:xfrm>
            <a:off x="500316" y="984562"/>
            <a:ext cx="8126332" cy="277497"/>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Solution and Recommendations</a:t>
            </a:r>
            <a:endParaRPr/>
          </a:p>
        </p:txBody>
      </p:sp>
      <p:sp>
        <p:nvSpPr>
          <p:cNvPr id="688" name="Google Shape;688;p39"/>
          <p:cNvSpPr txBox="1"/>
          <p:nvPr>
            <p:ph idx="4" type="body"/>
          </p:nvPr>
        </p:nvSpPr>
        <p:spPr>
          <a:xfrm>
            <a:off x="387140" y="1232987"/>
            <a:ext cx="8341656" cy="3368649"/>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274313" lvl="1" marL="274313" rtl="0" algn="l">
              <a:lnSpc>
                <a:spcPct val="100000"/>
              </a:lnSpc>
              <a:spcBef>
                <a:spcPts val="0"/>
              </a:spcBef>
              <a:spcAft>
                <a:spcPts val="0"/>
              </a:spcAft>
              <a:buSzPts val="1400"/>
              <a:buFont typeface="Arial"/>
              <a:buChar char="•"/>
            </a:pPr>
            <a:r>
              <a:rPr lang="en-US"/>
              <a:t>LG does not look attractive because of its declining sales</a:t>
            </a:r>
            <a:endParaRPr/>
          </a:p>
          <a:p>
            <a:pPr indent="-274313" lvl="2" marL="548626" rtl="0" algn="l">
              <a:lnSpc>
                <a:spcPct val="100000"/>
              </a:lnSpc>
              <a:spcBef>
                <a:spcPts val="300"/>
              </a:spcBef>
              <a:spcAft>
                <a:spcPts val="0"/>
              </a:spcAft>
              <a:buSzPts val="1400"/>
              <a:buFont typeface="Arial"/>
              <a:buChar char="•"/>
            </a:pPr>
            <a:r>
              <a:rPr lang="en-US"/>
              <a:t>LG has lost 50% market share in the last 5 years</a:t>
            </a:r>
            <a:endParaRPr/>
          </a:p>
          <a:p>
            <a:pPr indent="-274313" lvl="2" marL="548626" rtl="0" algn="l">
              <a:lnSpc>
                <a:spcPct val="100000"/>
              </a:lnSpc>
              <a:spcBef>
                <a:spcPts val="300"/>
              </a:spcBef>
              <a:spcAft>
                <a:spcPts val="0"/>
              </a:spcAft>
              <a:buSzPts val="1400"/>
              <a:buFont typeface="Arial"/>
              <a:buChar char="•"/>
            </a:pPr>
            <a:r>
              <a:rPr lang="en-US"/>
              <a:t>Net loss of $125 million a year</a:t>
            </a:r>
            <a:endParaRPr/>
          </a:p>
          <a:p>
            <a:pPr indent="0" lvl="1" marL="0" rtl="0" algn="l">
              <a:lnSpc>
                <a:spcPct val="100000"/>
              </a:lnSpc>
              <a:spcBef>
                <a:spcPts val="300"/>
              </a:spcBef>
              <a:spcAft>
                <a:spcPts val="0"/>
              </a:spcAft>
              <a:buSzPts val="1400"/>
              <a:buNone/>
            </a:pPr>
            <a:r>
              <a:t/>
            </a:r>
            <a:endParaRPr/>
          </a:p>
          <a:p>
            <a:pPr indent="-274313" lvl="1" marL="274313" rtl="0" algn="l">
              <a:lnSpc>
                <a:spcPct val="100000"/>
              </a:lnSpc>
              <a:spcBef>
                <a:spcPts val="300"/>
              </a:spcBef>
              <a:spcAft>
                <a:spcPts val="0"/>
              </a:spcAft>
              <a:buSzPts val="1400"/>
              <a:buFont typeface="Arial"/>
              <a:buChar char="•"/>
            </a:pPr>
            <a:r>
              <a:rPr lang="en-US"/>
              <a:t>LG does look attritive because of its Oscar wins</a:t>
            </a:r>
            <a:endParaRPr/>
          </a:p>
          <a:p>
            <a:pPr indent="-274313" lvl="2" marL="548626" rtl="0" algn="l">
              <a:lnSpc>
                <a:spcPct val="100000"/>
              </a:lnSpc>
              <a:spcBef>
                <a:spcPts val="300"/>
              </a:spcBef>
              <a:spcAft>
                <a:spcPts val="0"/>
              </a:spcAft>
              <a:buSzPts val="1400"/>
              <a:buFont typeface="Arial"/>
              <a:buChar char="•"/>
            </a:pPr>
            <a:r>
              <a:rPr lang="en-US"/>
              <a:t>Ethan Trust initially wanted to buy a studio to win an Oscar</a:t>
            </a:r>
            <a:endParaRPr/>
          </a:p>
          <a:p>
            <a:pPr indent="-274313" lvl="2" marL="548626" rtl="0" algn="l">
              <a:lnSpc>
                <a:spcPct val="100000"/>
              </a:lnSpc>
              <a:spcBef>
                <a:spcPts val="300"/>
              </a:spcBef>
              <a:spcAft>
                <a:spcPts val="0"/>
              </a:spcAft>
              <a:buSzPts val="1400"/>
              <a:buFont typeface="Arial"/>
              <a:buChar char="•"/>
            </a:pPr>
            <a:r>
              <a:rPr lang="en-US"/>
              <a:t>LG has won 8 awards over the last 5 years</a:t>
            </a:r>
            <a:endParaRPr/>
          </a:p>
          <a:p>
            <a:pPr indent="0" lvl="2" marL="274313" rtl="0" algn="l">
              <a:lnSpc>
                <a:spcPct val="100000"/>
              </a:lnSpc>
              <a:spcBef>
                <a:spcPts val="300"/>
              </a:spcBef>
              <a:spcAft>
                <a:spcPts val="0"/>
              </a:spcAft>
              <a:buSzPts val="1400"/>
              <a:buNone/>
            </a:pPr>
            <a:r>
              <a:t/>
            </a:r>
            <a:endParaRPr/>
          </a:p>
          <a:p>
            <a:pPr indent="-274313" lvl="1" marL="274313" rtl="0" algn="l">
              <a:lnSpc>
                <a:spcPct val="100000"/>
              </a:lnSpc>
              <a:spcBef>
                <a:spcPts val="300"/>
              </a:spcBef>
              <a:spcAft>
                <a:spcPts val="0"/>
              </a:spcAft>
              <a:buSzPts val="1400"/>
              <a:buFont typeface="Arial"/>
              <a:buChar char="•"/>
            </a:pPr>
            <a:r>
              <a:rPr lang="en-US"/>
              <a:t>There is no right answer, a candidate may recommend to go ahead recommending LG with caution (a potential next step could be to identify movies in the production pipeline that could turn a profit and others that could win Oscars). If a candidate does not recommend buying Lions Gate, they should give at least briefly talk about another option.</a:t>
            </a:r>
            <a:endParaRPr/>
          </a:p>
          <a:p>
            <a:pPr indent="0" lvl="0" marL="0" rtl="0" algn="l">
              <a:lnSpc>
                <a:spcPct val="100000"/>
              </a:lnSpc>
              <a:spcBef>
                <a:spcPts val="300"/>
              </a:spcBef>
              <a:spcAft>
                <a:spcPts val="0"/>
              </a:spcAft>
              <a:buSzPts val="1400"/>
              <a:buFont typeface="Calibri"/>
              <a:buNone/>
            </a:pPr>
            <a:r>
              <a:t/>
            </a:r>
            <a:endParaRPr/>
          </a:p>
        </p:txBody>
      </p:sp>
      <p:sp>
        <p:nvSpPr>
          <p:cNvPr id="689" name="Google Shape;689;p39"/>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3" name="Shape 693"/>
        <p:cNvGrpSpPr/>
        <p:nvPr/>
      </p:nvGrpSpPr>
      <p:grpSpPr>
        <a:xfrm>
          <a:off x="0" y="0"/>
          <a:ext cx="0" cy="0"/>
          <a:chOff x="0" y="0"/>
          <a:chExt cx="0" cy="0"/>
        </a:xfrm>
      </p:grpSpPr>
      <p:sp>
        <p:nvSpPr>
          <p:cNvPr id="694" name="Google Shape;694;p40"/>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Exhibit 1: Gross Sales</a:t>
            </a:r>
            <a:endParaRPr/>
          </a:p>
        </p:txBody>
      </p:sp>
      <p:pic>
        <p:nvPicPr>
          <p:cNvPr id="695" name="Google Shape;695;p40"/>
          <p:cNvPicPr preferRelativeResize="0"/>
          <p:nvPr/>
        </p:nvPicPr>
        <p:blipFill rotWithShape="1">
          <a:blip r:embed="rId3">
            <a:alphaModFix/>
          </a:blip>
          <a:srcRect b="0" l="0" r="0" t="0"/>
          <a:stretch/>
        </p:blipFill>
        <p:spPr>
          <a:xfrm>
            <a:off x="1710658" y="910703"/>
            <a:ext cx="5648142" cy="5415529"/>
          </a:xfrm>
          <a:prstGeom prst="rect">
            <a:avLst/>
          </a:prstGeom>
          <a:noFill/>
          <a:ln>
            <a:noFill/>
          </a:ln>
        </p:spPr>
      </p:pic>
      <p:sp>
        <p:nvSpPr>
          <p:cNvPr id="696" name="Google Shape;696;p40"/>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0" name="Shape 700"/>
        <p:cNvGrpSpPr/>
        <p:nvPr/>
      </p:nvGrpSpPr>
      <p:grpSpPr>
        <a:xfrm>
          <a:off x="0" y="0"/>
          <a:ext cx="0" cy="0"/>
          <a:chOff x="0" y="0"/>
          <a:chExt cx="0" cy="0"/>
        </a:xfrm>
      </p:grpSpPr>
      <p:sp>
        <p:nvSpPr>
          <p:cNvPr id="701" name="Google Shape;701;p41"/>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Exhibit 2: Movies and Market Share</a:t>
            </a:r>
            <a:endParaRPr/>
          </a:p>
        </p:txBody>
      </p:sp>
      <p:pic>
        <p:nvPicPr>
          <p:cNvPr id="702" name="Google Shape;702;p41"/>
          <p:cNvPicPr preferRelativeResize="0"/>
          <p:nvPr/>
        </p:nvPicPr>
        <p:blipFill rotWithShape="1">
          <a:blip r:embed="rId3">
            <a:alphaModFix/>
          </a:blip>
          <a:srcRect b="0" l="0" r="0" t="0"/>
          <a:stretch/>
        </p:blipFill>
        <p:spPr>
          <a:xfrm>
            <a:off x="823036" y="979537"/>
            <a:ext cx="7475288" cy="5270249"/>
          </a:xfrm>
          <a:prstGeom prst="rect">
            <a:avLst/>
          </a:prstGeom>
          <a:noFill/>
          <a:ln>
            <a:noFill/>
          </a:ln>
        </p:spPr>
      </p:pic>
      <p:sp>
        <p:nvSpPr>
          <p:cNvPr id="703" name="Google Shape;703;p41"/>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p42"/>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Exhibit 3: Top 5 Movies</a:t>
            </a:r>
            <a:endParaRPr/>
          </a:p>
        </p:txBody>
      </p:sp>
      <p:pic>
        <p:nvPicPr>
          <p:cNvPr id="709" name="Google Shape;709;p42"/>
          <p:cNvPicPr preferRelativeResize="0"/>
          <p:nvPr/>
        </p:nvPicPr>
        <p:blipFill rotWithShape="1">
          <a:blip r:embed="rId3">
            <a:alphaModFix/>
          </a:blip>
          <a:srcRect b="0" l="0" r="0" t="0"/>
          <a:stretch/>
        </p:blipFill>
        <p:spPr>
          <a:xfrm>
            <a:off x="1214107" y="914358"/>
            <a:ext cx="6548778" cy="5446508"/>
          </a:xfrm>
          <a:prstGeom prst="rect">
            <a:avLst/>
          </a:prstGeom>
          <a:noFill/>
          <a:ln>
            <a:noFill/>
          </a:ln>
        </p:spPr>
      </p:pic>
      <p:sp>
        <p:nvSpPr>
          <p:cNvPr id="710" name="Google Shape;710;p42"/>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 name="Shape 714"/>
        <p:cNvGrpSpPr/>
        <p:nvPr/>
      </p:nvGrpSpPr>
      <p:grpSpPr>
        <a:xfrm>
          <a:off x="0" y="0"/>
          <a:ext cx="0" cy="0"/>
          <a:chOff x="0" y="0"/>
          <a:chExt cx="0" cy="0"/>
        </a:xfrm>
      </p:grpSpPr>
      <p:sp>
        <p:nvSpPr>
          <p:cNvPr id="715" name="Google Shape;715;p43"/>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Exhibit 4: Gross Sales Total</a:t>
            </a:r>
            <a:endParaRPr/>
          </a:p>
        </p:txBody>
      </p:sp>
      <p:pic>
        <p:nvPicPr>
          <p:cNvPr id="716" name="Google Shape;716;p43"/>
          <p:cNvPicPr preferRelativeResize="0"/>
          <p:nvPr/>
        </p:nvPicPr>
        <p:blipFill rotWithShape="1">
          <a:blip r:embed="rId3">
            <a:alphaModFix/>
          </a:blip>
          <a:srcRect b="0" l="0" r="0" t="0"/>
          <a:stretch/>
        </p:blipFill>
        <p:spPr>
          <a:xfrm>
            <a:off x="403663" y="1003446"/>
            <a:ext cx="8383839" cy="5222356"/>
          </a:xfrm>
          <a:prstGeom prst="rect">
            <a:avLst/>
          </a:prstGeom>
          <a:noFill/>
          <a:ln>
            <a:noFill/>
          </a:ln>
        </p:spPr>
      </p:pic>
      <p:sp>
        <p:nvSpPr>
          <p:cNvPr id="717" name="Google Shape;717;p43"/>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1" name="Shape 721"/>
        <p:cNvGrpSpPr/>
        <p:nvPr/>
      </p:nvGrpSpPr>
      <p:grpSpPr>
        <a:xfrm>
          <a:off x="0" y="0"/>
          <a:ext cx="0" cy="0"/>
          <a:chOff x="0" y="0"/>
          <a:chExt cx="0" cy="0"/>
        </a:xfrm>
      </p:grpSpPr>
      <p:sp>
        <p:nvSpPr>
          <p:cNvPr id="722" name="Google Shape;722;p44"/>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Exhibit 5: Studio Awards (2012 – 2016)</a:t>
            </a:r>
            <a:endParaRPr/>
          </a:p>
        </p:txBody>
      </p:sp>
      <p:pic>
        <p:nvPicPr>
          <p:cNvPr descr="A close up of a map&#10;&#10;Description generated with high confidence" id="723" name="Google Shape;723;p44"/>
          <p:cNvPicPr preferRelativeResize="0"/>
          <p:nvPr/>
        </p:nvPicPr>
        <p:blipFill rotWithShape="1">
          <a:blip r:embed="rId3">
            <a:alphaModFix/>
          </a:blip>
          <a:srcRect b="0" l="0" r="0" t="0"/>
          <a:stretch/>
        </p:blipFill>
        <p:spPr>
          <a:xfrm>
            <a:off x="1213486" y="905385"/>
            <a:ext cx="6593360" cy="5443860"/>
          </a:xfrm>
          <a:prstGeom prst="rect">
            <a:avLst/>
          </a:prstGeom>
          <a:noFill/>
          <a:ln>
            <a:noFill/>
          </a:ln>
        </p:spPr>
      </p:pic>
      <p:sp>
        <p:nvSpPr>
          <p:cNvPr id="724" name="Google Shape;724;p44"/>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8" name="Shape 728"/>
        <p:cNvGrpSpPr/>
        <p:nvPr/>
      </p:nvGrpSpPr>
      <p:grpSpPr>
        <a:xfrm>
          <a:off x="0" y="0"/>
          <a:ext cx="0" cy="0"/>
          <a:chOff x="0" y="0"/>
          <a:chExt cx="0" cy="0"/>
        </a:xfrm>
      </p:grpSpPr>
      <p:sp>
        <p:nvSpPr>
          <p:cNvPr id="729" name="Google Shape;729;p45"/>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Exhibit 6: Oscar Best Picture Winners</a:t>
            </a:r>
            <a:endParaRPr/>
          </a:p>
        </p:txBody>
      </p:sp>
      <p:pic>
        <p:nvPicPr>
          <p:cNvPr descr="A picture containing screenshot&#10;&#10;Description generated with high confidence" id="730" name="Google Shape;730;p45"/>
          <p:cNvPicPr preferRelativeResize="0"/>
          <p:nvPr/>
        </p:nvPicPr>
        <p:blipFill rotWithShape="1">
          <a:blip r:embed="rId3">
            <a:alphaModFix/>
          </a:blip>
          <a:srcRect b="0" l="0" r="0" t="0"/>
          <a:stretch/>
        </p:blipFill>
        <p:spPr>
          <a:xfrm>
            <a:off x="99154" y="1026003"/>
            <a:ext cx="8938868" cy="5196362"/>
          </a:xfrm>
          <a:prstGeom prst="rect">
            <a:avLst/>
          </a:prstGeom>
          <a:noFill/>
          <a:ln>
            <a:noFill/>
          </a:ln>
        </p:spPr>
      </p:pic>
      <p:sp>
        <p:nvSpPr>
          <p:cNvPr id="731" name="Google Shape;731;p45"/>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5" name="Shape 735"/>
        <p:cNvGrpSpPr/>
        <p:nvPr/>
      </p:nvGrpSpPr>
      <p:grpSpPr>
        <a:xfrm>
          <a:off x="0" y="0"/>
          <a:ext cx="0" cy="0"/>
          <a:chOff x="0" y="0"/>
          <a:chExt cx="0" cy="0"/>
        </a:xfrm>
      </p:grpSpPr>
      <p:sp>
        <p:nvSpPr>
          <p:cNvPr id="736" name="Google Shape;736;p46"/>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Exhibit 7: Movie Ratings (2012 – 2017)</a:t>
            </a:r>
            <a:endParaRPr/>
          </a:p>
        </p:txBody>
      </p:sp>
      <p:pic>
        <p:nvPicPr>
          <p:cNvPr descr="A picture containing text, whiteboard&#10;&#10;Description generated with very high confidence" id="737" name="Google Shape;737;p46"/>
          <p:cNvPicPr preferRelativeResize="0"/>
          <p:nvPr/>
        </p:nvPicPr>
        <p:blipFill rotWithShape="1">
          <a:blip r:embed="rId3">
            <a:alphaModFix/>
          </a:blip>
          <a:srcRect b="0" l="0" r="0" t="0"/>
          <a:stretch/>
        </p:blipFill>
        <p:spPr>
          <a:xfrm>
            <a:off x="190305" y="1257032"/>
            <a:ext cx="8753278" cy="4687082"/>
          </a:xfrm>
          <a:prstGeom prst="rect">
            <a:avLst/>
          </a:prstGeom>
          <a:noFill/>
          <a:ln>
            <a:noFill/>
          </a:ln>
        </p:spPr>
      </p:pic>
      <p:sp>
        <p:nvSpPr>
          <p:cNvPr id="738" name="Google Shape;738;p46"/>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2" name="Shape 742"/>
        <p:cNvGrpSpPr/>
        <p:nvPr/>
      </p:nvGrpSpPr>
      <p:grpSpPr>
        <a:xfrm>
          <a:off x="0" y="0"/>
          <a:ext cx="0" cy="0"/>
          <a:chOff x="0" y="0"/>
          <a:chExt cx="0" cy="0"/>
        </a:xfrm>
      </p:grpSpPr>
      <p:sp>
        <p:nvSpPr>
          <p:cNvPr id="743" name="Google Shape;743;p47"/>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Exhibit 8: Movie Production Expenses</a:t>
            </a:r>
            <a:endParaRPr/>
          </a:p>
        </p:txBody>
      </p:sp>
      <p:pic>
        <p:nvPicPr>
          <p:cNvPr id="744" name="Google Shape;744;p47"/>
          <p:cNvPicPr preferRelativeResize="0"/>
          <p:nvPr/>
        </p:nvPicPr>
        <p:blipFill rotWithShape="1">
          <a:blip r:embed="rId3">
            <a:alphaModFix/>
          </a:blip>
          <a:srcRect b="0" l="0" r="0" t="0"/>
          <a:stretch/>
        </p:blipFill>
        <p:spPr>
          <a:xfrm>
            <a:off x="1214835" y="908140"/>
            <a:ext cx="6691745" cy="5412239"/>
          </a:xfrm>
          <a:prstGeom prst="rect">
            <a:avLst/>
          </a:prstGeom>
          <a:noFill/>
          <a:ln>
            <a:noFill/>
          </a:ln>
        </p:spPr>
      </p:pic>
      <p:sp>
        <p:nvSpPr>
          <p:cNvPr id="745" name="Google Shape;745;p47"/>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sp>
        <p:nvSpPr>
          <p:cNvPr id="750" name="Google Shape;750;p48"/>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Rare Disease Business Growth</a:t>
            </a:r>
            <a:endParaRPr/>
          </a:p>
        </p:txBody>
      </p:sp>
      <p:sp>
        <p:nvSpPr>
          <p:cNvPr id="751" name="Google Shape;751;p48"/>
          <p:cNvSpPr txBox="1"/>
          <p:nvPr>
            <p:ph idx="1" type="body"/>
          </p:nvPr>
        </p:nvSpPr>
        <p:spPr>
          <a:xfrm>
            <a:off x="381001" y="1283365"/>
            <a:ext cx="8341656" cy="2209300"/>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Font typeface="Calibri"/>
              <a:buNone/>
            </a:pPr>
            <a:r>
              <a:rPr lang="en-US"/>
              <a:t>Our client is a large pharmaceutical company with a strong business in “Rare Disease” (rare diseases are conditions that affect fewer than 200,000 people in the US)</a:t>
            </a:r>
            <a:endParaRPr/>
          </a:p>
          <a:p>
            <a:pPr indent="0" lvl="0" marL="0" rtl="0" algn="l">
              <a:lnSpc>
                <a:spcPct val="100000"/>
              </a:lnSpc>
              <a:spcBef>
                <a:spcPts val="300"/>
              </a:spcBef>
              <a:spcAft>
                <a:spcPts val="0"/>
              </a:spcAft>
              <a:buSzPts val="1400"/>
              <a:buFont typeface="Calibri"/>
              <a:buNone/>
            </a:pPr>
            <a:r>
              <a:rPr lang="en-US"/>
              <a:t>Historically pharmaceutical companies have not invested significantly in Rare Disease because it has not been cost effective to conduct research for such small populations. Due to the fall off in the number of pharmaceutical blockbusters and improved regulation to make R&amp;D cheaper for Rare Disease, pharmaceutical companies have begun to invest more in Rare Disease R&amp;D over the last few years.</a:t>
            </a:r>
            <a:endParaRPr/>
          </a:p>
          <a:p>
            <a:pPr indent="0" lvl="0" marL="0" rtl="0" algn="l">
              <a:lnSpc>
                <a:spcPct val="100000"/>
              </a:lnSpc>
              <a:spcBef>
                <a:spcPts val="300"/>
              </a:spcBef>
              <a:spcAft>
                <a:spcPts val="0"/>
              </a:spcAft>
              <a:buSzPts val="1400"/>
              <a:buFont typeface="Calibri"/>
              <a:buNone/>
            </a:pPr>
            <a:r>
              <a:t/>
            </a:r>
            <a:endParaRPr/>
          </a:p>
          <a:p>
            <a:pPr indent="0" lvl="0" marL="0" rtl="0" algn="l">
              <a:lnSpc>
                <a:spcPct val="100000"/>
              </a:lnSpc>
              <a:spcBef>
                <a:spcPts val="300"/>
              </a:spcBef>
              <a:spcAft>
                <a:spcPts val="0"/>
              </a:spcAft>
              <a:buSzPts val="1400"/>
              <a:buFont typeface="Calibri"/>
              <a:buNone/>
            </a:pPr>
            <a:r>
              <a:rPr lang="en-US"/>
              <a:t>Our Client has hired you because it would like to grow its Rare Disease business, specifically they would like to double their Rare Disease business in 5 years</a:t>
            </a:r>
            <a:endParaRPr/>
          </a:p>
          <a:p>
            <a:pPr indent="0" lvl="0" marL="0" rtl="0" algn="l">
              <a:lnSpc>
                <a:spcPct val="100000"/>
              </a:lnSpc>
              <a:spcBef>
                <a:spcPts val="300"/>
              </a:spcBef>
              <a:spcAft>
                <a:spcPts val="0"/>
              </a:spcAft>
              <a:buSzPts val="1400"/>
              <a:buFont typeface="Calibri"/>
              <a:buNone/>
            </a:pPr>
            <a:r>
              <a:t/>
            </a:r>
            <a:endParaRPr/>
          </a:p>
        </p:txBody>
      </p:sp>
      <p:sp>
        <p:nvSpPr>
          <p:cNvPr id="752" name="Google Shape;752;p48"/>
          <p:cNvSpPr txBox="1"/>
          <p:nvPr>
            <p:ph idx="2" type="body"/>
          </p:nvPr>
        </p:nvSpPr>
        <p:spPr>
          <a:xfrm>
            <a:off x="381001" y="3965567"/>
            <a:ext cx="8341656" cy="2236883"/>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11437" lvl="0" marL="11437" rtl="0" algn="l">
              <a:lnSpc>
                <a:spcPct val="100000"/>
              </a:lnSpc>
              <a:spcBef>
                <a:spcPts val="0"/>
              </a:spcBef>
              <a:spcAft>
                <a:spcPts val="0"/>
              </a:spcAft>
              <a:buSzPts val="1400"/>
              <a:buFont typeface="Calibri"/>
              <a:buChar char="-"/>
            </a:pPr>
            <a:r>
              <a:rPr lang="en-US"/>
              <a:t>Our Client is an Industry leader with a track record of success. Its existing business is $2.5B, expected to grow </a:t>
            </a:r>
            <a:endParaRPr/>
          </a:p>
          <a:p>
            <a:pPr indent="0" lvl="0" marL="0" rtl="0" algn="l">
              <a:lnSpc>
                <a:spcPct val="100000"/>
              </a:lnSpc>
              <a:spcBef>
                <a:spcPts val="300"/>
              </a:spcBef>
              <a:spcAft>
                <a:spcPts val="0"/>
              </a:spcAft>
              <a:buSzPts val="1400"/>
              <a:buFont typeface="Calibri"/>
              <a:buNone/>
            </a:pPr>
            <a:r>
              <a:rPr lang="en-US"/>
              <a:t>at 5% per year</a:t>
            </a:r>
            <a:endParaRPr/>
          </a:p>
          <a:p>
            <a:pPr indent="-11437" lvl="0" marL="11437" rtl="0" algn="l">
              <a:lnSpc>
                <a:spcPct val="100000"/>
              </a:lnSpc>
              <a:spcBef>
                <a:spcPts val="300"/>
              </a:spcBef>
              <a:spcAft>
                <a:spcPts val="0"/>
              </a:spcAft>
              <a:buSzPts val="1400"/>
              <a:buFont typeface="Calibri"/>
              <a:buChar char="-"/>
            </a:pPr>
            <a:r>
              <a:rPr lang="en-US"/>
              <a:t>The Rare Disease market is $30B and is as profitable as “Big Pharma”</a:t>
            </a:r>
            <a:endParaRPr/>
          </a:p>
          <a:p>
            <a:pPr indent="-285750" lvl="2" marL="560063" rtl="0" algn="l">
              <a:lnSpc>
                <a:spcPct val="100000"/>
              </a:lnSpc>
              <a:spcBef>
                <a:spcPts val="300"/>
              </a:spcBef>
              <a:spcAft>
                <a:spcPts val="0"/>
              </a:spcAft>
              <a:buSzPts val="1400"/>
              <a:buFont typeface="Calibri"/>
              <a:buChar char="-"/>
            </a:pPr>
            <a:r>
              <a:rPr lang="en-US"/>
              <a:t>While research is relatively expensive, the government provides tax credits for drugs designated to treat rare diseases</a:t>
            </a:r>
            <a:endParaRPr/>
          </a:p>
          <a:p>
            <a:pPr indent="-285750" lvl="2" marL="560063" rtl="0" algn="l">
              <a:lnSpc>
                <a:spcPct val="100000"/>
              </a:lnSpc>
              <a:spcBef>
                <a:spcPts val="300"/>
              </a:spcBef>
              <a:spcAft>
                <a:spcPts val="0"/>
              </a:spcAft>
              <a:buSzPts val="1400"/>
              <a:buFont typeface="Calibri"/>
              <a:buChar char="-"/>
            </a:pPr>
            <a:r>
              <a:rPr lang="en-US"/>
              <a:t>Additionally, prices tend to be higher to make up for the upfront research investment. It’s also growing faster than Big Pharma</a:t>
            </a:r>
            <a:endParaRPr/>
          </a:p>
          <a:p>
            <a:pPr indent="-11437" lvl="0" marL="11437" rtl="0" algn="l">
              <a:lnSpc>
                <a:spcPct val="100000"/>
              </a:lnSpc>
              <a:spcBef>
                <a:spcPts val="300"/>
              </a:spcBef>
              <a:spcAft>
                <a:spcPts val="0"/>
              </a:spcAft>
              <a:buSzPts val="1400"/>
              <a:buFont typeface="Calibri"/>
              <a:buChar char="-"/>
            </a:pPr>
            <a:r>
              <a:rPr lang="en-US"/>
              <a:t>There are many small bio-techs that are attractive targets and there are also other big pharmaceutical companies that have rare disease divisions / assets</a:t>
            </a:r>
            <a:endParaRPr/>
          </a:p>
          <a:p>
            <a:pPr indent="0" lvl="0" marL="0" rtl="0" algn="l">
              <a:lnSpc>
                <a:spcPct val="100000"/>
              </a:lnSpc>
              <a:spcBef>
                <a:spcPts val="300"/>
              </a:spcBef>
              <a:spcAft>
                <a:spcPts val="0"/>
              </a:spcAft>
              <a:buSzPts val="1400"/>
              <a:buFont typeface="Calibri"/>
              <a:buNone/>
            </a:pPr>
            <a:r>
              <a:t/>
            </a:r>
            <a:endParaRPr/>
          </a:p>
        </p:txBody>
      </p:sp>
      <p:sp>
        <p:nvSpPr>
          <p:cNvPr id="753" name="Google Shape;753;p48"/>
          <p:cNvSpPr txBox="1"/>
          <p:nvPr>
            <p:ph idx="3" type="body"/>
          </p:nvPr>
        </p:nvSpPr>
        <p:spPr>
          <a:xfrm>
            <a:off x="503321" y="1022905"/>
            <a:ext cx="8126332"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Case Prompt</a:t>
            </a:r>
            <a:endParaRPr/>
          </a:p>
        </p:txBody>
      </p:sp>
      <p:sp>
        <p:nvSpPr>
          <p:cNvPr id="754" name="Google Shape;754;p48"/>
          <p:cNvSpPr txBox="1"/>
          <p:nvPr>
            <p:ph idx="4" type="body"/>
          </p:nvPr>
        </p:nvSpPr>
        <p:spPr>
          <a:xfrm>
            <a:off x="515348" y="3688067"/>
            <a:ext cx="8126332"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Clarifying Information to Provide Upon Request</a:t>
            </a:r>
            <a:endParaRPr/>
          </a:p>
        </p:txBody>
      </p:sp>
      <p:sp>
        <p:nvSpPr>
          <p:cNvPr id="755" name="Google Shape;755;p48"/>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9" name="Shape 759"/>
        <p:cNvGrpSpPr/>
        <p:nvPr/>
      </p:nvGrpSpPr>
      <p:grpSpPr>
        <a:xfrm>
          <a:off x="0" y="0"/>
          <a:ext cx="0" cy="0"/>
          <a:chOff x="0" y="0"/>
          <a:chExt cx="0" cy="0"/>
        </a:xfrm>
      </p:grpSpPr>
      <p:sp>
        <p:nvSpPr>
          <p:cNvPr id="760" name="Google Shape;760;p49"/>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Rare Disease Business Growth</a:t>
            </a:r>
            <a:endParaRPr/>
          </a:p>
        </p:txBody>
      </p:sp>
      <p:sp>
        <p:nvSpPr>
          <p:cNvPr id="761" name="Google Shape;761;p49"/>
          <p:cNvSpPr txBox="1"/>
          <p:nvPr>
            <p:ph idx="1" type="body"/>
          </p:nvPr>
        </p:nvSpPr>
        <p:spPr>
          <a:xfrm>
            <a:off x="381001" y="1283365"/>
            <a:ext cx="8341656" cy="4985087"/>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Font typeface="Calibri"/>
              <a:buNone/>
            </a:pPr>
            <a:r>
              <a:rPr lang="en-US"/>
              <a:t>Use these questions to guide the case if the candidate is struggling to lead. A strong candidate will take initiative to lead the case</a:t>
            </a:r>
            <a:endParaRPr/>
          </a:p>
          <a:p>
            <a:pPr indent="0" lvl="0" marL="0" rtl="0" algn="l">
              <a:lnSpc>
                <a:spcPct val="100000"/>
              </a:lnSpc>
              <a:spcBef>
                <a:spcPts val="300"/>
              </a:spcBef>
              <a:spcAft>
                <a:spcPts val="0"/>
              </a:spcAft>
              <a:buSzPts val="1400"/>
              <a:buFont typeface="Calibri"/>
              <a:buNone/>
            </a:pPr>
            <a:r>
              <a:t/>
            </a:r>
            <a:endParaRPr/>
          </a:p>
          <a:p>
            <a:pPr indent="0" lvl="0" marL="0" rtl="0" algn="l">
              <a:lnSpc>
                <a:spcPct val="100000"/>
              </a:lnSpc>
              <a:spcBef>
                <a:spcPts val="300"/>
              </a:spcBef>
              <a:spcAft>
                <a:spcPts val="0"/>
              </a:spcAft>
              <a:buSzPts val="1400"/>
              <a:buFont typeface="Calibri"/>
              <a:buNone/>
            </a:pPr>
            <a:r>
              <a:t/>
            </a:r>
            <a:endParaRPr/>
          </a:p>
          <a:p>
            <a:pPr indent="0" lvl="0" marL="0" rtl="0" algn="l">
              <a:lnSpc>
                <a:spcPct val="100000"/>
              </a:lnSpc>
              <a:spcBef>
                <a:spcPts val="300"/>
              </a:spcBef>
              <a:spcAft>
                <a:spcPts val="0"/>
              </a:spcAft>
              <a:buSzPts val="1400"/>
              <a:buFont typeface="Calibri"/>
              <a:buNone/>
            </a:pPr>
            <a:r>
              <a:t/>
            </a:r>
            <a:endParaRPr/>
          </a:p>
          <a:p>
            <a:pPr indent="0" lvl="0" marL="0" rtl="0" algn="l">
              <a:lnSpc>
                <a:spcPct val="100000"/>
              </a:lnSpc>
              <a:spcBef>
                <a:spcPts val="300"/>
              </a:spcBef>
              <a:spcAft>
                <a:spcPts val="0"/>
              </a:spcAft>
              <a:buSzPts val="1400"/>
              <a:buFont typeface="Calibri"/>
              <a:buNone/>
            </a:pPr>
            <a:r>
              <a:rPr lang="en-US"/>
              <a:t>How would you approach our client’s question on growing its Rare Disease business?</a:t>
            </a:r>
            <a:endParaRPr/>
          </a:p>
          <a:p>
            <a:pPr indent="0" lvl="0" marL="0" rtl="0" algn="l">
              <a:lnSpc>
                <a:spcPct val="100000"/>
              </a:lnSpc>
              <a:spcBef>
                <a:spcPts val="300"/>
              </a:spcBef>
              <a:spcAft>
                <a:spcPts val="0"/>
              </a:spcAft>
              <a:buSzPts val="1400"/>
              <a:buFont typeface="Calibri"/>
              <a:buNone/>
            </a:pPr>
            <a:r>
              <a:t/>
            </a:r>
            <a:endParaRPr/>
          </a:p>
          <a:p>
            <a:pPr indent="0" lvl="0" marL="0" rtl="0" algn="l">
              <a:lnSpc>
                <a:spcPct val="100000"/>
              </a:lnSpc>
              <a:spcBef>
                <a:spcPts val="300"/>
              </a:spcBef>
              <a:spcAft>
                <a:spcPts val="0"/>
              </a:spcAft>
              <a:buSzPts val="1400"/>
              <a:buFont typeface="Calibri"/>
              <a:buNone/>
            </a:pPr>
            <a:r>
              <a:rPr lang="en-US"/>
              <a:t>Where would you like to start?</a:t>
            </a:r>
            <a:endParaRPr/>
          </a:p>
          <a:p>
            <a:pPr indent="0" lvl="0" marL="0" rtl="0" algn="l">
              <a:lnSpc>
                <a:spcPct val="100000"/>
              </a:lnSpc>
              <a:spcBef>
                <a:spcPts val="300"/>
              </a:spcBef>
              <a:spcAft>
                <a:spcPts val="0"/>
              </a:spcAft>
              <a:buSzPts val="1400"/>
              <a:buFont typeface="Calibri"/>
              <a:buNone/>
            </a:pPr>
            <a:r>
              <a:t/>
            </a:r>
            <a:endParaRPr/>
          </a:p>
          <a:p>
            <a:pPr indent="0" lvl="0" marL="0" rtl="0" algn="l">
              <a:lnSpc>
                <a:spcPct val="100000"/>
              </a:lnSpc>
              <a:spcBef>
                <a:spcPts val="300"/>
              </a:spcBef>
              <a:spcAft>
                <a:spcPts val="0"/>
              </a:spcAft>
              <a:buSzPts val="1400"/>
              <a:buFont typeface="Calibri"/>
              <a:buNone/>
            </a:pPr>
            <a:r>
              <a:rPr lang="en-US"/>
              <a:t>[When the candidate asks about the existing business, share </a:t>
            </a:r>
            <a:r>
              <a:rPr b="1" lang="en-US"/>
              <a:t>Exhibit 1</a:t>
            </a:r>
            <a:r>
              <a:rPr lang="en-US"/>
              <a:t>] Based on the data,</a:t>
            </a:r>
            <a:endParaRPr/>
          </a:p>
          <a:p>
            <a:pPr indent="0" lvl="0" marL="0" rtl="0" algn="l">
              <a:lnSpc>
                <a:spcPct val="100000"/>
              </a:lnSpc>
              <a:spcBef>
                <a:spcPts val="300"/>
              </a:spcBef>
              <a:spcAft>
                <a:spcPts val="0"/>
              </a:spcAft>
              <a:buSzPts val="1400"/>
              <a:buFont typeface="Calibri"/>
              <a:buNone/>
            </a:pPr>
            <a:r>
              <a:rPr lang="en-US"/>
              <a:t>how large will the client's rare disease business be in 2016? [If necessary,] what is the</a:t>
            </a:r>
            <a:endParaRPr/>
          </a:p>
          <a:p>
            <a:pPr indent="0" lvl="0" marL="0" rtl="0" algn="l">
              <a:lnSpc>
                <a:spcPct val="100000"/>
              </a:lnSpc>
              <a:spcBef>
                <a:spcPts val="300"/>
              </a:spcBef>
              <a:spcAft>
                <a:spcPts val="0"/>
              </a:spcAft>
              <a:buSzPts val="1400"/>
              <a:buFont typeface="Calibri"/>
              <a:buNone/>
            </a:pPr>
            <a:r>
              <a:rPr lang="en-US"/>
              <a:t>shortfall to its goal of doubling its business?</a:t>
            </a:r>
            <a:endParaRPr/>
          </a:p>
          <a:p>
            <a:pPr indent="0" lvl="0" marL="0" rtl="0" algn="l">
              <a:lnSpc>
                <a:spcPct val="100000"/>
              </a:lnSpc>
              <a:spcBef>
                <a:spcPts val="300"/>
              </a:spcBef>
              <a:spcAft>
                <a:spcPts val="0"/>
              </a:spcAft>
              <a:buSzPts val="1400"/>
              <a:buFont typeface="Calibri"/>
              <a:buNone/>
            </a:pPr>
            <a:r>
              <a:t/>
            </a:r>
            <a:endParaRPr/>
          </a:p>
          <a:p>
            <a:pPr indent="0" lvl="0" marL="0" rtl="0" algn="l">
              <a:lnSpc>
                <a:spcPct val="100000"/>
              </a:lnSpc>
              <a:spcBef>
                <a:spcPts val="300"/>
              </a:spcBef>
              <a:spcAft>
                <a:spcPts val="0"/>
              </a:spcAft>
              <a:buSzPts val="1400"/>
              <a:buFont typeface="Calibri"/>
              <a:buNone/>
            </a:pPr>
            <a:r>
              <a:rPr lang="en-US"/>
              <a:t>What does the client need to do to double the Rare Disease revenues by 2016? [If candidates discuss acquisitions] Who to acquire? How many assets will we need to buy?</a:t>
            </a:r>
            <a:endParaRPr/>
          </a:p>
          <a:p>
            <a:pPr indent="0" lvl="0" marL="0" rtl="0" algn="l">
              <a:lnSpc>
                <a:spcPct val="100000"/>
              </a:lnSpc>
              <a:spcBef>
                <a:spcPts val="300"/>
              </a:spcBef>
              <a:spcAft>
                <a:spcPts val="0"/>
              </a:spcAft>
              <a:buSzPts val="1400"/>
              <a:buFont typeface="Calibri"/>
              <a:buNone/>
            </a:pPr>
            <a:r>
              <a:t/>
            </a:r>
            <a:endParaRPr/>
          </a:p>
          <a:p>
            <a:pPr indent="0" lvl="0" marL="0" rtl="0" algn="l">
              <a:lnSpc>
                <a:spcPct val="100000"/>
              </a:lnSpc>
              <a:spcBef>
                <a:spcPts val="300"/>
              </a:spcBef>
              <a:spcAft>
                <a:spcPts val="0"/>
              </a:spcAft>
              <a:buSzPts val="1400"/>
              <a:buFont typeface="Calibri"/>
              <a:buNone/>
            </a:pPr>
            <a:r>
              <a:t/>
            </a:r>
            <a:endParaRPr/>
          </a:p>
        </p:txBody>
      </p:sp>
      <p:sp>
        <p:nvSpPr>
          <p:cNvPr id="762" name="Google Shape;762;p49"/>
          <p:cNvSpPr txBox="1"/>
          <p:nvPr>
            <p:ph idx="2" type="body"/>
          </p:nvPr>
        </p:nvSpPr>
        <p:spPr>
          <a:xfrm>
            <a:off x="503321" y="1022905"/>
            <a:ext cx="8126332"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Questions for the Candidate</a:t>
            </a:r>
            <a:endParaRPr/>
          </a:p>
        </p:txBody>
      </p:sp>
      <p:sp>
        <p:nvSpPr>
          <p:cNvPr id="763" name="Google Shape;763;p49"/>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7" name="Shape 767"/>
        <p:cNvGrpSpPr/>
        <p:nvPr/>
      </p:nvGrpSpPr>
      <p:grpSpPr>
        <a:xfrm>
          <a:off x="0" y="0"/>
          <a:ext cx="0" cy="0"/>
          <a:chOff x="0" y="0"/>
          <a:chExt cx="0" cy="0"/>
        </a:xfrm>
      </p:grpSpPr>
      <p:sp>
        <p:nvSpPr>
          <p:cNvPr id="768" name="Google Shape;768;p50"/>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Rare Disease Business Growth</a:t>
            </a:r>
            <a:endParaRPr/>
          </a:p>
        </p:txBody>
      </p:sp>
      <p:sp>
        <p:nvSpPr>
          <p:cNvPr id="769" name="Google Shape;769;p50"/>
          <p:cNvSpPr txBox="1"/>
          <p:nvPr>
            <p:ph idx="1" type="body"/>
          </p:nvPr>
        </p:nvSpPr>
        <p:spPr>
          <a:xfrm>
            <a:off x="381001" y="1283365"/>
            <a:ext cx="8341656" cy="2209300"/>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Font typeface="Calibri"/>
              <a:buNone/>
            </a:pPr>
            <a:r>
              <a:rPr lang="en-US"/>
              <a:t>Internal growth will not be sufficient to achieve your goals of doubling your business. You will need to acquire ~3 “peak revenue” assets to close the gap between your goal of $2.5B and the $1.1B your portfolio will generate organically</a:t>
            </a:r>
            <a:endParaRPr/>
          </a:p>
          <a:p>
            <a:pPr indent="0" lvl="0" marL="0" rtl="0" algn="l">
              <a:lnSpc>
                <a:spcPct val="100000"/>
              </a:lnSpc>
              <a:spcBef>
                <a:spcPts val="300"/>
              </a:spcBef>
              <a:spcAft>
                <a:spcPts val="0"/>
              </a:spcAft>
              <a:buSzPts val="1400"/>
              <a:buFont typeface="Calibri"/>
              <a:buNone/>
            </a:pPr>
            <a:r>
              <a:t/>
            </a:r>
            <a:endParaRPr/>
          </a:p>
        </p:txBody>
      </p:sp>
      <p:sp>
        <p:nvSpPr>
          <p:cNvPr id="770" name="Google Shape;770;p50"/>
          <p:cNvSpPr txBox="1"/>
          <p:nvPr>
            <p:ph idx="2" type="body"/>
          </p:nvPr>
        </p:nvSpPr>
        <p:spPr>
          <a:xfrm>
            <a:off x="381001" y="3965567"/>
            <a:ext cx="8341656" cy="2236883"/>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Font typeface="Calibri"/>
              <a:buNone/>
            </a:pPr>
            <a:r>
              <a:rPr lang="en-US"/>
              <a:t>Risks</a:t>
            </a:r>
            <a:endParaRPr/>
          </a:p>
          <a:p>
            <a:pPr indent="-11437" lvl="0" marL="11437" rtl="0" algn="l">
              <a:lnSpc>
                <a:spcPct val="100000"/>
              </a:lnSpc>
              <a:spcBef>
                <a:spcPts val="300"/>
              </a:spcBef>
              <a:spcAft>
                <a:spcPts val="0"/>
              </a:spcAft>
              <a:buSzPts val="1400"/>
              <a:buFont typeface="Calibri"/>
              <a:buChar char="-"/>
            </a:pPr>
            <a:r>
              <a:rPr lang="en-US"/>
              <a:t>Changing political landscape could drastically impact profitability of acquired assets (presidential term is &lt;5 years)</a:t>
            </a:r>
            <a:endParaRPr/>
          </a:p>
          <a:p>
            <a:pPr indent="-11437" lvl="0" marL="11437" rtl="0" algn="l">
              <a:lnSpc>
                <a:spcPct val="100000"/>
              </a:lnSpc>
              <a:spcBef>
                <a:spcPts val="300"/>
              </a:spcBef>
              <a:spcAft>
                <a:spcPts val="0"/>
              </a:spcAft>
              <a:buSzPts val="1400"/>
              <a:buFont typeface="Calibri"/>
              <a:buChar char="-"/>
            </a:pPr>
            <a:r>
              <a:rPr lang="en-US"/>
              <a:t>Investigate potential for geographical expansion and associated hurdles with entering new countries (legal, regulatory, political, competitive landscape)</a:t>
            </a:r>
            <a:endParaRPr/>
          </a:p>
          <a:p>
            <a:pPr indent="0" lvl="0" marL="0" rtl="0" algn="l">
              <a:lnSpc>
                <a:spcPct val="100000"/>
              </a:lnSpc>
              <a:spcBef>
                <a:spcPts val="300"/>
              </a:spcBef>
              <a:spcAft>
                <a:spcPts val="0"/>
              </a:spcAft>
              <a:buSzPts val="1400"/>
              <a:buFont typeface="Calibri"/>
              <a:buNone/>
            </a:pPr>
            <a:r>
              <a:t/>
            </a:r>
            <a:endParaRPr/>
          </a:p>
          <a:p>
            <a:pPr indent="0" lvl="0" marL="0" rtl="0" algn="l">
              <a:lnSpc>
                <a:spcPct val="100000"/>
              </a:lnSpc>
              <a:spcBef>
                <a:spcPts val="300"/>
              </a:spcBef>
              <a:spcAft>
                <a:spcPts val="0"/>
              </a:spcAft>
              <a:buSzPts val="1400"/>
              <a:buFont typeface="Calibri"/>
              <a:buNone/>
            </a:pPr>
            <a:r>
              <a:t/>
            </a:r>
            <a:endParaRPr/>
          </a:p>
        </p:txBody>
      </p:sp>
      <p:sp>
        <p:nvSpPr>
          <p:cNvPr id="771" name="Google Shape;771;p50"/>
          <p:cNvSpPr txBox="1"/>
          <p:nvPr>
            <p:ph idx="3" type="body"/>
          </p:nvPr>
        </p:nvSpPr>
        <p:spPr>
          <a:xfrm>
            <a:off x="503321" y="1022905"/>
            <a:ext cx="8126332"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Recommendation</a:t>
            </a:r>
            <a:endParaRPr/>
          </a:p>
        </p:txBody>
      </p:sp>
      <p:sp>
        <p:nvSpPr>
          <p:cNvPr id="772" name="Google Shape;772;p50"/>
          <p:cNvSpPr txBox="1"/>
          <p:nvPr>
            <p:ph idx="4" type="body"/>
          </p:nvPr>
        </p:nvSpPr>
        <p:spPr>
          <a:xfrm>
            <a:off x="515348" y="3688067"/>
            <a:ext cx="8126332"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Risks and Next Steps</a:t>
            </a:r>
            <a:endParaRPr/>
          </a:p>
        </p:txBody>
      </p:sp>
      <p:sp>
        <p:nvSpPr>
          <p:cNvPr id="773" name="Google Shape;773;p50"/>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7" name="Shape 777"/>
        <p:cNvGrpSpPr/>
        <p:nvPr/>
      </p:nvGrpSpPr>
      <p:grpSpPr>
        <a:xfrm>
          <a:off x="0" y="0"/>
          <a:ext cx="0" cy="0"/>
          <a:chOff x="0" y="0"/>
          <a:chExt cx="0" cy="0"/>
        </a:xfrm>
      </p:grpSpPr>
      <p:sp>
        <p:nvSpPr>
          <p:cNvPr id="778" name="Google Shape;778;p51"/>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Rare Disease Business Growth </a:t>
            </a:r>
            <a:endParaRPr/>
          </a:p>
        </p:txBody>
      </p:sp>
      <p:sp>
        <p:nvSpPr>
          <p:cNvPr id="779" name="Google Shape;779;p51"/>
          <p:cNvSpPr txBox="1"/>
          <p:nvPr>
            <p:ph idx="2" type="body"/>
          </p:nvPr>
        </p:nvSpPr>
        <p:spPr>
          <a:xfrm>
            <a:off x="503321" y="1022905"/>
            <a:ext cx="8126332"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Quantitative Analysis and Solution</a:t>
            </a:r>
            <a:endParaRPr/>
          </a:p>
        </p:txBody>
      </p:sp>
      <p:pic>
        <p:nvPicPr>
          <p:cNvPr id="780" name="Google Shape;780;p51"/>
          <p:cNvPicPr preferRelativeResize="0"/>
          <p:nvPr>
            <p:ph idx="1" type="body"/>
          </p:nvPr>
        </p:nvPicPr>
        <p:blipFill rotWithShape="1">
          <a:blip r:embed="rId3">
            <a:alphaModFix/>
          </a:blip>
          <a:srcRect b="0" l="0" r="0" t="0"/>
          <a:stretch/>
        </p:blipFill>
        <p:spPr>
          <a:xfrm>
            <a:off x="385707" y="1300405"/>
            <a:ext cx="8369986" cy="4937557"/>
          </a:xfrm>
          <a:prstGeom prst="rect">
            <a:avLst/>
          </a:prstGeom>
          <a:solidFill>
            <a:schemeClr val="lt1"/>
          </a:solidFill>
          <a:ln cap="flat" cmpd="sng" w="38100">
            <a:solidFill>
              <a:schemeClr val="dk1"/>
            </a:solidFill>
            <a:prstDash val="solid"/>
            <a:round/>
            <a:headEnd len="sm" w="sm" type="none"/>
            <a:tailEnd len="sm" w="sm" type="none"/>
          </a:ln>
        </p:spPr>
      </p:pic>
      <p:sp>
        <p:nvSpPr>
          <p:cNvPr id="781" name="Google Shape;781;p51"/>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5" name="Shape 785"/>
        <p:cNvGrpSpPr/>
        <p:nvPr/>
      </p:nvGrpSpPr>
      <p:grpSpPr>
        <a:xfrm>
          <a:off x="0" y="0"/>
          <a:ext cx="0" cy="0"/>
          <a:chOff x="0" y="0"/>
          <a:chExt cx="0" cy="0"/>
        </a:xfrm>
      </p:grpSpPr>
      <p:sp>
        <p:nvSpPr>
          <p:cNvPr id="786" name="Google Shape;786;p52"/>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Rare Disease Business Growth – Exhibit 1</a:t>
            </a:r>
            <a:endParaRPr/>
          </a:p>
        </p:txBody>
      </p:sp>
      <p:graphicFrame>
        <p:nvGraphicFramePr>
          <p:cNvPr id="787" name="Google Shape;787;p52"/>
          <p:cNvGraphicFramePr/>
          <p:nvPr/>
        </p:nvGraphicFramePr>
        <p:xfrm>
          <a:off x="492938" y="1376821"/>
          <a:ext cx="3000000" cy="3000000"/>
        </p:xfrm>
        <a:graphic>
          <a:graphicData uri="http://schemas.openxmlformats.org/drawingml/2006/table">
            <a:tbl>
              <a:tblPr firstRow="1">
                <a:noFill/>
                <a:tableStyleId>{C1FB10B7-FF90-4F46-8F30-8EB883CFDCC7}</a:tableStyleId>
              </a:tblPr>
              <a:tblGrid>
                <a:gridCol w="1385975"/>
                <a:gridCol w="1302700"/>
                <a:gridCol w="1741125"/>
                <a:gridCol w="2467625"/>
                <a:gridCol w="1389050"/>
              </a:tblGrid>
              <a:tr h="628150">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chemeClr val="lt1"/>
                          </a:solidFill>
                        </a:rPr>
                        <a:t>Phase</a:t>
                      </a:r>
                      <a:endParaRPr sz="1400" u="none" cap="none" strike="noStrike"/>
                    </a:p>
                  </a:txBody>
                  <a:tcPr marT="45725" marB="45725" marR="91450" marL="91450">
                    <a:solidFill>
                      <a:schemeClr val="dk2"/>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chemeClr val="lt1"/>
                          </a:solidFill>
                        </a:rPr>
                        <a:t># Assets</a:t>
                      </a:r>
                      <a:endParaRPr sz="1400" u="none" cap="none" strike="noStrike"/>
                    </a:p>
                  </a:txBody>
                  <a:tcPr marT="45725" marB="45725" marR="91450" marL="91450">
                    <a:solidFill>
                      <a:schemeClr val="dk2"/>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chemeClr val="lt1"/>
                          </a:solidFill>
                        </a:rPr>
                        <a:t>Time to Market (years)</a:t>
                      </a:r>
                      <a:endParaRPr sz="1400" u="none" cap="none" strike="noStrike"/>
                    </a:p>
                  </a:txBody>
                  <a:tcPr marT="45725" marB="45725" marR="91450" marL="91450">
                    <a:solidFill>
                      <a:schemeClr val="dk2"/>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chemeClr val="lt1"/>
                          </a:solidFill>
                        </a:rPr>
                        <a:t>Attrition </a:t>
                      </a:r>
                      <a:endParaRPr sz="1400" u="none" cap="none" strike="noStrike"/>
                    </a:p>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chemeClr val="lt1"/>
                          </a:solidFill>
                        </a:rPr>
                        <a:t>(% expected to be approved to reach the market)</a:t>
                      </a:r>
                      <a:endParaRPr sz="1400" u="none" cap="none" strike="noStrike"/>
                    </a:p>
                  </a:txBody>
                  <a:tcPr marT="45725" marB="45725" marR="91450" marL="91450">
                    <a:solidFill>
                      <a:schemeClr val="dk2"/>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chemeClr val="lt1"/>
                          </a:solidFill>
                        </a:rPr>
                        <a:t>Peak Revenue </a:t>
                      </a:r>
                      <a:endParaRPr sz="1400" u="none" cap="none" strike="noStrike"/>
                    </a:p>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chemeClr val="lt1"/>
                          </a:solidFill>
                        </a:rPr>
                        <a:t>($M)</a:t>
                      </a:r>
                      <a:endParaRPr sz="1400" u="none" cap="none" strike="noStrike"/>
                    </a:p>
                  </a:txBody>
                  <a:tcPr marT="45725" marB="45725" marR="91450" marL="91450">
                    <a:solidFill>
                      <a:schemeClr val="dk2"/>
                    </a:solidFill>
                  </a:tcPr>
                </a:tc>
              </a:tr>
              <a:tr h="287900">
                <a:tc>
                  <a:txBody>
                    <a:bodyPr/>
                    <a:lstStyle/>
                    <a:p>
                      <a:pPr indent="0" lvl="0" marL="0" marR="0" rtl="0" algn="l">
                        <a:lnSpc>
                          <a:spcPct val="100000"/>
                        </a:lnSpc>
                        <a:spcBef>
                          <a:spcPts val="0"/>
                        </a:spcBef>
                        <a:spcAft>
                          <a:spcPts val="0"/>
                        </a:spcAft>
                        <a:buClr>
                          <a:srgbClr val="000000"/>
                        </a:buClr>
                        <a:buSzPts val="1600"/>
                        <a:buFont typeface="Arial"/>
                        <a:buNone/>
                      </a:pPr>
                      <a:r>
                        <a:rPr b="1" lang="en-US" sz="1600" u="none" cap="none" strike="noStrike"/>
                        <a:t>Research</a:t>
                      </a:r>
                      <a:endParaRPr sz="1400" u="none" cap="none" strike="noStrike"/>
                    </a:p>
                  </a:txBody>
                  <a:tcPr marT="45725" marB="45725" marR="91450" marL="91450">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t>20</a:t>
                      </a:r>
                      <a:endParaRPr sz="1400" u="none" cap="none" strike="noStrike"/>
                    </a:p>
                  </a:txBody>
                  <a:tcPr marT="45725" marB="45725" marR="91450" marL="91450">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t>6</a:t>
                      </a:r>
                      <a:endParaRPr sz="1400" u="none" cap="none" strike="noStrike"/>
                    </a:p>
                  </a:txBody>
                  <a:tcPr marT="45725" marB="45725" marR="91450" marL="91450">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t>10%</a:t>
                      </a:r>
                      <a:endParaRPr sz="1400" u="none" cap="none" strike="noStrike"/>
                    </a:p>
                  </a:txBody>
                  <a:tcPr marT="45725" marB="45725" marR="91450" marL="91450">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t>500</a:t>
                      </a:r>
                      <a:endParaRPr sz="1400" u="none" cap="none" strike="noStrike"/>
                    </a:p>
                  </a:txBody>
                  <a:tcPr marT="45725" marB="45725" marR="91450" marL="91450">
                    <a:lnB cap="flat" cmpd="sng" w="12700">
                      <a:solidFill>
                        <a:schemeClr val="dk1"/>
                      </a:solidFill>
                      <a:prstDash val="solid"/>
                      <a:round/>
                      <a:headEnd len="sm" w="sm" type="none"/>
                      <a:tailEnd len="sm" w="sm" type="none"/>
                    </a:lnB>
                  </a:tcPr>
                </a:tc>
              </a:tr>
              <a:tr h="287900">
                <a:tc>
                  <a:txBody>
                    <a:bodyPr/>
                    <a:lstStyle/>
                    <a:p>
                      <a:pPr indent="0" lvl="0" marL="0" marR="0" rtl="0" algn="l">
                        <a:lnSpc>
                          <a:spcPct val="100000"/>
                        </a:lnSpc>
                        <a:spcBef>
                          <a:spcPts val="0"/>
                        </a:spcBef>
                        <a:spcAft>
                          <a:spcPts val="0"/>
                        </a:spcAft>
                        <a:buClr>
                          <a:srgbClr val="000000"/>
                        </a:buClr>
                        <a:buSzPts val="1600"/>
                        <a:buFont typeface="Arial"/>
                        <a:buNone/>
                      </a:pPr>
                      <a:r>
                        <a:rPr b="1" lang="en-US" sz="1600" u="none" cap="none" strike="noStrike"/>
                        <a:t>Phase I</a:t>
                      </a:r>
                      <a:endParaRPr sz="1400" u="none" cap="none" strike="noStrike"/>
                    </a:p>
                  </a:txBody>
                  <a:tcPr marT="45725" marB="45725" marR="91450" marL="91450">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t>5</a:t>
                      </a:r>
                      <a:endParaRPr sz="1400" u="none" cap="none" strike="noStrike"/>
                    </a:p>
                  </a:txBody>
                  <a:tcPr marT="45725" marB="45725" marR="91450" marL="91450">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t>4</a:t>
                      </a:r>
                      <a:endParaRPr sz="1400" u="none" cap="none" strike="noStrike"/>
                    </a:p>
                  </a:txBody>
                  <a:tcPr marT="45725" marB="45725" marR="91450" marL="91450">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t>20%</a:t>
                      </a:r>
                      <a:endParaRPr sz="1400" u="none" cap="none" strike="noStrike"/>
                    </a:p>
                  </a:txBody>
                  <a:tcPr marT="45725" marB="45725" marR="91450" marL="91450">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t>500</a:t>
                      </a:r>
                      <a:endParaRPr sz="1400" u="none" cap="none" strike="noStrike"/>
                    </a:p>
                  </a:txBody>
                  <a:tcPr marT="45725" marB="45725" marR="91450" marL="91450">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87900">
                <a:tc>
                  <a:txBody>
                    <a:bodyPr/>
                    <a:lstStyle/>
                    <a:p>
                      <a:pPr indent="0" lvl="0" marL="0" marR="0" rtl="0" algn="l">
                        <a:lnSpc>
                          <a:spcPct val="100000"/>
                        </a:lnSpc>
                        <a:spcBef>
                          <a:spcPts val="0"/>
                        </a:spcBef>
                        <a:spcAft>
                          <a:spcPts val="0"/>
                        </a:spcAft>
                        <a:buClr>
                          <a:srgbClr val="000000"/>
                        </a:buClr>
                        <a:buSzPts val="1600"/>
                        <a:buFont typeface="Arial"/>
                        <a:buNone/>
                      </a:pPr>
                      <a:r>
                        <a:rPr b="1" lang="en-US" sz="1600" u="none" cap="none" strike="noStrike"/>
                        <a:t>Phase II</a:t>
                      </a:r>
                      <a:endParaRPr sz="1400" u="none" cap="none" strike="noStrike"/>
                    </a:p>
                  </a:txBody>
                  <a:tcPr marT="45725" marB="45725" marR="91450" marL="91450">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t>3</a:t>
                      </a:r>
                      <a:endParaRPr sz="1400" u="none" cap="none" strike="noStrike"/>
                    </a:p>
                  </a:txBody>
                  <a:tcPr marT="45725" marB="45725" marR="91450" marL="91450">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t>3</a:t>
                      </a:r>
                      <a:endParaRPr sz="1400" u="none" cap="none" strike="noStrike"/>
                    </a:p>
                  </a:txBody>
                  <a:tcPr marT="45725" marB="45725" marR="91450" marL="91450">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t>40%</a:t>
                      </a:r>
                      <a:endParaRPr sz="1400" u="none" cap="none" strike="noStrike"/>
                    </a:p>
                  </a:txBody>
                  <a:tcPr marT="45725" marB="45725" marR="91450" marL="91450">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t>500</a:t>
                      </a:r>
                      <a:endParaRPr sz="1400" u="none" cap="none" strike="noStrike"/>
                    </a:p>
                  </a:txBody>
                  <a:tcPr marT="45725" marB="45725" marR="91450" marL="91450">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87900">
                <a:tc>
                  <a:txBody>
                    <a:bodyPr/>
                    <a:lstStyle/>
                    <a:p>
                      <a:pPr indent="0" lvl="0" marL="0" marR="0" rtl="0" algn="l">
                        <a:lnSpc>
                          <a:spcPct val="100000"/>
                        </a:lnSpc>
                        <a:spcBef>
                          <a:spcPts val="0"/>
                        </a:spcBef>
                        <a:spcAft>
                          <a:spcPts val="0"/>
                        </a:spcAft>
                        <a:buClr>
                          <a:srgbClr val="000000"/>
                        </a:buClr>
                        <a:buSzPts val="1600"/>
                        <a:buFont typeface="Arial"/>
                        <a:buNone/>
                      </a:pPr>
                      <a:r>
                        <a:rPr b="1" lang="en-US" sz="1600" u="none" cap="none" strike="noStrike"/>
                        <a:t>Phase III</a:t>
                      </a:r>
                      <a:endParaRPr sz="1400" u="none" cap="none" strike="noStrike"/>
                    </a:p>
                  </a:txBody>
                  <a:tcPr marT="45725" marB="45725" marR="91450" marL="91450">
                    <a:lnT cap="flat" cmpd="sng" w="12700">
                      <a:solidFill>
                        <a:schemeClr val="dk1"/>
                      </a:solidFill>
                      <a:prstDash val="solid"/>
                      <a:round/>
                      <a:headEnd len="sm" w="sm" type="none"/>
                      <a:tailEnd len="sm" w="sm" type="none"/>
                    </a:lnT>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t>1</a:t>
                      </a:r>
                      <a:endParaRPr sz="1400" u="none" cap="none" strike="noStrike"/>
                    </a:p>
                  </a:txBody>
                  <a:tcPr marT="45725" marB="45725" marR="91450" marL="91450">
                    <a:lnT cap="flat" cmpd="sng" w="12700">
                      <a:solidFill>
                        <a:schemeClr val="dk1"/>
                      </a:solidFill>
                      <a:prstDash val="solid"/>
                      <a:round/>
                      <a:headEnd len="sm" w="sm" type="none"/>
                      <a:tailEnd len="sm" w="sm" type="none"/>
                    </a:lnT>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t>2</a:t>
                      </a:r>
                      <a:endParaRPr sz="1400" u="none" cap="none" strike="noStrike"/>
                    </a:p>
                  </a:txBody>
                  <a:tcPr marT="45725" marB="45725" marR="91450" marL="91450">
                    <a:lnT cap="flat" cmpd="sng" w="12700">
                      <a:solidFill>
                        <a:schemeClr val="dk1"/>
                      </a:solidFill>
                      <a:prstDash val="solid"/>
                      <a:round/>
                      <a:headEnd len="sm" w="sm" type="none"/>
                      <a:tailEnd len="sm" w="sm" type="none"/>
                    </a:lnT>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t>60%</a:t>
                      </a:r>
                      <a:endParaRPr sz="1400" u="none" cap="none" strike="noStrike"/>
                    </a:p>
                  </a:txBody>
                  <a:tcPr marT="45725" marB="45725" marR="91450" marL="91450">
                    <a:lnT cap="flat" cmpd="sng" w="12700">
                      <a:solidFill>
                        <a:schemeClr val="dk1"/>
                      </a:solidFill>
                      <a:prstDash val="solid"/>
                      <a:round/>
                      <a:headEnd len="sm" w="sm" type="none"/>
                      <a:tailEnd len="sm" w="sm" type="none"/>
                    </a:lnT>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t>500</a:t>
                      </a:r>
                      <a:endParaRPr sz="1400" u="none" cap="none" strike="noStrike"/>
                    </a:p>
                  </a:txBody>
                  <a:tcPr marT="45725" marB="45725" marR="91450" marL="91450">
                    <a:lnT cap="flat" cmpd="sng" w="12700">
                      <a:solidFill>
                        <a:schemeClr val="dk1"/>
                      </a:solidFill>
                      <a:prstDash val="solid"/>
                      <a:round/>
                      <a:headEnd len="sm" w="sm" type="none"/>
                      <a:tailEnd len="sm" w="sm" type="none"/>
                    </a:lnT>
                  </a:tcPr>
                </a:tc>
              </a:tr>
            </a:tbl>
          </a:graphicData>
        </a:graphic>
      </p:graphicFrame>
      <p:graphicFrame>
        <p:nvGraphicFramePr>
          <p:cNvPr id="788" name="Google Shape;788;p52"/>
          <p:cNvGraphicFramePr/>
          <p:nvPr/>
        </p:nvGraphicFramePr>
        <p:xfrm>
          <a:off x="492938" y="4057392"/>
          <a:ext cx="3000000" cy="3000000"/>
        </p:xfrm>
        <a:graphic>
          <a:graphicData uri="http://schemas.openxmlformats.org/drawingml/2006/table">
            <a:tbl>
              <a:tblPr firstRow="1">
                <a:noFill/>
                <a:tableStyleId>{C1FB10B7-FF90-4F46-8F30-8EB883CFDCC7}</a:tableStyleId>
              </a:tblPr>
              <a:tblGrid>
                <a:gridCol w="1290550"/>
                <a:gridCol w="2650725"/>
              </a:tblGrid>
              <a:tr h="430125">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chemeClr val="lt1"/>
                          </a:solidFill>
                        </a:rPr>
                        <a:t>Year on the Market</a:t>
                      </a:r>
                      <a:endParaRPr sz="1400" u="none" cap="none" strike="noStrike">
                        <a:solidFill>
                          <a:schemeClr val="lt1"/>
                        </a:solidFill>
                      </a:endParaRPr>
                    </a:p>
                  </a:txBody>
                  <a:tcPr marT="45725" marB="45725" marR="91450" marL="91450">
                    <a:solidFill>
                      <a:schemeClr val="dk2"/>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chemeClr val="lt1"/>
                          </a:solidFill>
                        </a:rPr>
                        <a:t>Revenue </a:t>
                      </a:r>
                      <a:endParaRPr sz="1400" u="none" cap="none" strike="noStrike"/>
                    </a:p>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chemeClr val="lt1"/>
                          </a:solidFill>
                        </a:rPr>
                        <a:t>(% of Peak Revenue)</a:t>
                      </a:r>
                      <a:endParaRPr sz="1400" u="none" cap="none" strike="noStrike">
                        <a:solidFill>
                          <a:schemeClr val="lt1"/>
                        </a:solidFill>
                      </a:endParaRPr>
                    </a:p>
                  </a:txBody>
                  <a:tcPr marT="45725" marB="45725" marR="91450" marL="91450">
                    <a:solidFill>
                      <a:schemeClr val="dk2"/>
                    </a:solidFill>
                  </a:tcPr>
                </a:tc>
              </a:tr>
              <a:tr h="305000">
                <a:tc>
                  <a:txBody>
                    <a:bodyPr/>
                    <a:lstStyle/>
                    <a:p>
                      <a:pPr indent="0" lvl="0" marL="0" marR="0" rtl="0" algn="ctr">
                        <a:lnSpc>
                          <a:spcPct val="100000"/>
                        </a:lnSpc>
                        <a:spcBef>
                          <a:spcPts val="0"/>
                        </a:spcBef>
                        <a:spcAft>
                          <a:spcPts val="0"/>
                        </a:spcAft>
                        <a:buClr>
                          <a:srgbClr val="000000"/>
                        </a:buClr>
                        <a:buSzPts val="1600"/>
                        <a:buFont typeface="Arial"/>
                        <a:buNone/>
                      </a:pPr>
                      <a:r>
                        <a:rPr b="1" lang="en-US" sz="1600" u="none" cap="none" strike="noStrike"/>
                        <a:t>1</a:t>
                      </a:r>
                      <a:r>
                        <a:rPr b="1" baseline="30000" lang="en-US" sz="1600" u="none" cap="none" strike="noStrike"/>
                        <a:t>st</a:t>
                      </a:r>
                      <a:endParaRPr b="1" sz="1600" u="none" cap="none" strike="noStrike"/>
                    </a:p>
                  </a:txBody>
                  <a:tcPr marT="45725" marB="45725" marR="91450" marL="91450">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t>20%</a:t>
                      </a:r>
                      <a:endParaRPr sz="1400" u="none" cap="none" strike="noStrike"/>
                    </a:p>
                  </a:txBody>
                  <a:tcPr marT="45725" marB="45725" marR="91450" marL="91450">
                    <a:lnB cap="flat" cmpd="sng" w="12700">
                      <a:solidFill>
                        <a:schemeClr val="dk1"/>
                      </a:solidFill>
                      <a:prstDash val="solid"/>
                      <a:round/>
                      <a:headEnd len="sm" w="sm" type="none"/>
                      <a:tailEnd len="sm" w="sm" type="none"/>
                    </a:lnB>
                  </a:tcPr>
                </a:tc>
              </a:tr>
              <a:tr h="305000">
                <a:tc>
                  <a:txBody>
                    <a:bodyPr/>
                    <a:lstStyle/>
                    <a:p>
                      <a:pPr indent="0" lvl="0" marL="0" marR="0" rtl="0" algn="ctr">
                        <a:lnSpc>
                          <a:spcPct val="100000"/>
                        </a:lnSpc>
                        <a:spcBef>
                          <a:spcPts val="0"/>
                        </a:spcBef>
                        <a:spcAft>
                          <a:spcPts val="0"/>
                        </a:spcAft>
                        <a:buClr>
                          <a:srgbClr val="000000"/>
                        </a:buClr>
                        <a:buSzPts val="1600"/>
                        <a:buFont typeface="Arial"/>
                        <a:buNone/>
                      </a:pPr>
                      <a:r>
                        <a:rPr b="1" lang="en-US" sz="1600" u="none" cap="none" strike="noStrike"/>
                        <a:t>2</a:t>
                      </a:r>
                      <a:r>
                        <a:rPr b="1" baseline="30000" lang="en-US" sz="1600" u="none" cap="none" strike="noStrike"/>
                        <a:t>nd</a:t>
                      </a:r>
                      <a:endParaRPr b="1" sz="1600" u="none" cap="none" strike="noStrike"/>
                    </a:p>
                  </a:txBody>
                  <a:tcPr marT="45725" marB="45725" marR="91450" marL="91450">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t>40%</a:t>
                      </a:r>
                      <a:endParaRPr sz="1400" u="none" cap="none" strike="noStrike"/>
                    </a:p>
                  </a:txBody>
                  <a:tcPr marT="45725" marB="45725" marR="91450" marL="91450">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05000">
                <a:tc>
                  <a:txBody>
                    <a:bodyPr/>
                    <a:lstStyle/>
                    <a:p>
                      <a:pPr indent="0" lvl="0" marL="0" marR="0" rtl="0" algn="ctr">
                        <a:lnSpc>
                          <a:spcPct val="100000"/>
                        </a:lnSpc>
                        <a:spcBef>
                          <a:spcPts val="0"/>
                        </a:spcBef>
                        <a:spcAft>
                          <a:spcPts val="0"/>
                        </a:spcAft>
                        <a:buClr>
                          <a:srgbClr val="000000"/>
                        </a:buClr>
                        <a:buSzPts val="1600"/>
                        <a:buFont typeface="Arial"/>
                        <a:buNone/>
                      </a:pPr>
                      <a:r>
                        <a:rPr b="1" lang="en-US" sz="1600" u="none" cap="none" strike="noStrike"/>
                        <a:t>3</a:t>
                      </a:r>
                      <a:r>
                        <a:rPr b="1" baseline="30000" lang="en-US" sz="1600" u="none" cap="none" strike="noStrike"/>
                        <a:t>rd</a:t>
                      </a:r>
                      <a:endParaRPr b="1" sz="1600" u="none" cap="none" strike="noStrike"/>
                    </a:p>
                  </a:txBody>
                  <a:tcPr marT="45725" marB="45725" marR="91450" marL="91450">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t>60%</a:t>
                      </a:r>
                      <a:endParaRPr sz="1400" u="none" cap="none" strike="noStrike"/>
                    </a:p>
                  </a:txBody>
                  <a:tcPr marT="45725" marB="45725" marR="91450" marL="91450">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05000">
                <a:tc>
                  <a:txBody>
                    <a:bodyPr/>
                    <a:lstStyle/>
                    <a:p>
                      <a:pPr indent="0" lvl="0" marL="0" marR="0" rtl="0" algn="ctr">
                        <a:lnSpc>
                          <a:spcPct val="100000"/>
                        </a:lnSpc>
                        <a:spcBef>
                          <a:spcPts val="0"/>
                        </a:spcBef>
                        <a:spcAft>
                          <a:spcPts val="0"/>
                        </a:spcAft>
                        <a:buClr>
                          <a:srgbClr val="000000"/>
                        </a:buClr>
                        <a:buSzPts val="1600"/>
                        <a:buFont typeface="Arial"/>
                        <a:buNone/>
                      </a:pPr>
                      <a:r>
                        <a:rPr b="1" lang="en-US" sz="1600" u="none" cap="none" strike="noStrike"/>
                        <a:t>4</a:t>
                      </a:r>
                      <a:r>
                        <a:rPr b="1" baseline="30000" lang="en-US" sz="1600" u="none" cap="none" strike="noStrike"/>
                        <a:t>th</a:t>
                      </a:r>
                      <a:endParaRPr b="1" sz="1600" u="none" cap="none" strike="noStrike"/>
                    </a:p>
                  </a:txBody>
                  <a:tcPr marT="45725" marB="45725" marR="91450" marL="91450">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t>80%</a:t>
                      </a:r>
                      <a:endParaRPr sz="1400" u="none" cap="none" strike="noStrike"/>
                    </a:p>
                  </a:txBody>
                  <a:tcPr marT="45725" marB="45725" marR="91450" marL="91450">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05000">
                <a:tc>
                  <a:txBody>
                    <a:bodyPr/>
                    <a:lstStyle/>
                    <a:p>
                      <a:pPr indent="0" lvl="0" marL="0" marR="0" rtl="0" algn="ctr">
                        <a:lnSpc>
                          <a:spcPct val="100000"/>
                        </a:lnSpc>
                        <a:spcBef>
                          <a:spcPts val="0"/>
                        </a:spcBef>
                        <a:spcAft>
                          <a:spcPts val="0"/>
                        </a:spcAft>
                        <a:buClr>
                          <a:srgbClr val="000000"/>
                        </a:buClr>
                        <a:buSzPts val="1600"/>
                        <a:buFont typeface="Arial"/>
                        <a:buNone/>
                      </a:pPr>
                      <a:r>
                        <a:rPr b="1" lang="en-US" sz="1600" u="none" cap="none" strike="noStrike"/>
                        <a:t>5</a:t>
                      </a:r>
                      <a:r>
                        <a:rPr b="1" baseline="30000" lang="en-US" sz="1600" u="none" cap="none" strike="noStrike"/>
                        <a:t>th</a:t>
                      </a:r>
                      <a:r>
                        <a:rPr b="1" lang="en-US" sz="1600" u="none" cap="none" strike="noStrike"/>
                        <a:t> </a:t>
                      </a:r>
                      <a:endParaRPr sz="1400" u="none" cap="none" strike="noStrike"/>
                    </a:p>
                  </a:txBody>
                  <a:tcPr marT="45725" marB="45725" marR="91450" marL="91450">
                    <a:lnT cap="flat" cmpd="sng" w="12700">
                      <a:solidFill>
                        <a:schemeClr val="dk1"/>
                      </a:solidFill>
                      <a:prstDash val="solid"/>
                      <a:round/>
                      <a:headEnd len="sm" w="sm" type="none"/>
                      <a:tailEnd len="sm" w="sm" type="none"/>
                    </a:lnT>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t>100%</a:t>
                      </a:r>
                      <a:endParaRPr sz="1400" u="none" cap="none" strike="noStrike"/>
                    </a:p>
                  </a:txBody>
                  <a:tcPr marT="45725" marB="45725" marR="91450" marL="91450">
                    <a:lnT cap="flat" cmpd="sng" w="12700">
                      <a:solidFill>
                        <a:schemeClr val="dk1"/>
                      </a:solidFill>
                      <a:prstDash val="solid"/>
                      <a:round/>
                      <a:headEnd len="sm" w="sm" type="none"/>
                      <a:tailEnd len="sm" w="sm" type="none"/>
                    </a:lnT>
                  </a:tcPr>
                </a:tc>
              </a:tr>
            </a:tbl>
          </a:graphicData>
        </a:graphic>
      </p:graphicFrame>
      <p:sp>
        <p:nvSpPr>
          <p:cNvPr id="789" name="Google Shape;789;p52"/>
          <p:cNvSpPr txBox="1"/>
          <p:nvPr/>
        </p:nvSpPr>
        <p:spPr>
          <a:xfrm>
            <a:off x="492937" y="3695178"/>
            <a:ext cx="3590547" cy="412317"/>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Calibri"/>
                <a:ea typeface="Calibri"/>
                <a:cs typeface="Calibri"/>
                <a:sym typeface="Calibri"/>
              </a:rPr>
              <a:t>Revenue by years on market</a:t>
            </a:r>
            <a:endParaRPr b="0" i="0" sz="1400" u="none" cap="none" strike="noStrike">
              <a:solidFill>
                <a:srgbClr val="000000"/>
              </a:solidFill>
              <a:latin typeface="Arial"/>
              <a:ea typeface="Arial"/>
              <a:cs typeface="Arial"/>
              <a:sym typeface="Arial"/>
            </a:endParaRPr>
          </a:p>
        </p:txBody>
      </p:sp>
      <p:sp>
        <p:nvSpPr>
          <p:cNvPr id="790" name="Google Shape;790;p52"/>
          <p:cNvSpPr txBox="1"/>
          <p:nvPr/>
        </p:nvSpPr>
        <p:spPr>
          <a:xfrm>
            <a:off x="505463" y="1025745"/>
            <a:ext cx="6446481" cy="412317"/>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Calibri"/>
                <a:ea typeface="Calibri"/>
                <a:cs typeface="Calibri"/>
                <a:sym typeface="Calibri"/>
              </a:rPr>
              <a:t>Assets in research and development</a:t>
            </a:r>
            <a:endParaRPr b="0" i="0" sz="1400" u="none" cap="none" strike="noStrike">
              <a:solidFill>
                <a:srgbClr val="000000"/>
              </a:solidFill>
              <a:latin typeface="Arial"/>
              <a:ea typeface="Arial"/>
              <a:cs typeface="Arial"/>
              <a:sym typeface="Arial"/>
            </a:endParaRPr>
          </a:p>
        </p:txBody>
      </p:sp>
      <p:sp>
        <p:nvSpPr>
          <p:cNvPr id="791" name="Google Shape;791;p52"/>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5" name="Shape 795"/>
        <p:cNvGrpSpPr/>
        <p:nvPr/>
      </p:nvGrpSpPr>
      <p:grpSpPr>
        <a:xfrm>
          <a:off x="0" y="0"/>
          <a:ext cx="0" cy="0"/>
          <a:chOff x="0" y="0"/>
          <a:chExt cx="0" cy="0"/>
        </a:xfrm>
      </p:grpSpPr>
      <p:sp>
        <p:nvSpPr>
          <p:cNvPr id="796" name="Google Shape;796;p53"/>
          <p:cNvSpPr txBox="1"/>
          <p:nvPr>
            <p:ph idx="1" type="body"/>
          </p:nvPr>
        </p:nvSpPr>
        <p:spPr>
          <a:xfrm>
            <a:off x="381001" y="1283366"/>
            <a:ext cx="8341656" cy="2182282"/>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Font typeface="Calibri"/>
              <a:buNone/>
            </a:pPr>
            <a:r>
              <a:rPr lang="en-US"/>
              <a:t>Blue Group Industries (BGI) has hired our consulting firm to analyze it’s potential high speed train project with the goal of having commuters travel at average speeds of 150 mph. BGI is a large multinational conglomerate with business units in most major sectors including energy, manufacturing, transportation, finance, and technology. BGI believes that high speed rail is the future of transportation in the US and is determining where to build its first line. The initial options are between option 1) Washington DC and New York City, option 2) New York City and Boston, and option 3) Los Angeles and San Francisco. BGI would like to know your thoughts on the project.</a:t>
            </a:r>
            <a:endParaRPr/>
          </a:p>
        </p:txBody>
      </p:sp>
      <p:sp>
        <p:nvSpPr>
          <p:cNvPr id="797" name="Google Shape;797;p53"/>
          <p:cNvSpPr txBox="1"/>
          <p:nvPr>
            <p:ph idx="2" type="body"/>
          </p:nvPr>
        </p:nvSpPr>
        <p:spPr>
          <a:xfrm>
            <a:off x="368302" y="3910260"/>
            <a:ext cx="4107445" cy="2367609"/>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1" marL="1588" rtl="0" algn="l">
              <a:lnSpc>
                <a:spcPct val="100000"/>
              </a:lnSpc>
              <a:spcBef>
                <a:spcPts val="0"/>
              </a:spcBef>
              <a:spcAft>
                <a:spcPts val="0"/>
              </a:spcAft>
              <a:buSzPts val="1400"/>
              <a:buNone/>
            </a:pPr>
            <a:r>
              <a:rPr b="1" lang="en-US"/>
              <a:t>Difficulty:</a:t>
            </a:r>
            <a:r>
              <a:rPr lang="en-US"/>
              <a:t> Medium</a:t>
            </a:r>
            <a:endParaRPr b="1"/>
          </a:p>
          <a:p>
            <a:pPr indent="0" lvl="1" marL="1588" rtl="0" algn="l">
              <a:lnSpc>
                <a:spcPct val="100000"/>
              </a:lnSpc>
              <a:spcBef>
                <a:spcPts val="300"/>
              </a:spcBef>
              <a:spcAft>
                <a:spcPts val="0"/>
              </a:spcAft>
              <a:buSzPts val="1400"/>
              <a:buNone/>
            </a:pPr>
            <a:r>
              <a:t/>
            </a:r>
            <a:endParaRPr/>
          </a:p>
          <a:p>
            <a:pPr indent="0" lvl="1" marL="1588" rtl="0" algn="l">
              <a:lnSpc>
                <a:spcPct val="100000"/>
              </a:lnSpc>
              <a:spcBef>
                <a:spcPts val="300"/>
              </a:spcBef>
              <a:spcAft>
                <a:spcPts val="0"/>
              </a:spcAft>
              <a:buSzPts val="1400"/>
              <a:buNone/>
            </a:pPr>
            <a:r>
              <a:rPr b="1" lang="en-US"/>
              <a:t>Case Format: </a:t>
            </a:r>
            <a:r>
              <a:rPr lang="en-US"/>
              <a:t>Interviewee Led / Profitability</a:t>
            </a:r>
            <a:endParaRPr/>
          </a:p>
          <a:p>
            <a:pPr indent="0" lvl="1" marL="1588" rtl="0" algn="l">
              <a:lnSpc>
                <a:spcPct val="100000"/>
              </a:lnSpc>
              <a:spcBef>
                <a:spcPts val="300"/>
              </a:spcBef>
              <a:spcAft>
                <a:spcPts val="0"/>
              </a:spcAft>
              <a:buSzPts val="1400"/>
              <a:buNone/>
            </a:pPr>
            <a:r>
              <a:t/>
            </a:r>
            <a:endParaRPr/>
          </a:p>
          <a:p>
            <a:pPr indent="0" lvl="1" marL="1588" rtl="0" algn="l">
              <a:lnSpc>
                <a:spcPct val="100000"/>
              </a:lnSpc>
              <a:spcBef>
                <a:spcPts val="300"/>
              </a:spcBef>
              <a:spcAft>
                <a:spcPts val="0"/>
              </a:spcAft>
              <a:buSzPts val="1400"/>
              <a:buNone/>
            </a:pPr>
            <a:r>
              <a:rPr b="1" lang="en-US"/>
              <a:t>Concepts Being Tested:</a:t>
            </a:r>
            <a:r>
              <a:rPr lang="en-US"/>
              <a:t> Valuation, NPV, Profitability, Math with large numbers</a:t>
            </a:r>
            <a:endParaRPr/>
          </a:p>
          <a:p>
            <a:pPr indent="0" lvl="0" marL="0" rtl="0" algn="l">
              <a:lnSpc>
                <a:spcPct val="100000"/>
              </a:lnSpc>
              <a:spcBef>
                <a:spcPts val="300"/>
              </a:spcBef>
              <a:spcAft>
                <a:spcPts val="0"/>
              </a:spcAft>
              <a:buSzPts val="1400"/>
              <a:buFont typeface="Calibri"/>
              <a:buNone/>
            </a:pPr>
            <a:r>
              <a:t/>
            </a:r>
            <a:endParaRPr/>
          </a:p>
        </p:txBody>
      </p:sp>
      <p:sp>
        <p:nvSpPr>
          <p:cNvPr id="798" name="Google Shape;798;p53"/>
          <p:cNvSpPr txBox="1"/>
          <p:nvPr>
            <p:ph idx="3" type="body"/>
          </p:nvPr>
        </p:nvSpPr>
        <p:spPr>
          <a:xfrm>
            <a:off x="4596063" y="3910260"/>
            <a:ext cx="4110955" cy="2367608"/>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285750" lvl="1" marL="287338" rtl="0" algn="l">
              <a:lnSpc>
                <a:spcPct val="100000"/>
              </a:lnSpc>
              <a:spcBef>
                <a:spcPts val="0"/>
              </a:spcBef>
              <a:spcAft>
                <a:spcPts val="0"/>
              </a:spcAft>
              <a:buSzPts val="1400"/>
              <a:buFont typeface="Calibri"/>
              <a:buChar char="-"/>
            </a:pPr>
            <a:r>
              <a:rPr lang="en-US"/>
              <a:t>This case has a simple framework but requires the candidate to discount cash flows at the appropriate time and account for all costs and revenues appropriately</a:t>
            </a:r>
            <a:endParaRPr/>
          </a:p>
          <a:p>
            <a:pPr indent="-196850" lvl="1" marL="287338" rtl="0" algn="l">
              <a:lnSpc>
                <a:spcPct val="100000"/>
              </a:lnSpc>
              <a:spcBef>
                <a:spcPts val="300"/>
              </a:spcBef>
              <a:spcAft>
                <a:spcPts val="0"/>
              </a:spcAft>
              <a:buSzPts val="1400"/>
              <a:buFont typeface="Calibri"/>
              <a:buNone/>
            </a:pPr>
            <a:r>
              <a:t/>
            </a:r>
            <a:endParaRPr/>
          </a:p>
        </p:txBody>
      </p:sp>
      <p:sp>
        <p:nvSpPr>
          <p:cNvPr id="799" name="Google Shape;799;p53"/>
          <p:cNvSpPr txBox="1"/>
          <p:nvPr>
            <p:ph type="title"/>
          </p:nvPr>
        </p:nvSpPr>
        <p:spPr>
          <a:xfrm>
            <a:off x="597568" y="169235"/>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High Speed Train</a:t>
            </a:r>
            <a:endParaRPr/>
          </a:p>
        </p:txBody>
      </p:sp>
      <p:sp>
        <p:nvSpPr>
          <p:cNvPr id="800" name="Google Shape;800;p53"/>
          <p:cNvSpPr txBox="1"/>
          <p:nvPr>
            <p:ph idx="4" type="body"/>
          </p:nvPr>
        </p:nvSpPr>
        <p:spPr>
          <a:xfrm>
            <a:off x="465670" y="996952"/>
            <a:ext cx="8209098"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Case Prompt</a:t>
            </a:r>
            <a:endParaRPr/>
          </a:p>
        </p:txBody>
      </p:sp>
      <p:sp>
        <p:nvSpPr>
          <p:cNvPr id="801" name="Google Shape;801;p53"/>
          <p:cNvSpPr txBox="1"/>
          <p:nvPr>
            <p:ph idx="5" type="body"/>
          </p:nvPr>
        </p:nvSpPr>
        <p:spPr>
          <a:xfrm>
            <a:off x="465670" y="3621892"/>
            <a:ext cx="4010077"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Case Info</a:t>
            </a:r>
            <a:endParaRPr/>
          </a:p>
        </p:txBody>
      </p:sp>
      <p:sp>
        <p:nvSpPr>
          <p:cNvPr id="802" name="Google Shape;802;p53"/>
          <p:cNvSpPr txBox="1"/>
          <p:nvPr>
            <p:ph idx="6" type="body"/>
          </p:nvPr>
        </p:nvSpPr>
        <p:spPr>
          <a:xfrm>
            <a:off x="4664691" y="3621892"/>
            <a:ext cx="4010077"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Interviewer Guidance</a:t>
            </a:r>
            <a:endParaRPr/>
          </a:p>
        </p:txBody>
      </p:sp>
      <p:sp>
        <p:nvSpPr>
          <p:cNvPr id="803" name="Google Shape;803;p53"/>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7" name="Shape 807"/>
        <p:cNvGrpSpPr/>
        <p:nvPr/>
      </p:nvGrpSpPr>
      <p:grpSpPr>
        <a:xfrm>
          <a:off x="0" y="0"/>
          <a:ext cx="0" cy="0"/>
          <a:chOff x="0" y="0"/>
          <a:chExt cx="0" cy="0"/>
        </a:xfrm>
      </p:grpSpPr>
      <p:sp>
        <p:nvSpPr>
          <p:cNvPr id="808" name="Google Shape;808;p54"/>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High Speed Train</a:t>
            </a:r>
            <a:endParaRPr/>
          </a:p>
        </p:txBody>
      </p:sp>
      <p:sp>
        <p:nvSpPr>
          <p:cNvPr id="809" name="Google Shape;809;p54"/>
          <p:cNvSpPr txBox="1"/>
          <p:nvPr>
            <p:ph idx="1" type="body"/>
          </p:nvPr>
        </p:nvSpPr>
        <p:spPr>
          <a:xfrm>
            <a:off x="368302" y="1302452"/>
            <a:ext cx="4107445" cy="4972618"/>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274313" lvl="1" marL="274313" rtl="0" algn="l">
              <a:lnSpc>
                <a:spcPct val="100000"/>
              </a:lnSpc>
              <a:spcBef>
                <a:spcPts val="0"/>
              </a:spcBef>
              <a:spcAft>
                <a:spcPts val="0"/>
              </a:spcAft>
              <a:buSzPts val="1400"/>
              <a:buFont typeface="Calibri"/>
              <a:buChar char="-"/>
            </a:pPr>
            <a:r>
              <a:rPr lang="en-US"/>
              <a:t>BGI’s goal is to maximize profit over the lifetime of the railroad. The railroad and trains will take 7 years to build and will be operational for 50 years. (For ease of calculations later, we will assume a salvage value of zero)</a:t>
            </a:r>
            <a:endParaRPr/>
          </a:p>
          <a:p>
            <a:pPr indent="-274313" lvl="1" marL="274313" rtl="0" algn="l">
              <a:lnSpc>
                <a:spcPct val="100000"/>
              </a:lnSpc>
              <a:spcBef>
                <a:spcPts val="300"/>
              </a:spcBef>
              <a:spcAft>
                <a:spcPts val="0"/>
              </a:spcAft>
              <a:buSzPts val="1400"/>
              <a:buFont typeface="Calibri"/>
              <a:buChar char="-"/>
            </a:pPr>
            <a:r>
              <a:rPr lang="en-US"/>
              <a:t>BGI will have to build the new rails from the ground up. They will have to purchase the land, install the tracks and stations, and then operate the trains once complete</a:t>
            </a:r>
            <a:endParaRPr/>
          </a:p>
          <a:p>
            <a:pPr indent="-274313" lvl="1" marL="274313" rtl="0" algn="l">
              <a:lnSpc>
                <a:spcPct val="100000"/>
              </a:lnSpc>
              <a:spcBef>
                <a:spcPts val="300"/>
              </a:spcBef>
              <a:spcAft>
                <a:spcPts val="0"/>
              </a:spcAft>
              <a:buSzPts val="1400"/>
              <a:buFont typeface="Calibri"/>
              <a:buChar char="-"/>
            </a:pPr>
            <a:r>
              <a:rPr lang="en-US"/>
              <a:t>The discount rate is 10%</a:t>
            </a:r>
            <a:endParaRPr/>
          </a:p>
          <a:p>
            <a:pPr indent="-274313" lvl="1" marL="274313" rtl="0" algn="l">
              <a:lnSpc>
                <a:spcPct val="100000"/>
              </a:lnSpc>
              <a:spcBef>
                <a:spcPts val="300"/>
              </a:spcBef>
              <a:spcAft>
                <a:spcPts val="0"/>
              </a:spcAft>
              <a:buSzPts val="1400"/>
              <a:buFont typeface="Calibri"/>
              <a:buChar char="-"/>
            </a:pPr>
            <a:r>
              <a:rPr lang="en-US"/>
              <a:t>BGI has been in close conversation with several investment banks and is confident they can secure financing needed to fund the project (The discount rate of 10% has financing expenses built in)</a:t>
            </a:r>
            <a:endParaRPr/>
          </a:p>
          <a:p>
            <a:pPr indent="-274313" lvl="1" marL="274313" rtl="0" algn="l">
              <a:lnSpc>
                <a:spcPct val="100000"/>
              </a:lnSpc>
              <a:spcBef>
                <a:spcPts val="300"/>
              </a:spcBef>
              <a:spcAft>
                <a:spcPts val="0"/>
              </a:spcAft>
              <a:buSzPts val="1400"/>
              <a:buFont typeface="Calibri"/>
              <a:buChar char="-"/>
            </a:pPr>
            <a:r>
              <a:rPr lang="en-US"/>
              <a:t>150mph average speed is the target average speed over the duration of travel for all 3 routes</a:t>
            </a:r>
            <a:endParaRPr/>
          </a:p>
          <a:p>
            <a:pPr indent="-185413" lvl="1" marL="274313" rtl="0" algn="l">
              <a:lnSpc>
                <a:spcPct val="100000"/>
              </a:lnSpc>
              <a:spcBef>
                <a:spcPts val="300"/>
              </a:spcBef>
              <a:spcAft>
                <a:spcPts val="0"/>
              </a:spcAft>
              <a:buSzPts val="1400"/>
              <a:buFont typeface="Calibri"/>
              <a:buNone/>
            </a:pPr>
            <a:r>
              <a:t/>
            </a:r>
            <a:endParaRPr/>
          </a:p>
          <a:p>
            <a:pPr indent="0" lvl="0" marL="0" rtl="0" algn="l">
              <a:lnSpc>
                <a:spcPct val="100000"/>
              </a:lnSpc>
              <a:spcBef>
                <a:spcPts val="300"/>
              </a:spcBef>
              <a:spcAft>
                <a:spcPts val="0"/>
              </a:spcAft>
              <a:buSzPts val="1400"/>
              <a:buFont typeface="Calibri"/>
              <a:buNone/>
            </a:pPr>
            <a:r>
              <a:t/>
            </a:r>
            <a:endParaRPr/>
          </a:p>
        </p:txBody>
      </p:sp>
      <p:sp>
        <p:nvSpPr>
          <p:cNvPr id="810" name="Google Shape;810;p54"/>
          <p:cNvSpPr txBox="1"/>
          <p:nvPr>
            <p:ph idx="2" type="body"/>
          </p:nvPr>
        </p:nvSpPr>
        <p:spPr>
          <a:xfrm>
            <a:off x="4596063" y="1302453"/>
            <a:ext cx="4110955" cy="4972617"/>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Font typeface="Calibri"/>
              <a:buNone/>
            </a:pPr>
            <a:r>
              <a:rPr lang="en-US"/>
              <a:t>As the case progresses, you should give the candidate handouts and information as they bring them up:</a:t>
            </a:r>
            <a:endParaRPr/>
          </a:p>
          <a:p>
            <a:pPr indent="-11437" lvl="0" marL="11437" rtl="0" algn="l">
              <a:lnSpc>
                <a:spcPct val="100000"/>
              </a:lnSpc>
              <a:spcBef>
                <a:spcPts val="300"/>
              </a:spcBef>
              <a:spcAft>
                <a:spcPts val="0"/>
              </a:spcAft>
              <a:buSzPts val="1400"/>
              <a:buFont typeface="Calibri"/>
              <a:buChar char="-"/>
            </a:pPr>
            <a:r>
              <a:rPr lang="en-US"/>
              <a:t>Comparison of the cities (Exhibit 1)</a:t>
            </a:r>
            <a:endParaRPr/>
          </a:p>
          <a:p>
            <a:pPr indent="-11437" lvl="0" marL="11437" rtl="0" algn="l">
              <a:lnSpc>
                <a:spcPct val="100000"/>
              </a:lnSpc>
              <a:spcBef>
                <a:spcPts val="300"/>
              </a:spcBef>
              <a:spcAft>
                <a:spcPts val="0"/>
              </a:spcAft>
              <a:buSzPts val="1400"/>
              <a:buFont typeface="Calibri"/>
              <a:buChar char="-"/>
            </a:pPr>
            <a:r>
              <a:rPr lang="en-US"/>
              <a:t>Initial investment costs (Exhibit 2)</a:t>
            </a:r>
            <a:endParaRPr/>
          </a:p>
          <a:p>
            <a:pPr indent="-11437" lvl="0" marL="11437" rtl="0" algn="l">
              <a:lnSpc>
                <a:spcPct val="100000"/>
              </a:lnSpc>
              <a:spcBef>
                <a:spcPts val="300"/>
              </a:spcBef>
              <a:spcAft>
                <a:spcPts val="0"/>
              </a:spcAft>
              <a:buSzPts val="1400"/>
              <a:buFont typeface="Calibri"/>
              <a:buChar char="-"/>
            </a:pPr>
            <a:r>
              <a:rPr lang="en-US"/>
              <a:t>Variable costs (Exhibit 3)</a:t>
            </a:r>
            <a:endParaRPr/>
          </a:p>
          <a:p>
            <a:pPr indent="-11437" lvl="0" marL="11437" rtl="0" algn="l">
              <a:lnSpc>
                <a:spcPct val="100000"/>
              </a:lnSpc>
              <a:spcBef>
                <a:spcPts val="300"/>
              </a:spcBef>
              <a:spcAft>
                <a:spcPts val="0"/>
              </a:spcAft>
              <a:buSzPts val="1400"/>
              <a:buFont typeface="Calibri"/>
              <a:buChar char="-"/>
            </a:pPr>
            <a:r>
              <a:rPr lang="en-US"/>
              <a:t>Number of seats on a train (Exhibit 4)</a:t>
            </a:r>
            <a:endParaRPr/>
          </a:p>
          <a:p>
            <a:pPr indent="-11437" lvl="0" marL="11437" rtl="0" algn="l">
              <a:lnSpc>
                <a:spcPct val="100000"/>
              </a:lnSpc>
              <a:spcBef>
                <a:spcPts val="300"/>
              </a:spcBef>
              <a:spcAft>
                <a:spcPts val="0"/>
              </a:spcAft>
              <a:buSzPts val="1400"/>
              <a:buFont typeface="Calibri"/>
              <a:buChar char="-"/>
            </a:pPr>
            <a:r>
              <a:rPr lang="en-US"/>
              <a:t>Train average speed is 150mph</a:t>
            </a:r>
            <a:endParaRPr/>
          </a:p>
          <a:p>
            <a:pPr indent="-11437" lvl="0" marL="11437" rtl="0" algn="l">
              <a:lnSpc>
                <a:spcPct val="100000"/>
              </a:lnSpc>
              <a:spcBef>
                <a:spcPts val="300"/>
              </a:spcBef>
              <a:spcAft>
                <a:spcPts val="0"/>
              </a:spcAft>
              <a:buSzPts val="1400"/>
              <a:buFont typeface="Calibri"/>
              <a:buChar char="-"/>
            </a:pPr>
            <a:r>
              <a:rPr lang="en-US"/>
              <a:t>While the candidate can calculate travel time, the interviewer should tell them it takes 30 minutes to load and unload a train (some variable costs are not paid while loading unloading)</a:t>
            </a:r>
            <a:endParaRPr/>
          </a:p>
          <a:p>
            <a:pPr indent="-11437" lvl="0" marL="11437" rtl="0" algn="l">
              <a:lnSpc>
                <a:spcPct val="100000"/>
              </a:lnSpc>
              <a:spcBef>
                <a:spcPts val="300"/>
              </a:spcBef>
              <a:spcAft>
                <a:spcPts val="0"/>
              </a:spcAft>
              <a:buSzPts val="1400"/>
              <a:buFont typeface="Calibri"/>
              <a:buChar char="-"/>
            </a:pPr>
            <a:r>
              <a:rPr lang="en-US"/>
              <a:t>The candidate should be able to estimate the number of trips made per day, if they are struggling, you can give them 15 for DC &amp; NYC, 20 for NYC &amp; Boston, and 30 for LA &amp; SF</a:t>
            </a:r>
            <a:endParaRPr/>
          </a:p>
          <a:p>
            <a:pPr indent="-11437" lvl="0" marL="11437" rtl="0" algn="l">
              <a:lnSpc>
                <a:spcPct val="100000"/>
              </a:lnSpc>
              <a:spcBef>
                <a:spcPts val="300"/>
              </a:spcBef>
              <a:spcAft>
                <a:spcPts val="0"/>
              </a:spcAft>
              <a:buSzPts val="1400"/>
              <a:buFont typeface="Calibri"/>
              <a:buChar char="-"/>
            </a:pPr>
            <a:r>
              <a:rPr lang="en-US"/>
              <a:t>The candidate should be able to estimate a price per ticket for both coach and first class, if they are struggling, you can give them $100 for East Coast and $150 for West Coast with First Class being 4X more</a:t>
            </a:r>
            <a:endParaRPr/>
          </a:p>
          <a:p>
            <a:pPr indent="77463" lvl="0" marL="11437" rtl="0" algn="l">
              <a:lnSpc>
                <a:spcPct val="100000"/>
              </a:lnSpc>
              <a:spcBef>
                <a:spcPts val="300"/>
              </a:spcBef>
              <a:spcAft>
                <a:spcPts val="0"/>
              </a:spcAft>
              <a:buSzPts val="1400"/>
              <a:buFont typeface="Calibri"/>
              <a:buNone/>
            </a:pPr>
            <a:r>
              <a:t/>
            </a:r>
            <a:endParaRPr/>
          </a:p>
          <a:p>
            <a:pPr indent="77463" lvl="0" marL="11437" rtl="0" algn="l">
              <a:lnSpc>
                <a:spcPct val="100000"/>
              </a:lnSpc>
              <a:spcBef>
                <a:spcPts val="300"/>
              </a:spcBef>
              <a:spcAft>
                <a:spcPts val="0"/>
              </a:spcAft>
              <a:buSzPts val="1400"/>
              <a:buFont typeface="Calibri"/>
              <a:buNone/>
            </a:pPr>
            <a:r>
              <a:t/>
            </a:r>
            <a:endParaRPr/>
          </a:p>
        </p:txBody>
      </p:sp>
      <p:sp>
        <p:nvSpPr>
          <p:cNvPr id="811" name="Google Shape;811;p54"/>
          <p:cNvSpPr txBox="1"/>
          <p:nvPr>
            <p:ph idx="3" type="body"/>
          </p:nvPr>
        </p:nvSpPr>
        <p:spPr>
          <a:xfrm>
            <a:off x="465670" y="1015291"/>
            <a:ext cx="4010077"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Clarifying Information</a:t>
            </a:r>
            <a:endParaRPr/>
          </a:p>
        </p:txBody>
      </p:sp>
      <p:sp>
        <p:nvSpPr>
          <p:cNvPr id="812" name="Google Shape;812;p54"/>
          <p:cNvSpPr txBox="1"/>
          <p:nvPr>
            <p:ph idx="4" type="body"/>
          </p:nvPr>
        </p:nvSpPr>
        <p:spPr>
          <a:xfrm>
            <a:off x="4695825" y="1016486"/>
            <a:ext cx="4010077"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Guide to Handouts</a:t>
            </a:r>
            <a:endParaRPr/>
          </a:p>
        </p:txBody>
      </p:sp>
      <p:sp>
        <p:nvSpPr>
          <p:cNvPr id="813" name="Google Shape;813;p54"/>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7" name="Shape 817"/>
        <p:cNvGrpSpPr/>
        <p:nvPr/>
      </p:nvGrpSpPr>
      <p:grpSpPr>
        <a:xfrm>
          <a:off x="0" y="0"/>
          <a:ext cx="0" cy="0"/>
          <a:chOff x="0" y="0"/>
          <a:chExt cx="0" cy="0"/>
        </a:xfrm>
      </p:grpSpPr>
      <p:sp>
        <p:nvSpPr>
          <p:cNvPr id="818" name="Google Shape;818;p55"/>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High Speed Train</a:t>
            </a:r>
            <a:endParaRPr/>
          </a:p>
        </p:txBody>
      </p:sp>
      <p:sp>
        <p:nvSpPr>
          <p:cNvPr id="819" name="Google Shape;819;p55"/>
          <p:cNvSpPr/>
          <p:nvPr/>
        </p:nvSpPr>
        <p:spPr>
          <a:xfrm>
            <a:off x="2652009" y="1064648"/>
            <a:ext cx="3968318" cy="363984"/>
          </a:xfrm>
          <a:prstGeom prst="rect">
            <a:avLst/>
          </a:prstGeom>
          <a:solidFill>
            <a:srgbClr val="A5A5A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accent5"/>
                </a:solidFill>
                <a:latin typeface="Georgia"/>
                <a:ea typeface="Georgia"/>
                <a:cs typeface="Georgia"/>
                <a:sym typeface="Georgia"/>
              </a:rPr>
              <a:t>Which location to build railroad</a:t>
            </a:r>
            <a:endParaRPr b="0" i="0" sz="1400" u="none" cap="none" strike="noStrike">
              <a:solidFill>
                <a:srgbClr val="000000"/>
              </a:solidFill>
              <a:latin typeface="Arial"/>
              <a:ea typeface="Arial"/>
              <a:cs typeface="Arial"/>
              <a:sym typeface="Arial"/>
            </a:endParaRPr>
          </a:p>
        </p:txBody>
      </p:sp>
      <p:sp>
        <p:nvSpPr>
          <p:cNvPr id="820" name="Google Shape;820;p55"/>
          <p:cNvSpPr/>
          <p:nvPr/>
        </p:nvSpPr>
        <p:spPr>
          <a:xfrm>
            <a:off x="6507332" y="1652727"/>
            <a:ext cx="2460593" cy="363984"/>
          </a:xfrm>
          <a:prstGeom prst="rect">
            <a:avLst/>
          </a:prstGeom>
          <a:solidFill>
            <a:srgbClr val="BFBFB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accent5"/>
                </a:solidFill>
                <a:latin typeface="Georgia"/>
                <a:ea typeface="Georgia"/>
                <a:cs typeface="Georgia"/>
                <a:sym typeface="Georgia"/>
              </a:rPr>
              <a:t>Other considerations</a:t>
            </a:r>
            <a:endParaRPr b="0" i="0" sz="1400" u="none" cap="none" strike="noStrike">
              <a:solidFill>
                <a:srgbClr val="000000"/>
              </a:solidFill>
              <a:latin typeface="Arial"/>
              <a:ea typeface="Arial"/>
              <a:cs typeface="Arial"/>
              <a:sym typeface="Arial"/>
            </a:endParaRPr>
          </a:p>
        </p:txBody>
      </p:sp>
      <p:sp>
        <p:nvSpPr>
          <p:cNvPr id="821" name="Google Shape;821;p55"/>
          <p:cNvSpPr/>
          <p:nvPr/>
        </p:nvSpPr>
        <p:spPr>
          <a:xfrm>
            <a:off x="119849" y="1654079"/>
            <a:ext cx="6156664" cy="363984"/>
          </a:xfrm>
          <a:prstGeom prst="rect">
            <a:avLst/>
          </a:prstGeom>
          <a:solidFill>
            <a:srgbClr val="BFBFB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accent5"/>
                </a:solidFill>
                <a:latin typeface="Georgia"/>
                <a:ea typeface="Georgia"/>
                <a:cs typeface="Georgia"/>
                <a:sym typeface="Georgia"/>
              </a:rPr>
              <a:t>Profitability</a:t>
            </a:r>
            <a:endParaRPr b="0" i="0" sz="1400" u="none" cap="none" strike="noStrike">
              <a:solidFill>
                <a:srgbClr val="000000"/>
              </a:solidFill>
              <a:latin typeface="Arial"/>
              <a:ea typeface="Arial"/>
              <a:cs typeface="Arial"/>
              <a:sym typeface="Arial"/>
            </a:endParaRPr>
          </a:p>
        </p:txBody>
      </p:sp>
      <p:sp>
        <p:nvSpPr>
          <p:cNvPr id="822" name="Google Shape;822;p55"/>
          <p:cNvSpPr/>
          <p:nvPr/>
        </p:nvSpPr>
        <p:spPr>
          <a:xfrm>
            <a:off x="6507332" y="2595592"/>
            <a:ext cx="2460593" cy="476563"/>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accent5"/>
                </a:solidFill>
                <a:latin typeface="Georgia"/>
                <a:ea typeface="Georgia"/>
                <a:cs typeface="Georgia"/>
                <a:sym typeface="Georgia"/>
              </a:rPr>
              <a:t>Government grants/assistance</a:t>
            </a:r>
            <a:endParaRPr b="0" i="0" sz="1400" u="none" cap="none" strike="noStrike">
              <a:solidFill>
                <a:srgbClr val="000000"/>
              </a:solidFill>
              <a:latin typeface="Arial"/>
              <a:ea typeface="Arial"/>
              <a:cs typeface="Arial"/>
              <a:sym typeface="Arial"/>
            </a:endParaRPr>
          </a:p>
        </p:txBody>
      </p:sp>
      <p:sp>
        <p:nvSpPr>
          <p:cNvPr id="823" name="Google Shape;823;p55"/>
          <p:cNvSpPr/>
          <p:nvPr/>
        </p:nvSpPr>
        <p:spPr>
          <a:xfrm>
            <a:off x="6507332" y="3207737"/>
            <a:ext cx="2460593" cy="472253"/>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accent5"/>
                </a:solidFill>
                <a:latin typeface="Georgia"/>
                <a:ea typeface="Georgia"/>
                <a:cs typeface="Georgia"/>
                <a:sym typeface="Georgia"/>
              </a:rPr>
              <a:t>Population/wealth considerations in 7-57 years</a:t>
            </a:r>
            <a:endParaRPr b="0" i="0" sz="1400" u="none" cap="none" strike="noStrike">
              <a:solidFill>
                <a:srgbClr val="000000"/>
              </a:solidFill>
              <a:latin typeface="Arial"/>
              <a:ea typeface="Arial"/>
              <a:cs typeface="Arial"/>
              <a:sym typeface="Arial"/>
            </a:endParaRPr>
          </a:p>
        </p:txBody>
      </p:sp>
      <p:sp>
        <p:nvSpPr>
          <p:cNvPr id="824" name="Google Shape;824;p55"/>
          <p:cNvSpPr/>
          <p:nvPr/>
        </p:nvSpPr>
        <p:spPr>
          <a:xfrm>
            <a:off x="119849" y="3837988"/>
            <a:ext cx="2969578" cy="476563"/>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accent5"/>
                </a:solidFill>
                <a:latin typeface="Georgia"/>
                <a:ea typeface="Georgia"/>
                <a:cs typeface="Georgia"/>
                <a:sym typeface="Georgia"/>
              </a:rPr>
              <a:t>Ticket price</a:t>
            </a:r>
            <a:endParaRPr b="0" i="0" sz="1400" u="none" cap="none" strike="noStrike">
              <a:solidFill>
                <a:srgbClr val="000000"/>
              </a:solidFill>
              <a:latin typeface="Arial"/>
              <a:ea typeface="Arial"/>
              <a:cs typeface="Arial"/>
              <a:sym typeface="Arial"/>
            </a:endParaRPr>
          </a:p>
        </p:txBody>
      </p:sp>
      <p:sp>
        <p:nvSpPr>
          <p:cNvPr id="825" name="Google Shape;825;p55"/>
          <p:cNvSpPr/>
          <p:nvPr/>
        </p:nvSpPr>
        <p:spPr>
          <a:xfrm>
            <a:off x="119849" y="2077922"/>
            <a:ext cx="2969579" cy="363984"/>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accent5"/>
                </a:solidFill>
                <a:latin typeface="Georgia"/>
                <a:ea typeface="Georgia"/>
                <a:cs typeface="Georgia"/>
                <a:sym typeface="Georgia"/>
              </a:rPr>
              <a:t>Gross revenue</a:t>
            </a:r>
            <a:endParaRPr b="0" i="0" sz="1400" u="none" cap="none" strike="noStrike">
              <a:solidFill>
                <a:srgbClr val="000000"/>
              </a:solidFill>
              <a:latin typeface="Arial"/>
              <a:ea typeface="Arial"/>
              <a:cs typeface="Arial"/>
              <a:sym typeface="Arial"/>
            </a:endParaRPr>
          </a:p>
        </p:txBody>
      </p:sp>
      <p:sp>
        <p:nvSpPr>
          <p:cNvPr id="826" name="Google Shape;826;p55"/>
          <p:cNvSpPr/>
          <p:nvPr/>
        </p:nvSpPr>
        <p:spPr>
          <a:xfrm>
            <a:off x="3409025" y="2077922"/>
            <a:ext cx="2867488" cy="363984"/>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accent5"/>
                </a:solidFill>
                <a:latin typeface="Georgia"/>
                <a:ea typeface="Georgia"/>
                <a:cs typeface="Georgia"/>
                <a:sym typeface="Georgia"/>
              </a:rPr>
              <a:t>Costs</a:t>
            </a:r>
            <a:endParaRPr b="0" i="0" sz="1400" u="none" cap="none" strike="noStrike">
              <a:solidFill>
                <a:srgbClr val="000000"/>
              </a:solidFill>
              <a:latin typeface="Arial"/>
              <a:ea typeface="Arial"/>
              <a:cs typeface="Arial"/>
              <a:sym typeface="Arial"/>
            </a:endParaRPr>
          </a:p>
        </p:txBody>
      </p:sp>
      <p:sp>
        <p:nvSpPr>
          <p:cNvPr id="827" name="Google Shape;827;p55"/>
          <p:cNvSpPr/>
          <p:nvPr/>
        </p:nvSpPr>
        <p:spPr>
          <a:xfrm>
            <a:off x="119849" y="2595593"/>
            <a:ext cx="2969578" cy="476563"/>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accent5"/>
                </a:solidFill>
                <a:latin typeface="Georgia"/>
                <a:ea typeface="Georgia"/>
                <a:cs typeface="Georgia"/>
                <a:sym typeface="Georgia"/>
              </a:rPr>
              <a:t>Number of train tickets sold</a:t>
            </a:r>
            <a:endParaRPr b="0" i="0" sz="1400" u="none" cap="none" strike="noStrike">
              <a:solidFill>
                <a:srgbClr val="000000"/>
              </a:solidFill>
              <a:latin typeface="Arial"/>
              <a:ea typeface="Arial"/>
              <a:cs typeface="Arial"/>
              <a:sym typeface="Arial"/>
            </a:endParaRPr>
          </a:p>
        </p:txBody>
      </p:sp>
      <p:sp>
        <p:nvSpPr>
          <p:cNvPr id="828" name="Google Shape;828;p55"/>
          <p:cNvSpPr/>
          <p:nvPr/>
        </p:nvSpPr>
        <p:spPr>
          <a:xfrm>
            <a:off x="370645" y="4468238"/>
            <a:ext cx="2718781" cy="476563"/>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accent5"/>
                </a:solidFill>
                <a:latin typeface="Georgia"/>
                <a:ea typeface="Georgia"/>
                <a:cs typeface="Georgia"/>
                <a:sym typeface="Georgia"/>
              </a:rPr>
              <a:t>Business vs coach passenger, East vs West Coast</a:t>
            </a:r>
            <a:endParaRPr b="0" i="0" sz="1400" u="none" cap="none" strike="noStrike">
              <a:solidFill>
                <a:srgbClr val="000000"/>
              </a:solidFill>
              <a:latin typeface="Arial"/>
              <a:ea typeface="Arial"/>
              <a:cs typeface="Arial"/>
              <a:sym typeface="Arial"/>
            </a:endParaRPr>
          </a:p>
        </p:txBody>
      </p:sp>
      <p:sp>
        <p:nvSpPr>
          <p:cNvPr id="829" name="Google Shape;829;p55"/>
          <p:cNvSpPr/>
          <p:nvPr/>
        </p:nvSpPr>
        <p:spPr>
          <a:xfrm>
            <a:off x="370646" y="3207738"/>
            <a:ext cx="2718781" cy="476563"/>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accent5"/>
                </a:solidFill>
                <a:latin typeface="Georgia"/>
                <a:ea typeface="Georgia"/>
                <a:cs typeface="Georgia"/>
                <a:sym typeface="Georgia"/>
              </a:rPr>
              <a:t>City populations, wealth, travel habits, alternatives</a:t>
            </a:r>
            <a:endParaRPr b="0" i="0" sz="1400" u="none" cap="none" strike="noStrike">
              <a:solidFill>
                <a:srgbClr val="000000"/>
              </a:solidFill>
              <a:latin typeface="Arial"/>
              <a:ea typeface="Arial"/>
              <a:cs typeface="Arial"/>
              <a:sym typeface="Arial"/>
            </a:endParaRPr>
          </a:p>
        </p:txBody>
      </p:sp>
      <p:sp>
        <p:nvSpPr>
          <p:cNvPr id="830" name="Google Shape;830;p55"/>
          <p:cNvSpPr/>
          <p:nvPr/>
        </p:nvSpPr>
        <p:spPr>
          <a:xfrm>
            <a:off x="119849" y="5098488"/>
            <a:ext cx="2969578" cy="476563"/>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accent5"/>
                </a:solidFill>
                <a:latin typeface="Georgia"/>
                <a:ea typeface="Georgia"/>
                <a:cs typeface="Georgia"/>
                <a:sym typeface="Georgia"/>
              </a:rPr>
              <a:t>Ancillary (food, drinks, other)</a:t>
            </a:r>
            <a:endParaRPr b="0" i="0" sz="1400" u="none" cap="none" strike="noStrike">
              <a:solidFill>
                <a:srgbClr val="000000"/>
              </a:solidFill>
              <a:latin typeface="Arial"/>
              <a:ea typeface="Arial"/>
              <a:cs typeface="Arial"/>
              <a:sym typeface="Arial"/>
            </a:endParaRPr>
          </a:p>
        </p:txBody>
      </p:sp>
      <p:sp>
        <p:nvSpPr>
          <p:cNvPr id="831" name="Google Shape;831;p55"/>
          <p:cNvSpPr/>
          <p:nvPr/>
        </p:nvSpPr>
        <p:spPr>
          <a:xfrm>
            <a:off x="3409025" y="2595593"/>
            <a:ext cx="2867488" cy="476563"/>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accent5"/>
                </a:solidFill>
                <a:latin typeface="Georgia"/>
                <a:ea typeface="Georgia"/>
                <a:cs typeface="Georgia"/>
                <a:sym typeface="Georgia"/>
              </a:rPr>
              <a:t>Initial investment</a:t>
            </a:r>
            <a:endParaRPr b="0" i="0" sz="1400" u="none" cap="none" strike="noStrike">
              <a:solidFill>
                <a:srgbClr val="000000"/>
              </a:solidFill>
              <a:latin typeface="Arial"/>
              <a:ea typeface="Arial"/>
              <a:cs typeface="Arial"/>
              <a:sym typeface="Arial"/>
            </a:endParaRPr>
          </a:p>
        </p:txBody>
      </p:sp>
      <p:sp>
        <p:nvSpPr>
          <p:cNvPr id="832" name="Google Shape;832;p55"/>
          <p:cNvSpPr/>
          <p:nvPr/>
        </p:nvSpPr>
        <p:spPr>
          <a:xfrm>
            <a:off x="3724711" y="3207737"/>
            <a:ext cx="2551801" cy="476563"/>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accent5"/>
                </a:solidFill>
                <a:latin typeface="Georgia"/>
                <a:ea typeface="Georgia"/>
                <a:cs typeface="Georgia"/>
                <a:sym typeface="Georgia"/>
              </a:rPr>
              <a:t>Train, rail, land, infrastructure, stations</a:t>
            </a:r>
            <a:endParaRPr b="0" i="0" sz="1400" u="none" cap="none" strike="noStrike">
              <a:solidFill>
                <a:srgbClr val="000000"/>
              </a:solidFill>
              <a:latin typeface="Arial"/>
              <a:ea typeface="Arial"/>
              <a:cs typeface="Arial"/>
              <a:sym typeface="Arial"/>
            </a:endParaRPr>
          </a:p>
        </p:txBody>
      </p:sp>
      <p:sp>
        <p:nvSpPr>
          <p:cNvPr id="833" name="Google Shape;833;p55"/>
          <p:cNvSpPr/>
          <p:nvPr/>
        </p:nvSpPr>
        <p:spPr>
          <a:xfrm>
            <a:off x="3409025" y="3837987"/>
            <a:ext cx="2867488" cy="476563"/>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accent5"/>
                </a:solidFill>
                <a:latin typeface="Georgia"/>
                <a:ea typeface="Georgia"/>
                <a:cs typeface="Georgia"/>
                <a:sym typeface="Georgia"/>
              </a:rPr>
              <a:t>Operational Costs</a:t>
            </a:r>
            <a:endParaRPr b="0" i="0" sz="1400" u="none" cap="none" strike="noStrike">
              <a:solidFill>
                <a:srgbClr val="000000"/>
              </a:solidFill>
              <a:latin typeface="Arial"/>
              <a:ea typeface="Arial"/>
              <a:cs typeface="Arial"/>
              <a:sym typeface="Arial"/>
            </a:endParaRPr>
          </a:p>
        </p:txBody>
      </p:sp>
      <p:sp>
        <p:nvSpPr>
          <p:cNvPr id="834" name="Google Shape;834;p55"/>
          <p:cNvSpPr/>
          <p:nvPr/>
        </p:nvSpPr>
        <p:spPr>
          <a:xfrm>
            <a:off x="3724711" y="4468237"/>
            <a:ext cx="2551802" cy="476563"/>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accent5"/>
                </a:solidFill>
                <a:latin typeface="Georgia"/>
                <a:ea typeface="Georgia"/>
                <a:cs typeface="Georgia"/>
                <a:sym typeface="Georgia"/>
              </a:rPr>
              <a:t>Wages, power, maintenance</a:t>
            </a:r>
            <a:endParaRPr b="0" i="0" sz="1400" u="none" cap="none" strike="noStrike">
              <a:solidFill>
                <a:srgbClr val="000000"/>
              </a:solidFill>
              <a:latin typeface="Arial"/>
              <a:ea typeface="Arial"/>
              <a:cs typeface="Arial"/>
              <a:sym typeface="Arial"/>
            </a:endParaRPr>
          </a:p>
        </p:txBody>
      </p:sp>
      <p:sp>
        <p:nvSpPr>
          <p:cNvPr id="835" name="Google Shape;835;p55"/>
          <p:cNvSpPr/>
          <p:nvPr/>
        </p:nvSpPr>
        <p:spPr>
          <a:xfrm>
            <a:off x="6507331" y="3846515"/>
            <a:ext cx="2460593" cy="472253"/>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accent5"/>
                </a:solidFill>
                <a:latin typeface="Georgia"/>
                <a:ea typeface="Georgia"/>
                <a:cs typeface="Georgia"/>
                <a:sym typeface="Georgia"/>
              </a:rPr>
              <a:t>Environmental issues</a:t>
            </a:r>
            <a:endParaRPr b="0" i="0" sz="1400" u="none" cap="none" strike="noStrike">
              <a:solidFill>
                <a:srgbClr val="000000"/>
              </a:solidFill>
              <a:latin typeface="Arial"/>
              <a:ea typeface="Arial"/>
              <a:cs typeface="Arial"/>
              <a:sym typeface="Arial"/>
            </a:endParaRPr>
          </a:p>
        </p:txBody>
      </p:sp>
      <p:sp>
        <p:nvSpPr>
          <p:cNvPr id="836" name="Google Shape;836;p55"/>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0" name="Shape 840"/>
        <p:cNvGrpSpPr/>
        <p:nvPr/>
      </p:nvGrpSpPr>
      <p:grpSpPr>
        <a:xfrm>
          <a:off x="0" y="0"/>
          <a:ext cx="0" cy="0"/>
          <a:chOff x="0" y="0"/>
          <a:chExt cx="0" cy="0"/>
        </a:xfrm>
      </p:grpSpPr>
      <p:sp>
        <p:nvSpPr>
          <p:cNvPr id="841" name="Google Shape;841;p56"/>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High Speed Train</a:t>
            </a:r>
            <a:endParaRPr/>
          </a:p>
        </p:txBody>
      </p:sp>
      <p:sp>
        <p:nvSpPr>
          <p:cNvPr id="842" name="Google Shape;842;p56"/>
          <p:cNvSpPr txBox="1"/>
          <p:nvPr>
            <p:ph idx="2" type="body"/>
          </p:nvPr>
        </p:nvSpPr>
        <p:spPr>
          <a:xfrm>
            <a:off x="503321" y="1022905"/>
            <a:ext cx="8126332"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Sample Calculations</a:t>
            </a:r>
            <a:endParaRPr/>
          </a:p>
        </p:txBody>
      </p:sp>
      <p:pic>
        <p:nvPicPr>
          <p:cNvPr id="843" name="Google Shape;843;p56"/>
          <p:cNvPicPr preferRelativeResize="0"/>
          <p:nvPr>
            <p:ph idx="1" type="body"/>
          </p:nvPr>
        </p:nvPicPr>
        <p:blipFill rotWithShape="1">
          <a:blip r:embed="rId3">
            <a:alphaModFix/>
          </a:blip>
          <a:srcRect b="0" l="0" r="0" t="0"/>
          <a:stretch/>
        </p:blipFill>
        <p:spPr>
          <a:xfrm>
            <a:off x="1650856" y="1740502"/>
            <a:ext cx="5802601" cy="4070734"/>
          </a:xfrm>
          <a:prstGeom prst="rect">
            <a:avLst/>
          </a:prstGeom>
          <a:solidFill>
            <a:schemeClr val="lt1"/>
          </a:solidFill>
          <a:ln cap="flat" cmpd="sng" w="38100">
            <a:solidFill>
              <a:schemeClr val="dk1"/>
            </a:solidFill>
            <a:prstDash val="solid"/>
            <a:round/>
            <a:headEnd len="sm" w="sm" type="none"/>
            <a:tailEnd len="sm" w="sm" type="none"/>
          </a:ln>
        </p:spPr>
      </p:pic>
      <p:sp>
        <p:nvSpPr>
          <p:cNvPr id="844" name="Google Shape;844;p56"/>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8" name="Shape 848"/>
        <p:cNvGrpSpPr/>
        <p:nvPr/>
      </p:nvGrpSpPr>
      <p:grpSpPr>
        <a:xfrm>
          <a:off x="0" y="0"/>
          <a:ext cx="0" cy="0"/>
          <a:chOff x="0" y="0"/>
          <a:chExt cx="0" cy="0"/>
        </a:xfrm>
      </p:grpSpPr>
      <p:sp>
        <p:nvSpPr>
          <p:cNvPr id="849" name="Google Shape;849;p57"/>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High Speed Train</a:t>
            </a:r>
            <a:endParaRPr/>
          </a:p>
        </p:txBody>
      </p:sp>
      <p:sp>
        <p:nvSpPr>
          <p:cNvPr id="850" name="Google Shape;850;p57"/>
          <p:cNvSpPr txBox="1"/>
          <p:nvPr>
            <p:ph idx="2" type="body"/>
          </p:nvPr>
        </p:nvSpPr>
        <p:spPr>
          <a:xfrm>
            <a:off x="503321" y="1022905"/>
            <a:ext cx="8126332"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Sample Calculations – candidates do not need to calculate these exact numbers</a:t>
            </a:r>
            <a:endParaRPr/>
          </a:p>
        </p:txBody>
      </p:sp>
      <p:pic>
        <p:nvPicPr>
          <p:cNvPr id="851" name="Google Shape;851;p57"/>
          <p:cNvPicPr preferRelativeResize="0"/>
          <p:nvPr/>
        </p:nvPicPr>
        <p:blipFill rotWithShape="1">
          <a:blip r:embed="rId3">
            <a:alphaModFix/>
          </a:blip>
          <a:srcRect b="0" l="0" r="0" t="0"/>
          <a:stretch/>
        </p:blipFill>
        <p:spPr>
          <a:xfrm>
            <a:off x="407069" y="2581803"/>
            <a:ext cx="6908131" cy="1448979"/>
          </a:xfrm>
          <a:prstGeom prst="rect">
            <a:avLst/>
          </a:prstGeom>
          <a:solidFill>
            <a:schemeClr val="lt1"/>
          </a:solidFill>
          <a:ln cap="flat" cmpd="sng" w="38100">
            <a:solidFill>
              <a:schemeClr val="dk1"/>
            </a:solidFill>
            <a:prstDash val="solid"/>
            <a:round/>
            <a:headEnd len="sm" w="sm" type="none"/>
            <a:tailEnd len="sm" w="sm" type="none"/>
          </a:ln>
        </p:spPr>
      </p:pic>
      <p:pic>
        <p:nvPicPr>
          <p:cNvPr id="852" name="Google Shape;852;p57"/>
          <p:cNvPicPr preferRelativeResize="0"/>
          <p:nvPr>
            <p:ph idx="1" type="body"/>
          </p:nvPr>
        </p:nvPicPr>
        <p:blipFill rotWithShape="1">
          <a:blip r:embed="rId4">
            <a:alphaModFix/>
          </a:blip>
          <a:srcRect b="0" l="0" r="0" t="0"/>
          <a:stretch/>
        </p:blipFill>
        <p:spPr>
          <a:xfrm>
            <a:off x="407069" y="1402242"/>
            <a:ext cx="5322612" cy="1006309"/>
          </a:xfrm>
          <a:prstGeom prst="rect">
            <a:avLst/>
          </a:prstGeom>
          <a:solidFill>
            <a:schemeClr val="lt1"/>
          </a:solidFill>
          <a:ln cap="flat" cmpd="sng" w="38100">
            <a:solidFill>
              <a:schemeClr val="dk1"/>
            </a:solidFill>
            <a:prstDash val="solid"/>
            <a:round/>
            <a:headEnd len="sm" w="sm" type="none"/>
            <a:tailEnd len="sm" w="sm" type="none"/>
          </a:ln>
        </p:spPr>
      </p:pic>
      <p:pic>
        <p:nvPicPr>
          <p:cNvPr id="853" name="Google Shape;853;p57"/>
          <p:cNvPicPr preferRelativeResize="0"/>
          <p:nvPr/>
        </p:nvPicPr>
        <p:blipFill rotWithShape="1">
          <a:blip r:embed="rId5">
            <a:alphaModFix/>
          </a:blip>
          <a:srcRect b="0" l="0" r="0" t="0"/>
          <a:stretch/>
        </p:blipFill>
        <p:spPr>
          <a:xfrm>
            <a:off x="407069" y="4204034"/>
            <a:ext cx="4743771" cy="2007019"/>
          </a:xfrm>
          <a:prstGeom prst="rect">
            <a:avLst/>
          </a:prstGeom>
          <a:solidFill>
            <a:schemeClr val="lt1"/>
          </a:solidFill>
          <a:ln cap="flat" cmpd="sng" w="38100">
            <a:solidFill>
              <a:schemeClr val="dk1"/>
            </a:solidFill>
            <a:prstDash val="solid"/>
            <a:round/>
            <a:headEnd len="sm" w="sm" type="none"/>
            <a:tailEnd len="sm" w="sm" type="none"/>
          </a:ln>
        </p:spPr>
      </p:pic>
      <p:sp>
        <p:nvSpPr>
          <p:cNvPr id="854" name="Google Shape;854;p57"/>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8" name="Shape 858"/>
        <p:cNvGrpSpPr/>
        <p:nvPr/>
      </p:nvGrpSpPr>
      <p:grpSpPr>
        <a:xfrm>
          <a:off x="0" y="0"/>
          <a:ext cx="0" cy="0"/>
          <a:chOff x="0" y="0"/>
          <a:chExt cx="0" cy="0"/>
        </a:xfrm>
      </p:grpSpPr>
      <p:sp>
        <p:nvSpPr>
          <p:cNvPr id="859" name="Google Shape;859;p58"/>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High Speed Train</a:t>
            </a:r>
            <a:endParaRPr/>
          </a:p>
        </p:txBody>
      </p:sp>
      <p:sp>
        <p:nvSpPr>
          <p:cNvPr id="860" name="Google Shape;860;p58"/>
          <p:cNvSpPr txBox="1"/>
          <p:nvPr>
            <p:ph idx="2" type="body"/>
          </p:nvPr>
        </p:nvSpPr>
        <p:spPr>
          <a:xfrm>
            <a:off x="503321" y="1022905"/>
            <a:ext cx="8126332"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Sample Calculations</a:t>
            </a:r>
            <a:endParaRPr/>
          </a:p>
        </p:txBody>
      </p:sp>
      <p:sp>
        <p:nvSpPr>
          <p:cNvPr id="861" name="Google Shape;861;p58"/>
          <p:cNvSpPr txBox="1"/>
          <p:nvPr>
            <p:ph idx="1" type="body"/>
          </p:nvPr>
        </p:nvSpPr>
        <p:spPr>
          <a:xfrm>
            <a:off x="381001" y="1283365"/>
            <a:ext cx="8341656" cy="4985087"/>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Font typeface="Calibri"/>
              <a:buNone/>
            </a:pPr>
            <a:r>
              <a:t/>
            </a:r>
            <a:endParaRPr/>
          </a:p>
          <a:p>
            <a:pPr indent="0" lvl="0" marL="0" rtl="0" algn="l">
              <a:lnSpc>
                <a:spcPct val="100000"/>
              </a:lnSpc>
              <a:spcBef>
                <a:spcPts val="300"/>
              </a:spcBef>
              <a:spcAft>
                <a:spcPts val="0"/>
              </a:spcAft>
              <a:buSzPts val="1400"/>
              <a:buFont typeface="Calibri"/>
              <a:buNone/>
            </a:pPr>
            <a:r>
              <a:rPr lang="en-US"/>
              <a:t>NYC &amp; Boston</a:t>
            </a:r>
            <a:endParaRPr/>
          </a:p>
          <a:p>
            <a:pPr indent="0" lvl="0" marL="0" rtl="0" algn="l">
              <a:lnSpc>
                <a:spcPct val="100000"/>
              </a:lnSpc>
              <a:spcBef>
                <a:spcPts val="300"/>
              </a:spcBef>
              <a:spcAft>
                <a:spcPts val="0"/>
              </a:spcAft>
              <a:buSzPts val="1400"/>
              <a:buFont typeface="Calibri"/>
              <a:buNone/>
            </a:pPr>
            <a:r>
              <a:rPr lang="en-US"/>
              <a:t>Time = 0			          8             9          10...				…57</a:t>
            </a:r>
            <a:endParaRPr/>
          </a:p>
          <a:p>
            <a:pPr indent="0" lvl="0" marL="0" rtl="0" algn="l">
              <a:lnSpc>
                <a:spcPct val="100000"/>
              </a:lnSpc>
              <a:spcBef>
                <a:spcPts val="300"/>
              </a:spcBef>
              <a:spcAft>
                <a:spcPts val="0"/>
              </a:spcAft>
              <a:buSzPts val="1400"/>
              <a:buFont typeface="Calibri"/>
              <a:buNone/>
            </a:pPr>
            <a:r>
              <a:t/>
            </a:r>
            <a:endParaRPr/>
          </a:p>
          <a:p>
            <a:pPr indent="0" lvl="0" marL="0" rtl="0" algn="l">
              <a:lnSpc>
                <a:spcPct val="100000"/>
              </a:lnSpc>
              <a:spcBef>
                <a:spcPts val="300"/>
              </a:spcBef>
              <a:spcAft>
                <a:spcPts val="0"/>
              </a:spcAft>
              <a:buSzPts val="1400"/>
              <a:buFont typeface="Calibri"/>
              <a:buNone/>
            </a:pPr>
            <a:r>
              <a:rPr lang="en-US"/>
              <a:t>     $10B			     $324M $324M $324M			                      $324M</a:t>
            </a:r>
            <a:endParaRPr/>
          </a:p>
          <a:p>
            <a:pPr indent="0" lvl="0" marL="0" rtl="0" algn="l">
              <a:lnSpc>
                <a:spcPct val="100000"/>
              </a:lnSpc>
              <a:spcBef>
                <a:spcPts val="300"/>
              </a:spcBef>
              <a:spcAft>
                <a:spcPts val="0"/>
              </a:spcAft>
              <a:buSzPts val="1400"/>
              <a:buFont typeface="Calibri"/>
              <a:buNone/>
            </a:pPr>
            <a:r>
              <a:t/>
            </a:r>
            <a:endParaRPr/>
          </a:p>
          <a:p>
            <a:pPr indent="0" lvl="0" marL="0" rtl="0" algn="l">
              <a:lnSpc>
                <a:spcPct val="100000"/>
              </a:lnSpc>
              <a:spcBef>
                <a:spcPts val="300"/>
              </a:spcBef>
              <a:spcAft>
                <a:spcPts val="0"/>
              </a:spcAft>
              <a:buSzPts val="1400"/>
              <a:buFont typeface="Calibri"/>
              <a:buNone/>
            </a:pPr>
            <a:r>
              <a:rPr lang="en-US"/>
              <a:t>Because there are 50 cash flows, we can treat the 50 years of profit like a perpetuity (yearly payment/discount rate) and discount that back to the current year(rule of 72 implies money doubles in ~7 years at 10%, and going from future cash flows to present value, we take half of the future value)</a:t>
            </a:r>
            <a:endParaRPr/>
          </a:p>
        </p:txBody>
      </p:sp>
      <p:cxnSp>
        <p:nvCxnSpPr>
          <p:cNvPr id="862" name="Google Shape;862;p58"/>
          <p:cNvCxnSpPr/>
          <p:nvPr/>
        </p:nvCxnSpPr>
        <p:spPr>
          <a:xfrm>
            <a:off x="597568" y="2241166"/>
            <a:ext cx="7749478" cy="0"/>
          </a:xfrm>
          <a:prstGeom prst="straightConnector1">
            <a:avLst/>
          </a:prstGeom>
          <a:noFill/>
          <a:ln cap="flat" cmpd="sng" w="38100">
            <a:solidFill>
              <a:schemeClr val="accent5"/>
            </a:solidFill>
            <a:prstDash val="solid"/>
            <a:round/>
            <a:headEnd len="sm" w="sm" type="none"/>
            <a:tailEnd len="med" w="med" type="triangle"/>
          </a:ln>
          <a:effectLst>
            <a:outerShdw blurRad="40000" rotWithShape="0" dir="5400000" dist="23000">
              <a:srgbClr val="000000">
                <a:alpha val="34117"/>
              </a:srgbClr>
            </a:outerShdw>
          </a:effectLst>
        </p:spPr>
      </p:cxnSp>
      <p:cxnSp>
        <p:nvCxnSpPr>
          <p:cNvPr id="863" name="Google Shape;863;p58"/>
          <p:cNvCxnSpPr/>
          <p:nvPr/>
        </p:nvCxnSpPr>
        <p:spPr>
          <a:xfrm>
            <a:off x="3669337" y="2087367"/>
            <a:ext cx="0" cy="310393"/>
          </a:xfrm>
          <a:prstGeom prst="straightConnector1">
            <a:avLst/>
          </a:prstGeom>
          <a:noFill/>
          <a:ln cap="flat" cmpd="sng" w="38100">
            <a:solidFill>
              <a:schemeClr val="accent5"/>
            </a:solidFill>
            <a:prstDash val="solid"/>
            <a:round/>
            <a:headEnd len="sm" w="sm" type="none"/>
            <a:tailEnd len="sm" w="sm" type="none"/>
          </a:ln>
          <a:effectLst>
            <a:outerShdw blurRad="40000" rotWithShape="0" dir="5400000" dist="23000">
              <a:srgbClr val="000000">
                <a:alpha val="34117"/>
              </a:srgbClr>
            </a:outerShdw>
          </a:effectLst>
        </p:spPr>
      </p:cxnSp>
      <p:cxnSp>
        <p:nvCxnSpPr>
          <p:cNvPr id="864" name="Google Shape;864;p58"/>
          <p:cNvCxnSpPr/>
          <p:nvPr/>
        </p:nvCxnSpPr>
        <p:spPr>
          <a:xfrm>
            <a:off x="843645" y="2087367"/>
            <a:ext cx="0" cy="310393"/>
          </a:xfrm>
          <a:prstGeom prst="straightConnector1">
            <a:avLst/>
          </a:prstGeom>
          <a:noFill/>
          <a:ln cap="flat" cmpd="sng" w="38100">
            <a:solidFill>
              <a:schemeClr val="accent5"/>
            </a:solidFill>
            <a:prstDash val="solid"/>
            <a:round/>
            <a:headEnd len="sm" w="sm" type="none"/>
            <a:tailEnd len="sm" w="sm" type="none"/>
          </a:ln>
          <a:effectLst>
            <a:outerShdw blurRad="40000" rotWithShape="0" dir="5400000" dist="23000">
              <a:srgbClr val="000000">
                <a:alpha val="34117"/>
              </a:srgbClr>
            </a:outerShdw>
          </a:effectLst>
        </p:spPr>
      </p:cxnSp>
      <p:cxnSp>
        <p:nvCxnSpPr>
          <p:cNvPr id="865" name="Google Shape;865;p58"/>
          <p:cNvCxnSpPr/>
          <p:nvPr/>
        </p:nvCxnSpPr>
        <p:spPr>
          <a:xfrm>
            <a:off x="4257964" y="2087367"/>
            <a:ext cx="0" cy="310393"/>
          </a:xfrm>
          <a:prstGeom prst="straightConnector1">
            <a:avLst/>
          </a:prstGeom>
          <a:noFill/>
          <a:ln cap="flat" cmpd="sng" w="38100">
            <a:solidFill>
              <a:schemeClr val="accent5"/>
            </a:solidFill>
            <a:prstDash val="solid"/>
            <a:round/>
            <a:headEnd len="sm" w="sm" type="none"/>
            <a:tailEnd len="sm" w="sm" type="none"/>
          </a:ln>
          <a:effectLst>
            <a:outerShdw blurRad="40000" rotWithShape="0" dir="5400000" dist="23000">
              <a:srgbClr val="000000">
                <a:alpha val="34117"/>
              </a:srgbClr>
            </a:outerShdw>
          </a:effectLst>
        </p:spPr>
      </p:cxnSp>
      <p:cxnSp>
        <p:nvCxnSpPr>
          <p:cNvPr id="866" name="Google Shape;866;p58"/>
          <p:cNvCxnSpPr/>
          <p:nvPr/>
        </p:nvCxnSpPr>
        <p:spPr>
          <a:xfrm>
            <a:off x="4796258" y="2087367"/>
            <a:ext cx="0" cy="310393"/>
          </a:xfrm>
          <a:prstGeom prst="straightConnector1">
            <a:avLst/>
          </a:prstGeom>
          <a:noFill/>
          <a:ln cap="flat" cmpd="sng" w="38100">
            <a:solidFill>
              <a:schemeClr val="accent5"/>
            </a:solidFill>
            <a:prstDash val="solid"/>
            <a:round/>
            <a:headEnd len="sm" w="sm" type="none"/>
            <a:tailEnd len="sm" w="sm" type="none"/>
          </a:ln>
          <a:effectLst>
            <a:outerShdw blurRad="40000" rotWithShape="0" dir="5400000" dist="23000">
              <a:srgbClr val="000000">
                <a:alpha val="34117"/>
              </a:srgbClr>
            </a:outerShdw>
          </a:effectLst>
        </p:spPr>
      </p:cxnSp>
      <p:cxnSp>
        <p:nvCxnSpPr>
          <p:cNvPr id="867" name="Google Shape;867;p58"/>
          <p:cNvCxnSpPr/>
          <p:nvPr/>
        </p:nvCxnSpPr>
        <p:spPr>
          <a:xfrm>
            <a:off x="8002250" y="2087367"/>
            <a:ext cx="0" cy="310393"/>
          </a:xfrm>
          <a:prstGeom prst="straightConnector1">
            <a:avLst/>
          </a:prstGeom>
          <a:noFill/>
          <a:ln cap="flat" cmpd="sng" w="38100">
            <a:solidFill>
              <a:schemeClr val="accent5"/>
            </a:solidFill>
            <a:prstDash val="solid"/>
            <a:round/>
            <a:headEnd len="sm" w="sm" type="none"/>
            <a:tailEnd len="sm" w="sm" type="none"/>
          </a:ln>
          <a:effectLst>
            <a:outerShdw blurRad="40000" rotWithShape="0" dir="5400000" dist="23000">
              <a:srgbClr val="000000">
                <a:alpha val="34117"/>
              </a:srgbClr>
            </a:outerShdw>
          </a:effectLst>
        </p:spPr>
      </p:cxnSp>
      <p:pic>
        <p:nvPicPr>
          <p:cNvPr id="868" name="Google Shape;868;p58"/>
          <p:cNvPicPr preferRelativeResize="0"/>
          <p:nvPr/>
        </p:nvPicPr>
        <p:blipFill rotWithShape="1">
          <a:blip r:embed="rId3">
            <a:alphaModFix/>
          </a:blip>
          <a:srcRect b="0" l="0" r="0" t="0"/>
          <a:stretch/>
        </p:blipFill>
        <p:spPr>
          <a:xfrm>
            <a:off x="1256063" y="3775908"/>
            <a:ext cx="6432488" cy="2402400"/>
          </a:xfrm>
          <a:prstGeom prst="rect">
            <a:avLst/>
          </a:prstGeom>
          <a:noFill/>
          <a:ln>
            <a:noFill/>
          </a:ln>
        </p:spPr>
      </p:pic>
      <p:sp>
        <p:nvSpPr>
          <p:cNvPr id="869" name="Google Shape;869;p58"/>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3" name="Shape 873"/>
        <p:cNvGrpSpPr/>
        <p:nvPr/>
      </p:nvGrpSpPr>
      <p:grpSpPr>
        <a:xfrm>
          <a:off x="0" y="0"/>
          <a:ext cx="0" cy="0"/>
          <a:chOff x="0" y="0"/>
          <a:chExt cx="0" cy="0"/>
        </a:xfrm>
      </p:grpSpPr>
      <p:sp>
        <p:nvSpPr>
          <p:cNvPr id="874" name="Google Shape;874;p59"/>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High Speed Train</a:t>
            </a:r>
            <a:endParaRPr/>
          </a:p>
        </p:txBody>
      </p:sp>
      <p:sp>
        <p:nvSpPr>
          <p:cNvPr id="875" name="Google Shape;875;p59"/>
          <p:cNvSpPr txBox="1"/>
          <p:nvPr>
            <p:ph idx="1" type="body"/>
          </p:nvPr>
        </p:nvSpPr>
        <p:spPr>
          <a:xfrm>
            <a:off x="503321" y="4771454"/>
            <a:ext cx="8126332" cy="277497"/>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Excellent Case Insights</a:t>
            </a:r>
            <a:endParaRPr/>
          </a:p>
        </p:txBody>
      </p:sp>
      <p:sp>
        <p:nvSpPr>
          <p:cNvPr id="876" name="Google Shape;876;p59"/>
          <p:cNvSpPr txBox="1"/>
          <p:nvPr>
            <p:ph idx="2" type="body"/>
          </p:nvPr>
        </p:nvSpPr>
        <p:spPr>
          <a:xfrm>
            <a:off x="381001" y="5032406"/>
            <a:ext cx="8341656" cy="1243266"/>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274313" lvl="1" marL="274313" rtl="0" algn="l">
              <a:lnSpc>
                <a:spcPct val="100000"/>
              </a:lnSpc>
              <a:spcBef>
                <a:spcPts val="0"/>
              </a:spcBef>
              <a:spcAft>
                <a:spcPts val="0"/>
              </a:spcAft>
              <a:buSzPts val="1400"/>
              <a:buChar char="•"/>
            </a:pPr>
            <a:r>
              <a:rPr lang="en-US"/>
              <a:t>Depending on the candidates assumptions about ticket prices and number of trains per day, a great candidate will say which line is the closest to profitability and talk through ways to reduce the initial investment such as partnering with local and federal government for grants that would reduce the discount rate or subsidies for environmentally friendly transportation</a:t>
            </a:r>
            <a:endParaRPr/>
          </a:p>
          <a:p>
            <a:pPr indent="-274313" lvl="1" marL="274313" rtl="0" algn="l">
              <a:lnSpc>
                <a:spcPct val="100000"/>
              </a:lnSpc>
              <a:spcBef>
                <a:spcPts val="300"/>
              </a:spcBef>
              <a:spcAft>
                <a:spcPts val="0"/>
              </a:spcAft>
              <a:buSzPts val="1400"/>
              <a:buChar char="•"/>
            </a:pPr>
            <a:r>
              <a:rPr lang="en-US"/>
              <a:t>We assumed a salvage value of $0, that is not realistic; would all the value of the initial investment be lost?</a:t>
            </a:r>
            <a:endParaRPr/>
          </a:p>
        </p:txBody>
      </p:sp>
      <p:sp>
        <p:nvSpPr>
          <p:cNvPr id="877" name="Google Shape;877;p59"/>
          <p:cNvSpPr txBox="1"/>
          <p:nvPr>
            <p:ph idx="3" type="body"/>
          </p:nvPr>
        </p:nvSpPr>
        <p:spPr>
          <a:xfrm>
            <a:off x="500316" y="984562"/>
            <a:ext cx="8126332" cy="277497"/>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Solution and Recommendations</a:t>
            </a:r>
            <a:endParaRPr/>
          </a:p>
        </p:txBody>
      </p:sp>
      <p:sp>
        <p:nvSpPr>
          <p:cNvPr id="878" name="Google Shape;878;p59"/>
          <p:cNvSpPr txBox="1"/>
          <p:nvPr>
            <p:ph idx="4" type="body"/>
          </p:nvPr>
        </p:nvSpPr>
        <p:spPr>
          <a:xfrm>
            <a:off x="387140" y="1232987"/>
            <a:ext cx="8341656" cy="3368649"/>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274313" lvl="1" marL="274313" rtl="0" algn="l">
              <a:lnSpc>
                <a:spcPct val="100000"/>
              </a:lnSpc>
              <a:spcBef>
                <a:spcPts val="0"/>
              </a:spcBef>
              <a:spcAft>
                <a:spcPts val="0"/>
              </a:spcAft>
              <a:buSzPts val="1400"/>
              <a:buFont typeface="Arial"/>
              <a:buChar char="•"/>
            </a:pPr>
            <a:r>
              <a:rPr lang="en-US"/>
              <a:t>BGI should not invest in high speed rail</a:t>
            </a:r>
            <a:endParaRPr/>
          </a:p>
          <a:p>
            <a:pPr indent="-274313" lvl="2" marL="548626" rtl="0" algn="l">
              <a:lnSpc>
                <a:spcPct val="100000"/>
              </a:lnSpc>
              <a:spcBef>
                <a:spcPts val="300"/>
              </a:spcBef>
              <a:spcAft>
                <a:spcPts val="0"/>
              </a:spcAft>
              <a:buSzPts val="1400"/>
              <a:buFont typeface="Arial"/>
              <a:buChar char="•"/>
            </a:pPr>
            <a:r>
              <a:rPr lang="en-US"/>
              <a:t>The initial set up costs far outweigh the discounted revenue</a:t>
            </a:r>
            <a:endParaRPr/>
          </a:p>
          <a:p>
            <a:pPr indent="-274313" lvl="2" marL="548626" rtl="0" algn="l">
              <a:lnSpc>
                <a:spcPct val="100000"/>
              </a:lnSpc>
              <a:spcBef>
                <a:spcPts val="300"/>
              </a:spcBef>
              <a:spcAft>
                <a:spcPts val="0"/>
              </a:spcAft>
              <a:buSzPts val="1400"/>
              <a:buFont typeface="Arial"/>
              <a:buChar char="•"/>
            </a:pPr>
            <a:r>
              <a:rPr lang="en-US"/>
              <a:t>Unless they can figure out how to significantly bring down costs and raise additional revenue, they should look elsewhere to invest</a:t>
            </a:r>
            <a:endParaRPr/>
          </a:p>
          <a:p>
            <a:pPr indent="-274313" lvl="2" marL="548626" rtl="0" algn="l">
              <a:lnSpc>
                <a:spcPct val="100000"/>
              </a:lnSpc>
              <a:spcBef>
                <a:spcPts val="300"/>
              </a:spcBef>
              <a:spcAft>
                <a:spcPts val="0"/>
              </a:spcAft>
              <a:buSzPts val="1400"/>
              <a:buFont typeface="Arial"/>
              <a:buChar char="•"/>
            </a:pPr>
            <a:r>
              <a:rPr lang="en-US"/>
              <a:t>Candidates will vary slightly on which route is the best, but all should have negative NPV unless the revenue estimates were very aggressive</a:t>
            </a:r>
            <a:endParaRPr/>
          </a:p>
        </p:txBody>
      </p:sp>
      <p:sp>
        <p:nvSpPr>
          <p:cNvPr id="879" name="Google Shape;879;p59"/>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3" name="Shape 883"/>
        <p:cNvGrpSpPr/>
        <p:nvPr/>
      </p:nvGrpSpPr>
      <p:grpSpPr>
        <a:xfrm>
          <a:off x="0" y="0"/>
          <a:ext cx="0" cy="0"/>
          <a:chOff x="0" y="0"/>
          <a:chExt cx="0" cy="0"/>
        </a:xfrm>
      </p:grpSpPr>
      <p:sp>
        <p:nvSpPr>
          <p:cNvPr id="884" name="Google Shape;884;p60"/>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High Speed Train -  Exhibit 1: Map</a:t>
            </a:r>
            <a:endParaRPr/>
          </a:p>
        </p:txBody>
      </p:sp>
      <p:pic>
        <p:nvPicPr>
          <p:cNvPr id="885" name="Google Shape;885;p60"/>
          <p:cNvPicPr preferRelativeResize="0"/>
          <p:nvPr/>
        </p:nvPicPr>
        <p:blipFill rotWithShape="1">
          <a:blip r:embed="rId3">
            <a:alphaModFix/>
          </a:blip>
          <a:srcRect b="0" l="0" r="0" t="0"/>
          <a:stretch/>
        </p:blipFill>
        <p:spPr>
          <a:xfrm>
            <a:off x="0" y="1367406"/>
            <a:ext cx="9144000" cy="4505325"/>
          </a:xfrm>
          <a:prstGeom prst="rect">
            <a:avLst/>
          </a:prstGeom>
          <a:noFill/>
          <a:ln>
            <a:noFill/>
          </a:ln>
        </p:spPr>
      </p:pic>
      <p:sp>
        <p:nvSpPr>
          <p:cNvPr id="886" name="Google Shape;886;p60"/>
          <p:cNvSpPr txBox="1"/>
          <p:nvPr/>
        </p:nvSpPr>
        <p:spPr>
          <a:xfrm>
            <a:off x="333112" y="947805"/>
            <a:ext cx="8341656" cy="335711"/>
          </a:xfrm>
          <a:prstGeom prst="rect">
            <a:avLst/>
          </a:prstGeom>
          <a:solidFill>
            <a:srgbClr val="16205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Georgia"/>
              <a:buNone/>
            </a:pPr>
            <a:r>
              <a:rPr b="0" i="0" lang="en-US" sz="1800" u="none" cap="none" strike="noStrike">
                <a:solidFill>
                  <a:srgbClr val="D8D8D8"/>
                </a:solidFill>
                <a:latin typeface="Georgia"/>
                <a:ea typeface="Georgia"/>
                <a:cs typeface="Georgia"/>
                <a:sym typeface="Georgia"/>
              </a:rPr>
              <a:t>City combined statistical populations, distances, and number of airline flights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900"/>
              </a:spcBef>
              <a:spcAft>
                <a:spcPts val="0"/>
              </a:spcAft>
              <a:buClr>
                <a:schemeClr val="dk1"/>
              </a:buClr>
              <a:buSzPts val="2000"/>
              <a:buFont typeface="Georgia"/>
              <a:buNone/>
            </a:pPr>
            <a:r>
              <a:t/>
            </a:r>
            <a:endParaRPr b="0" i="0" sz="2000" u="none" cap="none" strike="noStrike">
              <a:solidFill>
                <a:schemeClr val="dk1"/>
              </a:solidFill>
              <a:latin typeface="Georgia"/>
              <a:ea typeface="Georgia"/>
              <a:cs typeface="Georgia"/>
              <a:sym typeface="Georgia"/>
            </a:endParaRPr>
          </a:p>
        </p:txBody>
      </p:sp>
      <p:sp>
        <p:nvSpPr>
          <p:cNvPr id="887" name="Google Shape;887;p60"/>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sp>
        <p:nvSpPr>
          <p:cNvPr id="892" name="Google Shape;892;p61"/>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High Speed Train - Exhibit 2</a:t>
            </a:r>
            <a:endParaRPr/>
          </a:p>
        </p:txBody>
      </p:sp>
      <p:sp>
        <p:nvSpPr>
          <p:cNvPr id="893" name="Google Shape;893;p61"/>
          <p:cNvSpPr txBox="1"/>
          <p:nvPr>
            <p:ph idx="2" type="body"/>
          </p:nvPr>
        </p:nvSpPr>
        <p:spPr>
          <a:xfrm>
            <a:off x="503321" y="1022905"/>
            <a:ext cx="8126332"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Initial Investment Cost: Costs per Mile (Million $USD)</a:t>
            </a:r>
            <a:endParaRPr/>
          </a:p>
        </p:txBody>
      </p:sp>
      <p:sp>
        <p:nvSpPr>
          <p:cNvPr id="894" name="Google Shape;894;p61"/>
          <p:cNvSpPr/>
          <p:nvPr/>
        </p:nvSpPr>
        <p:spPr>
          <a:xfrm>
            <a:off x="442994" y="3160700"/>
            <a:ext cx="6736359" cy="92278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accent5"/>
                </a:solidFill>
                <a:latin typeface="Georgia"/>
                <a:ea typeface="Georgia"/>
                <a:cs typeface="Georgia"/>
                <a:sym typeface="Georgia"/>
              </a:rPr>
              <a:t>Stations cost $1,500M per line</a:t>
            </a:r>
            <a:endParaRPr b="0" i="0" sz="1400" u="none" cap="none" strike="noStrike">
              <a:solidFill>
                <a:srgbClr val="000000"/>
              </a:solidFill>
              <a:latin typeface="Arial"/>
              <a:ea typeface="Arial"/>
              <a:cs typeface="Arial"/>
              <a:sym typeface="Arial"/>
            </a:endParaRPr>
          </a:p>
        </p:txBody>
      </p:sp>
      <p:sp>
        <p:nvSpPr>
          <p:cNvPr id="895" name="Google Shape;895;p61"/>
          <p:cNvSpPr/>
          <p:nvPr/>
        </p:nvSpPr>
        <p:spPr>
          <a:xfrm>
            <a:off x="778858" y="5450133"/>
            <a:ext cx="6736359" cy="922789"/>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accent5"/>
                </a:solidFill>
                <a:latin typeface="Georgia"/>
                <a:ea typeface="Georgia"/>
                <a:cs typeface="Georgia"/>
                <a:sym typeface="Georgia"/>
              </a:rPr>
              <a:t>*Right of Way is the legal right, established by usage or grant, to pass along a specific route through grounds or property belonging to another</a:t>
            </a:r>
            <a:endParaRPr b="0" i="0" sz="1400" u="none" cap="none" strike="noStrike">
              <a:solidFill>
                <a:srgbClr val="000000"/>
              </a:solidFill>
              <a:latin typeface="Arial"/>
              <a:ea typeface="Arial"/>
              <a:cs typeface="Arial"/>
              <a:sym typeface="Arial"/>
            </a:endParaRPr>
          </a:p>
        </p:txBody>
      </p:sp>
      <p:pic>
        <p:nvPicPr>
          <p:cNvPr id="896" name="Google Shape;896;p61"/>
          <p:cNvPicPr preferRelativeResize="0"/>
          <p:nvPr>
            <p:ph idx="1" type="body"/>
          </p:nvPr>
        </p:nvPicPr>
        <p:blipFill rotWithShape="1">
          <a:blip r:embed="rId3">
            <a:alphaModFix/>
          </a:blip>
          <a:srcRect b="0" l="0" r="0" t="0"/>
          <a:stretch/>
        </p:blipFill>
        <p:spPr>
          <a:xfrm>
            <a:off x="442994" y="1459642"/>
            <a:ext cx="5869407" cy="1687400"/>
          </a:xfrm>
          <a:prstGeom prst="rect">
            <a:avLst/>
          </a:prstGeom>
          <a:solidFill>
            <a:schemeClr val="lt1"/>
          </a:solidFill>
          <a:ln cap="flat" cmpd="sng" w="38100">
            <a:solidFill>
              <a:schemeClr val="dk1"/>
            </a:solidFill>
            <a:prstDash val="solid"/>
            <a:round/>
            <a:headEnd len="sm" w="sm" type="none"/>
            <a:tailEnd len="sm" w="sm" type="none"/>
          </a:ln>
        </p:spPr>
      </p:pic>
      <p:sp>
        <p:nvSpPr>
          <p:cNvPr id="897" name="Google Shape;897;p61"/>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p62"/>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High Speed Train - Exhibit 3</a:t>
            </a:r>
            <a:endParaRPr/>
          </a:p>
        </p:txBody>
      </p:sp>
      <p:sp>
        <p:nvSpPr>
          <p:cNvPr id="903" name="Google Shape;903;p62"/>
          <p:cNvSpPr txBox="1"/>
          <p:nvPr>
            <p:ph idx="2" type="body"/>
          </p:nvPr>
        </p:nvSpPr>
        <p:spPr>
          <a:xfrm>
            <a:off x="503321" y="1022905"/>
            <a:ext cx="8126332"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Operational Cost Estimates: Cost per train</a:t>
            </a:r>
            <a:endParaRPr/>
          </a:p>
        </p:txBody>
      </p:sp>
      <p:pic>
        <p:nvPicPr>
          <p:cNvPr id="904" name="Google Shape;904;p62"/>
          <p:cNvPicPr preferRelativeResize="0"/>
          <p:nvPr>
            <p:ph idx="1" type="body"/>
          </p:nvPr>
        </p:nvPicPr>
        <p:blipFill rotWithShape="1">
          <a:blip r:embed="rId3">
            <a:alphaModFix/>
          </a:blip>
          <a:srcRect b="0" l="0" r="0" t="0"/>
          <a:stretch/>
        </p:blipFill>
        <p:spPr>
          <a:xfrm>
            <a:off x="411069" y="1381926"/>
            <a:ext cx="5010469" cy="1449067"/>
          </a:xfrm>
          <a:prstGeom prst="rect">
            <a:avLst/>
          </a:prstGeom>
          <a:solidFill>
            <a:schemeClr val="lt1"/>
          </a:solidFill>
          <a:ln cap="flat" cmpd="sng" w="38100">
            <a:solidFill>
              <a:schemeClr val="dk1"/>
            </a:solidFill>
            <a:prstDash val="solid"/>
            <a:round/>
            <a:headEnd len="sm" w="sm" type="none"/>
            <a:tailEnd len="sm" w="sm" type="none"/>
          </a:ln>
        </p:spPr>
      </p:pic>
      <p:sp>
        <p:nvSpPr>
          <p:cNvPr id="905" name="Google Shape;905;p62"/>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9" name="Shape 909"/>
        <p:cNvGrpSpPr/>
        <p:nvPr/>
      </p:nvGrpSpPr>
      <p:grpSpPr>
        <a:xfrm>
          <a:off x="0" y="0"/>
          <a:ext cx="0" cy="0"/>
          <a:chOff x="0" y="0"/>
          <a:chExt cx="0" cy="0"/>
        </a:xfrm>
      </p:grpSpPr>
      <p:sp>
        <p:nvSpPr>
          <p:cNvPr id="910" name="Google Shape;910;p63"/>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High Speed Train - Exhibit 4: Train diagram</a:t>
            </a:r>
            <a:endParaRPr/>
          </a:p>
        </p:txBody>
      </p:sp>
      <p:pic>
        <p:nvPicPr>
          <p:cNvPr id="911" name="Google Shape;911;p63"/>
          <p:cNvPicPr preferRelativeResize="0"/>
          <p:nvPr/>
        </p:nvPicPr>
        <p:blipFill rotWithShape="1">
          <a:blip r:embed="rId3">
            <a:alphaModFix/>
          </a:blip>
          <a:srcRect b="0" l="0" r="0" t="0"/>
          <a:stretch/>
        </p:blipFill>
        <p:spPr>
          <a:xfrm>
            <a:off x="141416" y="1249478"/>
            <a:ext cx="8798046" cy="3835045"/>
          </a:xfrm>
          <a:prstGeom prst="rect">
            <a:avLst/>
          </a:prstGeom>
          <a:noFill/>
          <a:ln>
            <a:noFill/>
          </a:ln>
        </p:spPr>
      </p:pic>
      <p:sp>
        <p:nvSpPr>
          <p:cNvPr id="912" name="Google Shape;912;p63"/>
          <p:cNvSpPr/>
          <p:nvPr/>
        </p:nvSpPr>
        <p:spPr>
          <a:xfrm>
            <a:off x="1023457" y="5084523"/>
            <a:ext cx="6736359" cy="92278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accent5"/>
                </a:solidFill>
                <a:latin typeface="Georgia"/>
                <a:ea typeface="Georgia"/>
                <a:cs typeface="Georgia"/>
                <a:sym typeface="Georgia"/>
              </a:rPr>
              <a:t>A standard train has 1 First Class car and 5 Economy Class cars</a:t>
            </a:r>
            <a:endParaRPr b="0" i="0" sz="1400" u="none" cap="none" strike="noStrike">
              <a:solidFill>
                <a:srgbClr val="000000"/>
              </a:solidFill>
              <a:latin typeface="Arial"/>
              <a:ea typeface="Arial"/>
              <a:cs typeface="Arial"/>
              <a:sym typeface="Arial"/>
            </a:endParaRPr>
          </a:p>
        </p:txBody>
      </p:sp>
      <p:sp>
        <p:nvSpPr>
          <p:cNvPr id="913" name="Google Shape;913;p63"/>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7" name="Shape 917"/>
        <p:cNvGrpSpPr/>
        <p:nvPr/>
      </p:nvGrpSpPr>
      <p:grpSpPr>
        <a:xfrm>
          <a:off x="0" y="0"/>
          <a:ext cx="0" cy="0"/>
          <a:chOff x="0" y="0"/>
          <a:chExt cx="0" cy="0"/>
        </a:xfrm>
      </p:grpSpPr>
      <p:sp>
        <p:nvSpPr>
          <p:cNvPr id="918" name="Google Shape;918;p64"/>
          <p:cNvSpPr txBox="1"/>
          <p:nvPr>
            <p:ph idx="1" type="body"/>
          </p:nvPr>
        </p:nvSpPr>
        <p:spPr>
          <a:xfrm>
            <a:off x="381001" y="1283366"/>
            <a:ext cx="8341656" cy="2182282"/>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Font typeface="Calibri"/>
              <a:buNone/>
            </a:pPr>
            <a:r>
              <a:rPr lang="en-US"/>
              <a:t>Your client is a provider of timeshare exchanges. Timeshares are an arrangement between multiples parties for joint ownership of a piece of property. Each party or owner has the right to use the property for a specific period of time during a specific period of the year. These owners can trade their ownership rights with others through exchanges. </a:t>
            </a:r>
            <a:endParaRPr/>
          </a:p>
          <a:p>
            <a:pPr indent="0" lvl="0" marL="0" rtl="0" algn="l">
              <a:lnSpc>
                <a:spcPct val="100000"/>
              </a:lnSpc>
              <a:spcBef>
                <a:spcPts val="300"/>
              </a:spcBef>
              <a:spcAft>
                <a:spcPts val="0"/>
              </a:spcAft>
              <a:buSzPts val="1400"/>
              <a:buFont typeface="Calibri"/>
              <a:buNone/>
            </a:pPr>
            <a:r>
              <a:rPr lang="en-US"/>
              <a:t> </a:t>
            </a:r>
            <a:endParaRPr/>
          </a:p>
          <a:p>
            <a:pPr indent="0" lvl="0" marL="0" rtl="0" algn="l">
              <a:lnSpc>
                <a:spcPct val="100000"/>
              </a:lnSpc>
              <a:spcBef>
                <a:spcPts val="300"/>
              </a:spcBef>
              <a:spcAft>
                <a:spcPts val="0"/>
              </a:spcAft>
              <a:buSzPts val="1400"/>
              <a:buFont typeface="Calibri"/>
              <a:buNone/>
            </a:pPr>
            <a:r>
              <a:rPr lang="en-US"/>
              <a:t>The number of exchanges conducted through your client's exchange has been decreasing. You client wants to know: </a:t>
            </a:r>
            <a:endParaRPr/>
          </a:p>
          <a:p>
            <a:pPr indent="0" lvl="0" marL="0" rtl="0" algn="l">
              <a:lnSpc>
                <a:spcPct val="100000"/>
              </a:lnSpc>
              <a:spcBef>
                <a:spcPts val="300"/>
              </a:spcBef>
              <a:spcAft>
                <a:spcPts val="0"/>
              </a:spcAft>
              <a:buSzPts val="1400"/>
              <a:buFont typeface="Calibri"/>
              <a:buNone/>
            </a:pPr>
            <a:r>
              <a:rPr lang="en-US"/>
              <a:t>1. What is causing this decrease in exchange quantity and </a:t>
            </a:r>
            <a:endParaRPr/>
          </a:p>
          <a:p>
            <a:pPr indent="0" lvl="0" marL="0" rtl="0" algn="l">
              <a:lnSpc>
                <a:spcPct val="100000"/>
              </a:lnSpc>
              <a:spcBef>
                <a:spcPts val="300"/>
              </a:spcBef>
              <a:spcAft>
                <a:spcPts val="0"/>
              </a:spcAft>
              <a:buSzPts val="1400"/>
              <a:buFont typeface="Calibri"/>
              <a:buNone/>
            </a:pPr>
            <a:r>
              <a:rPr lang="en-US"/>
              <a:t>2. What they can do to increase topline revenue?</a:t>
            </a:r>
            <a:endParaRPr/>
          </a:p>
        </p:txBody>
      </p:sp>
      <p:sp>
        <p:nvSpPr>
          <p:cNvPr id="919" name="Google Shape;919;p64"/>
          <p:cNvSpPr txBox="1"/>
          <p:nvPr>
            <p:ph idx="2" type="body"/>
          </p:nvPr>
        </p:nvSpPr>
        <p:spPr>
          <a:xfrm>
            <a:off x="368302" y="3910260"/>
            <a:ext cx="4107445" cy="2367609"/>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1" marL="1588" rtl="0" algn="l">
              <a:lnSpc>
                <a:spcPct val="100000"/>
              </a:lnSpc>
              <a:spcBef>
                <a:spcPts val="0"/>
              </a:spcBef>
              <a:spcAft>
                <a:spcPts val="0"/>
              </a:spcAft>
              <a:buSzPts val="1400"/>
              <a:buNone/>
            </a:pPr>
            <a:r>
              <a:rPr b="1" lang="en-US"/>
              <a:t>Difficulty: </a:t>
            </a:r>
            <a:r>
              <a:rPr lang="en-US"/>
              <a:t> Medium</a:t>
            </a:r>
            <a:endParaRPr b="1"/>
          </a:p>
          <a:p>
            <a:pPr indent="0" lvl="1" marL="1588" rtl="0" algn="l">
              <a:lnSpc>
                <a:spcPct val="100000"/>
              </a:lnSpc>
              <a:spcBef>
                <a:spcPts val="300"/>
              </a:spcBef>
              <a:spcAft>
                <a:spcPts val="0"/>
              </a:spcAft>
              <a:buSzPts val="1400"/>
              <a:buNone/>
            </a:pPr>
            <a:r>
              <a:t/>
            </a:r>
            <a:endParaRPr/>
          </a:p>
          <a:p>
            <a:pPr indent="0" lvl="1" marL="1588" rtl="0" algn="l">
              <a:lnSpc>
                <a:spcPct val="100000"/>
              </a:lnSpc>
              <a:spcBef>
                <a:spcPts val="300"/>
              </a:spcBef>
              <a:spcAft>
                <a:spcPts val="0"/>
              </a:spcAft>
              <a:buSzPts val="1400"/>
              <a:buNone/>
            </a:pPr>
            <a:r>
              <a:rPr b="1" lang="en-US"/>
              <a:t>Case Format: </a:t>
            </a:r>
            <a:r>
              <a:rPr lang="en-US"/>
              <a:t>Growth</a:t>
            </a:r>
            <a:endParaRPr/>
          </a:p>
          <a:p>
            <a:pPr indent="0" lvl="1" marL="1588" rtl="0" algn="l">
              <a:lnSpc>
                <a:spcPct val="100000"/>
              </a:lnSpc>
              <a:spcBef>
                <a:spcPts val="300"/>
              </a:spcBef>
              <a:spcAft>
                <a:spcPts val="0"/>
              </a:spcAft>
              <a:buSzPts val="1400"/>
              <a:buNone/>
            </a:pPr>
            <a:r>
              <a:t/>
            </a:r>
            <a:endParaRPr/>
          </a:p>
          <a:p>
            <a:pPr indent="0" lvl="1" marL="1588" rtl="0" algn="l">
              <a:lnSpc>
                <a:spcPct val="100000"/>
              </a:lnSpc>
              <a:spcBef>
                <a:spcPts val="300"/>
              </a:spcBef>
              <a:spcAft>
                <a:spcPts val="0"/>
              </a:spcAft>
              <a:buSzPts val="1400"/>
              <a:buNone/>
            </a:pPr>
            <a:r>
              <a:rPr b="1" lang="en-US"/>
              <a:t>Concepts Being Tested: </a:t>
            </a:r>
            <a:r>
              <a:rPr lang="en-US"/>
              <a:t>New industry (Travel &amp; Tourism), Profitability/Revenue Growth, Problem diagnosis </a:t>
            </a:r>
            <a:endParaRPr/>
          </a:p>
        </p:txBody>
      </p:sp>
      <p:sp>
        <p:nvSpPr>
          <p:cNvPr id="920" name="Google Shape;920;p64"/>
          <p:cNvSpPr txBox="1"/>
          <p:nvPr>
            <p:ph idx="3" type="body"/>
          </p:nvPr>
        </p:nvSpPr>
        <p:spPr>
          <a:xfrm>
            <a:off x="4596063" y="3910260"/>
            <a:ext cx="4110955" cy="2367608"/>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Font typeface="Calibri"/>
              <a:buNone/>
            </a:pPr>
            <a:r>
              <a:rPr lang="en-US"/>
              <a:t>This case is testing 2 skills: can candidates digest information to identify trends and diagnose potential root causes of a problem; can candidates think outside the box to develop solutions for a nebulous problem. The former involves some quantitative analysis. The latter problem is largely a brainstorming exercise. </a:t>
            </a:r>
            <a:endParaRPr/>
          </a:p>
          <a:p>
            <a:pPr indent="0" lvl="0" marL="0" rtl="0" algn="l">
              <a:lnSpc>
                <a:spcPct val="100000"/>
              </a:lnSpc>
              <a:spcBef>
                <a:spcPts val="300"/>
              </a:spcBef>
              <a:spcAft>
                <a:spcPts val="0"/>
              </a:spcAft>
              <a:buSzPts val="1400"/>
              <a:buFont typeface="Calibri"/>
              <a:buNone/>
            </a:pPr>
            <a:r>
              <a:t/>
            </a:r>
            <a:endParaRPr/>
          </a:p>
          <a:p>
            <a:pPr indent="0" lvl="0" marL="0" rtl="0" algn="l">
              <a:lnSpc>
                <a:spcPct val="100000"/>
              </a:lnSpc>
              <a:spcBef>
                <a:spcPts val="300"/>
              </a:spcBef>
              <a:spcAft>
                <a:spcPts val="0"/>
              </a:spcAft>
              <a:buSzPts val="1400"/>
              <a:buFont typeface="Calibri"/>
              <a:buNone/>
            </a:pPr>
            <a:r>
              <a:rPr lang="en-US"/>
              <a:t>If prompted, share the detail on how a timeshare works within the clarifying information</a:t>
            </a:r>
            <a:endParaRPr/>
          </a:p>
        </p:txBody>
      </p:sp>
      <p:sp>
        <p:nvSpPr>
          <p:cNvPr id="921" name="Google Shape;921;p64"/>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Timeshare Exchange Co.</a:t>
            </a:r>
            <a:endParaRPr/>
          </a:p>
        </p:txBody>
      </p:sp>
      <p:sp>
        <p:nvSpPr>
          <p:cNvPr id="922" name="Google Shape;922;p64"/>
          <p:cNvSpPr txBox="1"/>
          <p:nvPr>
            <p:ph idx="4" type="body"/>
          </p:nvPr>
        </p:nvSpPr>
        <p:spPr>
          <a:xfrm>
            <a:off x="465670" y="996952"/>
            <a:ext cx="8209098"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Case Prompt</a:t>
            </a:r>
            <a:endParaRPr/>
          </a:p>
        </p:txBody>
      </p:sp>
      <p:sp>
        <p:nvSpPr>
          <p:cNvPr id="923" name="Google Shape;923;p64"/>
          <p:cNvSpPr txBox="1"/>
          <p:nvPr>
            <p:ph idx="5" type="body"/>
          </p:nvPr>
        </p:nvSpPr>
        <p:spPr>
          <a:xfrm>
            <a:off x="465670" y="3621892"/>
            <a:ext cx="4010077"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Case Intro</a:t>
            </a:r>
            <a:endParaRPr/>
          </a:p>
        </p:txBody>
      </p:sp>
      <p:sp>
        <p:nvSpPr>
          <p:cNvPr id="924" name="Google Shape;924;p64"/>
          <p:cNvSpPr txBox="1"/>
          <p:nvPr>
            <p:ph idx="6" type="body"/>
          </p:nvPr>
        </p:nvSpPr>
        <p:spPr>
          <a:xfrm>
            <a:off x="4664691" y="3621892"/>
            <a:ext cx="4010077"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Interview Guidance</a:t>
            </a:r>
            <a:endParaRPr/>
          </a:p>
        </p:txBody>
      </p:sp>
      <p:sp>
        <p:nvSpPr>
          <p:cNvPr id="925" name="Google Shape;925;p64"/>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9" name="Shape 929"/>
        <p:cNvGrpSpPr/>
        <p:nvPr/>
      </p:nvGrpSpPr>
      <p:grpSpPr>
        <a:xfrm>
          <a:off x="0" y="0"/>
          <a:ext cx="0" cy="0"/>
          <a:chOff x="0" y="0"/>
          <a:chExt cx="0" cy="0"/>
        </a:xfrm>
      </p:grpSpPr>
      <p:sp>
        <p:nvSpPr>
          <p:cNvPr id="930" name="Google Shape;930;p65"/>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Timeshare Exchange Co.</a:t>
            </a:r>
            <a:endParaRPr/>
          </a:p>
        </p:txBody>
      </p:sp>
      <p:sp>
        <p:nvSpPr>
          <p:cNvPr id="931" name="Google Shape;931;p65"/>
          <p:cNvSpPr txBox="1"/>
          <p:nvPr>
            <p:ph idx="1" type="body"/>
          </p:nvPr>
        </p:nvSpPr>
        <p:spPr>
          <a:xfrm>
            <a:off x="6046770" y="1353373"/>
            <a:ext cx="2687781" cy="4924496"/>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Font typeface="Calibri"/>
              <a:buNone/>
            </a:pPr>
            <a:r>
              <a:rPr lang="en-US"/>
              <a:t>Goals: Diagnose &amp; propose solutions. </a:t>
            </a:r>
            <a:endParaRPr/>
          </a:p>
          <a:p>
            <a:pPr indent="0" lvl="0" marL="0" rtl="0" algn="l">
              <a:lnSpc>
                <a:spcPct val="100000"/>
              </a:lnSpc>
              <a:spcBef>
                <a:spcPts val="300"/>
              </a:spcBef>
              <a:spcAft>
                <a:spcPts val="0"/>
              </a:spcAft>
              <a:buSzPts val="1400"/>
              <a:buFont typeface="Calibri"/>
              <a:buNone/>
            </a:pPr>
            <a:r>
              <a:rPr lang="en-US"/>
              <a:t>Relevant buckets include: </a:t>
            </a:r>
            <a:endParaRPr/>
          </a:p>
          <a:p>
            <a:pPr indent="0" lvl="0" marL="0" rtl="0" algn="l">
              <a:lnSpc>
                <a:spcPct val="100000"/>
              </a:lnSpc>
              <a:spcBef>
                <a:spcPts val="300"/>
              </a:spcBef>
              <a:spcAft>
                <a:spcPts val="0"/>
              </a:spcAft>
              <a:buSzPts val="1400"/>
              <a:buFont typeface="Calibri"/>
              <a:buNone/>
            </a:pPr>
            <a:r>
              <a:t/>
            </a:r>
            <a:endParaRPr/>
          </a:p>
          <a:p>
            <a:pPr indent="0" lvl="0" marL="0" rtl="0" algn="l">
              <a:lnSpc>
                <a:spcPct val="100000"/>
              </a:lnSpc>
              <a:spcBef>
                <a:spcPts val="300"/>
              </a:spcBef>
              <a:spcAft>
                <a:spcPts val="0"/>
              </a:spcAft>
              <a:buSzPts val="1400"/>
              <a:buFont typeface="Calibri"/>
              <a:buNone/>
            </a:pPr>
            <a:r>
              <a:rPr b="1" lang="en-US"/>
              <a:t>Diagnose through exploration of:</a:t>
            </a:r>
            <a:endParaRPr/>
          </a:p>
          <a:p>
            <a:pPr indent="-274313" lvl="1" marL="274313" rtl="0" algn="l">
              <a:lnSpc>
                <a:spcPct val="100000"/>
              </a:lnSpc>
              <a:spcBef>
                <a:spcPts val="300"/>
              </a:spcBef>
              <a:spcAft>
                <a:spcPts val="0"/>
              </a:spcAft>
              <a:buSzPts val="1400"/>
              <a:buChar char="•"/>
            </a:pPr>
            <a:r>
              <a:rPr lang="en-US"/>
              <a:t>Current revenue generation patterns (Exhibit 1), provide upon request</a:t>
            </a:r>
            <a:endParaRPr/>
          </a:p>
          <a:p>
            <a:pPr indent="-274313" lvl="1" marL="274313" rtl="0" algn="l">
              <a:lnSpc>
                <a:spcPct val="100000"/>
              </a:lnSpc>
              <a:spcBef>
                <a:spcPts val="300"/>
              </a:spcBef>
              <a:spcAft>
                <a:spcPts val="0"/>
              </a:spcAft>
              <a:buSzPts val="1400"/>
              <a:buChar char="•"/>
            </a:pPr>
            <a:r>
              <a:rPr lang="en-US"/>
              <a:t>Industry trends or shifts - AirBnB etc. making need for timeshares obsolete </a:t>
            </a:r>
            <a:endParaRPr/>
          </a:p>
          <a:p>
            <a:pPr indent="-274313" lvl="1" marL="274313" rtl="0" algn="l">
              <a:lnSpc>
                <a:spcPct val="100000"/>
              </a:lnSpc>
              <a:spcBef>
                <a:spcPts val="300"/>
              </a:spcBef>
              <a:spcAft>
                <a:spcPts val="0"/>
              </a:spcAft>
              <a:buSzPts val="1400"/>
              <a:buChar char="•"/>
            </a:pPr>
            <a:r>
              <a:rPr lang="en-US"/>
              <a:t>Customer segments/spending patterns </a:t>
            </a:r>
            <a:endParaRPr/>
          </a:p>
          <a:p>
            <a:pPr indent="0" lvl="0" marL="0" rtl="0" algn="l">
              <a:lnSpc>
                <a:spcPct val="100000"/>
              </a:lnSpc>
              <a:spcBef>
                <a:spcPts val="300"/>
              </a:spcBef>
              <a:spcAft>
                <a:spcPts val="0"/>
              </a:spcAft>
              <a:buSzPts val="1400"/>
              <a:buFont typeface="Calibri"/>
              <a:buNone/>
            </a:pPr>
            <a:r>
              <a:t/>
            </a:r>
            <a:endParaRPr/>
          </a:p>
          <a:p>
            <a:pPr indent="0" lvl="0" marL="0" rtl="0" algn="l">
              <a:lnSpc>
                <a:spcPct val="100000"/>
              </a:lnSpc>
              <a:spcBef>
                <a:spcPts val="300"/>
              </a:spcBef>
              <a:spcAft>
                <a:spcPts val="0"/>
              </a:spcAft>
              <a:buSzPts val="1400"/>
              <a:buFont typeface="Calibri"/>
              <a:buNone/>
            </a:pPr>
            <a:r>
              <a:rPr lang="en-US"/>
              <a:t>Growth options: </a:t>
            </a:r>
            <a:endParaRPr/>
          </a:p>
          <a:p>
            <a:pPr indent="0" lvl="0" marL="0" rtl="0" algn="l">
              <a:lnSpc>
                <a:spcPct val="100000"/>
              </a:lnSpc>
              <a:spcBef>
                <a:spcPts val="300"/>
              </a:spcBef>
              <a:spcAft>
                <a:spcPts val="0"/>
              </a:spcAft>
              <a:buSzPts val="1400"/>
              <a:buFont typeface="Calibri"/>
              <a:buNone/>
            </a:pPr>
            <a:r>
              <a:rPr lang="en-US"/>
              <a:t>-      Organic options: </a:t>
            </a:r>
            <a:endParaRPr/>
          </a:p>
          <a:p>
            <a:pPr indent="-11437" lvl="0" marL="11437" rtl="0" algn="l">
              <a:lnSpc>
                <a:spcPct val="100000"/>
              </a:lnSpc>
              <a:spcBef>
                <a:spcPts val="300"/>
              </a:spcBef>
              <a:spcAft>
                <a:spcPts val="0"/>
              </a:spcAft>
              <a:buSzPts val="1400"/>
              <a:buFont typeface="Calibri"/>
              <a:buChar char="-"/>
            </a:pPr>
            <a:r>
              <a:rPr lang="en-US"/>
              <a:t>Inorganic options: </a:t>
            </a:r>
            <a:endParaRPr/>
          </a:p>
          <a:p>
            <a:pPr indent="-11437" lvl="0" marL="11437" rtl="0" algn="l">
              <a:lnSpc>
                <a:spcPct val="100000"/>
              </a:lnSpc>
              <a:spcBef>
                <a:spcPts val="300"/>
              </a:spcBef>
              <a:spcAft>
                <a:spcPts val="0"/>
              </a:spcAft>
              <a:buSzPts val="1400"/>
              <a:buFont typeface="Calibri"/>
              <a:buChar char="-"/>
            </a:pPr>
            <a:r>
              <a:rPr lang="en-US"/>
              <a:t>JV or acquisition of competitor </a:t>
            </a:r>
            <a:endParaRPr/>
          </a:p>
        </p:txBody>
      </p:sp>
      <p:sp>
        <p:nvSpPr>
          <p:cNvPr id="932" name="Google Shape;932;p65"/>
          <p:cNvSpPr txBox="1"/>
          <p:nvPr>
            <p:ph idx="2" type="body"/>
          </p:nvPr>
        </p:nvSpPr>
        <p:spPr>
          <a:xfrm>
            <a:off x="375872" y="1353373"/>
            <a:ext cx="5540655" cy="4924496"/>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Font typeface="Calibri"/>
              <a:buNone/>
            </a:pPr>
            <a:r>
              <a:rPr b="1" i="1" lang="en-US"/>
              <a:t>Detail on how exchanges work:</a:t>
            </a:r>
            <a:r>
              <a:rPr b="1" lang="en-US"/>
              <a:t> </a:t>
            </a:r>
            <a:r>
              <a:rPr lang="en-US"/>
              <a:t>Say you own 2 weeks in early March at a Disney Resort in Orlando. You can go 'deposit' your ownership right for 1 year into an exchange. Our client, the exchange company, will assign a value to your offering based on the popularity of the property &amp; timeframe of ownership. You can then exchange your rights for someone else's right of equal or lesser value, say 2 weeks in November in Marriott Resort in Hawaii. The client will charge a fee to each owner for each exchange. However, if the owner wants to exchange from a Disney property in Orlando to a Disney property in Los Angeles (so inside the Disney network), they don’t have to go through the client and therefore don't have to pay an exchange fee. </a:t>
            </a:r>
            <a:endParaRPr/>
          </a:p>
          <a:p>
            <a:pPr indent="0" lvl="0" marL="0" rtl="0" algn="l">
              <a:lnSpc>
                <a:spcPct val="100000"/>
              </a:lnSpc>
              <a:spcBef>
                <a:spcPts val="300"/>
              </a:spcBef>
              <a:spcAft>
                <a:spcPts val="0"/>
              </a:spcAft>
              <a:buSzPts val="1400"/>
              <a:buFont typeface="Calibri"/>
              <a:buNone/>
            </a:pPr>
            <a:r>
              <a:rPr lang="en-US"/>
              <a:t> </a:t>
            </a:r>
            <a:endParaRPr b="1"/>
          </a:p>
          <a:p>
            <a:pPr indent="0" lvl="0" marL="0" rtl="0" algn="l">
              <a:lnSpc>
                <a:spcPct val="100000"/>
              </a:lnSpc>
              <a:spcBef>
                <a:spcPts val="300"/>
              </a:spcBef>
              <a:spcAft>
                <a:spcPts val="0"/>
              </a:spcAft>
              <a:buSzPts val="1400"/>
              <a:buFont typeface="Calibri"/>
              <a:buNone/>
            </a:pPr>
            <a:r>
              <a:rPr b="1" i="1" lang="en-US"/>
              <a:t>How clients generate revenue:</a:t>
            </a:r>
            <a:r>
              <a:rPr b="1" lang="en-US"/>
              <a:t> </a:t>
            </a:r>
            <a:r>
              <a:rPr lang="en-US"/>
              <a:t>Yearly membership fee and exchange fees. Our client does not own/sell actual timeshares or real estate - they only manage exchanges.  </a:t>
            </a:r>
            <a:endParaRPr/>
          </a:p>
          <a:p>
            <a:pPr indent="0" lvl="0" marL="0" rtl="0" algn="l">
              <a:lnSpc>
                <a:spcPct val="100000"/>
              </a:lnSpc>
              <a:spcBef>
                <a:spcPts val="300"/>
              </a:spcBef>
              <a:spcAft>
                <a:spcPts val="0"/>
              </a:spcAft>
              <a:buSzPts val="1400"/>
              <a:buFont typeface="Calibri"/>
              <a:buNone/>
            </a:pPr>
            <a:r>
              <a:rPr lang="en-US"/>
              <a:t> </a:t>
            </a:r>
            <a:endParaRPr/>
          </a:p>
          <a:p>
            <a:pPr indent="0" lvl="0" marL="0" rtl="0" algn="l">
              <a:lnSpc>
                <a:spcPct val="100000"/>
              </a:lnSpc>
              <a:spcBef>
                <a:spcPts val="300"/>
              </a:spcBef>
              <a:spcAft>
                <a:spcPts val="0"/>
              </a:spcAft>
              <a:buSzPts val="1400"/>
              <a:buFont typeface="Calibri"/>
              <a:buNone/>
            </a:pPr>
            <a:r>
              <a:rPr b="1" i="1" lang="en-US"/>
              <a:t>Customers:</a:t>
            </a:r>
            <a:r>
              <a:rPr b="1" lang="en-US"/>
              <a:t> </a:t>
            </a:r>
            <a:r>
              <a:rPr lang="en-US"/>
              <a:t>Individual timeshare owners are the customers, however they often have affiliations to “clubs” or timeshare providers (generally large hotel chains or resorts) which also allow for exchanges within their internal club network.</a:t>
            </a:r>
            <a:endParaRPr/>
          </a:p>
          <a:p>
            <a:pPr indent="0" lvl="0" marL="0" rtl="0" algn="l">
              <a:lnSpc>
                <a:spcPct val="100000"/>
              </a:lnSpc>
              <a:spcBef>
                <a:spcPts val="300"/>
              </a:spcBef>
              <a:spcAft>
                <a:spcPts val="0"/>
              </a:spcAft>
              <a:buSzPts val="1400"/>
              <a:buFont typeface="Calibri"/>
              <a:buNone/>
            </a:pPr>
            <a:r>
              <a:t/>
            </a:r>
            <a:endParaRPr/>
          </a:p>
        </p:txBody>
      </p:sp>
      <p:sp>
        <p:nvSpPr>
          <p:cNvPr id="933" name="Google Shape;933;p65"/>
          <p:cNvSpPr txBox="1"/>
          <p:nvPr>
            <p:ph idx="3" type="body"/>
          </p:nvPr>
        </p:nvSpPr>
        <p:spPr>
          <a:xfrm>
            <a:off x="439818" y="1084638"/>
            <a:ext cx="5412762" cy="277497"/>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Clarifying Information</a:t>
            </a:r>
            <a:endParaRPr/>
          </a:p>
        </p:txBody>
      </p:sp>
      <p:sp>
        <p:nvSpPr>
          <p:cNvPr id="934" name="Google Shape;934;p65"/>
          <p:cNvSpPr txBox="1"/>
          <p:nvPr>
            <p:ph idx="4" type="body"/>
          </p:nvPr>
        </p:nvSpPr>
        <p:spPr>
          <a:xfrm>
            <a:off x="6135406" y="1084638"/>
            <a:ext cx="2599145" cy="277497"/>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Guide to Handouts</a:t>
            </a:r>
            <a:endParaRPr/>
          </a:p>
        </p:txBody>
      </p:sp>
      <p:sp>
        <p:nvSpPr>
          <p:cNvPr id="935" name="Google Shape;935;p65"/>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9" name="Shape 939"/>
        <p:cNvGrpSpPr/>
        <p:nvPr/>
      </p:nvGrpSpPr>
      <p:grpSpPr>
        <a:xfrm>
          <a:off x="0" y="0"/>
          <a:ext cx="0" cy="0"/>
          <a:chOff x="0" y="0"/>
          <a:chExt cx="0" cy="0"/>
        </a:xfrm>
      </p:grpSpPr>
      <p:sp>
        <p:nvSpPr>
          <p:cNvPr id="940" name="Google Shape;940;p66"/>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Timeshare Exchange Co. – Exhibit 1</a:t>
            </a:r>
            <a:endParaRPr/>
          </a:p>
        </p:txBody>
      </p:sp>
      <p:graphicFrame>
        <p:nvGraphicFramePr>
          <p:cNvPr id="941" name="Google Shape;941;p66"/>
          <p:cNvGraphicFramePr/>
          <p:nvPr/>
        </p:nvGraphicFramePr>
        <p:xfrm>
          <a:off x="2307899" y="1550722"/>
          <a:ext cx="3000000" cy="3000000"/>
        </p:xfrm>
        <a:graphic>
          <a:graphicData uri="http://schemas.openxmlformats.org/drawingml/2006/table">
            <a:tbl>
              <a:tblPr firstRow="1">
                <a:noFill/>
                <a:tableStyleId>{C1FB10B7-FF90-4F46-8F30-8EB883CFDCC7}</a:tableStyleId>
              </a:tblPr>
              <a:tblGrid>
                <a:gridCol w="1213100"/>
                <a:gridCol w="1649050"/>
                <a:gridCol w="1794375"/>
              </a:tblGrid>
              <a:tr h="827325">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t>Year</a:t>
                      </a:r>
                      <a:endParaRPr b="1" i="0" sz="2000" u="none" cap="none" strike="noStrike">
                        <a:solidFill>
                          <a:srgbClr val="000000"/>
                        </a:solidFill>
                        <a:latin typeface="Calibri"/>
                        <a:ea typeface="Calibri"/>
                        <a:cs typeface="Calibri"/>
                        <a:sym typeface="Calibri"/>
                      </a:endParaRPr>
                    </a:p>
                  </a:txBody>
                  <a:tcPr marT="9525" marB="0" marR="9525" marL="9525" anchor="b">
                    <a:lnL cap="flat" cmpd="sng" w="38100">
                      <a:solidFill>
                        <a:schemeClr val="dk1"/>
                      </a:solidFill>
                      <a:prstDash val="solid"/>
                      <a:round/>
                      <a:headEnd len="sm" w="sm" type="none"/>
                      <a:tailEnd len="sm" w="sm" type="none"/>
                    </a:lnL>
                    <a:lnT cap="flat" cmpd="sng" w="38100">
                      <a:solidFill>
                        <a:schemeClr val="dk1"/>
                      </a:solidFill>
                      <a:prstDash val="solid"/>
                      <a:round/>
                      <a:headEnd len="sm" w="sm" type="none"/>
                      <a:tailEnd len="sm" w="sm" type="none"/>
                    </a:lnT>
                  </a:tcPr>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t>Number of members (K)</a:t>
                      </a:r>
                      <a:endParaRPr b="1" i="0" sz="2000" u="none" cap="none" strike="noStrike">
                        <a:solidFill>
                          <a:srgbClr val="000000"/>
                        </a:solidFill>
                        <a:latin typeface="Calibri"/>
                        <a:ea typeface="Calibri"/>
                        <a:cs typeface="Calibri"/>
                        <a:sym typeface="Calibri"/>
                      </a:endParaRPr>
                    </a:p>
                  </a:txBody>
                  <a:tcPr marT="9525" marB="0" marR="9525" marL="9525" anchor="b">
                    <a:lnT cap="flat" cmpd="sng" w="38100">
                      <a:solidFill>
                        <a:schemeClr val="dk1"/>
                      </a:solidFill>
                      <a:prstDash val="solid"/>
                      <a:round/>
                      <a:headEnd len="sm" w="sm" type="none"/>
                      <a:tailEnd len="sm" w="sm" type="none"/>
                    </a:lnT>
                  </a:tcPr>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t>Number of exchanges  (K)</a:t>
                      </a:r>
                      <a:endParaRPr b="1" i="0" sz="2000" u="none" cap="none" strike="noStrike">
                        <a:solidFill>
                          <a:srgbClr val="000000"/>
                        </a:solidFill>
                        <a:latin typeface="Calibri"/>
                        <a:ea typeface="Calibri"/>
                        <a:cs typeface="Calibri"/>
                        <a:sym typeface="Calibri"/>
                      </a:endParaRPr>
                    </a:p>
                  </a:txBody>
                  <a:tcPr marT="9525" marB="0" marR="9525" marL="9525" anchor="b">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tcPr>
                </a:tc>
              </a:tr>
              <a:tr h="359700">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t>2012</a:t>
                      </a:r>
                      <a:endParaRPr b="1" i="0" sz="2000" u="none" cap="none" strike="noStrike">
                        <a:solidFill>
                          <a:srgbClr val="000000"/>
                        </a:solidFill>
                        <a:latin typeface="Calibri"/>
                        <a:ea typeface="Calibri"/>
                        <a:cs typeface="Calibri"/>
                        <a:sym typeface="Calibri"/>
                      </a:endParaRPr>
                    </a:p>
                  </a:txBody>
                  <a:tcPr marT="9525" marB="0" marR="9525" marL="9525" anchor="b">
                    <a:lnL cap="flat" cmpd="sng" w="38100">
                      <a:solidFill>
                        <a:schemeClr val="dk1"/>
                      </a:solidFill>
                      <a:prstDash val="solid"/>
                      <a:round/>
                      <a:headEnd len="sm" w="sm" type="none"/>
                      <a:tailEnd len="sm" w="sm" type="none"/>
                    </a:lnL>
                  </a:tcPr>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t>700</a:t>
                      </a:r>
                      <a:endParaRPr b="1" i="0" sz="2000" u="none" cap="none" strike="noStrike">
                        <a:solidFill>
                          <a:srgbClr val="000000"/>
                        </a:solidFill>
                        <a:latin typeface="Calibri"/>
                        <a:ea typeface="Calibri"/>
                        <a:cs typeface="Calibri"/>
                        <a:sym typeface="Calibri"/>
                      </a:endParaRPr>
                    </a:p>
                  </a:txBody>
                  <a:tcPr marT="9525" marB="0" marR="9525" marL="9525" anchor="b"/>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t>630</a:t>
                      </a:r>
                      <a:endParaRPr b="1" i="0" sz="2000" u="none" cap="none" strike="noStrike">
                        <a:solidFill>
                          <a:srgbClr val="000000"/>
                        </a:solidFill>
                        <a:latin typeface="Calibri"/>
                        <a:ea typeface="Calibri"/>
                        <a:cs typeface="Calibri"/>
                        <a:sym typeface="Calibri"/>
                      </a:endParaRPr>
                    </a:p>
                  </a:txBody>
                  <a:tcPr marT="9525" marB="0" marR="9525" marL="9525" anchor="b">
                    <a:lnR cap="flat" cmpd="sng" w="38100">
                      <a:solidFill>
                        <a:schemeClr val="dk1"/>
                      </a:solidFill>
                      <a:prstDash val="solid"/>
                      <a:round/>
                      <a:headEnd len="sm" w="sm" type="none"/>
                      <a:tailEnd len="sm" w="sm" type="none"/>
                    </a:lnR>
                  </a:tcPr>
                </a:tc>
              </a:tr>
              <a:tr h="359700">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t>2013</a:t>
                      </a:r>
                      <a:endParaRPr b="1" i="0" sz="2000" u="none" cap="none" strike="noStrike">
                        <a:solidFill>
                          <a:srgbClr val="000000"/>
                        </a:solidFill>
                        <a:latin typeface="Calibri"/>
                        <a:ea typeface="Calibri"/>
                        <a:cs typeface="Calibri"/>
                        <a:sym typeface="Calibri"/>
                      </a:endParaRPr>
                    </a:p>
                  </a:txBody>
                  <a:tcPr marT="9525" marB="0" marR="9525" marL="9525" anchor="b">
                    <a:lnL cap="flat" cmpd="sng" w="38100">
                      <a:solidFill>
                        <a:schemeClr val="dk1"/>
                      </a:solidFill>
                      <a:prstDash val="solid"/>
                      <a:round/>
                      <a:headEnd len="sm" w="sm" type="none"/>
                      <a:tailEnd len="sm" w="sm" type="none"/>
                    </a:lnL>
                  </a:tcPr>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t>770</a:t>
                      </a:r>
                      <a:endParaRPr b="1" i="0" sz="2000" u="none" cap="none" strike="noStrike">
                        <a:solidFill>
                          <a:srgbClr val="000000"/>
                        </a:solidFill>
                        <a:latin typeface="Calibri"/>
                        <a:ea typeface="Calibri"/>
                        <a:cs typeface="Calibri"/>
                        <a:sym typeface="Calibri"/>
                      </a:endParaRPr>
                    </a:p>
                  </a:txBody>
                  <a:tcPr marT="9525" marB="0" marR="9525" marL="9525" anchor="b"/>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t>655</a:t>
                      </a:r>
                      <a:endParaRPr b="1" i="0" sz="2000" u="none" cap="none" strike="noStrike">
                        <a:solidFill>
                          <a:srgbClr val="000000"/>
                        </a:solidFill>
                        <a:latin typeface="Calibri"/>
                        <a:ea typeface="Calibri"/>
                        <a:cs typeface="Calibri"/>
                        <a:sym typeface="Calibri"/>
                      </a:endParaRPr>
                    </a:p>
                  </a:txBody>
                  <a:tcPr marT="9525" marB="0" marR="9525" marL="9525" anchor="b">
                    <a:lnR cap="flat" cmpd="sng" w="38100">
                      <a:solidFill>
                        <a:schemeClr val="dk1"/>
                      </a:solidFill>
                      <a:prstDash val="solid"/>
                      <a:round/>
                      <a:headEnd len="sm" w="sm" type="none"/>
                      <a:tailEnd len="sm" w="sm" type="none"/>
                    </a:lnR>
                  </a:tcPr>
                </a:tc>
              </a:tr>
              <a:tr h="359700">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t>2014</a:t>
                      </a:r>
                      <a:endParaRPr b="1" i="0" sz="2000" u="none" cap="none" strike="noStrike">
                        <a:solidFill>
                          <a:srgbClr val="000000"/>
                        </a:solidFill>
                        <a:latin typeface="Calibri"/>
                        <a:ea typeface="Calibri"/>
                        <a:cs typeface="Calibri"/>
                        <a:sym typeface="Calibri"/>
                      </a:endParaRPr>
                    </a:p>
                  </a:txBody>
                  <a:tcPr marT="9525" marB="0" marR="9525" marL="9525" anchor="b">
                    <a:lnL cap="flat" cmpd="sng" w="38100">
                      <a:solidFill>
                        <a:schemeClr val="dk1"/>
                      </a:solidFill>
                      <a:prstDash val="solid"/>
                      <a:round/>
                      <a:headEnd len="sm" w="sm" type="none"/>
                      <a:tailEnd len="sm" w="sm" type="none"/>
                    </a:lnL>
                  </a:tcPr>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t>847</a:t>
                      </a:r>
                      <a:endParaRPr b="1" i="0" sz="2000" u="none" cap="none" strike="noStrike">
                        <a:solidFill>
                          <a:srgbClr val="000000"/>
                        </a:solidFill>
                        <a:latin typeface="Calibri"/>
                        <a:ea typeface="Calibri"/>
                        <a:cs typeface="Calibri"/>
                        <a:sym typeface="Calibri"/>
                      </a:endParaRPr>
                    </a:p>
                  </a:txBody>
                  <a:tcPr marT="9525" marB="0" marR="9525" marL="9525" anchor="b"/>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t>678</a:t>
                      </a:r>
                      <a:endParaRPr b="1" i="0" sz="2000" u="none" cap="none" strike="noStrike">
                        <a:solidFill>
                          <a:srgbClr val="000000"/>
                        </a:solidFill>
                        <a:latin typeface="Calibri"/>
                        <a:ea typeface="Calibri"/>
                        <a:cs typeface="Calibri"/>
                        <a:sym typeface="Calibri"/>
                      </a:endParaRPr>
                    </a:p>
                  </a:txBody>
                  <a:tcPr marT="9525" marB="0" marR="9525" marL="9525" anchor="b">
                    <a:lnR cap="flat" cmpd="sng" w="38100">
                      <a:solidFill>
                        <a:schemeClr val="dk1"/>
                      </a:solidFill>
                      <a:prstDash val="solid"/>
                      <a:round/>
                      <a:headEnd len="sm" w="sm" type="none"/>
                      <a:tailEnd len="sm" w="sm" type="none"/>
                    </a:lnR>
                  </a:tcPr>
                </a:tc>
              </a:tr>
              <a:tr h="359700">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t>2015</a:t>
                      </a:r>
                      <a:endParaRPr b="1" i="0" sz="2000" u="none" cap="none" strike="noStrike">
                        <a:solidFill>
                          <a:srgbClr val="000000"/>
                        </a:solidFill>
                        <a:latin typeface="Calibri"/>
                        <a:ea typeface="Calibri"/>
                        <a:cs typeface="Calibri"/>
                        <a:sym typeface="Calibri"/>
                      </a:endParaRPr>
                    </a:p>
                  </a:txBody>
                  <a:tcPr marT="9525" marB="0" marR="9525" marL="9525" anchor="b">
                    <a:lnL cap="flat" cmpd="sng" w="38100">
                      <a:solidFill>
                        <a:schemeClr val="dk1"/>
                      </a:solidFill>
                      <a:prstDash val="solid"/>
                      <a:round/>
                      <a:headEnd len="sm" w="sm" type="none"/>
                      <a:tailEnd len="sm" w="sm" type="none"/>
                    </a:lnL>
                  </a:tcPr>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t>932</a:t>
                      </a:r>
                      <a:endParaRPr b="1" i="0" sz="2000" u="none" cap="none" strike="noStrike">
                        <a:solidFill>
                          <a:srgbClr val="000000"/>
                        </a:solidFill>
                        <a:latin typeface="Calibri"/>
                        <a:ea typeface="Calibri"/>
                        <a:cs typeface="Calibri"/>
                        <a:sym typeface="Calibri"/>
                      </a:endParaRPr>
                    </a:p>
                  </a:txBody>
                  <a:tcPr marT="9525" marB="0" marR="9525" marL="9525" anchor="b"/>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t>699</a:t>
                      </a:r>
                      <a:endParaRPr b="1" i="0" sz="2000" u="none" cap="none" strike="noStrike">
                        <a:solidFill>
                          <a:srgbClr val="000000"/>
                        </a:solidFill>
                        <a:latin typeface="Calibri"/>
                        <a:ea typeface="Calibri"/>
                        <a:cs typeface="Calibri"/>
                        <a:sym typeface="Calibri"/>
                      </a:endParaRPr>
                    </a:p>
                  </a:txBody>
                  <a:tcPr marT="9525" marB="0" marR="9525" marL="9525" anchor="b">
                    <a:lnR cap="flat" cmpd="sng" w="38100">
                      <a:solidFill>
                        <a:schemeClr val="dk1"/>
                      </a:solidFill>
                      <a:prstDash val="solid"/>
                      <a:round/>
                      <a:headEnd len="sm" w="sm" type="none"/>
                      <a:tailEnd len="sm" w="sm" type="none"/>
                    </a:lnR>
                  </a:tcPr>
                </a:tc>
              </a:tr>
              <a:tr h="359700">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t>2016</a:t>
                      </a:r>
                      <a:endParaRPr b="1" i="0" sz="2000" u="none" cap="none" strike="noStrike">
                        <a:solidFill>
                          <a:srgbClr val="000000"/>
                        </a:solidFill>
                        <a:latin typeface="Calibri"/>
                        <a:ea typeface="Calibri"/>
                        <a:cs typeface="Calibri"/>
                        <a:sym typeface="Calibri"/>
                      </a:endParaRPr>
                    </a:p>
                  </a:txBody>
                  <a:tcPr marT="9525" marB="0" marR="9525" marL="9525" anchor="b">
                    <a:lnL cap="flat" cmpd="sng" w="38100">
                      <a:solidFill>
                        <a:schemeClr val="dk1"/>
                      </a:solidFill>
                      <a:prstDash val="solid"/>
                      <a:round/>
                      <a:headEnd len="sm" w="sm" type="none"/>
                      <a:tailEnd len="sm" w="sm" type="none"/>
                    </a:lnL>
                    <a:lnB cap="flat" cmpd="sng" w="381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t>1025</a:t>
                      </a:r>
                      <a:endParaRPr b="1" i="0" sz="2000" u="none" cap="none" strike="noStrike">
                        <a:solidFill>
                          <a:srgbClr val="000000"/>
                        </a:solidFill>
                        <a:latin typeface="Calibri"/>
                        <a:ea typeface="Calibri"/>
                        <a:cs typeface="Calibri"/>
                        <a:sym typeface="Calibri"/>
                      </a:endParaRPr>
                    </a:p>
                  </a:txBody>
                  <a:tcPr marT="9525" marB="0" marR="9525" marL="9525" anchor="b">
                    <a:lnB cap="flat" cmpd="sng" w="381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t>717</a:t>
                      </a:r>
                      <a:endParaRPr b="1" i="0" sz="2000" u="none" cap="none" strike="noStrike">
                        <a:solidFill>
                          <a:srgbClr val="000000"/>
                        </a:solidFill>
                        <a:latin typeface="Calibri"/>
                        <a:ea typeface="Calibri"/>
                        <a:cs typeface="Calibri"/>
                        <a:sym typeface="Calibri"/>
                      </a:endParaRPr>
                    </a:p>
                  </a:txBody>
                  <a:tcPr marT="9525" marB="0" marR="9525" marL="9525" anchor="b">
                    <a:lnR cap="flat" cmpd="sng" w="38100">
                      <a:solidFill>
                        <a:schemeClr val="dk1"/>
                      </a:solidFill>
                      <a:prstDash val="solid"/>
                      <a:round/>
                      <a:headEnd len="sm" w="sm" type="none"/>
                      <a:tailEnd len="sm" w="sm" type="none"/>
                    </a:lnR>
                    <a:lnB cap="flat" cmpd="sng" w="38100">
                      <a:solidFill>
                        <a:schemeClr val="dk1"/>
                      </a:solidFill>
                      <a:prstDash val="solid"/>
                      <a:round/>
                      <a:headEnd len="sm" w="sm" type="none"/>
                      <a:tailEnd len="sm" w="sm" type="none"/>
                    </a:lnB>
                  </a:tcPr>
                </a:tc>
              </a:tr>
            </a:tbl>
          </a:graphicData>
        </a:graphic>
      </p:graphicFrame>
      <p:graphicFrame>
        <p:nvGraphicFramePr>
          <p:cNvPr id="942" name="Google Shape;942;p66"/>
          <p:cNvGraphicFramePr/>
          <p:nvPr/>
        </p:nvGraphicFramePr>
        <p:xfrm>
          <a:off x="2621900" y="4541376"/>
          <a:ext cx="3000000" cy="3000000"/>
        </p:xfrm>
        <a:graphic>
          <a:graphicData uri="http://schemas.openxmlformats.org/drawingml/2006/table">
            <a:tbl>
              <a:tblPr>
                <a:noFill/>
                <a:tableStyleId>{C1FB10B7-FF90-4F46-8F30-8EB883CFDCC7}</a:tableStyleId>
              </a:tblPr>
              <a:tblGrid>
                <a:gridCol w="2914950"/>
                <a:gridCol w="1113575"/>
              </a:tblGrid>
              <a:tr h="594850">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t>Average yearly membership fee </a:t>
                      </a:r>
                      <a:endParaRPr b="0" i="0" sz="2000" u="none" cap="none" strike="noStrike">
                        <a:solidFill>
                          <a:srgbClr val="000000"/>
                        </a:solidFill>
                        <a:latin typeface="Calibri"/>
                        <a:ea typeface="Calibri"/>
                        <a:cs typeface="Calibri"/>
                        <a:sym typeface="Calibri"/>
                      </a:endParaRPr>
                    </a:p>
                  </a:txBody>
                  <a:tcPr marT="45725" marB="45725" marR="91450" marL="91450" anchor="ctr">
                    <a:lnL cap="flat" cmpd="sng" w="38100">
                      <a:solidFill>
                        <a:schemeClr val="dk1"/>
                      </a:solidFill>
                      <a:prstDash val="solid"/>
                      <a:round/>
                      <a:headEnd len="sm" w="sm" type="none"/>
                      <a:tailEnd len="sm" w="sm" type="none"/>
                    </a:lnL>
                    <a:lnT cap="flat" cmpd="sng" w="38100">
                      <a:solidFill>
                        <a:schemeClr val="dk1"/>
                      </a:solidFill>
                      <a:prstDash val="solid"/>
                      <a:round/>
                      <a:headEnd len="sm" w="sm" type="none"/>
                      <a:tailEnd len="sm" w="sm" type="none"/>
                    </a:lnT>
                  </a:tcPr>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t>$100 </a:t>
                      </a:r>
                      <a:endParaRPr b="0" i="0" sz="2000" u="none" cap="none" strike="noStrike">
                        <a:solidFill>
                          <a:srgbClr val="000000"/>
                        </a:solidFill>
                        <a:latin typeface="Calibri"/>
                        <a:ea typeface="Calibri"/>
                        <a:cs typeface="Calibri"/>
                        <a:sym typeface="Calibri"/>
                      </a:endParaRPr>
                    </a:p>
                  </a:txBody>
                  <a:tcPr marT="45725" marB="45725" marR="91450" marL="91450" anchor="ctr">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tcPr>
                </a:tc>
              </a:tr>
              <a:tr h="258625">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t>Average price of exchange (per owner)</a:t>
                      </a:r>
                      <a:endParaRPr b="0" i="0" sz="2000" u="none" cap="none" strike="noStrike">
                        <a:solidFill>
                          <a:srgbClr val="000000"/>
                        </a:solidFill>
                        <a:latin typeface="Calibri"/>
                        <a:ea typeface="Calibri"/>
                        <a:cs typeface="Calibri"/>
                        <a:sym typeface="Calibri"/>
                      </a:endParaRPr>
                    </a:p>
                  </a:txBody>
                  <a:tcPr marT="45725" marB="45725" marR="91450" marL="91450" anchor="ctr">
                    <a:lnL cap="flat" cmpd="sng" w="38100">
                      <a:solidFill>
                        <a:schemeClr val="dk1"/>
                      </a:solidFill>
                      <a:prstDash val="solid"/>
                      <a:round/>
                      <a:headEnd len="sm" w="sm" type="none"/>
                      <a:tailEnd len="sm" w="sm" type="none"/>
                    </a:lnL>
                    <a:lnB cap="flat" cmpd="sng" w="381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t>$250 </a:t>
                      </a:r>
                      <a:endParaRPr b="0" i="0" sz="2000" u="none" cap="none" strike="noStrike">
                        <a:solidFill>
                          <a:srgbClr val="000000"/>
                        </a:solidFill>
                        <a:latin typeface="Calibri"/>
                        <a:ea typeface="Calibri"/>
                        <a:cs typeface="Calibri"/>
                        <a:sym typeface="Calibri"/>
                      </a:endParaRPr>
                    </a:p>
                  </a:txBody>
                  <a:tcPr marT="45725" marB="45725" marR="91450" marL="91450" anchor="ctr">
                    <a:lnR cap="flat" cmpd="sng" w="38100">
                      <a:solidFill>
                        <a:schemeClr val="dk1"/>
                      </a:solidFill>
                      <a:prstDash val="solid"/>
                      <a:round/>
                      <a:headEnd len="sm" w="sm" type="none"/>
                      <a:tailEnd len="sm" w="sm" type="none"/>
                    </a:lnR>
                    <a:lnB cap="flat" cmpd="sng" w="38100">
                      <a:solidFill>
                        <a:schemeClr val="dk1"/>
                      </a:solidFill>
                      <a:prstDash val="solid"/>
                      <a:round/>
                      <a:headEnd len="sm" w="sm" type="none"/>
                      <a:tailEnd len="sm" w="sm" type="none"/>
                    </a:lnB>
                  </a:tcPr>
                </a:tc>
              </a:tr>
            </a:tbl>
          </a:graphicData>
        </a:graphic>
      </p:graphicFrame>
      <p:sp>
        <p:nvSpPr>
          <p:cNvPr id="943" name="Google Shape;943;p66"/>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7" name="Shape 947"/>
        <p:cNvGrpSpPr/>
        <p:nvPr/>
      </p:nvGrpSpPr>
      <p:grpSpPr>
        <a:xfrm>
          <a:off x="0" y="0"/>
          <a:ext cx="0" cy="0"/>
          <a:chOff x="0" y="0"/>
          <a:chExt cx="0" cy="0"/>
        </a:xfrm>
      </p:grpSpPr>
      <p:sp>
        <p:nvSpPr>
          <p:cNvPr id="948" name="Google Shape;948;p67"/>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Timeshare Exchange Co.</a:t>
            </a:r>
            <a:endParaRPr/>
          </a:p>
        </p:txBody>
      </p:sp>
      <p:sp>
        <p:nvSpPr>
          <p:cNvPr id="949" name="Google Shape;949;p67"/>
          <p:cNvSpPr txBox="1"/>
          <p:nvPr>
            <p:ph idx="1" type="body"/>
          </p:nvPr>
        </p:nvSpPr>
        <p:spPr>
          <a:xfrm>
            <a:off x="379884" y="1353373"/>
            <a:ext cx="2687781" cy="4924496"/>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Font typeface="Calibri"/>
              <a:buNone/>
            </a:pPr>
            <a:r>
              <a:rPr lang="en-US"/>
              <a:t>Guide to candidate to calculate revenue in 2016</a:t>
            </a:r>
            <a:endParaRPr/>
          </a:p>
          <a:p>
            <a:pPr indent="0" lvl="0" marL="0" rtl="0" algn="l">
              <a:lnSpc>
                <a:spcPct val="100000"/>
              </a:lnSpc>
              <a:spcBef>
                <a:spcPts val="300"/>
              </a:spcBef>
              <a:spcAft>
                <a:spcPts val="0"/>
              </a:spcAft>
              <a:buSzPts val="1400"/>
              <a:buFont typeface="Calibri"/>
              <a:buNone/>
            </a:pPr>
            <a:r>
              <a:t/>
            </a:r>
            <a:endParaRPr/>
          </a:p>
          <a:p>
            <a:pPr indent="0" lvl="0" marL="0" rtl="0" algn="l">
              <a:lnSpc>
                <a:spcPct val="100000"/>
              </a:lnSpc>
              <a:spcBef>
                <a:spcPts val="300"/>
              </a:spcBef>
              <a:spcAft>
                <a:spcPts val="0"/>
              </a:spcAft>
              <a:buSzPts val="1400"/>
              <a:buFont typeface="Calibri"/>
              <a:buNone/>
            </a:pPr>
            <a:r>
              <a:t/>
            </a:r>
            <a:endParaRPr/>
          </a:p>
          <a:p>
            <a:pPr indent="0" lvl="0" marL="0" rtl="0" algn="l">
              <a:lnSpc>
                <a:spcPct val="100000"/>
              </a:lnSpc>
              <a:spcBef>
                <a:spcPts val="300"/>
              </a:spcBef>
              <a:spcAft>
                <a:spcPts val="0"/>
              </a:spcAft>
              <a:buSzPts val="1400"/>
              <a:buFont typeface="Calibri"/>
              <a:buNone/>
            </a:pPr>
            <a:r>
              <a:rPr b="1" lang="en-US"/>
              <a:t>Solution</a:t>
            </a:r>
            <a:endParaRPr/>
          </a:p>
          <a:p>
            <a:pPr indent="0" lvl="0" marL="0" rtl="0" algn="l">
              <a:lnSpc>
                <a:spcPct val="100000"/>
              </a:lnSpc>
              <a:spcBef>
                <a:spcPts val="300"/>
              </a:spcBef>
              <a:spcAft>
                <a:spcPts val="0"/>
              </a:spcAft>
              <a:buSzPts val="1400"/>
              <a:buFont typeface="Calibri"/>
              <a:buNone/>
            </a:pPr>
            <a:r>
              <a:t/>
            </a:r>
            <a:endParaRPr b="1"/>
          </a:p>
          <a:p>
            <a:pPr indent="0" lvl="0" marL="0" rtl="0" algn="l">
              <a:lnSpc>
                <a:spcPct val="100000"/>
              </a:lnSpc>
              <a:spcBef>
                <a:spcPts val="300"/>
              </a:spcBef>
              <a:spcAft>
                <a:spcPts val="0"/>
              </a:spcAft>
              <a:buSzPts val="1400"/>
              <a:buFont typeface="Calibri"/>
              <a:buNone/>
            </a:pPr>
            <a:r>
              <a:t/>
            </a:r>
            <a:endParaRPr b="1"/>
          </a:p>
          <a:p>
            <a:pPr indent="0" lvl="0" marL="0" rtl="0" algn="l">
              <a:lnSpc>
                <a:spcPct val="100000"/>
              </a:lnSpc>
              <a:spcBef>
                <a:spcPts val="300"/>
              </a:spcBef>
              <a:spcAft>
                <a:spcPts val="0"/>
              </a:spcAft>
              <a:buSzPts val="1400"/>
              <a:buFont typeface="Calibri"/>
              <a:buNone/>
            </a:pPr>
            <a:r>
              <a:t/>
            </a:r>
            <a:endParaRPr b="1"/>
          </a:p>
          <a:p>
            <a:pPr indent="0" lvl="0" marL="0" rtl="0" algn="l">
              <a:lnSpc>
                <a:spcPct val="100000"/>
              </a:lnSpc>
              <a:spcBef>
                <a:spcPts val="300"/>
              </a:spcBef>
              <a:spcAft>
                <a:spcPts val="0"/>
              </a:spcAft>
              <a:buSzPts val="1400"/>
              <a:buFont typeface="Calibri"/>
              <a:buNone/>
            </a:pPr>
            <a:r>
              <a:t/>
            </a:r>
            <a:endParaRPr b="1"/>
          </a:p>
          <a:p>
            <a:pPr indent="0" lvl="0" marL="0" rtl="0" algn="l">
              <a:lnSpc>
                <a:spcPct val="100000"/>
              </a:lnSpc>
              <a:spcBef>
                <a:spcPts val="300"/>
              </a:spcBef>
              <a:spcAft>
                <a:spcPts val="0"/>
              </a:spcAft>
              <a:buSzPts val="1400"/>
              <a:buFont typeface="Calibri"/>
              <a:buNone/>
            </a:pPr>
            <a:r>
              <a:t/>
            </a:r>
            <a:endParaRPr b="1"/>
          </a:p>
          <a:p>
            <a:pPr indent="0" lvl="0" marL="0" rtl="0" algn="l">
              <a:lnSpc>
                <a:spcPct val="100000"/>
              </a:lnSpc>
              <a:spcBef>
                <a:spcPts val="300"/>
              </a:spcBef>
              <a:spcAft>
                <a:spcPts val="0"/>
              </a:spcAft>
              <a:buSzPts val="1400"/>
              <a:buFont typeface="Calibri"/>
              <a:buNone/>
            </a:pPr>
            <a:r>
              <a:t/>
            </a:r>
            <a:endParaRPr b="1"/>
          </a:p>
          <a:p>
            <a:pPr indent="0" lvl="0" marL="0" rtl="0" algn="l">
              <a:lnSpc>
                <a:spcPct val="100000"/>
              </a:lnSpc>
              <a:spcBef>
                <a:spcPts val="300"/>
              </a:spcBef>
              <a:spcAft>
                <a:spcPts val="0"/>
              </a:spcAft>
              <a:buSzPts val="1400"/>
              <a:buFont typeface="Calibri"/>
              <a:buNone/>
            </a:pPr>
            <a:r>
              <a:t/>
            </a:r>
            <a:endParaRPr b="1"/>
          </a:p>
          <a:p>
            <a:pPr indent="0" lvl="0" marL="0" rtl="0" algn="l">
              <a:lnSpc>
                <a:spcPct val="100000"/>
              </a:lnSpc>
              <a:spcBef>
                <a:spcPts val="300"/>
              </a:spcBef>
              <a:spcAft>
                <a:spcPts val="0"/>
              </a:spcAft>
              <a:buSzPts val="1400"/>
              <a:buFont typeface="Calibri"/>
              <a:buNone/>
            </a:pPr>
            <a:r>
              <a:t/>
            </a:r>
            <a:endParaRPr b="1"/>
          </a:p>
          <a:p>
            <a:pPr indent="0" lvl="0" marL="0" rtl="0" algn="l">
              <a:lnSpc>
                <a:spcPct val="100000"/>
              </a:lnSpc>
              <a:spcBef>
                <a:spcPts val="300"/>
              </a:spcBef>
              <a:spcAft>
                <a:spcPts val="0"/>
              </a:spcAft>
              <a:buSzPts val="1400"/>
              <a:buFont typeface="Calibri"/>
              <a:buNone/>
            </a:pPr>
            <a:r>
              <a:t/>
            </a:r>
            <a:endParaRPr b="1"/>
          </a:p>
          <a:p>
            <a:pPr indent="0" lvl="0" marL="0" rtl="0" algn="l">
              <a:lnSpc>
                <a:spcPct val="100000"/>
              </a:lnSpc>
              <a:spcBef>
                <a:spcPts val="300"/>
              </a:spcBef>
              <a:spcAft>
                <a:spcPts val="0"/>
              </a:spcAft>
              <a:buSzPts val="1200"/>
              <a:buFont typeface="Calibri"/>
              <a:buNone/>
            </a:pPr>
            <a:r>
              <a:rPr lang="en-US" sz="1200"/>
              <a:t>* Remember - 2 parties involved in each exchange</a:t>
            </a:r>
            <a:endParaRPr/>
          </a:p>
          <a:p>
            <a:pPr indent="0" lvl="0" marL="0" rtl="0" algn="l">
              <a:lnSpc>
                <a:spcPct val="100000"/>
              </a:lnSpc>
              <a:spcBef>
                <a:spcPts val="300"/>
              </a:spcBef>
              <a:spcAft>
                <a:spcPts val="0"/>
              </a:spcAft>
              <a:buSzPts val="1200"/>
              <a:buFont typeface="Calibri"/>
              <a:buNone/>
            </a:pPr>
            <a:r>
              <a:rPr lang="en-US" sz="1200"/>
              <a:t>- Some members have multiple properties </a:t>
            </a:r>
            <a:endParaRPr/>
          </a:p>
          <a:p>
            <a:pPr indent="0" lvl="0" marL="0" rtl="0" algn="l">
              <a:lnSpc>
                <a:spcPct val="100000"/>
              </a:lnSpc>
              <a:spcBef>
                <a:spcPts val="300"/>
              </a:spcBef>
              <a:spcAft>
                <a:spcPts val="0"/>
              </a:spcAft>
              <a:buSzPts val="1200"/>
              <a:buFont typeface="Calibri"/>
              <a:buNone/>
            </a:pPr>
            <a:r>
              <a:rPr lang="en-US" sz="1200"/>
              <a:t>- Some members may split 2 weeks of timeshares into 2 and week long exchanges (price per exchange = $125)</a:t>
            </a:r>
            <a:endParaRPr b="1"/>
          </a:p>
          <a:p>
            <a:pPr indent="0" lvl="0" marL="0" rtl="0" algn="l">
              <a:lnSpc>
                <a:spcPct val="100000"/>
              </a:lnSpc>
              <a:spcBef>
                <a:spcPts val="300"/>
              </a:spcBef>
              <a:spcAft>
                <a:spcPts val="0"/>
              </a:spcAft>
              <a:buSzPts val="1400"/>
              <a:buFont typeface="Calibri"/>
              <a:buNone/>
            </a:pPr>
            <a:r>
              <a:t/>
            </a:r>
            <a:endParaRPr b="1"/>
          </a:p>
        </p:txBody>
      </p:sp>
      <p:sp>
        <p:nvSpPr>
          <p:cNvPr id="950" name="Google Shape;950;p67"/>
          <p:cNvSpPr txBox="1"/>
          <p:nvPr>
            <p:ph idx="2" type="body"/>
          </p:nvPr>
        </p:nvSpPr>
        <p:spPr>
          <a:xfrm>
            <a:off x="3208531" y="1353374"/>
            <a:ext cx="2690077" cy="4924494"/>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Font typeface="Calibri"/>
              <a:buNone/>
            </a:pPr>
            <a:r>
              <a:rPr lang="en-US"/>
              <a:t>Guide candidate to calculate rate of change or % change in # of members and exchanges</a:t>
            </a:r>
            <a:endParaRPr/>
          </a:p>
          <a:p>
            <a:pPr indent="0" lvl="0" marL="0" rtl="0" algn="l">
              <a:lnSpc>
                <a:spcPct val="100000"/>
              </a:lnSpc>
              <a:spcBef>
                <a:spcPts val="300"/>
              </a:spcBef>
              <a:spcAft>
                <a:spcPts val="0"/>
              </a:spcAft>
              <a:buSzPts val="1400"/>
              <a:buFont typeface="Calibri"/>
              <a:buNone/>
            </a:pPr>
            <a:r>
              <a:t/>
            </a:r>
            <a:endParaRPr/>
          </a:p>
          <a:p>
            <a:pPr indent="0" lvl="0" marL="0" rtl="0" algn="l">
              <a:lnSpc>
                <a:spcPct val="100000"/>
              </a:lnSpc>
              <a:spcBef>
                <a:spcPts val="300"/>
              </a:spcBef>
              <a:spcAft>
                <a:spcPts val="0"/>
              </a:spcAft>
              <a:buSzPts val="1400"/>
              <a:buFont typeface="Calibri"/>
              <a:buNone/>
            </a:pPr>
            <a:r>
              <a:rPr b="1" lang="en-US"/>
              <a:t>Solution</a:t>
            </a:r>
            <a:endParaRPr/>
          </a:p>
        </p:txBody>
      </p:sp>
      <p:sp>
        <p:nvSpPr>
          <p:cNvPr id="951" name="Google Shape;951;p67"/>
          <p:cNvSpPr txBox="1"/>
          <p:nvPr>
            <p:ph idx="3" type="body"/>
          </p:nvPr>
        </p:nvSpPr>
        <p:spPr>
          <a:xfrm>
            <a:off x="6039474" y="1353374"/>
            <a:ext cx="2690077" cy="4924494"/>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Font typeface="Calibri"/>
              <a:buNone/>
            </a:pPr>
            <a:r>
              <a:rPr lang="en-US"/>
              <a:t>What do trends identified in Problem 2 indicate?</a:t>
            </a:r>
            <a:endParaRPr/>
          </a:p>
          <a:p>
            <a:pPr indent="0" lvl="0" marL="0" rtl="0" algn="l">
              <a:lnSpc>
                <a:spcPct val="100000"/>
              </a:lnSpc>
              <a:spcBef>
                <a:spcPts val="300"/>
              </a:spcBef>
              <a:spcAft>
                <a:spcPts val="0"/>
              </a:spcAft>
              <a:buSzPts val="1400"/>
              <a:buFont typeface="Calibri"/>
              <a:buNone/>
            </a:pPr>
            <a:r>
              <a:t/>
            </a:r>
            <a:endParaRPr/>
          </a:p>
          <a:p>
            <a:pPr indent="0" lvl="0" marL="0" rtl="0" algn="l">
              <a:lnSpc>
                <a:spcPct val="100000"/>
              </a:lnSpc>
              <a:spcBef>
                <a:spcPts val="300"/>
              </a:spcBef>
              <a:spcAft>
                <a:spcPts val="0"/>
              </a:spcAft>
              <a:buSzPts val="1400"/>
              <a:buFont typeface="Calibri"/>
              <a:buNone/>
            </a:pPr>
            <a:r>
              <a:t/>
            </a:r>
            <a:endParaRPr/>
          </a:p>
          <a:p>
            <a:pPr indent="0" lvl="0" marL="0" rtl="0" algn="l">
              <a:lnSpc>
                <a:spcPct val="100000"/>
              </a:lnSpc>
              <a:spcBef>
                <a:spcPts val="300"/>
              </a:spcBef>
              <a:spcAft>
                <a:spcPts val="0"/>
              </a:spcAft>
              <a:buSzPts val="1400"/>
              <a:buFont typeface="Calibri"/>
              <a:buNone/>
            </a:pPr>
            <a:r>
              <a:rPr b="1" lang="en-US"/>
              <a:t>Solution</a:t>
            </a:r>
            <a:endParaRPr/>
          </a:p>
          <a:p>
            <a:pPr indent="0" lvl="1" marL="1588" rtl="0" algn="l">
              <a:lnSpc>
                <a:spcPct val="100000"/>
              </a:lnSpc>
              <a:spcBef>
                <a:spcPts val="300"/>
              </a:spcBef>
              <a:spcAft>
                <a:spcPts val="0"/>
              </a:spcAft>
              <a:buSzPts val="1400"/>
              <a:buNone/>
            </a:pPr>
            <a:r>
              <a:rPr lang="en-US"/>
              <a:t>While the total number of members and exchanges are increasing, the total number of exchanges by total number of customers is decreasing. This is indicating that each member is no longer conducting as many exchanges. What might be causing this? </a:t>
            </a:r>
            <a:endParaRPr/>
          </a:p>
          <a:p>
            <a:pPr indent="0" lvl="1" marL="1588" rtl="0" algn="l">
              <a:lnSpc>
                <a:spcPct val="100000"/>
              </a:lnSpc>
              <a:spcBef>
                <a:spcPts val="300"/>
              </a:spcBef>
              <a:spcAft>
                <a:spcPts val="0"/>
              </a:spcAft>
              <a:buSzPts val="1400"/>
              <a:buNone/>
            </a:pPr>
            <a:r>
              <a:t/>
            </a:r>
            <a:endParaRPr/>
          </a:p>
          <a:p>
            <a:pPr indent="-274313" lvl="1" marL="274313" rtl="0" algn="l">
              <a:lnSpc>
                <a:spcPct val="100000"/>
              </a:lnSpc>
              <a:spcBef>
                <a:spcPts val="300"/>
              </a:spcBef>
              <a:spcAft>
                <a:spcPts val="0"/>
              </a:spcAft>
              <a:buSzPts val="1400"/>
              <a:buFont typeface="Calibri"/>
              <a:buChar char="-"/>
            </a:pPr>
            <a:r>
              <a:rPr lang="en-US"/>
              <a:t>Change in exchange price? Price has been consistent </a:t>
            </a:r>
            <a:endParaRPr/>
          </a:p>
          <a:p>
            <a:pPr indent="-274313" lvl="1" marL="274313" rtl="0" algn="l">
              <a:lnSpc>
                <a:spcPct val="100000"/>
              </a:lnSpc>
              <a:spcBef>
                <a:spcPts val="300"/>
              </a:spcBef>
              <a:spcAft>
                <a:spcPts val="0"/>
              </a:spcAft>
              <a:buSzPts val="1400"/>
              <a:buFont typeface="Calibri"/>
              <a:buChar char="-"/>
            </a:pPr>
            <a:r>
              <a:rPr lang="en-US"/>
              <a:t>Change in customer mix? Exhibit 2 </a:t>
            </a:r>
            <a:endParaRPr b="1"/>
          </a:p>
          <a:p>
            <a:pPr indent="0" lvl="0" marL="0" rtl="0" algn="l">
              <a:lnSpc>
                <a:spcPct val="100000"/>
              </a:lnSpc>
              <a:spcBef>
                <a:spcPts val="300"/>
              </a:spcBef>
              <a:spcAft>
                <a:spcPts val="0"/>
              </a:spcAft>
              <a:buSzPts val="1400"/>
              <a:buFont typeface="Calibri"/>
              <a:buNone/>
            </a:pPr>
            <a:r>
              <a:t/>
            </a:r>
            <a:endParaRPr/>
          </a:p>
        </p:txBody>
      </p:sp>
      <p:sp>
        <p:nvSpPr>
          <p:cNvPr id="952" name="Google Shape;952;p67"/>
          <p:cNvSpPr txBox="1"/>
          <p:nvPr>
            <p:ph idx="4" type="body"/>
          </p:nvPr>
        </p:nvSpPr>
        <p:spPr>
          <a:xfrm>
            <a:off x="503321" y="1075872"/>
            <a:ext cx="2549163"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Problem 1</a:t>
            </a:r>
            <a:endParaRPr/>
          </a:p>
        </p:txBody>
      </p:sp>
      <p:sp>
        <p:nvSpPr>
          <p:cNvPr id="953" name="Google Shape;953;p67"/>
          <p:cNvSpPr txBox="1"/>
          <p:nvPr>
            <p:ph idx="5" type="body"/>
          </p:nvPr>
        </p:nvSpPr>
        <p:spPr>
          <a:xfrm>
            <a:off x="3319646" y="1075872"/>
            <a:ext cx="2549163"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Problem 2</a:t>
            </a:r>
            <a:endParaRPr/>
          </a:p>
        </p:txBody>
      </p:sp>
      <p:sp>
        <p:nvSpPr>
          <p:cNvPr id="954" name="Google Shape;954;p67"/>
          <p:cNvSpPr txBox="1"/>
          <p:nvPr>
            <p:ph idx="6" type="body"/>
          </p:nvPr>
        </p:nvSpPr>
        <p:spPr>
          <a:xfrm>
            <a:off x="6125605" y="1075872"/>
            <a:ext cx="2549163"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Problem 3</a:t>
            </a:r>
            <a:endParaRPr/>
          </a:p>
        </p:txBody>
      </p:sp>
      <p:graphicFrame>
        <p:nvGraphicFramePr>
          <p:cNvPr id="955" name="Google Shape;955;p67"/>
          <p:cNvGraphicFramePr/>
          <p:nvPr/>
        </p:nvGraphicFramePr>
        <p:xfrm>
          <a:off x="447788" y="2586187"/>
          <a:ext cx="3000000" cy="3000000"/>
        </p:xfrm>
        <a:graphic>
          <a:graphicData uri="http://schemas.openxmlformats.org/drawingml/2006/table">
            <a:tbl>
              <a:tblPr>
                <a:noFill/>
                <a:tableStyleId>{C1FB10B7-FF90-4F46-8F30-8EB883CFDCC7}</a:tableStyleId>
              </a:tblPr>
              <a:tblGrid>
                <a:gridCol w="1606475"/>
                <a:gridCol w="981975"/>
              </a:tblGrid>
              <a:tr h="520575">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Average yearly membership fee </a:t>
                      </a:r>
                      <a:endParaRPr b="0" i="0" sz="1200" u="none" cap="none" strike="noStrike">
                        <a:solidFill>
                          <a:srgbClr val="000000"/>
                        </a:solidFill>
                        <a:latin typeface="Calibri"/>
                        <a:ea typeface="Calibri"/>
                        <a:cs typeface="Calibri"/>
                        <a:sym typeface="Calibri"/>
                      </a:endParaRPr>
                    </a:p>
                  </a:txBody>
                  <a:tcPr marT="9150" marB="0" marR="45725" marL="45725" anchor="b"/>
                </a:tc>
                <a:tc>
                  <a:txBody>
                    <a:bodyPr/>
                    <a:lstStyle/>
                    <a:p>
                      <a:pPr indent="0" lvl="0" marL="0" marR="0" rtl="0" algn="r">
                        <a:lnSpc>
                          <a:spcPct val="100000"/>
                        </a:lnSpc>
                        <a:spcBef>
                          <a:spcPts val="0"/>
                        </a:spcBef>
                        <a:spcAft>
                          <a:spcPts val="0"/>
                        </a:spcAft>
                        <a:buClr>
                          <a:srgbClr val="000000"/>
                        </a:buClr>
                        <a:buSzPts val="1200"/>
                        <a:buFont typeface="Arial"/>
                        <a:buNone/>
                      </a:pPr>
                      <a:r>
                        <a:rPr lang="en-US" sz="1200" u="none" cap="none" strike="noStrike"/>
                        <a:t>$100 </a:t>
                      </a:r>
                      <a:endParaRPr b="0" i="0" sz="1200" u="none" cap="none" strike="noStrike">
                        <a:solidFill>
                          <a:srgbClr val="000000"/>
                        </a:solidFill>
                        <a:latin typeface="Calibri"/>
                        <a:ea typeface="Calibri"/>
                        <a:cs typeface="Calibri"/>
                        <a:sym typeface="Calibri"/>
                      </a:endParaRPr>
                    </a:p>
                  </a:txBody>
                  <a:tcPr marT="9150" marB="0" marR="45725" marL="45725" anchor="b"/>
                </a:tc>
              </a:tr>
              <a:tr h="3764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Average price of exchange (per owner)</a:t>
                      </a:r>
                      <a:endParaRPr b="0" i="0" sz="1200" u="none" cap="none" strike="noStrike">
                        <a:solidFill>
                          <a:srgbClr val="000000"/>
                        </a:solidFill>
                        <a:latin typeface="Calibri"/>
                        <a:ea typeface="Calibri"/>
                        <a:cs typeface="Calibri"/>
                        <a:sym typeface="Calibri"/>
                      </a:endParaRPr>
                    </a:p>
                  </a:txBody>
                  <a:tcPr marT="9150" marB="0" marR="45725" marL="45725" anchor="b"/>
                </a:tc>
                <a:tc>
                  <a:txBody>
                    <a:bodyPr/>
                    <a:lstStyle/>
                    <a:p>
                      <a:pPr indent="0" lvl="0" marL="0" marR="0" rtl="0" algn="r">
                        <a:lnSpc>
                          <a:spcPct val="100000"/>
                        </a:lnSpc>
                        <a:spcBef>
                          <a:spcPts val="0"/>
                        </a:spcBef>
                        <a:spcAft>
                          <a:spcPts val="0"/>
                        </a:spcAft>
                        <a:buClr>
                          <a:srgbClr val="000000"/>
                        </a:buClr>
                        <a:buSzPts val="1200"/>
                        <a:buFont typeface="Arial"/>
                        <a:buNone/>
                      </a:pPr>
                      <a:r>
                        <a:rPr lang="en-US" sz="1200" u="none" cap="none" strike="noStrike"/>
                        <a:t>$250 </a:t>
                      </a:r>
                      <a:endParaRPr b="0" i="0" sz="1200" u="none" cap="none" strike="noStrike">
                        <a:solidFill>
                          <a:srgbClr val="000000"/>
                        </a:solidFill>
                        <a:latin typeface="Calibri"/>
                        <a:ea typeface="Calibri"/>
                        <a:cs typeface="Calibri"/>
                        <a:sym typeface="Calibri"/>
                      </a:endParaRPr>
                    </a:p>
                  </a:txBody>
                  <a:tcPr marT="9150" marB="0" marR="45725" marL="45725" anchor="b"/>
                </a:tc>
              </a:tr>
              <a:tr h="3764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Average revenue per exchange* (2 owners/)</a:t>
                      </a:r>
                      <a:endParaRPr b="0" i="0" sz="1200" u="none" cap="none" strike="noStrike">
                        <a:solidFill>
                          <a:srgbClr val="000000"/>
                        </a:solidFill>
                        <a:latin typeface="Calibri"/>
                        <a:ea typeface="Calibri"/>
                        <a:cs typeface="Calibri"/>
                        <a:sym typeface="Calibri"/>
                      </a:endParaRPr>
                    </a:p>
                  </a:txBody>
                  <a:tcPr marT="9150" marB="0" marR="45725" marL="45725" anchor="b"/>
                </a:tc>
                <a:tc>
                  <a:txBody>
                    <a:bodyPr/>
                    <a:lstStyle/>
                    <a:p>
                      <a:pPr indent="0" lvl="0" marL="0" marR="0" rtl="0" algn="r">
                        <a:lnSpc>
                          <a:spcPct val="100000"/>
                        </a:lnSpc>
                        <a:spcBef>
                          <a:spcPts val="0"/>
                        </a:spcBef>
                        <a:spcAft>
                          <a:spcPts val="0"/>
                        </a:spcAft>
                        <a:buClr>
                          <a:srgbClr val="000000"/>
                        </a:buClr>
                        <a:buSzPts val="1200"/>
                        <a:buFont typeface="Arial"/>
                        <a:buNone/>
                      </a:pPr>
                      <a:r>
                        <a:rPr lang="en-US" sz="1200" u="none" cap="none" strike="noStrike"/>
                        <a:t>$500 </a:t>
                      </a:r>
                      <a:endParaRPr b="0" i="0" sz="1200" u="none" cap="none" strike="noStrike">
                        <a:solidFill>
                          <a:srgbClr val="000000"/>
                        </a:solidFill>
                        <a:latin typeface="Calibri"/>
                        <a:ea typeface="Calibri"/>
                        <a:cs typeface="Calibri"/>
                        <a:sym typeface="Calibri"/>
                      </a:endParaRPr>
                    </a:p>
                  </a:txBody>
                  <a:tcPr marT="9150" marB="0" marR="45725" marL="45725" anchor="b"/>
                </a:tc>
              </a:tr>
              <a:tr h="3764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Number of members, 2016</a:t>
                      </a:r>
                      <a:endParaRPr b="0" i="0" sz="1200" u="none" cap="none" strike="noStrike">
                        <a:solidFill>
                          <a:srgbClr val="000000"/>
                        </a:solidFill>
                        <a:latin typeface="Calibri"/>
                        <a:ea typeface="Calibri"/>
                        <a:cs typeface="Calibri"/>
                        <a:sym typeface="Calibri"/>
                      </a:endParaRPr>
                    </a:p>
                  </a:txBody>
                  <a:tcPr marT="9150" marB="0" marR="45725" marL="45725" anchor="b"/>
                </a:tc>
                <a:tc>
                  <a:txBody>
                    <a:bodyPr/>
                    <a:lstStyle/>
                    <a:p>
                      <a:pPr indent="0" lvl="0" marL="0" marR="0" rtl="0" algn="r">
                        <a:lnSpc>
                          <a:spcPct val="100000"/>
                        </a:lnSpc>
                        <a:spcBef>
                          <a:spcPts val="0"/>
                        </a:spcBef>
                        <a:spcAft>
                          <a:spcPts val="0"/>
                        </a:spcAft>
                        <a:buClr>
                          <a:srgbClr val="000000"/>
                        </a:buClr>
                        <a:buSzPts val="1200"/>
                        <a:buFont typeface="Arial"/>
                        <a:buNone/>
                      </a:pPr>
                      <a:r>
                        <a:rPr lang="en-US" sz="1200" u="none" cap="none" strike="noStrike"/>
                        <a:t>1,024,870</a:t>
                      </a:r>
                      <a:endParaRPr b="0" i="0" sz="1200" u="none" cap="none" strike="noStrike">
                        <a:solidFill>
                          <a:srgbClr val="000000"/>
                        </a:solidFill>
                        <a:latin typeface="Calibri"/>
                        <a:ea typeface="Calibri"/>
                        <a:cs typeface="Calibri"/>
                        <a:sym typeface="Calibri"/>
                      </a:endParaRPr>
                    </a:p>
                  </a:txBody>
                  <a:tcPr marT="9150" marB="0" marR="45725" marL="45725" anchor="b"/>
                </a:tc>
              </a:tr>
              <a:tr h="3764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Number of exchanges, 2016 </a:t>
                      </a:r>
                      <a:endParaRPr b="0" i="0" sz="1200" u="none" cap="none" strike="noStrike">
                        <a:solidFill>
                          <a:srgbClr val="000000"/>
                        </a:solidFill>
                        <a:latin typeface="Calibri"/>
                        <a:ea typeface="Calibri"/>
                        <a:cs typeface="Calibri"/>
                        <a:sym typeface="Calibri"/>
                      </a:endParaRPr>
                    </a:p>
                  </a:txBody>
                  <a:tcPr marT="9150" marB="0" marR="45725" marL="45725" anchor="b"/>
                </a:tc>
                <a:tc>
                  <a:txBody>
                    <a:bodyPr/>
                    <a:lstStyle/>
                    <a:p>
                      <a:pPr indent="0" lvl="0" marL="0" marR="0" rtl="0" algn="r">
                        <a:lnSpc>
                          <a:spcPct val="100000"/>
                        </a:lnSpc>
                        <a:spcBef>
                          <a:spcPts val="0"/>
                        </a:spcBef>
                        <a:spcAft>
                          <a:spcPts val="0"/>
                        </a:spcAft>
                        <a:buClr>
                          <a:srgbClr val="000000"/>
                        </a:buClr>
                        <a:buSzPts val="1200"/>
                        <a:buFont typeface="Arial"/>
                        <a:buNone/>
                      </a:pPr>
                      <a:r>
                        <a:rPr lang="en-US" sz="1200" u="none" cap="none" strike="noStrike"/>
                        <a:t>717,409</a:t>
                      </a:r>
                      <a:endParaRPr b="0" i="0" sz="1200" u="none" cap="none" strike="noStrike">
                        <a:solidFill>
                          <a:srgbClr val="000000"/>
                        </a:solidFill>
                        <a:latin typeface="Calibri"/>
                        <a:ea typeface="Calibri"/>
                        <a:cs typeface="Calibri"/>
                        <a:sym typeface="Calibri"/>
                      </a:endParaRPr>
                    </a:p>
                  </a:txBody>
                  <a:tcPr marT="9150" marB="0" marR="45725" marL="45725" anchor="b"/>
                </a:tc>
              </a:tr>
              <a:tr h="2263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Total Revenue </a:t>
                      </a:r>
                      <a:endParaRPr b="0" i="0" sz="1200" u="none" cap="none" strike="noStrike">
                        <a:solidFill>
                          <a:srgbClr val="000000"/>
                        </a:solidFill>
                        <a:latin typeface="Calibri"/>
                        <a:ea typeface="Calibri"/>
                        <a:cs typeface="Calibri"/>
                        <a:sym typeface="Calibri"/>
                      </a:endParaRPr>
                    </a:p>
                  </a:txBody>
                  <a:tcPr marT="9150" marB="0" marR="45725" marL="45725" anchor="b"/>
                </a:tc>
                <a:tc>
                  <a:txBody>
                    <a:bodyPr/>
                    <a:lstStyle/>
                    <a:p>
                      <a:pPr indent="0" lvl="0" marL="0" marR="0" rtl="0" algn="r">
                        <a:lnSpc>
                          <a:spcPct val="100000"/>
                        </a:lnSpc>
                        <a:spcBef>
                          <a:spcPts val="0"/>
                        </a:spcBef>
                        <a:spcAft>
                          <a:spcPts val="0"/>
                        </a:spcAft>
                        <a:buClr>
                          <a:srgbClr val="000000"/>
                        </a:buClr>
                        <a:buSzPts val="1200"/>
                        <a:buFont typeface="Arial"/>
                        <a:buNone/>
                      </a:pPr>
                      <a:r>
                        <a:rPr lang="en-US" sz="1200" u="none" cap="none" strike="noStrike"/>
                        <a:t>$461,191,500 </a:t>
                      </a:r>
                      <a:endParaRPr b="0" i="0" sz="1200" u="none" cap="none" strike="noStrike">
                        <a:solidFill>
                          <a:srgbClr val="000000"/>
                        </a:solidFill>
                        <a:latin typeface="Calibri"/>
                        <a:ea typeface="Calibri"/>
                        <a:cs typeface="Calibri"/>
                        <a:sym typeface="Calibri"/>
                      </a:endParaRPr>
                    </a:p>
                  </a:txBody>
                  <a:tcPr marT="9150" marB="0" marR="45725" marL="45725" anchor="b"/>
                </a:tc>
              </a:tr>
            </a:tbl>
          </a:graphicData>
        </a:graphic>
      </p:graphicFrame>
      <p:graphicFrame>
        <p:nvGraphicFramePr>
          <p:cNvPr id="956" name="Google Shape;956;p67"/>
          <p:cNvGraphicFramePr/>
          <p:nvPr/>
        </p:nvGraphicFramePr>
        <p:xfrm>
          <a:off x="3282702" y="2603522"/>
          <a:ext cx="3000000" cy="3000000"/>
        </p:xfrm>
        <a:graphic>
          <a:graphicData uri="http://schemas.openxmlformats.org/drawingml/2006/table">
            <a:tbl>
              <a:tblPr firstRow="1">
                <a:noFill/>
                <a:tableStyleId>{C1FB10B7-FF90-4F46-8F30-8EB883CFDCC7}</a:tableStyleId>
              </a:tblPr>
              <a:tblGrid>
                <a:gridCol w="834225"/>
                <a:gridCol w="798975"/>
                <a:gridCol w="939975"/>
              </a:tblGrid>
              <a:tr h="961750">
                <a:tc>
                  <a:txBody>
                    <a:bodyPr/>
                    <a:lstStyle/>
                    <a:p>
                      <a:pPr indent="0" lvl="0" marL="0" marR="0" rtl="0" algn="ctr">
                        <a:lnSpc>
                          <a:spcPct val="100000"/>
                        </a:lnSpc>
                        <a:spcBef>
                          <a:spcPts val="0"/>
                        </a:spcBef>
                        <a:spcAft>
                          <a:spcPts val="0"/>
                        </a:spcAft>
                        <a:buClr>
                          <a:srgbClr val="000000"/>
                        </a:buClr>
                        <a:buSzPts val="1200"/>
                        <a:buFont typeface="Arial"/>
                        <a:buNone/>
                      </a:pPr>
                      <a:r>
                        <a:rPr lang="en-US" sz="1200" u="none" cap="none" strike="noStrike"/>
                        <a:t>Year</a:t>
                      </a:r>
                      <a:endParaRPr sz="1400" u="none" cap="none" strike="noStrike"/>
                    </a:p>
                  </a:txBody>
                  <a:tcPr marT="9525" marB="0" marR="9525" marL="9525" anchor="ctr"/>
                </a:tc>
                <a:tc>
                  <a:txBody>
                    <a:bodyPr/>
                    <a:lstStyle/>
                    <a:p>
                      <a:pPr indent="0" lvl="0" marL="0" marR="0" rtl="0" algn="ctr">
                        <a:lnSpc>
                          <a:spcPct val="100000"/>
                        </a:lnSpc>
                        <a:spcBef>
                          <a:spcPts val="0"/>
                        </a:spcBef>
                        <a:spcAft>
                          <a:spcPts val="0"/>
                        </a:spcAft>
                        <a:buClr>
                          <a:srgbClr val="000000"/>
                        </a:buClr>
                        <a:buSzPts val="1200"/>
                        <a:buFont typeface="Arial"/>
                        <a:buNone/>
                      </a:pPr>
                      <a:r>
                        <a:rPr lang="en-US" sz="1200" u="none" cap="none" strike="noStrike"/>
                        <a:t>% increase in # of members</a:t>
                      </a:r>
                      <a:endParaRPr b="0" i="0" sz="1200" u="none" cap="none" strike="noStrike">
                        <a:solidFill>
                          <a:srgbClr val="000000"/>
                        </a:solidFill>
                        <a:latin typeface="Calibri"/>
                        <a:ea typeface="Calibri"/>
                        <a:cs typeface="Calibri"/>
                        <a:sym typeface="Calibri"/>
                      </a:endParaRPr>
                    </a:p>
                  </a:txBody>
                  <a:tcPr marT="9525" marB="0" marR="9525" marL="9525" anchor="ctr"/>
                </a:tc>
                <a:tc>
                  <a:txBody>
                    <a:bodyPr/>
                    <a:lstStyle/>
                    <a:p>
                      <a:pPr indent="0" lvl="0" marL="0" marR="0" rtl="0" algn="ctr">
                        <a:lnSpc>
                          <a:spcPct val="100000"/>
                        </a:lnSpc>
                        <a:spcBef>
                          <a:spcPts val="0"/>
                        </a:spcBef>
                        <a:spcAft>
                          <a:spcPts val="0"/>
                        </a:spcAft>
                        <a:buClr>
                          <a:srgbClr val="000000"/>
                        </a:buClr>
                        <a:buSzPts val="1200"/>
                        <a:buFont typeface="Arial"/>
                        <a:buNone/>
                      </a:pPr>
                      <a:r>
                        <a:rPr lang="en-US" sz="1200" u="none" cap="none" strike="noStrike"/>
                        <a:t>Total exchanges</a:t>
                      </a:r>
                      <a:endParaRPr sz="1400" u="none" cap="none" strike="noStrike"/>
                    </a:p>
                    <a:p>
                      <a:pPr indent="0" lvl="0" marL="0" marR="0" rtl="0" algn="ctr">
                        <a:lnSpc>
                          <a:spcPct val="100000"/>
                        </a:lnSpc>
                        <a:spcBef>
                          <a:spcPts val="0"/>
                        </a:spcBef>
                        <a:spcAft>
                          <a:spcPts val="0"/>
                        </a:spcAft>
                        <a:buClr>
                          <a:srgbClr val="000000"/>
                        </a:buClr>
                        <a:buSzPts val="1200"/>
                        <a:buFont typeface="Arial"/>
                        <a:buNone/>
                      </a:pPr>
                      <a:r>
                        <a:rPr lang="en-US" sz="1200" u="none" cap="none" strike="noStrike"/>
                        <a:t>/</a:t>
                      </a:r>
                      <a:endParaRPr sz="1400" u="none" cap="none" strike="noStrike"/>
                    </a:p>
                    <a:p>
                      <a:pPr indent="0" lvl="0" marL="0" marR="0" rtl="0" algn="ctr">
                        <a:lnSpc>
                          <a:spcPct val="100000"/>
                        </a:lnSpc>
                        <a:spcBef>
                          <a:spcPts val="0"/>
                        </a:spcBef>
                        <a:spcAft>
                          <a:spcPts val="0"/>
                        </a:spcAft>
                        <a:buClr>
                          <a:srgbClr val="000000"/>
                        </a:buClr>
                        <a:buSzPts val="1200"/>
                        <a:buFont typeface="Arial"/>
                        <a:buNone/>
                      </a:pPr>
                      <a:r>
                        <a:rPr lang="en-US" sz="1200" u="none" cap="none" strike="noStrike"/>
                        <a:t>Total members</a:t>
                      </a:r>
                      <a:endParaRPr b="0" i="0" sz="1200" u="none" cap="none" strike="noStrike">
                        <a:solidFill>
                          <a:srgbClr val="000000"/>
                        </a:solidFill>
                        <a:latin typeface="Calibri"/>
                        <a:ea typeface="Calibri"/>
                        <a:cs typeface="Calibri"/>
                        <a:sym typeface="Calibri"/>
                      </a:endParaRPr>
                    </a:p>
                  </a:txBody>
                  <a:tcPr marT="9525" marB="0" marR="9525" marL="9525" anchor="ctr"/>
                </a:tc>
              </a:tr>
              <a:tr h="295925">
                <a:tc>
                  <a:txBody>
                    <a:bodyPr/>
                    <a:lstStyle/>
                    <a:p>
                      <a:pPr indent="0" lvl="0" marL="0" marR="0" rtl="0" algn="ctr">
                        <a:lnSpc>
                          <a:spcPct val="100000"/>
                        </a:lnSpc>
                        <a:spcBef>
                          <a:spcPts val="0"/>
                        </a:spcBef>
                        <a:spcAft>
                          <a:spcPts val="0"/>
                        </a:spcAft>
                        <a:buClr>
                          <a:srgbClr val="000000"/>
                        </a:buClr>
                        <a:buSzPts val="1200"/>
                        <a:buFont typeface="Arial"/>
                        <a:buNone/>
                      </a:pPr>
                      <a:r>
                        <a:rPr lang="en-US" sz="1200" u="none" cap="none" strike="noStrike"/>
                        <a:t>2012</a:t>
                      </a:r>
                      <a:endParaRPr b="0" i="0" sz="1200" u="none" cap="none" strike="noStrike">
                        <a:solidFill>
                          <a:srgbClr val="000000"/>
                        </a:solidFill>
                        <a:latin typeface="Calibri"/>
                        <a:ea typeface="Calibri"/>
                        <a:cs typeface="Calibri"/>
                        <a:sym typeface="Calibri"/>
                      </a:endParaRPr>
                    </a:p>
                  </a:txBody>
                  <a:tcPr marT="9525" marB="0" marR="9525" marL="9525" anchor="b"/>
                </a:tc>
                <a:tc>
                  <a:txBody>
                    <a:bodyPr/>
                    <a:lstStyle/>
                    <a:p>
                      <a:pPr indent="0" lvl="0" marL="0" marR="0" rtl="0" algn="ctr">
                        <a:lnSpc>
                          <a:spcPct val="100000"/>
                        </a:lnSpc>
                        <a:spcBef>
                          <a:spcPts val="0"/>
                        </a:spcBef>
                        <a:spcAft>
                          <a:spcPts val="0"/>
                        </a:spcAft>
                        <a:buClr>
                          <a:srgbClr val="000000"/>
                        </a:buClr>
                        <a:buSzPts val="1200"/>
                        <a:buFont typeface="Arial"/>
                        <a:buNone/>
                      </a:pPr>
                      <a:r>
                        <a:rPr lang="en-US" sz="1200" u="none" cap="none" strike="noStrike"/>
                        <a:t> </a:t>
                      </a:r>
                      <a:endParaRPr b="0" i="0" sz="1200" u="none" cap="none" strike="noStrike">
                        <a:solidFill>
                          <a:srgbClr val="000000"/>
                        </a:solidFill>
                        <a:latin typeface="Calibri"/>
                        <a:ea typeface="Calibri"/>
                        <a:cs typeface="Calibri"/>
                        <a:sym typeface="Calibri"/>
                      </a:endParaRPr>
                    </a:p>
                  </a:txBody>
                  <a:tcPr marT="9525" marB="0" marR="9525" marL="9525" anchor="b"/>
                </a:tc>
                <a:tc>
                  <a:txBody>
                    <a:bodyPr/>
                    <a:lstStyle/>
                    <a:p>
                      <a:pPr indent="0" lvl="0" marL="0" marR="0" rtl="0" algn="ctr">
                        <a:lnSpc>
                          <a:spcPct val="100000"/>
                        </a:lnSpc>
                        <a:spcBef>
                          <a:spcPts val="0"/>
                        </a:spcBef>
                        <a:spcAft>
                          <a:spcPts val="0"/>
                        </a:spcAft>
                        <a:buClr>
                          <a:srgbClr val="000000"/>
                        </a:buClr>
                        <a:buSzPts val="1200"/>
                        <a:buFont typeface="Arial"/>
                        <a:buNone/>
                      </a:pPr>
                      <a:r>
                        <a:rPr lang="en-US" sz="1200" u="none" cap="none" strike="noStrike"/>
                        <a:t>90%</a:t>
                      </a:r>
                      <a:endParaRPr b="0" i="0" sz="1200" u="none" cap="none" strike="noStrike">
                        <a:solidFill>
                          <a:srgbClr val="000000"/>
                        </a:solidFill>
                        <a:latin typeface="Calibri"/>
                        <a:ea typeface="Calibri"/>
                        <a:cs typeface="Calibri"/>
                        <a:sym typeface="Calibri"/>
                      </a:endParaRPr>
                    </a:p>
                  </a:txBody>
                  <a:tcPr marT="9525" marB="0" marR="9525" marL="9525" anchor="b"/>
                </a:tc>
              </a:tr>
              <a:tr h="295925">
                <a:tc>
                  <a:txBody>
                    <a:bodyPr/>
                    <a:lstStyle/>
                    <a:p>
                      <a:pPr indent="0" lvl="0" marL="0" marR="0" rtl="0" algn="ctr">
                        <a:lnSpc>
                          <a:spcPct val="100000"/>
                        </a:lnSpc>
                        <a:spcBef>
                          <a:spcPts val="0"/>
                        </a:spcBef>
                        <a:spcAft>
                          <a:spcPts val="0"/>
                        </a:spcAft>
                        <a:buClr>
                          <a:srgbClr val="000000"/>
                        </a:buClr>
                        <a:buSzPts val="1200"/>
                        <a:buFont typeface="Arial"/>
                        <a:buNone/>
                      </a:pPr>
                      <a:r>
                        <a:rPr lang="en-US" sz="1200" u="none" cap="none" strike="noStrike"/>
                        <a:t>2013</a:t>
                      </a:r>
                      <a:endParaRPr b="0" i="0" sz="1200" u="none" cap="none" strike="noStrike">
                        <a:solidFill>
                          <a:srgbClr val="000000"/>
                        </a:solidFill>
                        <a:latin typeface="Calibri"/>
                        <a:ea typeface="Calibri"/>
                        <a:cs typeface="Calibri"/>
                        <a:sym typeface="Calibri"/>
                      </a:endParaRPr>
                    </a:p>
                  </a:txBody>
                  <a:tcPr marT="9525" marB="0" marR="9525" marL="9525" anchor="b"/>
                </a:tc>
                <a:tc>
                  <a:txBody>
                    <a:bodyPr/>
                    <a:lstStyle/>
                    <a:p>
                      <a:pPr indent="0" lvl="0" marL="0" marR="0" rtl="0" algn="ctr">
                        <a:lnSpc>
                          <a:spcPct val="100000"/>
                        </a:lnSpc>
                        <a:spcBef>
                          <a:spcPts val="0"/>
                        </a:spcBef>
                        <a:spcAft>
                          <a:spcPts val="0"/>
                        </a:spcAft>
                        <a:buClr>
                          <a:srgbClr val="000000"/>
                        </a:buClr>
                        <a:buSzPts val="1200"/>
                        <a:buFont typeface="Arial"/>
                        <a:buNone/>
                      </a:pPr>
                      <a:r>
                        <a:rPr lang="en-US" sz="1200" u="none" cap="none" strike="noStrike"/>
                        <a:t>10%</a:t>
                      </a:r>
                      <a:endParaRPr b="0" i="0" sz="1200" u="none" cap="none" strike="noStrike">
                        <a:solidFill>
                          <a:srgbClr val="000000"/>
                        </a:solidFill>
                        <a:latin typeface="Calibri"/>
                        <a:ea typeface="Calibri"/>
                        <a:cs typeface="Calibri"/>
                        <a:sym typeface="Calibri"/>
                      </a:endParaRPr>
                    </a:p>
                  </a:txBody>
                  <a:tcPr marT="9525" marB="0" marR="9525" marL="9525" anchor="b"/>
                </a:tc>
                <a:tc>
                  <a:txBody>
                    <a:bodyPr/>
                    <a:lstStyle/>
                    <a:p>
                      <a:pPr indent="0" lvl="0" marL="0" marR="0" rtl="0" algn="ctr">
                        <a:lnSpc>
                          <a:spcPct val="100000"/>
                        </a:lnSpc>
                        <a:spcBef>
                          <a:spcPts val="0"/>
                        </a:spcBef>
                        <a:spcAft>
                          <a:spcPts val="0"/>
                        </a:spcAft>
                        <a:buClr>
                          <a:srgbClr val="000000"/>
                        </a:buClr>
                        <a:buSzPts val="1200"/>
                        <a:buFont typeface="Arial"/>
                        <a:buNone/>
                      </a:pPr>
                      <a:r>
                        <a:rPr lang="en-US" sz="1200" u="none" cap="none" strike="noStrike"/>
                        <a:t>85%</a:t>
                      </a:r>
                      <a:endParaRPr b="0" i="0" sz="1200" u="none" cap="none" strike="noStrike">
                        <a:solidFill>
                          <a:srgbClr val="000000"/>
                        </a:solidFill>
                        <a:latin typeface="Calibri"/>
                        <a:ea typeface="Calibri"/>
                        <a:cs typeface="Calibri"/>
                        <a:sym typeface="Calibri"/>
                      </a:endParaRPr>
                    </a:p>
                  </a:txBody>
                  <a:tcPr marT="9525" marB="0" marR="9525" marL="9525" anchor="b"/>
                </a:tc>
              </a:tr>
              <a:tr h="295925">
                <a:tc>
                  <a:txBody>
                    <a:bodyPr/>
                    <a:lstStyle/>
                    <a:p>
                      <a:pPr indent="0" lvl="0" marL="0" marR="0" rtl="0" algn="ctr">
                        <a:lnSpc>
                          <a:spcPct val="100000"/>
                        </a:lnSpc>
                        <a:spcBef>
                          <a:spcPts val="0"/>
                        </a:spcBef>
                        <a:spcAft>
                          <a:spcPts val="0"/>
                        </a:spcAft>
                        <a:buClr>
                          <a:srgbClr val="000000"/>
                        </a:buClr>
                        <a:buSzPts val="1200"/>
                        <a:buFont typeface="Arial"/>
                        <a:buNone/>
                      </a:pPr>
                      <a:r>
                        <a:rPr lang="en-US" sz="1200" u="none" cap="none" strike="noStrike"/>
                        <a:t>2014</a:t>
                      </a:r>
                      <a:endParaRPr b="0" i="0" sz="1200" u="none" cap="none" strike="noStrike">
                        <a:solidFill>
                          <a:srgbClr val="000000"/>
                        </a:solidFill>
                        <a:latin typeface="Calibri"/>
                        <a:ea typeface="Calibri"/>
                        <a:cs typeface="Calibri"/>
                        <a:sym typeface="Calibri"/>
                      </a:endParaRPr>
                    </a:p>
                  </a:txBody>
                  <a:tcPr marT="9525" marB="0" marR="9525" marL="9525" anchor="b"/>
                </a:tc>
                <a:tc>
                  <a:txBody>
                    <a:bodyPr/>
                    <a:lstStyle/>
                    <a:p>
                      <a:pPr indent="0" lvl="0" marL="0" marR="0" rtl="0" algn="ctr">
                        <a:lnSpc>
                          <a:spcPct val="100000"/>
                        </a:lnSpc>
                        <a:spcBef>
                          <a:spcPts val="0"/>
                        </a:spcBef>
                        <a:spcAft>
                          <a:spcPts val="0"/>
                        </a:spcAft>
                        <a:buClr>
                          <a:srgbClr val="000000"/>
                        </a:buClr>
                        <a:buSzPts val="1200"/>
                        <a:buFont typeface="Arial"/>
                        <a:buNone/>
                      </a:pPr>
                      <a:r>
                        <a:rPr lang="en-US" sz="1200" u="none" cap="none" strike="noStrike"/>
                        <a:t>10%</a:t>
                      </a:r>
                      <a:endParaRPr b="0" i="0" sz="1200" u="none" cap="none" strike="noStrike">
                        <a:solidFill>
                          <a:srgbClr val="000000"/>
                        </a:solidFill>
                        <a:latin typeface="Calibri"/>
                        <a:ea typeface="Calibri"/>
                        <a:cs typeface="Calibri"/>
                        <a:sym typeface="Calibri"/>
                      </a:endParaRPr>
                    </a:p>
                  </a:txBody>
                  <a:tcPr marT="9525" marB="0" marR="9525" marL="9525" anchor="b"/>
                </a:tc>
                <a:tc>
                  <a:txBody>
                    <a:bodyPr/>
                    <a:lstStyle/>
                    <a:p>
                      <a:pPr indent="0" lvl="0" marL="0" marR="0" rtl="0" algn="ctr">
                        <a:lnSpc>
                          <a:spcPct val="100000"/>
                        </a:lnSpc>
                        <a:spcBef>
                          <a:spcPts val="0"/>
                        </a:spcBef>
                        <a:spcAft>
                          <a:spcPts val="0"/>
                        </a:spcAft>
                        <a:buClr>
                          <a:srgbClr val="000000"/>
                        </a:buClr>
                        <a:buSzPts val="1200"/>
                        <a:buFont typeface="Arial"/>
                        <a:buNone/>
                      </a:pPr>
                      <a:r>
                        <a:rPr lang="en-US" sz="1200" u="none" cap="none" strike="noStrike"/>
                        <a:t>80%</a:t>
                      </a:r>
                      <a:endParaRPr b="0" i="0" sz="1200" u="none" cap="none" strike="noStrike">
                        <a:solidFill>
                          <a:srgbClr val="000000"/>
                        </a:solidFill>
                        <a:latin typeface="Calibri"/>
                        <a:ea typeface="Calibri"/>
                        <a:cs typeface="Calibri"/>
                        <a:sym typeface="Calibri"/>
                      </a:endParaRPr>
                    </a:p>
                  </a:txBody>
                  <a:tcPr marT="9525" marB="0" marR="9525" marL="9525" anchor="b"/>
                </a:tc>
              </a:tr>
              <a:tr h="295925">
                <a:tc>
                  <a:txBody>
                    <a:bodyPr/>
                    <a:lstStyle/>
                    <a:p>
                      <a:pPr indent="0" lvl="0" marL="0" marR="0" rtl="0" algn="ctr">
                        <a:lnSpc>
                          <a:spcPct val="100000"/>
                        </a:lnSpc>
                        <a:spcBef>
                          <a:spcPts val="0"/>
                        </a:spcBef>
                        <a:spcAft>
                          <a:spcPts val="0"/>
                        </a:spcAft>
                        <a:buClr>
                          <a:srgbClr val="000000"/>
                        </a:buClr>
                        <a:buSzPts val="1200"/>
                        <a:buFont typeface="Arial"/>
                        <a:buNone/>
                      </a:pPr>
                      <a:r>
                        <a:rPr lang="en-US" sz="1200" u="none" cap="none" strike="noStrike"/>
                        <a:t>2015</a:t>
                      </a:r>
                      <a:endParaRPr b="0" i="0" sz="1200" u="none" cap="none" strike="noStrike">
                        <a:solidFill>
                          <a:srgbClr val="000000"/>
                        </a:solidFill>
                        <a:latin typeface="Calibri"/>
                        <a:ea typeface="Calibri"/>
                        <a:cs typeface="Calibri"/>
                        <a:sym typeface="Calibri"/>
                      </a:endParaRPr>
                    </a:p>
                  </a:txBody>
                  <a:tcPr marT="9525" marB="0" marR="9525" marL="9525" anchor="b"/>
                </a:tc>
                <a:tc>
                  <a:txBody>
                    <a:bodyPr/>
                    <a:lstStyle/>
                    <a:p>
                      <a:pPr indent="0" lvl="0" marL="0" marR="0" rtl="0" algn="ctr">
                        <a:lnSpc>
                          <a:spcPct val="100000"/>
                        </a:lnSpc>
                        <a:spcBef>
                          <a:spcPts val="0"/>
                        </a:spcBef>
                        <a:spcAft>
                          <a:spcPts val="0"/>
                        </a:spcAft>
                        <a:buClr>
                          <a:srgbClr val="000000"/>
                        </a:buClr>
                        <a:buSzPts val="1200"/>
                        <a:buFont typeface="Arial"/>
                        <a:buNone/>
                      </a:pPr>
                      <a:r>
                        <a:rPr lang="en-US" sz="1200" u="none" cap="none" strike="noStrike"/>
                        <a:t>10%</a:t>
                      </a:r>
                      <a:endParaRPr b="0" i="0" sz="1200" u="none" cap="none" strike="noStrike">
                        <a:solidFill>
                          <a:srgbClr val="000000"/>
                        </a:solidFill>
                        <a:latin typeface="Calibri"/>
                        <a:ea typeface="Calibri"/>
                        <a:cs typeface="Calibri"/>
                        <a:sym typeface="Calibri"/>
                      </a:endParaRPr>
                    </a:p>
                  </a:txBody>
                  <a:tcPr marT="9525" marB="0" marR="9525" marL="9525" anchor="b"/>
                </a:tc>
                <a:tc>
                  <a:txBody>
                    <a:bodyPr/>
                    <a:lstStyle/>
                    <a:p>
                      <a:pPr indent="0" lvl="0" marL="0" marR="0" rtl="0" algn="ctr">
                        <a:lnSpc>
                          <a:spcPct val="100000"/>
                        </a:lnSpc>
                        <a:spcBef>
                          <a:spcPts val="0"/>
                        </a:spcBef>
                        <a:spcAft>
                          <a:spcPts val="0"/>
                        </a:spcAft>
                        <a:buClr>
                          <a:srgbClr val="000000"/>
                        </a:buClr>
                        <a:buSzPts val="1200"/>
                        <a:buFont typeface="Arial"/>
                        <a:buNone/>
                      </a:pPr>
                      <a:r>
                        <a:rPr lang="en-US" sz="1200" u="none" cap="none" strike="noStrike"/>
                        <a:t>75%</a:t>
                      </a:r>
                      <a:endParaRPr b="0" i="0" sz="1200" u="none" cap="none" strike="noStrike">
                        <a:solidFill>
                          <a:srgbClr val="000000"/>
                        </a:solidFill>
                        <a:latin typeface="Calibri"/>
                        <a:ea typeface="Calibri"/>
                        <a:cs typeface="Calibri"/>
                        <a:sym typeface="Calibri"/>
                      </a:endParaRPr>
                    </a:p>
                  </a:txBody>
                  <a:tcPr marT="9525" marB="0" marR="9525" marL="9525" anchor="b"/>
                </a:tc>
              </a:tr>
              <a:tr h="295925">
                <a:tc>
                  <a:txBody>
                    <a:bodyPr/>
                    <a:lstStyle/>
                    <a:p>
                      <a:pPr indent="0" lvl="0" marL="0" marR="0" rtl="0" algn="ctr">
                        <a:lnSpc>
                          <a:spcPct val="100000"/>
                        </a:lnSpc>
                        <a:spcBef>
                          <a:spcPts val="0"/>
                        </a:spcBef>
                        <a:spcAft>
                          <a:spcPts val="0"/>
                        </a:spcAft>
                        <a:buClr>
                          <a:srgbClr val="000000"/>
                        </a:buClr>
                        <a:buSzPts val="1200"/>
                        <a:buFont typeface="Arial"/>
                        <a:buNone/>
                      </a:pPr>
                      <a:r>
                        <a:rPr lang="en-US" sz="1200" u="none" cap="none" strike="noStrike"/>
                        <a:t>2016</a:t>
                      </a:r>
                      <a:endParaRPr b="0" i="0" sz="1200" u="none" cap="none" strike="noStrike">
                        <a:solidFill>
                          <a:srgbClr val="000000"/>
                        </a:solidFill>
                        <a:latin typeface="Calibri"/>
                        <a:ea typeface="Calibri"/>
                        <a:cs typeface="Calibri"/>
                        <a:sym typeface="Calibri"/>
                      </a:endParaRPr>
                    </a:p>
                  </a:txBody>
                  <a:tcPr marT="9525" marB="0" marR="9525" marL="9525" anchor="b"/>
                </a:tc>
                <a:tc>
                  <a:txBody>
                    <a:bodyPr/>
                    <a:lstStyle/>
                    <a:p>
                      <a:pPr indent="0" lvl="0" marL="0" marR="0" rtl="0" algn="ctr">
                        <a:lnSpc>
                          <a:spcPct val="100000"/>
                        </a:lnSpc>
                        <a:spcBef>
                          <a:spcPts val="0"/>
                        </a:spcBef>
                        <a:spcAft>
                          <a:spcPts val="0"/>
                        </a:spcAft>
                        <a:buClr>
                          <a:srgbClr val="000000"/>
                        </a:buClr>
                        <a:buSzPts val="1200"/>
                        <a:buFont typeface="Arial"/>
                        <a:buNone/>
                      </a:pPr>
                      <a:r>
                        <a:rPr lang="en-US" sz="1200" u="none" cap="none" strike="noStrike"/>
                        <a:t>10%</a:t>
                      </a:r>
                      <a:endParaRPr b="0" i="0" sz="1200" u="none" cap="none" strike="noStrike">
                        <a:solidFill>
                          <a:srgbClr val="000000"/>
                        </a:solidFill>
                        <a:latin typeface="Calibri"/>
                        <a:ea typeface="Calibri"/>
                        <a:cs typeface="Calibri"/>
                        <a:sym typeface="Calibri"/>
                      </a:endParaRPr>
                    </a:p>
                  </a:txBody>
                  <a:tcPr marT="9525" marB="0" marR="9525" marL="9525" anchor="b"/>
                </a:tc>
                <a:tc>
                  <a:txBody>
                    <a:bodyPr/>
                    <a:lstStyle/>
                    <a:p>
                      <a:pPr indent="0" lvl="0" marL="0" marR="0" rtl="0" algn="ctr">
                        <a:lnSpc>
                          <a:spcPct val="100000"/>
                        </a:lnSpc>
                        <a:spcBef>
                          <a:spcPts val="0"/>
                        </a:spcBef>
                        <a:spcAft>
                          <a:spcPts val="0"/>
                        </a:spcAft>
                        <a:buClr>
                          <a:srgbClr val="000000"/>
                        </a:buClr>
                        <a:buSzPts val="1200"/>
                        <a:buFont typeface="Arial"/>
                        <a:buNone/>
                      </a:pPr>
                      <a:r>
                        <a:rPr lang="en-US" sz="1200" u="none" cap="none" strike="noStrike"/>
                        <a:t>70%</a:t>
                      </a:r>
                      <a:endParaRPr b="0" i="0" sz="1200" u="none" cap="none" strike="noStrike">
                        <a:solidFill>
                          <a:srgbClr val="000000"/>
                        </a:solidFill>
                        <a:latin typeface="Calibri"/>
                        <a:ea typeface="Calibri"/>
                        <a:cs typeface="Calibri"/>
                        <a:sym typeface="Calibri"/>
                      </a:endParaRPr>
                    </a:p>
                  </a:txBody>
                  <a:tcPr marT="9525" marB="0" marR="9525" marL="9525" anchor="b"/>
                </a:tc>
              </a:tr>
            </a:tbl>
          </a:graphicData>
        </a:graphic>
      </p:graphicFrame>
      <p:sp>
        <p:nvSpPr>
          <p:cNvPr id="957" name="Google Shape;957;p67"/>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p68"/>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Timeshare Exchange Co. – Exhibit 2</a:t>
            </a:r>
            <a:endParaRPr/>
          </a:p>
        </p:txBody>
      </p:sp>
      <p:graphicFrame>
        <p:nvGraphicFramePr>
          <p:cNvPr id="963" name="Google Shape;963;p68"/>
          <p:cNvGraphicFramePr/>
          <p:nvPr/>
        </p:nvGraphicFramePr>
        <p:xfrm>
          <a:off x="817218" y="1533731"/>
          <a:ext cx="5693434" cy="3989717"/>
        </p:xfrm>
        <a:graphic>
          <a:graphicData uri="http://schemas.openxmlformats.org/drawingml/2006/chart">
            <c:chart r:id="rId3"/>
          </a:graphicData>
        </a:graphic>
      </p:graphicFrame>
      <p:graphicFrame>
        <p:nvGraphicFramePr>
          <p:cNvPr id="964" name="Google Shape;964;p68"/>
          <p:cNvGraphicFramePr/>
          <p:nvPr/>
        </p:nvGraphicFramePr>
        <p:xfrm>
          <a:off x="6697676" y="2480153"/>
          <a:ext cx="3000000" cy="3000000"/>
        </p:xfrm>
        <a:graphic>
          <a:graphicData uri="http://schemas.openxmlformats.org/drawingml/2006/table">
            <a:tbl>
              <a:tblPr>
                <a:noFill/>
                <a:tableStyleId>{C1FB10B7-FF90-4F46-8F30-8EB883CFDCC7}</a:tableStyleId>
              </a:tblPr>
              <a:tblGrid>
                <a:gridCol w="1769925"/>
              </a:tblGrid>
              <a:tr h="605975">
                <a:tc>
                  <a:txBody>
                    <a:bodyPr/>
                    <a:lstStyle/>
                    <a:p>
                      <a:pPr indent="0" lvl="0" marL="0" marR="0" rtl="0" algn="ctr">
                        <a:lnSpc>
                          <a:spcPct val="100000"/>
                        </a:lnSpc>
                        <a:spcBef>
                          <a:spcPts val="0"/>
                        </a:spcBef>
                        <a:spcAft>
                          <a:spcPts val="0"/>
                        </a:spcAft>
                        <a:buClr>
                          <a:srgbClr val="000000"/>
                        </a:buClr>
                        <a:buSzPts val="1600"/>
                        <a:buFont typeface="Arial"/>
                        <a:buNone/>
                      </a:pPr>
                      <a:r>
                        <a:rPr b="1" lang="en-US" sz="1600" u="none" cap="none" strike="noStrike"/>
                        <a:t>Large Clubs </a:t>
                      </a:r>
                      <a:endParaRPr sz="1400" u="none" cap="none" strike="noStrike"/>
                    </a:p>
                    <a:p>
                      <a:pPr indent="0" lvl="0" marL="0" marR="0" rtl="0" algn="ctr">
                        <a:lnSpc>
                          <a:spcPct val="100000"/>
                        </a:lnSpc>
                        <a:spcBef>
                          <a:spcPts val="0"/>
                        </a:spcBef>
                        <a:spcAft>
                          <a:spcPts val="0"/>
                        </a:spcAft>
                        <a:buClr>
                          <a:srgbClr val="000000"/>
                        </a:buClr>
                        <a:buSzPts val="1600"/>
                        <a:buFont typeface="Arial"/>
                        <a:buNone/>
                      </a:pPr>
                      <a:r>
                        <a:rPr lang="en-US" sz="1600" u="none" cap="none" strike="noStrike"/>
                        <a:t>(Hilton, Mariott etc.) </a:t>
                      </a:r>
                      <a:endParaRPr b="0" i="0" sz="1600" u="none" cap="none" strike="noStrike">
                        <a:solidFill>
                          <a:srgbClr val="000000"/>
                        </a:solidFill>
                        <a:latin typeface="Calibri"/>
                        <a:ea typeface="Calibri"/>
                        <a:cs typeface="Calibri"/>
                        <a:sym typeface="Calibri"/>
                      </a:endParaRPr>
                    </a:p>
                  </a:txBody>
                  <a:tcPr marT="9525" marB="0" marR="9525" marL="9525" anchor="ctr"/>
                </a:tc>
              </a:tr>
              <a:tr h="903150">
                <a:tc>
                  <a:txBody>
                    <a:bodyPr/>
                    <a:lstStyle/>
                    <a:p>
                      <a:pPr indent="0" lvl="0" marL="0" marR="0" rtl="0" algn="ctr">
                        <a:lnSpc>
                          <a:spcPct val="100000"/>
                        </a:lnSpc>
                        <a:spcBef>
                          <a:spcPts val="0"/>
                        </a:spcBef>
                        <a:spcAft>
                          <a:spcPts val="0"/>
                        </a:spcAft>
                        <a:buClr>
                          <a:srgbClr val="000000"/>
                        </a:buClr>
                        <a:buSzPts val="1600"/>
                        <a:buFont typeface="Arial"/>
                        <a:buNone/>
                      </a:pPr>
                      <a:r>
                        <a:rPr b="1" lang="en-US" sz="1600" u="none" cap="none" strike="noStrike"/>
                        <a:t>Medium Clubs </a:t>
                      </a:r>
                      <a:r>
                        <a:rPr lang="en-US" sz="1600" u="none" cap="none" strike="noStrike"/>
                        <a:t>(Disney, Hawaii Hotel Company etc.) </a:t>
                      </a:r>
                      <a:endParaRPr b="0" i="0" sz="1600" u="none" cap="none" strike="noStrike">
                        <a:solidFill>
                          <a:srgbClr val="000000"/>
                        </a:solidFill>
                        <a:latin typeface="Calibri"/>
                        <a:ea typeface="Calibri"/>
                        <a:cs typeface="Calibri"/>
                        <a:sym typeface="Calibri"/>
                      </a:endParaRPr>
                    </a:p>
                  </a:txBody>
                  <a:tcPr marT="9525" marB="0" marR="9525" marL="9525" anchor="ctr"/>
                </a:tc>
              </a:tr>
              <a:tr h="903150">
                <a:tc>
                  <a:txBody>
                    <a:bodyPr/>
                    <a:lstStyle/>
                    <a:p>
                      <a:pPr indent="0" lvl="0" marL="0" marR="0" rtl="0" algn="ctr">
                        <a:lnSpc>
                          <a:spcPct val="100000"/>
                        </a:lnSpc>
                        <a:spcBef>
                          <a:spcPts val="0"/>
                        </a:spcBef>
                        <a:spcAft>
                          <a:spcPts val="0"/>
                        </a:spcAft>
                        <a:buClr>
                          <a:srgbClr val="000000"/>
                        </a:buClr>
                        <a:buSzPts val="1600"/>
                        <a:buFont typeface="Arial"/>
                        <a:buNone/>
                      </a:pPr>
                      <a:r>
                        <a:rPr b="1" lang="en-US" sz="1600" u="none" cap="none" strike="noStrike"/>
                        <a:t>Small Clubs </a:t>
                      </a:r>
                      <a:r>
                        <a:rPr lang="en-US" sz="1600" u="none" cap="none" strike="noStrike"/>
                        <a:t>(Individual homeowner groups) </a:t>
                      </a:r>
                      <a:endParaRPr b="0" i="0" sz="1600" u="none" cap="none" strike="noStrike">
                        <a:solidFill>
                          <a:srgbClr val="000000"/>
                        </a:solidFill>
                        <a:latin typeface="Calibri"/>
                        <a:ea typeface="Calibri"/>
                        <a:cs typeface="Calibri"/>
                        <a:sym typeface="Calibri"/>
                      </a:endParaRPr>
                    </a:p>
                  </a:txBody>
                  <a:tcPr marT="9525" marB="0" marR="9525" marL="9525" anchor="ctr"/>
                </a:tc>
              </a:tr>
            </a:tbl>
          </a:graphicData>
        </a:graphic>
      </p:graphicFrame>
      <p:sp>
        <p:nvSpPr>
          <p:cNvPr id="965" name="Google Shape;965;p68"/>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9" name="Shape 969"/>
        <p:cNvGrpSpPr/>
        <p:nvPr/>
      </p:nvGrpSpPr>
      <p:grpSpPr>
        <a:xfrm>
          <a:off x="0" y="0"/>
          <a:ext cx="0" cy="0"/>
          <a:chOff x="0" y="0"/>
          <a:chExt cx="0" cy="0"/>
        </a:xfrm>
      </p:grpSpPr>
      <p:sp>
        <p:nvSpPr>
          <p:cNvPr id="970" name="Google Shape;970;p69"/>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Timeshare Exchange Co.</a:t>
            </a:r>
            <a:endParaRPr/>
          </a:p>
        </p:txBody>
      </p:sp>
      <p:sp>
        <p:nvSpPr>
          <p:cNvPr id="971" name="Google Shape;971;p69"/>
          <p:cNvSpPr txBox="1"/>
          <p:nvPr>
            <p:ph idx="1" type="body"/>
          </p:nvPr>
        </p:nvSpPr>
        <p:spPr>
          <a:xfrm>
            <a:off x="381001" y="1283365"/>
            <a:ext cx="8341656" cy="2209300"/>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1" marL="1588" rtl="0" algn="l">
              <a:lnSpc>
                <a:spcPct val="100000"/>
              </a:lnSpc>
              <a:spcBef>
                <a:spcPts val="0"/>
              </a:spcBef>
              <a:spcAft>
                <a:spcPts val="0"/>
              </a:spcAft>
              <a:buSzPts val="1400"/>
              <a:buNone/>
            </a:pPr>
            <a:r>
              <a:rPr lang="en-US"/>
              <a:t>Customer mix has changed drastically. Potential reasons for change and impact on customer mix: </a:t>
            </a:r>
            <a:endParaRPr/>
          </a:p>
          <a:p>
            <a:pPr indent="-274313" lvl="1" marL="274313" rtl="0" algn="l">
              <a:lnSpc>
                <a:spcPct val="100000"/>
              </a:lnSpc>
              <a:spcBef>
                <a:spcPts val="300"/>
              </a:spcBef>
              <a:spcAft>
                <a:spcPts val="0"/>
              </a:spcAft>
              <a:buSzPts val="1400"/>
              <a:buFont typeface="Calibri"/>
              <a:buChar char="-"/>
            </a:pPr>
            <a:r>
              <a:rPr lang="en-US"/>
              <a:t>The number of timeshares has increased, However, as clubs get larger, they now are capable of providing a strong range of timeshares within their network.  </a:t>
            </a:r>
            <a:endParaRPr/>
          </a:p>
          <a:p>
            <a:pPr indent="-274313" lvl="1" marL="274313" rtl="0" algn="l">
              <a:lnSpc>
                <a:spcPct val="100000"/>
              </a:lnSpc>
              <a:spcBef>
                <a:spcPts val="300"/>
              </a:spcBef>
              <a:spcAft>
                <a:spcPts val="0"/>
              </a:spcAft>
              <a:buSzPts val="1400"/>
              <a:buFont typeface="Calibri"/>
              <a:buChar char="-"/>
            </a:pPr>
            <a:r>
              <a:rPr lang="en-US"/>
              <a:t>Members don’t need the exchange as much. Industry is shifting towards members buying timeshare not for exchange purposes, but because of resorts they like to visit yearly (ie. Disney) because of their unique selling proposition. </a:t>
            </a:r>
            <a:endParaRPr/>
          </a:p>
          <a:p>
            <a:pPr indent="-274313" lvl="1" marL="274313" rtl="0" algn="l">
              <a:lnSpc>
                <a:spcPct val="100000"/>
              </a:lnSpc>
              <a:spcBef>
                <a:spcPts val="300"/>
              </a:spcBef>
              <a:spcAft>
                <a:spcPts val="0"/>
              </a:spcAft>
              <a:buSzPts val="1400"/>
              <a:buFont typeface="Calibri"/>
              <a:buChar char="-"/>
            </a:pPr>
            <a:r>
              <a:rPr lang="en-US"/>
              <a:t>If travelers want to try different locations, vacation rental sites like AirBnB is preferred. </a:t>
            </a:r>
            <a:endParaRPr/>
          </a:p>
        </p:txBody>
      </p:sp>
      <p:sp>
        <p:nvSpPr>
          <p:cNvPr id="972" name="Google Shape;972;p69"/>
          <p:cNvSpPr txBox="1"/>
          <p:nvPr>
            <p:ph idx="2" type="body"/>
          </p:nvPr>
        </p:nvSpPr>
        <p:spPr>
          <a:xfrm>
            <a:off x="381001" y="3965567"/>
            <a:ext cx="8341656" cy="2236883"/>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Font typeface="Calibri"/>
              <a:buNone/>
            </a:pPr>
            <a:r>
              <a:rPr lang="en-US"/>
              <a:t>Ask candidate to brainstorm options, discuss procs &amp; cons and select a strong option. </a:t>
            </a:r>
            <a:endParaRPr/>
          </a:p>
          <a:p>
            <a:pPr indent="0" lvl="0" marL="0" rtl="0" algn="l">
              <a:lnSpc>
                <a:spcPct val="100000"/>
              </a:lnSpc>
              <a:spcBef>
                <a:spcPts val="300"/>
              </a:spcBef>
              <a:spcAft>
                <a:spcPts val="0"/>
              </a:spcAft>
              <a:buSzPts val="1400"/>
              <a:buFont typeface="Calibri"/>
              <a:buNone/>
            </a:pPr>
            <a:r>
              <a:rPr b="1" lang="en-US"/>
              <a:t>Organic options: </a:t>
            </a:r>
            <a:endParaRPr/>
          </a:p>
          <a:p>
            <a:pPr indent="-274313" lvl="1" marL="274313" rtl="0" algn="l">
              <a:lnSpc>
                <a:spcPct val="100000"/>
              </a:lnSpc>
              <a:spcBef>
                <a:spcPts val="300"/>
              </a:spcBef>
              <a:spcAft>
                <a:spcPts val="0"/>
              </a:spcAft>
              <a:buSzPts val="1400"/>
              <a:buChar char="•"/>
            </a:pPr>
            <a:r>
              <a:rPr lang="en-US"/>
              <a:t>Focus on their current business model – reduce costs, try to attract more customers, change pricing structure (tiered pricing, different servicing)  </a:t>
            </a:r>
            <a:endParaRPr/>
          </a:p>
          <a:p>
            <a:pPr indent="-274313" lvl="1" marL="274313" rtl="0" algn="l">
              <a:lnSpc>
                <a:spcPct val="100000"/>
              </a:lnSpc>
              <a:spcBef>
                <a:spcPts val="300"/>
              </a:spcBef>
              <a:spcAft>
                <a:spcPts val="0"/>
              </a:spcAft>
              <a:buSzPts val="1400"/>
              <a:buChar char="•"/>
            </a:pPr>
            <a:r>
              <a:rPr lang="en-US"/>
              <a:t>Explore alternative options that capitalize on their strengths as an exchange platform – Exchange cars, exchange homestays </a:t>
            </a:r>
            <a:endParaRPr/>
          </a:p>
          <a:p>
            <a:pPr indent="-274313" lvl="1" marL="274313" rtl="0" algn="l">
              <a:lnSpc>
                <a:spcPct val="100000"/>
              </a:lnSpc>
              <a:spcBef>
                <a:spcPts val="300"/>
              </a:spcBef>
              <a:spcAft>
                <a:spcPts val="0"/>
              </a:spcAft>
              <a:buSzPts val="1400"/>
              <a:buChar char="•"/>
            </a:pPr>
            <a:r>
              <a:rPr lang="en-US"/>
              <a:t>Other business models within industry – timeshare rental (put up timeshare in AirBnb etc.), timeshare resale </a:t>
            </a:r>
            <a:endParaRPr/>
          </a:p>
          <a:p>
            <a:pPr indent="0" lvl="0" marL="0" rtl="0" algn="l">
              <a:lnSpc>
                <a:spcPct val="100000"/>
              </a:lnSpc>
              <a:spcBef>
                <a:spcPts val="300"/>
              </a:spcBef>
              <a:spcAft>
                <a:spcPts val="0"/>
              </a:spcAft>
              <a:buSzPts val="1400"/>
              <a:buFont typeface="Calibri"/>
              <a:buNone/>
            </a:pPr>
            <a:r>
              <a:rPr b="1" lang="en-US"/>
              <a:t>Inorganic options: </a:t>
            </a:r>
            <a:endParaRPr/>
          </a:p>
          <a:p>
            <a:pPr indent="-274313" lvl="1" marL="274313" rtl="0" algn="l">
              <a:lnSpc>
                <a:spcPct val="100000"/>
              </a:lnSpc>
              <a:spcBef>
                <a:spcPts val="300"/>
              </a:spcBef>
              <a:spcAft>
                <a:spcPts val="0"/>
              </a:spcAft>
              <a:buSzPts val="1400"/>
              <a:buChar char="•"/>
            </a:pPr>
            <a:r>
              <a:rPr lang="en-US"/>
              <a:t>JV or acquisition of competitor – gain pricing power and larger range of timeshare “products” </a:t>
            </a:r>
            <a:endParaRPr/>
          </a:p>
        </p:txBody>
      </p:sp>
      <p:sp>
        <p:nvSpPr>
          <p:cNvPr id="973" name="Google Shape;973;p69"/>
          <p:cNvSpPr txBox="1"/>
          <p:nvPr>
            <p:ph idx="3" type="body"/>
          </p:nvPr>
        </p:nvSpPr>
        <p:spPr>
          <a:xfrm>
            <a:off x="503321" y="1022905"/>
            <a:ext cx="8126332"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Key Insights from Exhibit 2</a:t>
            </a:r>
            <a:endParaRPr/>
          </a:p>
        </p:txBody>
      </p:sp>
      <p:sp>
        <p:nvSpPr>
          <p:cNvPr id="974" name="Google Shape;974;p69"/>
          <p:cNvSpPr txBox="1"/>
          <p:nvPr>
            <p:ph idx="4" type="body"/>
          </p:nvPr>
        </p:nvSpPr>
        <p:spPr>
          <a:xfrm>
            <a:off x="515348" y="3688067"/>
            <a:ext cx="8126332"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Strategy to Mitigate Industry Trends</a:t>
            </a:r>
            <a:endParaRPr/>
          </a:p>
        </p:txBody>
      </p:sp>
      <p:sp>
        <p:nvSpPr>
          <p:cNvPr id="975" name="Google Shape;975;p69"/>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9" name="Shape 979"/>
        <p:cNvGrpSpPr/>
        <p:nvPr/>
      </p:nvGrpSpPr>
      <p:grpSpPr>
        <a:xfrm>
          <a:off x="0" y="0"/>
          <a:ext cx="0" cy="0"/>
          <a:chOff x="0" y="0"/>
          <a:chExt cx="0" cy="0"/>
        </a:xfrm>
      </p:grpSpPr>
      <p:sp>
        <p:nvSpPr>
          <p:cNvPr id="980" name="Google Shape;980;p70"/>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Timeshare Exchange Co.</a:t>
            </a:r>
            <a:endParaRPr/>
          </a:p>
        </p:txBody>
      </p:sp>
      <p:sp>
        <p:nvSpPr>
          <p:cNvPr id="981" name="Google Shape;981;p70"/>
          <p:cNvSpPr txBox="1"/>
          <p:nvPr>
            <p:ph idx="1" type="body"/>
          </p:nvPr>
        </p:nvSpPr>
        <p:spPr>
          <a:xfrm>
            <a:off x="503321" y="4783980"/>
            <a:ext cx="8126332" cy="277497"/>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Excellent Case Insights</a:t>
            </a:r>
            <a:endParaRPr/>
          </a:p>
        </p:txBody>
      </p:sp>
      <p:sp>
        <p:nvSpPr>
          <p:cNvPr id="982" name="Google Shape;982;p70"/>
          <p:cNvSpPr txBox="1"/>
          <p:nvPr>
            <p:ph idx="2" type="body"/>
          </p:nvPr>
        </p:nvSpPr>
        <p:spPr>
          <a:xfrm>
            <a:off x="381001" y="5032406"/>
            <a:ext cx="8341656" cy="1243266"/>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Font typeface="Calibri"/>
              <a:buNone/>
            </a:pPr>
            <a:r>
              <a:rPr lang="en-US"/>
              <a:t>Excellent case will demonstrate strong creative ability in brainstorming exercise capturing many of the listed suggestions with strong, logical pros and cons. </a:t>
            </a:r>
            <a:endParaRPr/>
          </a:p>
        </p:txBody>
      </p:sp>
      <p:sp>
        <p:nvSpPr>
          <p:cNvPr id="983" name="Google Shape;983;p70"/>
          <p:cNvSpPr txBox="1"/>
          <p:nvPr>
            <p:ph idx="3" type="body"/>
          </p:nvPr>
        </p:nvSpPr>
        <p:spPr>
          <a:xfrm>
            <a:off x="500316" y="984562"/>
            <a:ext cx="8126332" cy="277497"/>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Solution and Recommendations</a:t>
            </a:r>
            <a:endParaRPr/>
          </a:p>
        </p:txBody>
      </p:sp>
      <p:sp>
        <p:nvSpPr>
          <p:cNvPr id="984" name="Google Shape;984;p70"/>
          <p:cNvSpPr txBox="1"/>
          <p:nvPr>
            <p:ph idx="4" type="body"/>
          </p:nvPr>
        </p:nvSpPr>
        <p:spPr>
          <a:xfrm>
            <a:off x="387140" y="1232987"/>
            <a:ext cx="8341656" cy="3368649"/>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1" marL="1588" rtl="0" algn="l">
              <a:lnSpc>
                <a:spcPct val="100000"/>
              </a:lnSpc>
              <a:spcBef>
                <a:spcPts val="0"/>
              </a:spcBef>
              <a:spcAft>
                <a:spcPts val="0"/>
              </a:spcAft>
              <a:buSzPts val="1400"/>
              <a:buNone/>
            </a:pPr>
            <a:r>
              <a:rPr lang="en-US"/>
              <a:t>Industry is shifting (summarize shifts within customer mix, spending on exchange patterns) so client needs to invest resources to meet head on. Select any of the brainstormed options with strong support of pros &amp; cons. </a:t>
            </a:r>
            <a:endParaRPr/>
          </a:p>
          <a:p>
            <a:pPr indent="0" lvl="1" marL="1588" rtl="0" algn="l">
              <a:lnSpc>
                <a:spcPct val="100000"/>
              </a:lnSpc>
              <a:spcBef>
                <a:spcPts val="300"/>
              </a:spcBef>
              <a:spcAft>
                <a:spcPts val="0"/>
              </a:spcAft>
              <a:buSzPts val="1400"/>
              <a:buNone/>
            </a:pPr>
            <a:r>
              <a:t/>
            </a:r>
            <a:endParaRPr/>
          </a:p>
          <a:p>
            <a:pPr indent="0" lvl="1" marL="1588" rtl="0" algn="l">
              <a:lnSpc>
                <a:spcPct val="100000"/>
              </a:lnSpc>
              <a:spcBef>
                <a:spcPts val="300"/>
              </a:spcBef>
              <a:spcAft>
                <a:spcPts val="0"/>
              </a:spcAft>
              <a:buSzPts val="1400"/>
              <a:buNone/>
            </a:pPr>
            <a:r>
              <a:rPr lang="en-US"/>
              <a:t>Risks: </a:t>
            </a:r>
            <a:endParaRPr/>
          </a:p>
          <a:p>
            <a:pPr indent="-274313" lvl="1" marL="274313" rtl="0" algn="l">
              <a:lnSpc>
                <a:spcPct val="100000"/>
              </a:lnSpc>
              <a:spcBef>
                <a:spcPts val="300"/>
              </a:spcBef>
              <a:spcAft>
                <a:spcPts val="0"/>
              </a:spcAft>
              <a:buSzPts val="1400"/>
              <a:buFont typeface="Calibri"/>
              <a:buChar char="-"/>
            </a:pPr>
            <a:r>
              <a:rPr lang="en-US"/>
              <a:t>Stagnating growth, declining industry so need to act </a:t>
            </a:r>
            <a:endParaRPr/>
          </a:p>
          <a:p>
            <a:pPr indent="-274313" lvl="1" marL="274313" rtl="0" algn="l">
              <a:lnSpc>
                <a:spcPct val="100000"/>
              </a:lnSpc>
              <a:spcBef>
                <a:spcPts val="300"/>
              </a:spcBef>
              <a:spcAft>
                <a:spcPts val="0"/>
              </a:spcAft>
              <a:buSzPts val="1400"/>
              <a:buFont typeface="Calibri"/>
              <a:buChar char="-"/>
            </a:pPr>
            <a:r>
              <a:rPr lang="en-US"/>
              <a:t>Cons for recommendations are risks </a:t>
            </a:r>
            <a:endParaRPr/>
          </a:p>
        </p:txBody>
      </p:sp>
      <p:sp>
        <p:nvSpPr>
          <p:cNvPr id="985" name="Google Shape;985;p70"/>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9" name="Shape 989"/>
        <p:cNvGrpSpPr/>
        <p:nvPr/>
      </p:nvGrpSpPr>
      <p:grpSpPr>
        <a:xfrm>
          <a:off x="0" y="0"/>
          <a:ext cx="0" cy="0"/>
          <a:chOff x="0" y="0"/>
          <a:chExt cx="0" cy="0"/>
        </a:xfrm>
      </p:grpSpPr>
      <p:sp>
        <p:nvSpPr>
          <p:cNvPr id="990" name="Google Shape;990;p71"/>
          <p:cNvSpPr txBox="1"/>
          <p:nvPr>
            <p:ph idx="1" type="body"/>
          </p:nvPr>
        </p:nvSpPr>
        <p:spPr>
          <a:xfrm>
            <a:off x="381001" y="1283366"/>
            <a:ext cx="8341656" cy="2182282"/>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Font typeface="Calibri"/>
              <a:buNone/>
            </a:pPr>
            <a:r>
              <a:rPr lang="en-US"/>
              <a:t>Our client, Pulp Friction, Inc. is a French pulp manufacturer that sells pulp to multinational CPG firms. These firms use the pulp to make toilet paper. Toilet paper is made from recycled pulp or virgin pulp, using a combination of softwood and hardwood trees. Softwood trees such as Southern pines and Douglas firs have long fibers that give paper strength¹. Over the last three years, Pulp Friction has seen profits decline at an increasing rate. The leadership team has engaged you to help them find out why. </a:t>
            </a:r>
            <a:endParaRPr/>
          </a:p>
        </p:txBody>
      </p:sp>
      <p:sp>
        <p:nvSpPr>
          <p:cNvPr id="991" name="Google Shape;991;p71"/>
          <p:cNvSpPr txBox="1"/>
          <p:nvPr>
            <p:ph idx="2" type="body"/>
          </p:nvPr>
        </p:nvSpPr>
        <p:spPr>
          <a:xfrm>
            <a:off x="368302" y="3910260"/>
            <a:ext cx="4107445" cy="2367609"/>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Font typeface="Calibri"/>
              <a:buNone/>
            </a:pPr>
            <a:r>
              <a:rPr b="1" lang="en-US">
                <a:latin typeface="Calibri"/>
                <a:ea typeface="Calibri"/>
                <a:cs typeface="Calibri"/>
                <a:sym typeface="Calibri"/>
              </a:rPr>
              <a:t>Difficulty: </a:t>
            </a:r>
            <a:r>
              <a:rPr lang="en-US">
                <a:latin typeface="Calibri"/>
                <a:ea typeface="Calibri"/>
                <a:cs typeface="Calibri"/>
                <a:sym typeface="Calibri"/>
              </a:rPr>
              <a:t> Hard</a:t>
            </a:r>
            <a:endParaRPr/>
          </a:p>
          <a:p>
            <a:pPr indent="0" lvl="0" marL="0" rtl="0" algn="l">
              <a:lnSpc>
                <a:spcPct val="100000"/>
              </a:lnSpc>
              <a:spcBef>
                <a:spcPts val="300"/>
              </a:spcBef>
              <a:spcAft>
                <a:spcPts val="0"/>
              </a:spcAft>
              <a:buSzPts val="1400"/>
              <a:buFont typeface="Calibri"/>
              <a:buNone/>
            </a:pPr>
            <a:br>
              <a:rPr lang="en-US">
                <a:latin typeface="Calibri"/>
                <a:ea typeface="Calibri"/>
                <a:cs typeface="Calibri"/>
                <a:sym typeface="Calibri"/>
              </a:rPr>
            </a:br>
            <a:r>
              <a:rPr b="1" lang="en-US">
                <a:latin typeface="Calibri"/>
                <a:ea typeface="Calibri"/>
                <a:cs typeface="Calibri"/>
                <a:sym typeface="Calibri"/>
              </a:rPr>
              <a:t>Case Format: </a:t>
            </a:r>
            <a:r>
              <a:rPr lang="en-US">
                <a:latin typeface="Calibri"/>
                <a:ea typeface="Calibri"/>
                <a:cs typeface="Calibri"/>
                <a:sym typeface="Calibri"/>
              </a:rPr>
              <a:t>Profitability</a:t>
            </a:r>
            <a:endParaRPr/>
          </a:p>
          <a:p>
            <a:pPr indent="0" lvl="0" marL="0" rtl="0" algn="l">
              <a:lnSpc>
                <a:spcPct val="100000"/>
              </a:lnSpc>
              <a:spcBef>
                <a:spcPts val="300"/>
              </a:spcBef>
              <a:spcAft>
                <a:spcPts val="0"/>
              </a:spcAft>
              <a:buSzPts val="1400"/>
              <a:buFont typeface="Calibri"/>
              <a:buNone/>
            </a:pPr>
            <a:br>
              <a:rPr lang="en-US">
                <a:latin typeface="Calibri"/>
                <a:ea typeface="Calibri"/>
                <a:cs typeface="Calibri"/>
                <a:sym typeface="Calibri"/>
              </a:rPr>
            </a:br>
            <a:r>
              <a:rPr b="1" lang="en-US">
                <a:latin typeface="Calibri"/>
                <a:ea typeface="Calibri"/>
                <a:cs typeface="Calibri"/>
                <a:sym typeface="Calibri"/>
              </a:rPr>
              <a:t>Concepts Being Tested: </a:t>
            </a:r>
            <a:r>
              <a:rPr lang="en-US">
                <a:latin typeface="Calibri"/>
                <a:ea typeface="Calibri"/>
                <a:cs typeface="Calibri"/>
                <a:sym typeface="Calibri"/>
              </a:rPr>
              <a:t>Supply chain optimization, sourcing, </a:t>
            </a:r>
            <a:endParaRPr/>
          </a:p>
        </p:txBody>
      </p:sp>
      <p:sp>
        <p:nvSpPr>
          <p:cNvPr id="992" name="Google Shape;992;p71"/>
          <p:cNvSpPr txBox="1"/>
          <p:nvPr>
            <p:ph idx="3" type="body"/>
          </p:nvPr>
        </p:nvSpPr>
        <p:spPr>
          <a:xfrm>
            <a:off x="4596063" y="3910260"/>
            <a:ext cx="4110955" cy="2367608"/>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Font typeface="Calibri"/>
              <a:buNone/>
            </a:pPr>
            <a:r>
              <a:rPr lang="en-US"/>
              <a:t>This is an interview led case. After the candidate provides a framework, guide the candidate through the 3 prompts</a:t>
            </a:r>
            <a:endParaRPr/>
          </a:p>
        </p:txBody>
      </p:sp>
      <p:sp>
        <p:nvSpPr>
          <p:cNvPr id="993" name="Google Shape;993;p71"/>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Pulp Friction</a:t>
            </a:r>
            <a:endParaRPr/>
          </a:p>
        </p:txBody>
      </p:sp>
      <p:sp>
        <p:nvSpPr>
          <p:cNvPr id="994" name="Google Shape;994;p71"/>
          <p:cNvSpPr txBox="1"/>
          <p:nvPr>
            <p:ph idx="4" type="body"/>
          </p:nvPr>
        </p:nvSpPr>
        <p:spPr>
          <a:xfrm>
            <a:off x="465670" y="996952"/>
            <a:ext cx="8209098"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Case Prompt</a:t>
            </a:r>
            <a:endParaRPr/>
          </a:p>
        </p:txBody>
      </p:sp>
      <p:sp>
        <p:nvSpPr>
          <p:cNvPr id="995" name="Google Shape;995;p71"/>
          <p:cNvSpPr txBox="1"/>
          <p:nvPr>
            <p:ph idx="5" type="body"/>
          </p:nvPr>
        </p:nvSpPr>
        <p:spPr>
          <a:xfrm>
            <a:off x="465670" y="3621892"/>
            <a:ext cx="4010077"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Case Info</a:t>
            </a:r>
            <a:endParaRPr/>
          </a:p>
        </p:txBody>
      </p:sp>
      <p:sp>
        <p:nvSpPr>
          <p:cNvPr id="996" name="Google Shape;996;p71"/>
          <p:cNvSpPr txBox="1"/>
          <p:nvPr>
            <p:ph idx="6" type="body"/>
          </p:nvPr>
        </p:nvSpPr>
        <p:spPr>
          <a:xfrm>
            <a:off x="4664691" y="3621892"/>
            <a:ext cx="4010077"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t/>
            </a:r>
            <a:endParaRPr/>
          </a:p>
        </p:txBody>
      </p:sp>
      <p:sp>
        <p:nvSpPr>
          <p:cNvPr id="997" name="Google Shape;997;p71"/>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1" name="Shape 1001"/>
        <p:cNvGrpSpPr/>
        <p:nvPr/>
      </p:nvGrpSpPr>
      <p:grpSpPr>
        <a:xfrm>
          <a:off x="0" y="0"/>
          <a:ext cx="0" cy="0"/>
          <a:chOff x="0" y="0"/>
          <a:chExt cx="0" cy="0"/>
        </a:xfrm>
      </p:grpSpPr>
      <p:sp>
        <p:nvSpPr>
          <p:cNvPr id="1002" name="Google Shape;1002;p72"/>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Pulp Friction</a:t>
            </a:r>
            <a:endParaRPr/>
          </a:p>
        </p:txBody>
      </p:sp>
      <p:sp>
        <p:nvSpPr>
          <p:cNvPr id="1003" name="Google Shape;1003;p72"/>
          <p:cNvSpPr txBox="1"/>
          <p:nvPr>
            <p:ph idx="1" type="body"/>
          </p:nvPr>
        </p:nvSpPr>
        <p:spPr>
          <a:xfrm>
            <a:off x="368302" y="1281931"/>
            <a:ext cx="4107445" cy="4986524"/>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11437" lvl="0" marL="11437" rtl="0" algn="l">
              <a:lnSpc>
                <a:spcPct val="100000"/>
              </a:lnSpc>
              <a:spcBef>
                <a:spcPts val="0"/>
              </a:spcBef>
              <a:spcAft>
                <a:spcPts val="0"/>
              </a:spcAft>
              <a:buSzPts val="1400"/>
              <a:buFont typeface="Arial"/>
              <a:buChar char="•"/>
            </a:pPr>
            <a:r>
              <a:rPr lang="en-US">
                <a:latin typeface="Calibri"/>
                <a:ea typeface="Calibri"/>
                <a:cs typeface="Calibri"/>
                <a:sym typeface="Calibri"/>
              </a:rPr>
              <a:t>Virgin paper is an industry term for paper made from new pulp (no recycled feedstock)</a:t>
            </a:r>
            <a:endParaRPr/>
          </a:p>
          <a:p>
            <a:pPr indent="-11437" lvl="0" marL="11437" rtl="0" algn="l">
              <a:lnSpc>
                <a:spcPct val="100000"/>
              </a:lnSpc>
              <a:spcBef>
                <a:spcPts val="300"/>
              </a:spcBef>
              <a:spcAft>
                <a:spcPts val="0"/>
              </a:spcAft>
              <a:buSzPts val="1400"/>
              <a:buFont typeface="Arial"/>
              <a:buChar char="•"/>
            </a:pPr>
            <a:r>
              <a:rPr lang="en-US">
                <a:latin typeface="Calibri"/>
                <a:ea typeface="Calibri"/>
                <a:cs typeface="Calibri"/>
                <a:sym typeface="Calibri"/>
              </a:rPr>
              <a:t>Financial goal: increase profit</a:t>
            </a:r>
            <a:endParaRPr/>
          </a:p>
          <a:p>
            <a:pPr indent="-11437" lvl="0" marL="11437" rtl="0" algn="l">
              <a:lnSpc>
                <a:spcPct val="100000"/>
              </a:lnSpc>
              <a:spcBef>
                <a:spcPts val="300"/>
              </a:spcBef>
              <a:spcAft>
                <a:spcPts val="0"/>
              </a:spcAft>
              <a:buSzPts val="1400"/>
              <a:buFont typeface="Arial"/>
              <a:buChar char="•"/>
            </a:pPr>
            <a:r>
              <a:rPr lang="en-US">
                <a:latin typeface="Calibri"/>
                <a:ea typeface="Calibri"/>
                <a:cs typeface="Calibri"/>
                <a:sym typeface="Calibri"/>
              </a:rPr>
              <a:t>Customers: global CPG companies such as P&amp;G, Kimberly-Clark, and Unilever</a:t>
            </a:r>
            <a:endParaRPr/>
          </a:p>
          <a:p>
            <a:pPr indent="-11437" lvl="0" marL="11437" rtl="0" algn="l">
              <a:lnSpc>
                <a:spcPct val="100000"/>
              </a:lnSpc>
              <a:spcBef>
                <a:spcPts val="300"/>
              </a:spcBef>
              <a:spcAft>
                <a:spcPts val="0"/>
              </a:spcAft>
              <a:buSzPts val="1400"/>
              <a:buFont typeface="Arial"/>
              <a:buChar char="•"/>
            </a:pPr>
            <a:r>
              <a:rPr lang="en-US">
                <a:latin typeface="Calibri"/>
                <a:ea typeface="Calibri"/>
                <a:cs typeface="Calibri"/>
                <a:sym typeface="Calibri"/>
              </a:rPr>
              <a:t>Client sells the bulk of its pulp to the European market</a:t>
            </a:r>
            <a:endParaRPr/>
          </a:p>
          <a:p>
            <a:pPr indent="-11437" lvl="0" marL="11437" rtl="0" algn="l">
              <a:lnSpc>
                <a:spcPct val="100000"/>
              </a:lnSpc>
              <a:spcBef>
                <a:spcPts val="300"/>
              </a:spcBef>
              <a:spcAft>
                <a:spcPts val="0"/>
              </a:spcAft>
              <a:buSzPts val="1400"/>
              <a:buFont typeface="Arial"/>
              <a:buChar char="•"/>
            </a:pPr>
            <a:r>
              <a:rPr lang="en-US">
                <a:latin typeface="Calibri"/>
                <a:ea typeface="Calibri"/>
                <a:cs typeface="Calibri"/>
                <a:sym typeface="Calibri"/>
              </a:rPr>
              <a:t>Value chain: Trees are grown, cut, chipped and made into a slurry before being sent to our client. Our client uses this raw slurry to create pulp. They may also use recycled slurry. The pulp is sent to their customers who manufacture paper products like toilet paper etc.  </a:t>
            </a:r>
            <a:endParaRPr/>
          </a:p>
          <a:p>
            <a:pPr indent="0" lvl="0" marL="0" rtl="0" algn="l">
              <a:lnSpc>
                <a:spcPct val="100000"/>
              </a:lnSpc>
              <a:spcBef>
                <a:spcPts val="300"/>
              </a:spcBef>
              <a:spcAft>
                <a:spcPts val="0"/>
              </a:spcAft>
              <a:buSzPts val="1400"/>
              <a:buFont typeface="Calibri"/>
              <a:buNone/>
            </a:pPr>
            <a:r>
              <a:t/>
            </a:r>
            <a:endParaRPr/>
          </a:p>
        </p:txBody>
      </p:sp>
      <p:sp>
        <p:nvSpPr>
          <p:cNvPr id="1004" name="Google Shape;1004;p72"/>
          <p:cNvSpPr txBox="1"/>
          <p:nvPr>
            <p:ph idx="2" type="body"/>
          </p:nvPr>
        </p:nvSpPr>
        <p:spPr>
          <a:xfrm>
            <a:off x="4596063" y="1293261"/>
            <a:ext cx="4110955" cy="4975191"/>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11437" lvl="0" marL="11437" rtl="0" algn="l">
              <a:lnSpc>
                <a:spcPct val="100000"/>
              </a:lnSpc>
              <a:spcBef>
                <a:spcPts val="0"/>
              </a:spcBef>
              <a:spcAft>
                <a:spcPts val="0"/>
              </a:spcAft>
              <a:buSzPts val="1400"/>
              <a:buFont typeface="Arial"/>
              <a:buChar char="•"/>
            </a:pPr>
            <a:r>
              <a:rPr lang="en-US">
                <a:latin typeface="Calibri"/>
                <a:ea typeface="Calibri"/>
                <a:cs typeface="Calibri"/>
                <a:sym typeface="Calibri"/>
              </a:rPr>
              <a:t>After interviewee prepares and explains framework, interviewer should move forward with Exhibit 1, which covers the competitive cost structure</a:t>
            </a:r>
            <a:endParaRPr/>
          </a:p>
          <a:p>
            <a:pPr indent="-11437" lvl="0" marL="11437" rtl="0" algn="l">
              <a:lnSpc>
                <a:spcPct val="100000"/>
              </a:lnSpc>
              <a:spcBef>
                <a:spcPts val="300"/>
              </a:spcBef>
              <a:spcAft>
                <a:spcPts val="0"/>
              </a:spcAft>
              <a:buSzPts val="1400"/>
              <a:buFont typeface="Arial"/>
              <a:buChar char="•"/>
            </a:pPr>
            <a:r>
              <a:rPr lang="en-US">
                <a:latin typeface="Calibri"/>
                <a:ea typeface="Calibri"/>
                <a:cs typeface="Calibri"/>
                <a:sym typeface="Calibri"/>
              </a:rPr>
              <a:t>Follow the prompts to guide the interviewee through the case </a:t>
            </a:r>
            <a:endParaRPr/>
          </a:p>
          <a:p>
            <a:pPr indent="-11437" lvl="0" marL="11437" rtl="0" algn="l">
              <a:lnSpc>
                <a:spcPct val="100000"/>
              </a:lnSpc>
              <a:spcBef>
                <a:spcPts val="300"/>
              </a:spcBef>
              <a:spcAft>
                <a:spcPts val="0"/>
              </a:spcAft>
              <a:buSzPts val="1400"/>
              <a:buFont typeface="Arial"/>
              <a:buChar char="•"/>
            </a:pPr>
            <a:r>
              <a:rPr lang="en-US">
                <a:latin typeface="Calibri"/>
                <a:ea typeface="Calibri"/>
                <a:cs typeface="Calibri"/>
                <a:sym typeface="Calibri"/>
              </a:rPr>
              <a:t>After the interviewee has answered the math question in Exhibit 1, the interviewer will prompt for a recommendation</a:t>
            </a:r>
            <a:endParaRPr/>
          </a:p>
          <a:p>
            <a:pPr indent="0" lvl="0" marL="0" rtl="0" algn="l">
              <a:lnSpc>
                <a:spcPct val="100000"/>
              </a:lnSpc>
              <a:spcBef>
                <a:spcPts val="300"/>
              </a:spcBef>
              <a:spcAft>
                <a:spcPts val="0"/>
              </a:spcAft>
              <a:buSzPts val="1400"/>
              <a:buFont typeface="Calibri"/>
              <a:buNone/>
            </a:pPr>
            <a:r>
              <a:t/>
            </a:r>
            <a:endParaRPr/>
          </a:p>
        </p:txBody>
      </p:sp>
      <p:sp>
        <p:nvSpPr>
          <p:cNvPr id="1005" name="Google Shape;1005;p72"/>
          <p:cNvSpPr txBox="1"/>
          <p:nvPr>
            <p:ph idx="3" type="body"/>
          </p:nvPr>
        </p:nvSpPr>
        <p:spPr>
          <a:xfrm>
            <a:off x="403040" y="1015761"/>
            <a:ext cx="4010077"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Clarifying Information</a:t>
            </a:r>
            <a:endParaRPr/>
          </a:p>
        </p:txBody>
      </p:sp>
      <p:sp>
        <p:nvSpPr>
          <p:cNvPr id="1006" name="Google Shape;1006;p72"/>
          <p:cNvSpPr txBox="1"/>
          <p:nvPr>
            <p:ph idx="4" type="body"/>
          </p:nvPr>
        </p:nvSpPr>
        <p:spPr>
          <a:xfrm>
            <a:off x="4633195" y="1004430"/>
            <a:ext cx="4010077"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Interviewer Guide to Case and Exhibits</a:t>
            </a:r>
            <a:endParaRPr/>
          </a:p>
        </p:txBody>
      </p:sp>
      <p:sp>
        <p:nvSpPr>
          <p:cNvPr id="1007" name="Google Shape;1007;p72"/>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1" name="Shape 1011"/>
        <p:cNvGrpSpPr/>
        <p:nvPr/>
      </p:nvGrpSpPr>
      <p:grpSpPr>
        <a:xfrm>
          <a:off x="0" y="0"/>
          <a:ext cx="0" cy="0"/>
          <a:chOff x="0" y="0"/>
          <a:chExt cx="0" cy="0"/>
        </a:xfrm>
      </p:grpSpPr>
      <p:sp>
        <p:nvSpPr>
          <p:cNvPr id="1012" name="Google Shape;1012;p73"/>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Pulp Friction – Prompt #1</a:t>
            </a:r>
            <a:endParaRPr/>
          </a:p>
        </p:txBody>
      </p:sp>
      <p:sp>
        <p:nvSpPr>
          <p:cNvPr id="1013" name="Google Shape;1013;p73"/>
          <p:cNvSpPr txBox="1"/>
          <p:nvPr>
            <p:ph idx="1" type="body"/>
          </p:nvPr>
        </p:nvSpPr>
        <p:spPr>
          <a:xfrm>
            <a:off x="503321" y="1001128"/>
            <a:ext cx="8126332" cy="277497"/>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Prompt</a:t>
            </a:r>
            <a:endParaRPr/>
          </a:p>
        </p:txBody>
      </p:sp>
      <p:sp>
        <p:nvSpPr>
          <p:cNvPr id="1014" name="Google Shape;1014;p73"/>
          <p:cNvSpPr txBox="1"/>
          <p:nvPr>
            <p:ph idx="2" type="body"/>
          </p:nvPr>
        </p:nvSpPr>
        <p:spPr>
          <a:xfrm>
            <a:off x="381001" y="1249554"/>
            <a:ext cx="8341656" cy="1243266"/>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Font typeface="Calibri"/>
              <a:buNone/>
            </a:pPr>
            <a:r>
              <a:rPr lang="en-US"/>
              <a:t>Hand over Exhibit #1. Ask “What trends can you identify?”</a:t>
            </a:r>
            <a:endParaRPr/>
          </a:p>
        </p:txBody>
      </p:sp>
      <p:sp>
        <p:nvSpPr>
          <p:cNvPr id="1015" name="Google Shape;1015;p73"/>
          <p:cNvSpPr txBox="1"/>
          <p:nvPr>
            <p:ph idx="3" type="body"/>
          </p:nvPr>
        </p:nvSpPr>
        <p:spPr>
          <a:xfrm>
            <a:off x="487790" y="2668808"/>
            <a:ext cx="8126332" cy="277497"/>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Solution</a:t>
            </a:r>
            <a:endParaRPr/>
          </a:p>
        </p:txBody>
      </p:sp>
      <p:sp>
        <p:nvSpPr>
          <p:cNvPr id="1016" name="Google Shape;1016;p73"/>
          <p:cNvSpPr txBox="1"/>
          <p:nvPr>
            <p:ph idx="4" type="body"/>
          </p:nvPr>
        </p:nvSpPr>
        <p:spPr>
          <a:xfrm>
            <a:off x="374614" y="2917233"/>
            <a:ext cx="8341656" cy="3368649"/>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11437" lvl="0" marL="11437" rtl="0" algn="l">
              <a:lnSpc>
                <a:spcPct val="100000"/>
              </a:lnSpc>
              <a:spcBef>
                <a:spcPts val="0"/>
              </a:spcBef>
              <a:spcAft>
                <a:spcPts val="0"/>
              </a:spcAft>
              <a:buSzPts val="1400"/>
              <a:buFont typeface="Arial"/>
              <a:buChar char="•"/>
            </a:pPr>
            <a:r>
              <a:rPr b="1" lang="en-US"/>
              <a:t>There is an inverse relationship between % of recycled materials used and COGS - implies that recycled material might be cheaper </a:t>
            </a:r>
            <a:endParaRPr/>
          </a:p>
          <a:p>
            <a:pPr indent="-11437" lvl="0" marL="11437" rtl="0" algn="l">
              <a:lnSpc>
                <a:spcPct val="100000"/>
              </a:lnSpc>
              <a:spcBef>
                <a:spcPts val="300"/>
              </a:spcBef>
              <a:spcAft>
                <a:spcPts val="0"/>
              </a:spcAft>
              <a:buSzPts val="1400"/>
              <a:buFont typeface="Arial"/>
              <a:buChar char="•"/>
            </a:pPr>
            <a:r>
              <a:rPr lang="en-US"/>
              <a:t>France’s use of recycled material is considerably lower than its European counterparts </a:t>
            </a:r>
            <a:endParaRPr/>
          </a:p>
          <a:p>
            <a:pPr indent="-11437" lvl="0" marL="11437" rtl="0" algn="l">
              <a:lnSpc>
                <a:spcPct val="100000"/>
              </a:lnSpc>
              <a:spcBef>
                <a:spcPts val="300"/>
              </a:spcBef>
              <a:spcAft>
                <a:spcPts val="0"/>
              </a:spcAft>
              <a:buSzPts val="1400"/>
              <a:buFont typeface="Arial"/>
              <a:buChar char="•"/>
            </a:pPr>
            <a:r>
              <a:rPr lang="en-US"/>
              <a:t>China’s higher freight makes sense because it is much further than the other countries</a:t>
            </a:r>
            <a:endParaRPr/>
          </a:p>
          <a:p>
            <a:pPr indent="-11437" lvl="0" marL="11437" rtl="0" algn="l">
              <a:lnSpc>
                <a:spcPct val="100000"/>
              </a:lnSpc>
              <a:spcBef>
                <a:spcPts val="300"/>
              </a:spcBef>
              <a:spcAft>
                <a:spcPts val="0"/>
              </a:spcAft>
              <a:buSzPts val="1400"/>
              <a:buFont typeface="Arial"/>
              <a:buChar char="•"/>
            </a:pPr>
            <a:r>
              <a:rPr lang="en-US"/>
              <a:t>Europeans counterparts have a higher cost position compared to Brazil &amp; China due potentially to higher labor costs etc. </a:t>
            </a:r>
            <a:endParaRPr/>
          </a:p>
          <a:p>
            <a:pPr indent="-11437" lvl="0" marL="11437" rtl="0" algn="l">
              <a:lnSpc>
                <a:spcPct val="100000"/>
              </a:lnSpc>
              <a:spcBef>
                <a:spcPts val="300"/>
              </a:spcBef>
              <a:spcAft>
                <a:spcPts val="0"/>
              </a:spcAft>
              <a:buSzPts val="1400"/>
              <a:buFont typeface="Arial"/>
              <a:buChar char="•"/>
            </a:pPr>
            <a:r>
              <a:rPr lang="en-US"/>
              <a:t>European countries with stronger recycle/environmental activist culture already use a high proportion of recycled materials </a:t>
            </a:r>
            <a:endParaRPr/>
          </a:p>
          <a:p>
            <a:pPr indent="0" lvl="0" marL="0" rtl="0" algn="l">
              <a:lnSpc>
                <a:spcPct val="100000"/>
              </a:lnSpc>
              <a:spcBef>
                <a:spcPts val="300"/>
              </a:spcBef>
              <a:spcAft>
                <a:spcPts val="0"/>
              </a:spcAft>
              <a:buSzPts val="1400"/>
              <a:buFont typeface="Calibri"/>
              <a:buNone/>
            </a:pPr>
            <a:r>
              <a:t/>
            </a:r>
            <a:endParaRPr/>
          </a:p>
        </p:txBody>
      </p:sp>
      <p:sp>
        <p:nvSpPr>
          <p:cNvPr id="1017" name="Google Shape;1017;p73"/>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1" name="Shape 1021"/>
        <p:cNvGrpSpPr/>
        <p:nvPr/>
      </p:nvGrpSpPr>
      <p:grpSpPr>
        <a:xfrm>
          <a:off x="0" y="0"/>
          <a:ext cx="0" cy="0"/>
          <a:chOff x="0" y="0"/>
          <a:chExt cx="0" cy="0"/>
        </a:xfrm>
      </p:grpSpPr>
      <p:sp>
        <p:nvSpPr>
          <p:cNvPr id="1022" name="Google Shape;1022;p74"/>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Pulp Friction – Exhibit 1: Pulp Supplier Costs</a:t>
            </a:r>
            <a:endParaRPr/>
          </a:p>
        </p:txBody>
      </p:sp>
      <p:pic>
        <p:nvPicPr>
          <p:cNvPr id="1023" name="Google Shape;1023;p74"/>
          <p:cNvPicPr preferRelativeResize="0"/>
          <p:nvPr/>
        </p:nvPicPr>
        <p:blipFill rotWithShape="1">
          <a:blip r:embed="rId3">
            <a:alphaModFix/>
          </a:blip>
          <a:srcRect b="0" l="0" r="0" t="0"/>
          <a:stretch/>
        </p:blipFill>
        <p:spPr>
          <a:xfrm>
            <a:off x="99191" y="1553227"/>
            <a:ext cx="8786488" cy="3419606"/>
          </a:xfrm>
          <a:prstGeom prst="rect">
            <a:avLst/>
          </a:prstGeom>
          <a:noFill/>
          <a:ln>
            <a:noFill/>
          </a:ln>
        </p:spPr>
      </p:pic>
      <p:sp>
        <p:nvSpPr>
          <p:cNvPr id="1024" name="Google Shape;1024;p74"/>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8" name="Shape 1028"/>
        <p:cNvGrpSpPr/>
        <p:nvPr/>
      </p:nvGrpSpPr>
      <p:grpSpPr>
        <a:xfrm>
          <a:off x="0" y="0"/>
          <a:ext cx="0" cy="0"/>
          <a:chOff x="0" y="0"/>
          <a:chExt cx="0" cy="0"/>
        </a:xfrm>
      </p:grpSpPr>
      <p:sp>
        <p:nvSpPr>
          <p:cNvPr id="1029" name="Google Shape;1029;p75"/>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Pulp Friction – Prompt #2</a:t>
            </a:r>
            <a:endParaRPr/>
          </a:p>
        </p:txBody>
      </p:sp>
      <p:sp>
        <p:nvSpPr>
          <p:cNvPr id="1030" name="Google Shape;1030;p75"/>
          <p:cNvSpPr txBox="1"/>
          <p:nvPr>
            <p:ph idx="1" type="body"/>
          </p:nvPr>
        </p:nvSpPr>
        <p:spPr>
          <a:xfrm>
            <a:off x="503321" y="1001128"/>
            <a:ext cx="8126332" cy="277497"/>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Prompt</a:t>
            </a:r>
            <a:endParaRPr/>
          </a:p>
        </p:txBody>
      </p:sp>
      <p:sp>
        <p:nvSpPr>
          <p:cNvPr id="1031" name="Google Shape;1031;p75"/>
          <p:cNvSpPr txBox="1"/>
          <p:nvPr>
            <p:ph idx="2" type="body"/>
          </p:nvPr>
        </p:nvSpPr>
        <p:spPr>
          <a:xfrm>
            <a:off x="381001" y="1249554"/>
            <a:ext cx="8341656" cy="1243266"/>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Font typeface="Calibri"/>
              <a:buNone/>
            </a:pPr>
            <a:r>
              <a:rPr lang="en-US"/>
              <a:t>How can we improve profitability based on the information in this graph? What factors are you considering?</a:t>
            </a:r>
            <a:endParaRPr/>
          </a:p>
        </p:txBody>
      </p:sp>
      <p:sp>
        <p:nvSpPr>
          <p:cNvPr id="1032" name="Google Shape;1032;p75"/>
          <p:cNvSpPr txBox="1"/>
          <p:nvPr>
            <p:ph idx="3" type="body"/>
          </p:nvPr>
        </p:nvSpPr>
        <p:spPr>
          <a:xfrm>
            <a:off x="487790" y="2668808"/>
            <a:ext cx="8126332" cy="277497"/>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Solution</a:t>
            </a:r>
            <a:endParaRPr/>
          </a:p>
        </p:txBody>
      </p:sp>
      <p:sp>
        <p:nvSpPr>
          <p:cNvPr id="1033" name="Google Shape;1033;p75"/>
          <p:cNvSpPr txBox="1"/>
          <p:nvPr>
            <p:ph idx="4" type="body"/>
          </p:nvPr>
        </p:nvSpPr>
        <p:spPr>
          <a:xfrm>
            <a:off x="374614" y="2917233"/>
            <a:ext cx="8341656" cy="3368649"/>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11437" lvl="0" marL="11437" rtl="0" algn="l">
              <a:lnSpc>
                <a:spcPct val="100000"/>
              </a:lnSpc>
              <a:spcBef>
                <a:spcPts val="0"/>
              </a:spcBef>
              <a:spcAft>
                <a:spcPts val="0"/>
              </a:spcAft>
              <a:buSzPts val="1400"/>
              <a:buFont typeface="Arial"/>
              <a:buChar char="•"/>
            </a:pPr>
            <a:r>
              <a:rPr lang="en-US"/>
              <a:t>Reduce SGA costs: Try to match industry average or UK value by assessing expenditure on unnecessary staff, </a:t>
            </a:r>
            <a:endParaRPr/>
          </a:p>
          <a:p>
            <a:pPr indent="-11437" lvl="0" marL="11437" rtl="0" algn="l">
              <a:lnSpc>
                <a:spcPct val="100000"/>
              </a:lnSpc>
              <a:spcBef>
                <a:spcPts val="300"/>
              </a:spcBef>
              <a:spcAft>
                <a:spcPts val="0"/>
              </a:spcAft>
              <a:buSzPts val="1400"/>
              <a:buFont typeface="Arial"/>
              <a:buChar char="•"/>
            </a:pPr>
            <a:r>
              <a:rPr lang="en-US"/>
              <a:t>Reduce production costs: Increase automation,   </a:t>
            </a:r>
            <a:endParaRPr/>
          </a:p>
          <a:p>
            <a:pPr indent="-11437" lvl="0" marL="11437" rtl="0" algn="l">
              <a:lnSpc>
                <a:spcPct val="100000"/>
              </a:lnSpc>
              <a:spcBef>
                <a:spcPts val="300"/>
              </a:spcBef>
              <a:spcAft>
                <a:spcPts val="0"/>
              </a:spcAft>
              <a:buSzPts val="1400"/>
              <a:buFont typeface="Arial"/>
              <a:buChar char="•"/>
            </a:pPr>
            <a:r>
              <a:rPr lang="en-US"/>
              <a:t>Change country to purchase or production </a:t>
            </a:r>
            <a:endParaRPr/>
          </a:p>
          <a:p>
            <a:pPr indent="-11437" lvl="0" marL="11437" rtl="0" algn="l">
              <a:lnSpc>
                <a:spcPct val="100000"/>
              </a:lnSpc>
              <a:spcBef>
                <a:spcPts val="300"/>
              </a:spcBef>
              <a:spcAft>
                <a:spcPts val="0"/>
              </a:spcAft>
              <a:buSzPts val="1400"/>
              <a:buFont typeface="Arial"/>
              <a:buChar char="•"/>
            </a:pPr>
            <a:r>
              <a:rPr lang="en-US"/>
              <a:t>Reduce COGS: Change mix of recycle vs. virgin raw feed; find cheaper raw feed; enter tree production process </a:t>
            </a:r>
            <a:endParaRPr/>
          </a:p>
          <a:p>
            <a:pPr indent="0" lvl="0" marL="0" rtl="0" algn="l">
              <a:lnSpc>
                <a:spcPct val="100000"/>
              </a:lnSpc>
              <a:spcBef>
                <a:spcPts val="300"/>
              </a:spcBef>
              <a:spcAft>
                <a:spcPts val="0"/>
              </a:spcAft>
              <a:buSzPts val="1400"/>
              <a:buFont typeface="Calibri"/>
              <a:buNone/>
            </a:pPr>
            <a:r>
              <a:t/>
            </a:r>
            <a:endParaRPr/>
          </a:p>
        </p:txBody>
      </p:sp>
      <p:sp>
        <p:nvSpPr>
          <p:cNvPr id="1034" name="Google Shape;1034;p75"/>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8" name="Shape 1038"/>
        <p:cNvGrpSpPr/>
        <p:nvPr/>
      </p:nvGrpSpPr>
      <p:grpSpPr>
        <a:xfrm>
          <a:off x="0" y="0"/>
          <a:ext cx="0" cy="0"/>
          <a:chOff x="0" y="0"/>
          <a:chExt cx="0" cy="0"/>
        </a:xfrm>
      </p:grpSpPr>
      <p:sp>
        <p:nvSpPr>
          <p:cNvPr id="1039" name="Google Shape;1039;p76"/>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Pulp Friction – Prompt #3</a:t>
            </a:r>
            <a:endParaRPr/>
          </a:p>
        </p:txBody>
      </p:sp>
      <p:sp>
        <p:nvSpPr>
          <p:cNvPr id="1040" name="Google Shape;1040;p76"/>
          <p:cNvSpPr txBox="1"/>
          <p:nvPr>
            <p:ph idx="1" type="body"/>
          </p:nvPr>
        </p:nvSpPr>
        <p:spPr>
          <a:xfrm>
            <a:off x="503321" y="1001128"/>
            <a:ext cx="8126332" cy="277497"/>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Prompt</a:t>
            </a:r>
            <a:endParaRPr/>
          </a:p>
        </p:txBody>
      </p:sp>
      <p:sp>
        <p:nvSpPr>
          <p:cNvPr id="1041" name="Google Shape;1041;p76"/>
          <p:cNvSpPr txBox="1"/>
          <p:nvPr>
            <p:ph idx="2" type="body"/>
          </p:nvPr>
        </p:nvSpPr>
        <p:spPr>
          <a:xfrm>
            <a:off x="381001" y="1249554"/>
            <a:ext cx="8341656" cy="1243266"/>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Font typeface="Calibri"/>
              <a:buNone/>
            </a:pPr>
            <a:r>
              <a:rPr lang="en-US"/>
              <a:t>The client is considering structuring their cost position, and they believe they can match UK's production cost. What percentage of recycled pulp feed would the client need to reduce its cost position to €195/shipping container?</a:t>
            </a:r>
            <a:endParaRPr/>
          </a:p>
          <a:p>
            <a:pPr indent="0" lvl="0" marL="0" rtl="0" algn="l">
              <a:lnSpc>
                <a:spcPct val="100000"/>
              </a:lnSpc>
              <a:spcBef>
                <a:spcPts val="300"/>
              </a:spcBef>
              <a:spcAft>
                <a:spcPts val="0"/>
              </a:spcAft>
              <a:buSzPts val="1400"/>
              <a:buFont typeface="Calibri"/>
              <a:buNone/>
            </a:pPr>
            <a:r>
              <a:rPr b="1" lang="en-US"/>
              <a:t>Additional Cost Information: </a:t>
            </a:r>
            <a:r>
              <a:rPr lang="en-US"/>
              <a:t>Virgin Pulp: €300 per metric ton; Recycled Pulp: €200 per metric ton; There are 5 metric tons in a truck and 10 shipping containers fit in one truck.</a:t>
            </a:r>
            <a:endParaRPr/>
          </a:p>
        </p:txBody>
      </p:sp>
      <p:sp>
        <p:nvSpPr>
          <p:cNvPr id="1042" name="Google Shape;1042;p76"/>
          <p:cNvSpPr txBox="1"/>
          <p:nvPr>
            <p:ph idx="3" type="body"/>
          </p:nvPr>
        </p:nvSpPr>
        <p:spPr>
          <a:xfrm>
            <a:off x="487790" y="2668808"/>
            <a:ext cx="8126332" cy="277497"/>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Solution</a:t>
            </a:r>
            <a:endParaRPr/>
          </a:p>
        </p:txBody>
      </p:sp>
      <p:sp>
        <p:nvSpPr>
          <p:cNvPr id="1043" name="Google Shape;1043;p76"/>
          <p:cNvSpPr txBox="1"/>
          <p:nvPr>
            <p:ph idx="4" type="body"/>
          </p:nvPr>
        </p:nvSpPr>
        <p:spPr>
          <a:xfrm>
            <a:off x="374614" y="2917233"/>
            <a:ext cx="8341656" cy="3421352"/>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Font typeface="Calibri"/>
              <a:buNone/>
            </a:pPr>
            <a:r>
              <a:rPr lang="en-US"/>
              <a:t>Disregard Freight costs. Candidate should try to lay out the following equation and solve for x.</a:t>
            </a:r>
            <a:endParaRPr/>
          </a:p>
          <a:p>
            <a:pPr indent="0" lvl="0" marL="0" rtl="0" algn="l">
              <a:lnSpc>
                <a:spcPct val="100000"/>
              </a:lnSpc>
              <a:spcBef>
                <a:spcPts val="300"/>
              </a:spcBef>
              <a:spcAft>
                <a:spcPts val="0"/>
              </a:spcAft>
              <a:buSzPts val="1400"/>
              <a:buFont typeface="Calibri"/>
              <a:buNone/>
            </a:pPr>
            <a:r>
              <a:rPr lang="en-US"/>
              <a:t> </a:t>
            </a:r>
            <a:endParaRPr/>
          </a:p>
          <a:p>
            <a:pPr indent="0" lvl="0" marL="0" rtl="0" algn="l">
              <a:lnSpc>
                <a:spcPct val="100000"/>
              </a:lnSpc>
              <a:spcBef>
                <a:spcPts val="300"/>
              </a:spcBef>
              <a:spcAft>
                <a:spcPts val="0"/>
              </a:spcAft>
              <a:buSzPts val="1400"/>
              <a:buFont typeface="Calibri"/>
              <a:buNone/>
            </a:pPr>
            <a:br>
              <a:rPr lang="en-US"/>
            </a:br>
            <a:br>
              <a:rPr lang="en-US"/>
            </a:br>
            <a:br>
              <a:rPr lang="en-US"/>
            </a:br>
            <a:br>
              <a:rPr lang="en-US"/>
            </a:br>
            <a:br>
              <a:rPr lang="en-US"/>
            </a:br>
            <a:r>
              <a:rPr lang="en-US"/>
              <a:t>MT = Metric ton </a:t>
            </a:r>
            <a:endParaRPr/>
          </a:p>
          <a:p>
            <a:pPr indent="0" lvl="0" marL="0" rtl="0" algn="l">
              <a:lnSpc>
                <a:spcPct val="100000"/>
              </a:lnSpc>
              <a:spcBef>
                <a:spcPts val="300"/>
              </a:spcBef>
              <a:spcAft>
                <a:spcPts val="0"/>
              </a:spcAft>
              <a:buSzPts val="1400"/>
              <a:buFont typeface="Calibri"/>
              <a:buNone/>
            </a:pPr>
            <a:r>
              <a:rPr lang="en-US"/>
              <a:t>SC = Shipping Container </a:t>
            </a:r>
            <a:endParaRPr/>
          </a:p>
          <a:p>
            <a:pPr indent="0" lvl="0" marL="0" rtl="0" algn="l">
              <a:lnSpc>
                <a:spcPct val="100000"/>
              </a:lnSpc>
              <a:spcBef>
                <a:spcPts val="300"/>
              </a:spcBef>
              <a:spcAft>
                <a:spcPts val="0"/>
              </a:spcAft>
              <a:buSzPts val="1400"/>
              <a:buFont typeface="Calibri"/>
              <a:buNone/>
            </a:pPr>
            <a:br>
              <a:rPr lang="en-US"/>
            </a:br>
            <a:r>
              <a:rPr lang="en-US"/>
              <a:t>x = 25% for % recycled (increased from 20%) </a:t>
            </a:r>
            <a:endParaRPr/>
          </a:p>
          <a:p>
            <a:pPr indent="0" lvl="0" marL="0" rtl="0" algn="l">
              <a:lnSpc>
                <a:spcPct val="100000"/>
              </a:lnSpc>
              <a:spcBef>
                <a:spcPts val="300"/>
              </a:spcBef>
              <a:spcAft>
                <a:spcPts val="0"/>
              </a:spcAft>
              <a:buSzPts val="1400"/>
              <a:buFont typeface="Calibri"/>
              <a:buNone/>
            </a:pPr>
            <a:br>
              <a:rPr lang="en-US"/>
            </a:br>
            <a:endParaRPr/>
          </a:p>
        </p:txBody>
      </p:sp>
      <p:sp>
        <p:nvSpPr>
          <p:cNvPr id="1044" name="Google Shape;1044;p76"/>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pic>
        <p:nvPicPr>
          <p:cNvPr id="1045" name="Google Shape;1045;p76"/>
          <p:cNvPicPr preferRelativeResize="0"/>
          <p:nvPr/>
        </p:nvPicPr>
        <p:blipFill rotWithShape="1">
          <a:blip r:embed="rId3">
            <a:alphaModFix/>
          </a:blip>
          <a:srcRect b="0" l="0" r="0" t="0"/>
          <a:stretch/>
        </p:blipFill>
        <p:spPr>
          <a:xfrm>
            <a:off x="540179" y="3429000"/>
            <a:ext cx="8010525" cy="981075"/>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9" name="Shape 1049"/>
        <p:cNvGrpSpPr/>
        <p:nvPr/>
      </p:nvGrpSpPr>
      <p:grpSpPr>
        <a:xfrm>
          <a:off x="0" y="0"/>
          <a:ext cx="0" cy="0"/>
          <a:chOff x="0" y="0"/>
          <a:chExt cx="0" cy="0"/>
        </a:xfrm>
      </p:grpSpPr>
      <p:sp>
        <p:nvSpPr>
          <p:cNvPr id="1050" name="Google Shape;1050;p77"/>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Pulp Friction</a:t>
            </a:r>
            <a:endParaRPr/>
          </a:p>
        </p:txBody>
      </p:sp>
      <p:sp>
        <p:nvSpPr>
          <p:cNvPr id="1051" name="Google Shape;1051;p77"/>
          <p:cNvSpPr txBox="1"/>
          <p:nvPr>
            <p:ph idx="1" type="body"/>
          </p:nvPr>
        </p:nvSpPr>
        <p:spPr>
          <a:xfrm>
            <a:off x="503321" y="4783980"/>
            <a:ext cx="8126332" cy="277497"/>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Excellent Case Insights</a:t>
            </a:r>
            <a:endParaRPr/>
          </a:p>
        </p:txBody>
      </p:sp>
      <p:sp>
        <p:nvSpPr>
          <p:cNvPr id="1052" name="Google Shape;1052;p77"/>
          <p:cNvSpPr txBox="1"/>
          <p:nvPr>
            <p:ph idx="2" type="body"/>
          </p:nvPr>
        </p:nvSpPr>
        <p:spPr>
          <a:xfrm>
            <a:off x="381001" y="5032406"/>
            <a:ext cx="8341656" cy="1243266"/>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68587" lvl="0" marL="68587" rtl="0" algn="l">
              <a:lnSpc>
                <a:spcPct val="100000"/>
              </a:lnSpc>
              <a:spcBef>
                <a:spcPts val="0"/>
              </a:spcBef>
              <a:spcAft>
                <a:spcPts val="0"/>
              </a:spcAft>
              <a:buSzPts val="1400"/>
              <a:buFont typeface="Arial"/>
              <a:buChar char="•"/>
            </a:pPr>
            <a:r>
              <a:rPr lang="en-US"/>
              <a:t>Use increased recycle raw feed used as promotional material to customers to incentivize purchases. </a:t>
            </a:r>
            <a:endParaRPr/>
          </a:p>
          <a:p>
            <a:pPr indent="-68587" lvl="0" marL="68587" rtl="0" algn="l">
              <a:lnSpc>
                <a:spcPct val="100000"/>
              </a:lnSpc>
              <a:spcBef>
                <a:spcPts val="300"/>
              </a:spcBef>
              <a:spcAft>
                <a:spcPts val="0"/>
              </a:spcAft>
              <a:buSzPts val="1400"/>
              <a:buFont typeface="Arial"/>
              <a:buChar char="•"/>
            </a:pPr>
            <a:r>
              <a:rPr lang="en-US"/>
              <a:t>Are low recycle material prices real (based on production process) or perhaps subsidized by governments to incentivize recycling?</a:t>
            </a:r>
            <a:endParaRPr/>
          </a:p>
        </p:txBody>
      </p:sp>
      <p:sp>
        <p:nvSpPr>
          <p:cNvPr id="1053" name="Google Shape;1053;p77"/>
          <p:cNvSpPr txBox="1"/>
          <p:nvPr>
            <p:ph idx="3" type="body"/>
          </p:nvPr>
        </p:nvSpPr>
        <p:spPr>
          <a:xfrm>
            <a:off x="500316" y="984562"/>
            <a:ext cx="8126332" cy="277497"/>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Solution and Recommendations</a:t>
            </a:r>
            <a:endParaRPr/>
          </a:p>
        </p:txBody>
      </p:sp>
      <p:sp>
        <p:nvSpPr>
          <p:cNvPr id="1054" name="Google Shape;1054;p77"/>
          <p:cNvSpPr txBox="1"/>
          <p:nvPr>
            <p:ph idx="4" type="body"/>
          </p:nvPr>
        </p:nvSpPr>
        <p:spPr>
          <a:xfrm>
            <a:off x="387140" y="1232987"/>
            <a:ext cx="8341656" cy="3368649"/>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Font typeface="Calibri"/>
              <a:buNone/>
            </a:pPr>
            <a:r>
              <a:rPr lang="en-US"/>
              <a:t>Client does not have a competitive cost structure. To bring their costs down, client must: </a:t>
            </a:r>
            <a:endParaRPr/>
          </a:p>
          <a:p>
            <a:pPr indent="-68587" lvl="0" marL="68587" rtl="0" algn="l">
              <a:lnSpc>
                <a:spcPct val="100000"/>
              </a:lnSpc>
              <a:spcBef>
                <a:spcPts val="300"/>
              </a:spcBef>
              <a:spcAft>
                <a:spcPts val="0"/>
              </a:spcAft>
              <a:buSzPts val="1400"/>
              <a:buFont typeface="Calibri"/>
              <a:buAutoNum type="arabicPeriod"/>
            </a:pPr>
            <a:r>
              <a:rPr lang="en-US"/>
              <a:t>Increase amount of recycled raw feed used to 25% from 20% (assuming production costs are reduced to UK level) </a:t>
            </a:r>
            <a:endParaRPr/>
          </a:p>
          <a:p>
            <a:pPr indent="-68587" lvl="0" marL="68587" rtl="0" algn="l">
              <a:lnSpc>
                <a:spcPct val="100000"/>
              </a:lnSpc>
              <a:spcBef>
                <a:spcPts val="300"/>
              </a:spcBef>
              <a:spcAft>
                <a:spcPts val="0"/>
              </a:spcAft>
              <a:buSzPts val="1400"/>
              <a:buFont typeface="Calibri"/>
              <a:buAutoNum type="arabicPeriod"/>
            </a:pPr>
            <a:r>
              <a:rPr lang="en-US"/>
              <a:t>Decrease other costs to around industry average </a:t>
            </a:r>
            <a:endParaRPr/>
          </a:p>
          <a:p>
            <a:pPr indent="-68587" lvl="0" marL="68587" rtl="0" algn="l">
              <a:lnSpc>
                <a:spcPct val="100000"/>
              </a:lnSpc>
              <a:spcBef>
                <a:spcPts val="300"/>
              </a:spcBef>
              <a:spcAft>
                <a:spcPts val="0"/>
              </a:spcAft>
              <a:buSzPts val="1400"/>
              <a:buFont typeface="Calibri"/>
              <a:buAutoNum type="arabicPeriod"/>
            </a:pPr>
            <a:r>
              <a:rPr lang="en-US"/>
              <a:t>Consider outsourcing production to low cost countries </a:t>
            </a:r>
            <a:endParaRPr/>
          </a:p>
          <a:p>
            <a:pPr indent="0" lvl="0" marL="0" rtl="0" algn="l">
              <a:lnSpc>
                <a:spcPct val="100000"/>
              </a:lnSpc>
              <a:spcBef>
                <a:spcPts val="300"/>
              </a:spcBef>
              <a:spcAft>
                <a:spcPts val="0"/>
              </a:spcAft>
              <a:buSzPts val="1400"/>
              <a:buFont typeface="Calibri"/>
              <a:buNone/>
            </a:pPr>
            <a:br>
              <a:rPr lang="en-US"/>
            </a:br>
            <a:br>
              <a:rPr lang="en-US"/>
            </a:br>
            <a:r>
              <a:rPr lang="en-US"/>
              <a:t>Risks include: </a:t>
            </a:r>
            <a:endParaRPr/>
          </a:p>
          <a:p>
            <a:pPr indent="-68587" lvl="0" marL="68587" rtl="0" algn="l">
              <a:lnSpc>
                <a:spcPct val="100000"/>
              </a:lnSpc>
              <a:spcBef>
                <a:spcPts val="300"/>
              </a:spcBef>
              <a:spcAft>
                <a:spcPts val="0"/>
              </a:spcAft>
              <a:buSzPts val="1400"/>
              <a:buFont typeface="Calibri"/>
              <a:buAutoNum type="arabicPeriod"/>
            </a:pPr>
            <a:r>
              <a:rPr lang="en-US"/>
              <a:t>Can costs actually be matched </a:t>
            </a:r>
            <a:endParaRPr/>
          </a:p>
          <a:p>
            <a:pPr indent="-68587" lvl="0" marL="68587" rtl="0" algn="l">
              <a:lnSpc>
                <a:spcPct val="100000"/>
              </a:lnSpc>
              <a:spcBef>
                <a:spcPts val="300"/>
              </a:spcBef>
              <a:spcAft>
                <a:spcPts val="0"/>
              </a:spcAft>
              <a:buSzPts val="1400"/>
              <a:buFont typeface="Calibri"/>
              <a:buAutoNum type="arabicPeriod"/>
            </a:pPr>
            <a:r>
              <a:rPr lang="en-US"/>
              <a:t>Fluctuations in prices and corresponding impact</a:t>
            </a:r>
            <a:endParaRPr/>
          </a:p>
          <a:p>
            <a:pPr indent="-68587" lvl="0" marL="68587" rtl="0" algn="l">
              <a:lnSpc>
                <a:spcPct val="100000"/>
              </a:lnSpc>
              <a:spcBef>
                <a:spcPts val="300"/>
              </a:spcBef>
              <a:spcAft>
                <a:spcPts val="0"/>
              </a:spcAft>
              <a:buSzPts val="1400"/>
              <a:buFont typeface="Calibri"/>
              <a:buAutoNum type="arabicPeriod"/>
            </a:pPr>
            <a:r>
              <a:rPr lang="en-US"/>
              <a:t>Amount of recycle pulp available </a:t>
            </a:r>
            <a:endParaRPr/>
          </a:p>
          <a:p>
            <a:pPr indent="-68587" lvl="0" marL="68587" rtl="0" algn="l">
              <a:lnSpc>
                <a:spcPct val="100000"/>
              </a:lnSpc>
              <a:spcBef>
                <a:spcPts val="300"/>
              </a:spcBef>
              <a:spcAft>
                <a:spcPts val="0"/>
              </a:spcAft>
              <a:buSzPts val="1400"/>
              <a:buFont typeface="Calibri"/>
              <a:buAutoNum type="arabicPeriod"/>
            </a:pPr>
            <a:r>
              <a:rPr lang="en-US"/>
              <a:t>Damaging relationship with virgin slurry supplier</a:t>
            </a:r>
            <a:endParaRPr/>
          </a:p>
          <a:p>
            <a:pPr indent="0" lvl="0" marL="0" rtl="0" algn="l">
              <a:lnSpc>
                <a:spcPct val="100000"/>
              </a:lnSpc>
              <a:spcBef>
                <a:spcPts val="300"/>
              </a:spcBef>
              <a:spcAft>
                <a:spcPts val="0"/>
              </a:spcAft>
              <a:buSzPts val="1400"/>
              <a:buFont typeface="Calibri"/>
              <a:buNone/>
            </a:pPr>
            <a:r>
              <a:t/>
            </a:r>
            <a:endParaRPr/>
          </a:p>
        </p:txBody>
      </p:sp>
      <p:sp>
        <p:nvSpPr>
          <p:cNvPr id="1055" name="Google Shape;1055;p77"/>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9" name="Shape 1059"/>
        <p:cNvGrpSpPr/>
        <p:nvPr/>
      </p:nvGrpSpPr>
      <p:grpSpPr>
        <a:xfrm>
          <a:off x="0" y="0"/>
          <a:ext cx="0" cy="0"/>
          <a:chOff x="0" y="0"/>
          <a:chExt cx="0" cy="0"/>
        </a:xfrm>
      </p:grpSpPr>
      <p:sp>
        <p:nvSpPr>
          <p:cNvPr id="1060" name="Google Shape;1060;p78"/>
          <p:cNvSpPr txBox="1"/>
          <p:nvPr>
            <p:ph idx="1" type="body"/>
          </p:nvPr>
        </p:nvSpPr>
        <p:spPr>
          <a:xfrm>
            <a:off x="381001" y="1283366"/>
            <a:ext cx="8341656" cy="2182282"/>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1" marL="1588" rtl="0" algn="l">
              <a:lnSpc>
                <a:spcPct val="100000"/>
              </a:lnSpc>
              <a:spcBef>
                <a:spcPts val="0"/>
              </a:spcBef>
              <a:spcAft>
                <a:spcPts val="0"/>
              </a:spcAft>
              <a:buSzPts val="1400"/>
              <a:buNone/>
            </a:pPr>
            <a:r>
              <a:rPr lang="en-US"/>
              <a:t>Our client is a large data aggregating firm that collects &amp; stores personnel data used for background checks, credit monitoring, etc. The client recently acquired a competitor in the same industry. The acquired firm has a business unit that develops software to automate document processing for the insurance industry. The client has asked you to help understand what they should do with this BU. </a:t>
            </a:r>
            <a:endParaRPr/>
          </a:p>
          <a:p>
            <a:pPr indent="0" lvl="1" marL="1588" rtl="0" algn="l">
              <a:lnSpc>
                <a:spcPct val="100000"/>
              </a:lnSpc>
              <a:spcBef>
                <a:spcPts val="300"/>
              </a:spcBef>
              <a:spcAft>
                <a:spcPts val="0"/>
              </a:spcAft>
              <a:buSzPts val="1400"/>
              <a:buNone/>
            </a:pPr>
            <a:r>
              <a:t/>
            </a:r>
            <a:endParaRPr/>
          </a:p>
        </p:txBody>
      </p:sp>
      <p:sp>
        <p:nvSpPr>
          <p:cNvPr id="1061" name="Google Shape;1061;p78"/>
          <p:cNvSpPr txBox="1"/>
          <p:nvPr>
            <p:ph idx="2" type="body"/>
          </p:nvPr>
        </p:nvSpPr>
        <p:spPr>
          <a:xfrm>
            <a:off x="368302" y="3910260"/>
            <a:ext cx="4107445" cy="2367609"/>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1" marL="1588" rtl="0" algn="l">
              <a:lnSpc>
                <a:spcPct val="100000"/>
              </a:lnSpc>
              <a:spcBef>
                <a:spcPts val="0"/>
              </a:spcBef>
              <a:spcAft>
                <a:spcPts val="0"/>
              </a:spcAft>
              <a:buSzPts val="1400"/>
              <a:buNone/>
            </a:pPr>
            <a:r>
              <a:rPr b="1" lang="en-US"/>
              <a:t>Difficulty: </a:t>
            </a:r>
            <a:r>
              <a:rPr lang="en-US"/>
              <a:t> Medium</a:t>
            </a:r>
            <a:endParaRPr b="1"/>
          </a:p>
          <a:p>
            <a:pPr indent="0" lvl="1" marL="1588" rtl="0" algn="l">
              <a:lnSpc>
                <a:spcPct val="100000"/>
              </a:lnSpc>
              <a:spcBef>
                <a:spcPts val="300"/>
              </a:spcBef>
              <a:spcAft>
                <a:spcPts val="0"/>
              </a:spcAft>
              <a:buSzPts val="1400"/>
              <a:buNone/>
            </a:pPr>
            <a:r>
              <a:t/>
            </a:r>
            <a:endParaRPr/>
          </a:p>
          <a:p>
            <a:pPr indent="0" lvl="1" marL="1588" rtl="0" algn="l">
              <a:lnSpc>
                <a:spcPct val="100000"/>
              </a:lnSpc>
              <a:spcBef>
                <a:spcPts val="300"/>
              </a:spcBef>
              <a:spcAft>
                <a:spcPts val="0"/>
              </a:spcAft>
              <a:buSzPts val="1400"/>
              <a:buNone/>
            </a:pPr>
            <a:r>
              <a:rPr b="1" lang="en-US"/>
              <a:t>Case Format: </a:t>
            </a:r>
            <a:r>
              <a:rPr lang="en-US"/>
              <a:t>M&amp;A</a:t>
            </a:r>
            <a:endParaRPr/>
          </a:p>
          <a:p>
            <a:pPr indent="0" lvl="1" marL="1588" rtl="0" algn="l">
              <a:lnSpc>
                <a:spcPct val="100000"/>
              </a:lnSpc>
              <a:spcBef>
                <a:spcPts val="300"/>
              </a:spcBef>
              <a:spcAft>
                <a:spcPts val="0"/>
              </a:spcAft>
              <a:buSzPts val="1400"/>
              <a:buNone/>
            </a:pPr>
            <a:r>
              <a:t/>
            </a:r>
            <a:endParaRPr/>
          </a:p>
          <a:p>
            <a:pPr indent="0" lvl="1" marL="1588" rtl="0" algn="l">
              <a:lnSpc>
                <a:spcPct val="100000"/>
              </a:lnSpc>
              <a:spcBef>
                <a:spcPts val="300"/>
              </a:spcBef>
              <a:spcAft>
                <a:spcPts val="0"/>
              </a:spcAft>
              <a:buSzPts val="1400"/>
              <a:buNone/>
            </a:pPr>
            <a:r>
              <a:rPr b="1" lang="en-US"/>
              <a:t>Concepts Being Tested: </a:t>
            </a:r>
            <a:r>
              <a:rPr lang="en-US"/>
              <a:t>Post-merger integration, synergy assessment</a:t>
            </a:r>
            <a:endParaRPr/>
          </a:p>
        </p:txBody>
      </p:sp>
      <p:sp>
        <p:nvSpPr>
          <p:cNvPr id="1062" name="Google Shape;1062;p78"/>
          <p:cNvSpPr txBox="1"/>
          <p:nvPr>
            <p:ph idx="3" type="body"/>
          </p:nvPr>
        </p:nvSpPr>
        <p:spPr>
          <a:xfrm>
            <a:off x="4596063" y="3910260"/>
            <a:ext cx="4110955" cy="2367608"/>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1" marL="1588" rtl="0" algn="l">
              <a:lnSpc>
                <a:spcPct val="100000"/>
              </a:lnSpc>
              <a:spcBef>
                <a:spcPts val="0"/>
              </a:spcBef>
              <a:spcAft>
                <a:spcPts val="0"/>
              </a:spcAft>
              <a:buSzPts val="1400"/>
              <a:buNone/>
            </a:pPr>
            <a:r>
              <a:rPr lang="en-US"/>
              <a:t>This case is focused on assessing the various options related to post-merger integrations. The candidate should focus on what to do with the BU i.e. (1) Keep as-is (2) Integrate completely (3) Divest. This is not a quant heavy case, and focuses on how the candidate thinks through an M&amp;A transaction</a:t>
            </a:r>
            <a:endParaRPr/>
          </a:p>
        </p:txBody>
      </p:sp>
      <p:sp>
        <p:nvSpPr>
          <p:cNvPr id="1063" name="Google Shape;1063;p78"/>
          <p:cNvSpPr txBox="1"/>
          <p:nvPr>
            <p:ph type="title"/>
          </p:nvPr>
        </p:nvSpPr>
        <p:spPr>
          <a:xfrm>
            <a:off x="597568" y="169235"/>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Data Aggregator</a:t>
            </a:r>
            <a:endParaRPr/>
          </a:p>
        </p:txBody>
      </p:sp>
      <p:sp>
        <p:nvSpPr>
          <p:cNvPr id="1064" name="Google Shape;1064;p78"/>
          <p:cNvSpPr txBox="1"/>
          <p:nvPr>
            <p:ph idx="4" type="body"/>
          </p:nvPr>
        </p:nvSpPr>
        <p:spPr>
          <a:xfrm>
            <a:off x="465670" y="996952"/>
            <a:ext cx="8209098"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Case Prompt</a:t>
            </a:r>
            <a:endParaRPr/>
          </a:p>
        </p:txBody>
      </p:sp>
      <p:sp>
        <p:nvSpPr>
          <p:cNvPr id="1065" name="Google Shape;1065;p78"/>
          <p:cNvSpPr txBox="1"/>
          <p:nvPr>
            <p:ph idx="5" type="body"/>
          </p:nvPr>
        </p:nvSpPr>
        <p:spPr>
          <a:xfrm>
            <a:off x="465670" y="3621892"/>
            <a:ext cx="4010077"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Case Intro</a:t>
            </a:r>
            <a:endParaRPr/>
          </a:p>
        </p:txBody>
      </p:sp>
      <p:sp>
        <p:nvSpPr>
          <p:cNvPr id="1066" name="Google Shape;1066;p78"/>
          <p:cNvSpPr txBox="1"/>
          <p:nvPr>
            <p:ph idx="6" type="body"/>
          </p:nvPr>
        </p:nvSpPr>
        <p:spPr>
          <a:xfrm>
            <a:off x="4664691" y="3621892"/>
            <a:ext cx="4010077"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Interview Guidance</a:t>
            </a:r>
            <a:endParaRPr/>
          </a:p>
        </p:txBody>
      </p:sp>
      <p:sp>
        <p:nvSpPr>
          <p:cNvPr id="1067" name="Google Shape;1067;p78"/>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1" name="Shape 1071"/>
        <p:cNvGrpSpPr/>
        <p:nvPr/>
      </p:nvGrpSpPr>
      <p:grpSpPr>
        <a:xfrm>
          <a:off x="0" y="0"/>
          <a:ext cx="0" cy="0"/>
          <a:chOff x="0" y="0"/>
          <a:chExt cx="0" cy="0"/>
        </a:xfrm>
      </p:grpSpPr>
      <p:sp>
        <p:nvSpPr>
          <p:cNvPr id="1072" name="Google Shape;1072;p79"/>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Data Aggregator</a:t>
            </a:r>
            <a:endParaRPr/>
          </a:p>
        </p:txBody>
      </p:sp>
      <p:sp>
        <p:nvSpPr>
          <p:cNvPr id="1073" name="Google Shape;1073;p79"/>
          <p:cNvSpPr txBox="1"/>
          <p:nvPr>
            <p:ph idx="1" type="body"/>
          </p:nvPr>
        </p:nvSpPr>
        <p:spPr>
          <a:xfrm>
            <a:off x="368302" y="1302452"/>
            <a:ext cx="4107445" cy="4972618"/>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1" marL="1588" rtl="0" algn="l">
              <a:lnSpc>
                <a:spcPct val="100000"/>
              </a:lnSpc>
              <a:spcBef>
                <a:spcPts val="0"/>
              </a:spcBef>
              <a:spcAft>
                <a:spcPts val="0"/>
              </a:spcAft>
              <a:buSzPts val="1400"/>
              <a:buNone/>
            </a:pPr>
            <a:r>
              <a:rPr b="1" lang="en-US"/>
              <a:t>Client </a:t>
            </a:r>
            <a:r>
              <a:rPr lang="en-US"/>
              <a:t>– The client’s business model can be considered identical to that of Equifax, Experian, etc. They serve a variety of clients including financial services and the insurance industry</a:t>
            </a:r>
            <a:endParaRPr/>
          </a:p>
          <a:p>
            <a:pPr indent="0" lvl="1" marL="1588" rtl="0" algn="l">
              <a:lnSpc>
                <a:spcPct val="100000"/>
              </a:lnSpc>
              <a:spcBef>
                <a:spcPts val="300"/>
              </a:spcBef>
              <a:spcAft>
                <a:spcPts val="0"/>
              </a:spcAft>
              <a:buSzPts val="1400"/>
              <a:buNone/>
            </a:pPr>
            <a:r>
              <a:t/>
            </a:r>
            <a:endParaRPr/>
          </a:p>
          <a:p>
            <a:pPr indent="0" lvl="1" marL="1588" rtl="0" algn="l">
              <a:lnSpc>
                <a:spcPct val="100000"/>
              </a:lnSpc>
              <a:spcBef>
                <a:spcPts val="300"/>
              </a:spcBef>
              <a:spcAft>
                <a:spcPts val="0"/>
              </a:spcAft>
              <a:buSzPts val="1400"/>
              <a:buNone/>
            </a:pPr>
            <a:r>
              <a:rPr b="1" lang="en-US"/>
              <a:t>Acquired Firm </a:t>
            </a:r>
            <a:r>
              <a:rPr lang="en-US"/>
              <a:t>– Same business model as client</a:t>
            </a:r>
            <a:endParaRPr/>
          </a:p>
          <a:p>
            <a:pPr indent="0" lvl="1" marL="1588" rtl="0" algn="l">
              <a:lnSpc>
                <a:spcPct val="100000"/>
              </a:lnSpc>
              <a:spcBef>
                <a:spcPts val="300"/>
              </a:spcBef>
              <a:spcAft>
                <a:spcPts val="0"/>
              </a:spcAft>
              <a:buSzPts val="1400"/>
              <a:buNone/>
            </a:pPr>
            <a:r>
              <a:t/>
            </a:r>
            <a:endParaRPr/>
          </a:p>
          <a:p>
            <a:pPr indent="0" lvl="1" marL="1588" rtl="0" algn="l">
              <a:lnSpc>
                <a:spcPct val="100000"/>
              </a:lnSpc>
              <a:spcBef>
                <a:spcPts val="300"/>
              </a:spcBef>
              <a:spcAft>
                <a:spcPts val="0"/>
              </a:spcAft>
              <a:buSzPts val="1400"/>
              <a:buNone/>
            </a:pPr>
            <a:r>
              <a:rPr b="1" lang="en-US"/>
              <a:t>Software BU </a:t>
            </a:r>
            <a:r>
              <a:rPr lang="en-US"/>
              <a:t>– They develop s/w to automate document processing. For example, the renewal notices that you get from your insurance providers are automatically generated through this software and sent to a 3</a:t>
            </a:r>
            <a:r>
              <a:rPr baseline="30000" lang="en-US"/>
              <a:t>rd</a:t>
            </a:r>
            <a:r>
              <a:rPr lang="en-US"/>
              <a:t> party for printing and mailing</a:t>
            </a:r>
            <a:endParaRPr/>
          </a:p>
          <a:p>
            <a:pPr indent="0" lvl="1" marL="1588" rtl="0" algn="l">
              <a:lnSpc>
                <a:spcPct val="100000"/>
              </a:lnSpc>
              <a:spcBef>
                <a:spcPts val="300"/>
              </a:spcBef>
              <a:spcAft>
                <a:spcPts val="0"/>
              </a:spcAft>
              <a:buSzPts val="1400"/>
              <a:buNone/>
            </a:pPr>
            <a:r>
              <a:t/>
            </a:r>
            <a:endParaRPr/>
          </a:p>
          <a:p>
            <a:pPr indent="0" lvl="1" marL="1588" rtl="0" algn="l">
              <a:lnSpc>
                <a:spcPct val="100000"/>
              </a:lnSpc>
              <a:spcBef>
                <a:spcPts val="300"/>
              </a:spcBef>
              <a:spcAft>
                <a:spcPts val="0"/>
              </a:spcAft>
              <a:buSzPts val="1400"/>
              <a:buNone/>
            </a:pPr>
            <a:r>
              <a:rPr b="1" lang="en-US"/>
              <a:t>Goals </a:t>
            </a:r>
            <a:r>
              <a:rPr lang="en-US"/>
              <a:t>– No specific target.</a:t>
            </a:r>
            <a:endParaRPr/>
          </a:p>
        </p:txBody>
      </p:sp>
      <p:sp>
        <p:nvSpPr>
          <p:cNvPr id="1074" name="Google Shape;1074;p79"/>
          <p:cNvSpPr txBox="1"/>
          <p:nvPr>
            <p:ph idx="2" type="body"/>
          </p:nvPr>
        </p:nvSpPr>
        <p:spPr>
          <a:xfrm>
            <a:off x="4596063" y="1302453"/>
            <a:ext cx="4110955" cy="4972617"/>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1" marL="1588" rtl="0" algn="l">
              <a:lnSpc>
                <a:spcPct val="100000"/>
              </a:lnSpc>
              <a:spcBef>
                <a:spcPts val="0"/>
              </a:spcBef>
              <a:spcAft>
                <a:spcPts val="0"/>
              </a:spcAft>
              <a:buSzPts val="1400"/>
              <a:buNone/>
            </a:pPr>
            <a:r>
              <a:rPr b="1" lang="en-US"/>
              <a:t>Exhibit 1 – Financials for the client and the software BU</a:t>
            </a:r>
            <a:endParaRPr/>
          </a:p>
          <a:p>
            <a:pPr indent="-274313" lvl="1" marL="274313" rtl="0" algn="l">
              <a:lnSpc>
                <a:spcPct val="100000"/>
              </a:lnSpc>
              <a:spcBef>
                <a:spcPts val="300"/>
              </a:spcBef>
              <a:spcAft>
                <a:spcPts val="0"/>
              </a:spcAft>
              <a:buSzPts val="1400"/>
              <a:buChar char="•"/>
            </a:pPr>
            <a:r>
              <a:rPr lang="en-US"/>
              <a:t>Tax rates are different for the Client and the software BU – if candidates brings this up, ask the question back to candidate – Reason is that the S/W BU got R&amp;D tax credits reducing the effective tax rate</a:t>
            </a:r>
            <a:endParaRPr/>
          </a:p>
          <a:p>
            <a:pPr indent="-274313" lvl="1" marL="274313" rtl="0" algn="l">
              <a:lnSpc>
                <a:spcPct val="100000"/>
              </a:lnSpc>
              <a:spcBef>
                <a:spcPts val="300"/>
              </a:spcBef>
              <a:spcAft>
                <a:spcPts val="0"/>
              </a:spcAft>
              <a:buSzPts val="1400"/>
              <a:buChar char="•"/>
            </a:pPr>
            <a:r>
              <a:rPr lang="en-US"/>
              <a:t>No major insights from this exhibit – Will provide candidate additional reference material to make the final decision</a:t>
            </a:r>
            <a:endParaRPr/>
          </a:p>
          <a:p>
            <a:pPr indent="0" lvl="1" marL="1588" rtl="0" algn="l">
              <a:lnSpc>
                <a:spcPct val="100000"/>
              </a:lnSpc>
              <a:spcBef>
                <a:spcPts val="300"/>
              </a:spcBef>
              <a:spcAft>
                <a:spcPts val="0"/>
              </a:spcAft>
              <a:buSzPts val="1400"/>
              <a:buNone/>
            </a:pPr>
            <a:r>
              <a:t/>
            </a:r>
            <a:endParaRPr/>
          </a:p>
          <a:p>
            <a:pPr indent="0" lvl="1" marL="1588" rtl="0" algn="l">
              <a:lnSpc>
                <a:spcPct val="100000"/>
              </a:lnSpc>
              <a:spcBef>
                <a:spcPts val="300"/>
              </a:spcBef>
              <a:spcAft>
                <a:spcPts val="0"/>
              </a:spcAft>
              <a:buSzPts val="1400"/>
              <a:buNone/>
            </a:pPr>
            <a:r>
              <a:rPr b="1" lang="en-US"/>
              <a:t>Exhibit 2 – Multiples based valuations for recent sales of similar software companies</a:t>
            </a:r>
            <a:endParaRPr/>
          </a:p>
          <a:p>
            <a:pPr indent="-274313" lvl="1" marL="274313" rtl="0" algn="l">
              <a:lnSpc>
                <a:spcPct val="100000"/>
              </a:lnSpc>
              <a:spcBef>
                <a:spcPts val="300"/>
              </a:spcBef>
              <a:spcAft>
                <a:spcPts val="0"/>
              </a:spcAft>
              <a:buSzPts val="1400"/>
              <a:buChar char="•"/>
            </a:pPr>
            <a:r>
              <a:rPr lang="en-US"/>
              <a:t>Three different comps are provided and all will lead to a valuation of ~$300M </a:t>
            </a:r>
            <a:endParaRPr/>
          </a:p>
          <a:p>
            <a:pPr indent="0" lvl="0" marL="0" rtl="0" algn="l">
              <a:lnSpc>
                <a:spcPct val="100000"/>
              </a:lnSpc>
              <a:spcBef>
                <a:spcPts val="300"/>
              </a:spcBef>
              <a:spcAft>
                <a:spcPts val="0"/>
              </a:spcAft>
              <a:buSzPts val="1400"/>
              <a:buFont typeface="Calibri"/>
              <a:buNone/>
            </a:pPr>
            <a:r>
              <a:t/>
            </a:r>
            <a:endParaRPr/>
          </a:p>
        </p:txBody>
      </p:sp>
      <p:sp>
        <p:nvSpPr>
          <p:cNvPr id="1075" name="Google Shape;1075;p79"/>
          <p:cNvSpPr txBox="1"/>
          <p:nvPr>
            <p:ph idx="3" type="body"/>
          </p:nvPr>
        </p:nvSpPr>
        <p:spPr>
          <a:xfrm>
            <a:off x="465670" y="1015291"/>
            <a:ext cx="4010077"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solidFill>
                  <a:schemeClr val="lt1"/>
                </a:solidFill>
              </a:rPr>
              <a:t>Clarifying Information</a:t>
            </a:r>
            <a:endParaRPr/>
          </a:p>
        </p:txBody>
      </p:sp>
      <p:sp>
        <p:nvSpPr>
          <p:cNvPr id="1076" name="Google Shape;1076;p79"/>
          <p:cNvSpPr txBox="1"/>
          <p:nvPr>
            <p:ph idx="4" type="body"/>
          </p:nvPr>
        </p:nvSpPr>
        <p:spPr>
          <a:xfrm>
            <a:off x="4695825" y="1016486"/>
            <a:ext cx="4010077"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solidFill>
                  <a:schemeClr val="lt1"/>
                </a:solidFill>
              </a:rPr>
              <a:t>Guide to Handouts</a:t>
            </a:r>
            <a:endParaRPr/>
          </a:p>
        </p:txBody>
      </p:sp>
      <p:sp>
        <p:nvSpPr>
          <p:cNvPr id="1077" name="Google Shape;1077;p79"/>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1" name="Shape 1081"/>
        <p:cNvGrpSpPr/>
        <p:nvPr/>
      </p:nvGrpSpPr>
      <p:grpSpPr>
        <a:xfrm>
          <a:off x="0" y="0"/>
          <a:ext cx="0" cy="0"/>
          <a:chOff x="0" y="0"/>
          <a:chExt cx="0" cy="0"/>
        </a:xfrm>
      </p:grpSpPr>
      <p:sp>
        <p:nvSpPr>
          <p:cNvPr id="1082" name="Google Shape;1082;p80"/>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Data Aggregator</a:t>
            </a:r>
            <a:endParaRPr/>
          </a:p>
        </p:txBody>
      </p:sp>
      <p:sp>
        <p:nvSpPr>
          <p:cNvPr id="1083" name="Google Shape;1083;p80"/>
          <p:cNvSpPr txBox="1"/>
          <p:nvPr>
            <p:ph idx="1" type="body"/>
          </p:nvPr>
        </p:nvSpPr>
        <p:spPr>
          <a:xfrm>
            <a:off x="381001" y="1265077"/>
            <a:ext cx="8341656" cy="804355"/>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274313" lvl="1" marL="274313" rtl="0" algn="l">
              <a:lnSpc>
                <a:spcPct val="100000"/>
              </a:lnSpc>
              <a:spcBef>
                <a:spcPts val="0"/>
              </a:spcBef>
              <a:spcAft>
                <a:spcPts val="0"/>
              </a:spcAft>
              <a:buSzPts val="1400"/>
              <a:buChar char="•"/>
            </a:pPr>
            <a:r>
              <a:rPr lang="en-US"/>
              <a:t>How would you think about approaching this problem? </a:t>
            </a:r>
            <a:endParaRPr/>
          </a:p>
          <a:p>
            <a:pPr indent="0" lvl="1" marL="0" rtl="0" algn="l">
              <a:lnSpc>
                <a:spcPct val="100000"/>
              </a:lnSpc>
              <a:spcBef>
                <a:spcPts val="300"/>
              </a:spcBef>
              <a:spcAft>
                <a:spcPts val="0"/>
              </a:spcAft>
              <a:buSzPts val="1400"/>
              <a:buNone/>
            </a:pPr>
            <a:r>
              <a:rPr i="1" lang="en-US"/>
              <a:t>For interviewer: After going through the framework, the candidate should analyze each option. Information for each is provided in the following slides</a:t>
            </a:r>
            <a:endParaRPr/>
          </a:p>
          <a:p>
            <a:pPr indent="0" lvl="0" marL="0" rtl="0" algn="l">
              <a:lnSpc>
                <a:spcPct val="100000"/>
              </a:lnSpc>
              <a:spcBef>
                <a:spcPts val="300"/>
              </a:spcBef>
              <a:spcAft>
                <a:spcPts val="0"/>
              </a:spcAft>
              <a:buSzPts val="1400"/>
              <a:buFont typeface="Calibri"/>
              <a:buNone/>
            </a:pPr>
            <a:r>
              <a:t/>
            </a:r>
            <a:endParaRPr/>
          </a:p>
        </p:txBody>
      </p:sp>
      <p:sp>
        <p:nvSpPr>
          <p:cNvPr id="1084" name="Google Shape;1084;p80"/>
          <p:cNvSpPr txBox="1"/>
          <p:nvPr>
            <p:ph idx="2" type="body"/>
          </p:nvPr>
        </p:nvSpPr>
        <p:spPr>
          <a:xfrm>
            <a:off x="503321" y="1022905"/>
            <a:ext cx="8126332"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Question 1 </a:t>
            </a:r>
            <a:endParaRPr/>
          </a:p>
        </p:txBody>
      </p:sp>
      <p:sp>
        <p:nvSpPr>
          <p:cNvPr id="1085" name="Google Shape;1085;p80"/>
          <p:cNvSpPr txBox="1"/>
          <p:nvPr/>
        </p:nvSpPr>
        <p:spPr>
          <a:xfrm>
            <a:off x="398648" y="2399252"/>
            <a:ext cx="8341656" cy="3510660"/>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1" marL="0" marR="0" rtl="0" algn="l">
              <a:lnSpc>
                <a:spcPct val="100000"/>
              </a:lnSpc>
              <a:spcBef>
                <a:spcPts val="0"/>
              </a:spcBef>
              <a:spcAft>
                <a:spcPts val="0"/>
              </a:spcAft>
              <a:buClr>
                <a:schemeClr val="dk1"/>
              </a:buClr>
              <a:buSzPts val="1400"/>
              <a:buFont typeface="Georgia"/>
              <a:buNone/>
            </a:pPr>
            <a:r>
              <a:rPr b="0" i="0" lang="en-US" sz="1400" u="none" cap="none" strike="noStrike">
                <a:solidFill>
                  <a:schemeClr val="accent5"/>
                </a:solidFill>
                <a:latin typeface="Calibri"/>
                <a:ea typeface="Calibri"/>
                <a:cs typeface="Calibri"/>
                <a:sym typeface="Calibri"/>
              </a:rPr>
              <a:t>The candidate should think of the following options that the client has and provide more context for each:</a:t>
            </a:r>
            <a:endParaRPr b="0" i="0" sz="1400" u="none" cap="none" strike="noStrike">
              <a:solidFill>
                <a:srgbClr val="000000"/>
              </a:solidFill>
              <a:latin typeface="Arial"/>
              <a:ea typeface="Arial"/>
              <a:cs typeface="Arial"/>
              <a:sym typeface="Arial"/>
            </a:endParaRPr>
          </a:p>
          <a:p>
            <a:pPr indent="-274313" lvl="1" marL="274313" marR="0" rtl="0" algn="l">
              <a:lnSpc>
                <a:spcPct val="100000"/>
              </a:lnSpc>
              <a:spcBef>
                <a:spcPts val="300"/>
              </a:spcBef>
              <a:spcAft>
                <a:spcPts val="0"/>
              </a:spcAft>
              <a:buClr>
                <a:schemeClr val="dk1"/>
              </a:buClr>
              <a:buSzPts val="1400"/>
              <a:buFont typeface="Georgia"/>
              <a:buChar char="•"/>
            </a:pPr>
            <a:r>
              <a:rPr b="0" i="0" lang="en-US" sz="1400" u="none" cap="none" strike="noStrike">
                <a:solidFill>
                  <a:schemeClr val="accent5"/>
                </a:solidFill>
                <a:latin typeface="Calibri"/>
                <a:ea typeface="Calibri"/>
                <a:cs typeface="Calibri"/>
                <a:sym typeface="Calibri"/>
              </a:rPr>
              <a:t>Keep As-Is / Do Nothing</a:t>
            </a:r>
            <a:endParaRPr b="0" i="0" sz="1400" u="none" cap="none" strike="noStrike">
              <a:solidFill>
                <a:srgbClr val="000000"/>
              </a:solidFill>
              <a:latin typeface="Arial"/>
              <a:ea typeface="Arial"/>
              <a:cs typeface="Arial"/>
              <a:sym typeface="Arial"/>
            </a:endParaRPr>
          </a:p>
          <a:p>
            <a:pPr indent="-274313" lvl="2" marL="548626" marR="0" rtl="0" algn="l">
              <a:lnSpc>
                <a:spcPct val="100000"/>
              </a:lnSpc>
              <a:spcBef>
                <a:spcPts val="300"/>
              </a:spcBef>
              <a:spcAft>
                <a:spcPts val="0"/>
              </a:spcAft>
              <a:buClr>
                <a:schemeClr val="dk1"/>
              </a:buClr>
              <a:buSzPts val="1400"/>
              <a:buFont typeface="Georgia"/>
              <a:buChar char="-"/>
            </a:pPr>
            <a:r>
              <a:rPr b="0" i="0" lang="en-US" sz="1400" u="none" cap="none" strike="noStrike">
                <a:solidFill>
                  <a:schemeClr val="accent5"/>
                </a:solidFill>
                <a:latin typeface="Calibri"/>
                <a:ea typeface="Calibri"/>
                <a:cs typeface="Calibri"/>
                <a:sym typeface="Calibri"/>
              </a:rPr>
              <a:t>Growth of the industry</a:t>
            </a:r>
            <a:endParaRPr b="0" i="0" sz="1400" u="none" cap="none" strike="noStrike">
              <a:solidFill>
                <a:srgbClr val="000000"/>
              </a:solidFill>
              <a:latin typeface="Arial"/>
              <a:ea typeface="Arial"/>
              <a:cs typeface="Arial"/>
              <a:sym typeface="Arial"/>
            </a:endParaRPr>
          </a:p>
          <a:p>
            <a:pPr indent="-274313" lvl="2" marL="548626" marR="0" rtl="0" algn="l">
              <a:lnSpc>
                <a:spcPct val="100000"/>
              </a:lnSpc>
              <a:spcBef>
                <a:spcPts val="300"/>
              </a:spcBef>
              <a:spcAft>
                <a:spcPts val="0"/>
              </a:spcAft>
              <a:buClr>
                <a:schemeClr val="dk1"/>
              </a:buClr>
              <a:buSzPts val="1400"/>
              <a:buFont typeface="Georgia"/>
              <a:buChar char="-"/>
            </a:pPr>
            <a:r>
              <a:rPr b="0" i="0" lang="en-US" sz="1400" u="none" cap="none" strike="noStrike">
                <a:solidFill>
                  <a:schemeClr val="accent5"/>
                </a:solidFill>
                <a:latin typeface="Calibri"/>
                <a:ea typeface="Calibri"/>
                <a:cs typeface="Calibri"/>
                <a:sym typeface="Calibri"/>
              </a:rPr>
              <a:t>Understand financials of the S/W BU and growth over the years</a:t>
            </a:r>
            <a:endParaRPr b="0" i="0" sz="1400" u="none" cap="none" strike="noStrike">
              <a:solidFill>
                <a:srgbClr val="000000"/>
              </a:solidFill>
              <a:latin typeface="Arial"/>
              <a:ea typeface="Arial"/>
              <a:cs typeface="Arial"/>
              <a:sym typeface="Arial"/>
            </a:endParaRPr>
          </a:p>
          <a:p>
            <a:pPr indent="-274313" lvl="2" marL="548626" marR="0" rtl="0" algn="l">
              <a:lnSpc>
                <a:spcPct val="100000"/>
              </a:lnSpc>
              <a:spcBef>
                <a:spcPts val="300"/>
              </a:spcBef>
              <a:spcAft>
                <a:spcPts val="0"/>
              </a:spcAft>
              <a:buClr>
                <a:schemeClr val="dk1"/>
              </a:buClr>
              <a:buSzPts val="1400"/>
              <a:buFont typeface="Georgia"/>
              <a:buChar char="-"/>
            </a:pPr>
            <a:r>
              <a:rPr b="0" i="0" lang="en-US" sz="1400" u="none" cap="none" strike="noStrike">
                <a:solidFill>
                  <a:schemeClr val="accent5"/>
                </a:solidFill>
                <a:latin typeface="Calibri"/>
                <a:ea typeface="Calibri"/>
                <a:cs typeface="Calibri"/>
                <a:sym typeface="Calibri"/>
              </a:rPr>
              <a:t>% of total net income generated by this BU</a:t>
            </a:r>
            <a:endParaRPr b="0" i="0" sz="1400" u="none" cap="none" strike="noStrike">
              <a:solidFill>
                <a:srgbClr val="000000"/>
              </a:solidFill>
              <a:latin typeface="Arial"/>
              <a:ea typeface="Arial"/>
              <a:cs typeface="Arial"/>
              <a:sym typeface="Arial"/>
            </a:endParaRPr>
          </a:p>
          <a:p>
            <a:pPr indent="-274313" lvl="2" marL="548626" marR="0" rtl="0" algn="l">
              <a:lnSpc>
                <a:spcPct val="100000"/>
              </a:lnSpc>
              <a:spcBef>
                <a:spcPts val="300"/>
              </a:spcBef>
              <a:spcAft>
                <a:spcPts val="0"/>
              </a:spcAft>
              <a:buClr>
                <a:schemeClr val="dk1"/>
              </a:buClr>
              <a:buSzPts val="1400"/>
              <a:buFont typeface="Georgia"/>
              <a:buChar char="-"/>
            </a:pPr>
            <a:r>
              <a:rPr b="0" i="0" lang="en-US" sz="1400" u="none" cap="none" strike="noStrike">
                <a:solidFill>
                  <a:schemeClr val="accent5"/>
                </a:solidFill>
                <a:latin typeface="Calibri"/>
                <a:ea typeface="Calibri"/>
                <a:cs typeface="Calibri"/>
                <a:sym typeface="Calibri"/>
              </a:rPr>
              <a:t>Management capabilities – does the client’s management team have experience in this space? (Key insight – candidates may not think about this upfront)</a:t>
            </a:r>
            <a:endParaRPr b="0" i="0" sz="1400" u="none" cap="none" strike="noStrike">
              <a:solidFill>
                <a:srgbClr val="000000"/>
              </a:solidFill>
              <a:latin typeface="Arial"/>
              <a:ea typeface="Arial"/>
              <a:cs typeface="Arial"/>
              <a:sym typeface="Arial"/>
            </a:endParaRPr>
          </a:p>
          <a:p>
            <a:pPr indent="-274313" lvl="1" marL="274313" marR="0" rtl="0" algn="l">
              <a:lnSpc>
                <a:spcPct val="100000"/>
              </a:lnSpc>
              <a:spcBef>
                <a:spcPts val="300"/>
              </a:spcBef>
              <a:spcAft>
                <a:spcPts val="0"/>
              </a:spcAft>
              <a:buClr>
                <a:schemeClr val="dk1"/>
              </a:buClr>
              <a:buSzPts val="1400"/>
              <a:buFont typeface="Georgia"/>
              <a:buChar char="•"/>
            </a:pPr>
            <a:r>
              <a:rPr b="0" i="0" lang="en-US" sz="1400" u="none" cap="none" strike="noStrike">
                <a:solidFill>
                  <a:schemeClr val="accent5"/>
                </a:solidFill>
                <a:latin typeface="Calibri"/>
                <a:ea typeface="Calibri"/>
                <a:cs typeface="Calibri"/>
                <a:sym typeface="Calibri"/>
              </a:rPr>
              <a:t>Integrate</a:t>
            </a:r>
            <a:endParaRPr b="0" i="0" sz="1400" u="none" cap="none" strike="noStrike">
              <a:solidFill>
                <a:srgbClr val="000000"/>
              </a:solidFill>
              <a:latin typeface="Arial"/>
              <a:ea typeface="Arial"/>
              <a:cs typeface="Arial"/>
              <a:sym typeface="Arial"/>
            </a:endParaRPr>
          </a:p>
          <a:p>
            <a:pPr indent="-274313" lvl="2" marL="548626" marR="0" rtl="0" algn="l">
              <a:lnSpc>
                <a:spcPct val="100000"/>
              </a:lnSpc>
              <a:spcBef>
                <a:spcPts val="300"/>
              </a:spcBef>
              <a:spcAft>
                <a:spcPts val="0"/>
              </a:spcAft>
              <a:buClr>
                <a:schemeClr val="dk1"/>
              </a:buClr>
              <a:buSzPts val="1400"/>
              <a:buFont typeface="Georgia"/>
              <a:buChar char="-"/>
            </a:pPr>
            <a:r>
              <a:rPr b="0" i="0" lang="en-US" sz="1400" u="none" cap="none" strike="noStrike">
                <a:solidFill>
                  <a:schemeClr val="accent5"/>
                </a:solidFill>
                <a:latin typeface="Calibri"/>
                <a:ea typeface="Calibri"/>
                <a:cs typeface="Calibri"/>
                <a:sym typeface="Calibri"/>
              </a:rPr>
              <a:t>Synergy assessment (Revenue and Cost)</a:t>
            </a:r>
            <a:endParaRPr b="0" i="0" sz="1400" u="none" cap="none" strike="noStrike">
              <a:solidFill>
                <a:srgbClr val="000000"/>
              </a:solidFill>
              <a:latin typeface="Arial"/>
              <a:ea typeface="Arial"/>
              <a:cs typeface="Arial"/>
              <a:sym typeface="Arial"/>
            </a:endParaRPr>
          </a:p>
          <a:p>
            <a:pPr indent="-274313" lvl="1" marL="274313" marR="0" rtl="0" algn="l">
              <a:lnSpc>
                <a:spcPct val="100000"/>
              </a:lnSpc>
              <a:spcBef>
                <a:spcPts val="300"/>
              </a:spcBef>
              <a:spcAft>
                <a:spcPts val="0"/>
              </a:spcAft>
              <a:buClr>
                <a:schemeClr val="dk1"/>
              </a:buClr>
              <a:buSzPts val="1400"/>
              <a:buFont typeface="Georgia"/>
              <a:buChar char="•"/>
            </a:pPr>
            <a:r>
              <a:rPr b="0" i="0" lang="en-US" sz="1400" u="none" cap="none" strike="noStrike">
                <a:solidFill>
                  <a:schemeClr val="accent5"/>
                </a:solidFill>
                <a:latin typeface="Calibri"/>
                <a:ea typeface="Calibri"/>
                <a:cs typeface="Calibri"/>
                <a:sym typeface="Calibri"/>
              </a:rPr>
              <a:t>Divest</a:t>
            </a:r>
            <a:endParaRPr b="0" i="0" sz="1400" u="none" cap="none" strike="noStrike">
              <a:solidFill>
                <a:srgbClr val="000000"/>
              </a:solidFill>
              <a:latin typeface="Arial"/>
              <a:ea typeface="Arial"/>
              <a:cs typeface="Arial"/>
              <a:sym typeface="Arial"/>
            </a:endParaRPr>
          </a:p>
          <a:p>
            <a:pPr indent="-274313" lvl="2" marL="548626" marR="0" rtl="0" algn="l">
              <a:lnSpc>
                <a:spcPct val="100000"/>
              </a:lnSpc>
              <a:spcBef>
                <a:spcPts val="300"/>
              </a:spcBef>
              <a:spcAft>
                <a:spcPts val="0"/>
              </a:spcAft>
              <a:buClr>
                <a:schemeClr val="dk1"/>
              </a:buClr>
              <a:buSzPts val="1400"/>
              <a:buFont typeface="Georgia"/>
              <a:buChar char="-"/>
            </a:pPr>
            <a:r>
              <a:rPr b="0" i="0" lang="en-US" sz="1400" u="none" cap="none" strike="noStrike">
                <a:solidFill>
                  <a:schemeClr val="accent5"/>
                </a:solidFill>
                <a:latin typeface="Calibri"/>
                <a:ea typeface="Calibri"/>
                <a:cs typeface="Calibri"/>
                <a:sym typeface="Calibri"/>
              </a:rPr>
              <a:t>Who to sell to?</a:t>
            </a:r>
            <a:endParaRPr b="0" i="0" sz="1400" u="none" cap="none" strike="noStrike">
              <a:solidFill>
                <a:srgbClr val="000000"/>
              </a:solidFill>
              <a:latin typeface="Arial"/>
              <a:ea typeface="Arial"/>
              <a:cs typeface="Arial"/>
              <a:sym typeface="Arial"/>
            </a:endParaRPr>
          </a:p>
          <a:p>
            <a:pPr indent="-274313" lvl="2" marL="548626" marR="0" rtl="0" algn="l">
              <a:lnSpc>
                <a:spcPct val="100000"/>
              </a:lnSpc>
              <a:spcBef>
                <a:spcPts val="300"/>
              </a:spcBef>
              <a:spcAft>
                <a:spcPts val="0"/>
              </a:spcAft>
              <a:buClr>
                <a:schemeClr val="dk1"/>
              </a:buClr>
              <a:buSzPts val="1400"/>
              <a:buFont typeface="Georgia"/>
              <a:buChar char="-"/>
            </a:pPr>
            <a:r>
              <a:rPr b="0" i="0" lang="en-US" sz="1400" u="none" cap="none" strike="noStrike">
                <a:solidFill>
                  <a:schemeClr val="accent5"/>
                </a:solidFill>
                <a:latin typeface="Calibri"/>
                <a:ea typeface="Calibri"/>
                <a:cs typeface="Calibri"/>
                <a:sym typeface="Calibri"/>
              </a:rPr>
              <a:t>Valuation</a:t>
            </a:r>
            <a:endParaRPr b="0" i="0" sz="1400" u="none" cap="none" strike="noStrike">
              <a:solidFill>
                <a:srgbClr val="000000"/>
              </a:solidFill>
              <a:latin typeface="Arial"/>
              <a:ea typeface="Arial"/>
              <a:cs typeface="Arial"/>
              <a:sym typeface="Arial"/>
            </a:endParaRPr>
          </a:p>
        </p:txBody>
      </p:sp>
      <p:sp>
        <p:nvSpPr>
          <p:cNvPr id="1086" name="Google Shape;1086;p80"/>
          <p:cNvSpPr txBox="1"/>
          <p:nvPr/>
        </p:nvSpPr>
        <p:spPr>
          <a:xfrm>
            <a:off x="381002" y="2138792"/>
            <a:ext cx="8359302" cy="260460"/>
          </a:xfrm>
          <a:prstGeom prst="rect">
            <a:avLst/>
          </a:prstGeom>
          <a:solidFill>
            <a:srgbClr val="162051"/>
          </a:solidFill>
          <a:ln>
            <a:noFill/>
          </a:ln>
        </p:spPr>
        <p:txBody>
          <a:bodyPr anchorCtr="0" anchor="t" bIns="0" lIns="91425"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rPr b="0" i="0" lang="en-US" sz="1800" u="none" cap="none" strike="noStrike">
                <a:solidFill>
                  <a:srgbClr val="E5E5E5"/>
                </a:solidFill>
                <a:latin typeface="Calibri"/>
                <a:ea typeface="Calibri"/>
                <a:cs typeface="Calibri"/>
                <a:sym typeface="Calibri"/>
              </a:rPr>
              <a:t>Recommended Framework</a:t>
            </a:r>
            <a:endParaRPr b="0" i="0" sz="1400" u="none" cap="none" strike="noStrike">
              <a:solidFill>
                <a:srgbClr val="000000"/>
              </a:solidFill>
              <a:latin typeface="Arial"/>
              <a:ea typeface="Arial"/>
              <a:cs typeface="Arial"/>
              <a:sym typeface="Arial"/>
            </a:endParaRPr>
          </a:p>
        </p:txBody>
      </p:sp>
      <p:sp>
        <p:nvSpPr>
          <p:cNvPr id="1087" name="Google Shape;1087;p80"/>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1" name="Shape 1091"/>
        <p:cNvGrpSpPr/>
        <p:nvPr/>
      </p:nvGrpSpPr>
      <p:grpSpPr>
        <a:xfrm>
          <a:off x="0" y="0"/>
          <a:ext cx="0" cy="0"/>
          <a:chOff x="0" y="0"/>
          <a:chExt cx="0" cy="0"/>
        </a:xfrm>
      </p:grpSpPr>
      <p:sp>
        <p:nvSpPr>
          <p:cNvPr id="1092" name="Google Shape;1092;p81"/>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Data Aggregator - Options</a:t>
            </a:r>
            <a:endParaRPr/>
          </a:p>
        </p:txBody>
      </p:sp>
      <p:sp>
        <p:nvSpPr>
          <p:cNvPr id="1093" name="Google Shape;1093;p81"/>
          <p:cNvSpPr txBox="1"/>
          <p:nvPr>
            <p:ph idx="1" type="body"/>
          </p:nvPr>
        </p:nvSpPr>
        <p:spPr>
          <a:xfrm>
            <a:off x="379884" y="1353373"/>
            <a:ext cx="2687781" cy="4924496"/>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274313" lvl="1" marL="274313" rtl="0" algn="l">
              <a:lnSpc>
                <a:spcPct val="100000"/>
              </a:lnSpc>
              <a:spcBef>
                <a:spcPts val="0"/>
              </a:spcBef>
              <a:spcAft>
                <a:spcPts val="0"/>
              </a:spcAft>
              <a:buSzPts val="1400"/>
              <a:buChar char="•"/>
            </a:pPr>
            <a:r>
              <a:rPr lang="en-US"/>
              <a:t>When asked for financials, provide Ex. 1</a:t>
            </a:r>
            <a:endParaRPr/>
          </a:p>
          <a:p>
            <a:pPr indent="-274313" lvl="1" marL="274313" rtl="0" algn="l">
              <a:lnSpc>
                <a:spcPct val="100000"/>
              </a:lnSpc>
              <a:spcBef>
                <a:spcPts val="300"/>
              </a:spcBef>
              <a:spcAft>
                <a:spcPts val="0"/>
              </a:spcAft>
              <a:buSzPts val="1400"/>
              <a:buChar char="•"/>
            </a:pPr>
            <a:r>
              <a:rPr lang="en-US"/>
              <a:t>Industry growth trends – No more information, but assume stable industry (growth @ GDP)</a:t>
            </a:r>
            <a:endParaRPr/>
          </a:p>
          <a:p>
            <a:pPr indent="-274313" lvl="1" marL="274313" rtl="0" algn="l">
              <a:lnSpc>
                <a:spcPct val="100000"/>
              </a:lnSpc>
              <a:spcBef>
                <a:spcPts val="300"/>
              </a:spcBef>
              <a:spcAft>
                <a:spcPts val="0"/>
              </a:spcAft>
              <a:buSzPts val="1400"/>
              <a:buChar char="•"/>
            </a:pPr>
            <a:r>
              <a:rPr lang="en-US"/>
              <a:t>S/W BU growth trends – Don’t have more details but assume growth at industry rates</a:t>
            </a:r>
            <a:endParaRPr/>
          </a:p>
          <a:p>
            <a:pPr indent="-274313" lvl="1" marL="274313" rtl="0" algn="l">
              <a:lnSpc>
                <a:spcPct val="100000"/>
              </a:lnSpc>
              <a:spcBef>
                <a:spcPts val="300"/>
              </a:spcBef>
              <a:spcAft>
                <a:spcPts val="0"/>
              </a:spcAft>
              <a:buSzPts val="1400"/>
              <a:buChar char="•"/>
            </a:pPr>
            <a:r>
              <a:rPr lang="en-US"/>
              <a:t>Competitors – There are competitors but we don’t have details about them</a:t>
            </a:r>
            <a:endParaRPr/>
          </a:p>
          <a:p>
            <a:pPr indent="-274313" lvl="1" marL="274313" rtl="0" algn="l">
              <a:lnSpc>
                <a:spcPct val="100000"/>
              </a:lnSpc>
              <a:spcBef>
                <a:spcPts val="300"/>
              </a:spcBef>
              <a:spcAft>
                <a:spcPts val="0"/>
              </a:spcAft>
              <a:buSzPts val="1400"/>
              <a:buChar char="•"/>
            </a:pPr>
            <a:r>
              <a:rPr lang="en-US"/>
              <a:t>Management – Client’s management team does not have experience in the S/W space</a:t>
            </a:r>
            <a:endParaRPr/>
          </a:p>
        </p:txBody>
      </p:sp>
      <p:sp>
        <p:nvSpPr>
          <p:cNvPr id="1094" name="Google Shape;1094;p81"/>
          <p:cNvSpPr txBox="1"/>
          <p:nvPr>
            <p:ph idx="2" type="body"/>
          </p:nvPr>
        </p:nvSpPr>
        <p:spPr>
          <a:xfrm>
            <a:off x="3208531" y="1353374"/>
            <a:ext cx="2690077" cy="4924494"/>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Font typeface="Calibri"/>
              <a:buNone/>
            </a:pPr>
            <a:r>
              <a:rPr lang="en-US"/>
              <a:t>See next slide</a:t>
            </a:r>
            <a:endParaRPr/>
          </a:p>
        </p:txBody>
      </p:sp>
      <p:sp>
        <p:nvSpPr>
          <p:cNvPr id="1095" name="Google Shape;1095;p81"/>
          <p:cNvSpPr txBox="1"/>
          <p:nvPr>
            <p:ph idx="3" type="body"/>
          </p:nvPr>
        </p:nvSpPr>
        <p:spPr>
          <a:xfrm>
            <a:off x="6039474" y="1353374"/>
            <a:ext cx="2690077" cy="4924494"/>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274313" lvl="1" marL="274313" rtl="0" algn="l">
              <a:lnSpc>
                <a:spcPct val="100000"/>
              </a:lnSpc>
              <a:spcBef>
                <a:spcPts val="0"/>
              </a:spcBef>
              <a:spcAft>
                <a:spcPts val="0"/>
              </a:spcAft>
              <a:buSzPts val="1400"/>
              <a:buChar char="•"/>
            </a:pPr>
            <a:r>
              <a:rPr lang="en-US"/>
              <a:t>Ask candidate about divestiture considerations – Valuation is the critical driver here</a:t>
            </a:r>
            <a:endParaRPr/>
          </a:p>
          <a:p>
            <a:pPr indent="-274313" lvl="1" marL="274313" rtl="0" algn="l">
              <a:lnSpc>
                <a:spcPct val="100000"/>
              </a:lnSpc>
              <a:spcBef>
                <a:spcPts val="300"/>
              </a:spcBef>
              <a:spcAft>
                <a:spcPts val="0"/>
              </a:spcAft>
              <a:buSzPts val="1400"/>
              <a:buChar char="•"/>
            </a:pPr>
            <a:r>
              <a:rPr lang="en-US"/>
              <a:t>Ask how they would estimate the value – Multiples based valuation and DCF</a:t>
            </a:r>
            <a:endParaRPr/>
          </a:p>
          <a:p>
            <a:pPr indent="-274313" lvl="1" marL="274313" rtl="0" algn="l">
              <a:lnSpc>
                <a:spcPct val="100000"/>
              </a:lnSpc>
              <a:spcBef>
                <a:spcPts val="300"/>
              </a:spcBef>
              <a:spcAft>
                <a:spcPts val="0"/>
              </a:spcAft>
              <a:buSzPts val="1400"/>
              <a:buChar char="•"/>
            </a:pPr>
            <a:r>
              <a:rPr lang="en-US"/>
              <a:t>Candidate should ask for comparables for multiple based valuation – Provide Ex. 2 </a:t>
            </a:r>
            <a:endParaRPr/>
          </a:p>
          <a:p>
            <a:pPr indent="-274313" lvl="1" marL="274313" rtl="0" algn="l">
              <a:lnSpc>
                <a:spcPct val="100000"/>
              </a:lnSpc>
              <a:spcBef>
                <a:spcPts val="300"/>
              </a:spcBef>
              <a:spcAft>
                <a:spcPts val="0"/>
              </a:spcAft>
              <a:buSzPts val="1400"/>
              <a:buChar char="•"/>
            </a:pPr>
            <a:r>
              <a:rPr lang="en-US"/>
              <a:t>Based on Ex. 2, client can sell the BU for ~$300M  </a:t>
            </a:r>
            <a:endParaRPr/>
          </a:p>
        </p:txBody>
      </p:sp>
      <p:sp>
        <p:nvSpPr>
          <p:cNvPr id="1096" name="Google Shape;1096;p81"/>
          <p:cNvSpPr txBox="1"/>
          <p:nvPr>
            <p:ph idx="4" type="body"/>
          </p:nvPr>
        </p:nvSpPr>
        <p:spPr>
          <a:xfrm>
            <a:off x="503321" y="1075872"/>
            <a:ext cx="2549163"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Option 1 – Do Nothing</a:t>
            </a:r>
            <a:endParaRPr/>
          </a:p>
        </p:txBody>
      </p:sp>
      <p:sp>
        <p:nvSpPr>
          <p:cNvPr id="1097" name="Google Shape;1097;p81"/>
          <p:cNvSpPr txBox="1"/>
          <p:nvPr>
            <p:ph idx="5" type="body"/>
          </p:nvPr>
        </p:nvSpPr>
        <p:spPr>
          <a:xfrm>
            <a:off x="3319646" y="1075872"/>
            <a:ext cx="2549163"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Option 2 - Integrate</a:t>
            </a:r>
            <a:endParaRPr/>
          </a:p>
        </p:txBody>
      </p:sp>
      <p:sp>
        <p:nvSpPr>
          <p:cNvPr id="1098" name="Google Shape;1098;p81"/>
          <p:cNvSpPr txBox="1"/>
          <p:nvPr>
            <p:ph idx="6" type="body"/>
          </p:nvPr>
        </p:nvSpPr>
        <p:spPr>
          <a:xfrm>
            <a:off x="6125605" y="1075872"/>
            <a:ext cx="2549163"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Option 3 - Divest</a:t>
            </a:r>
            <a:endParaRPr/>
          </a:p>
        </p:txBody>
      </p:sp>
      <p:sp>
        <p:nvSpPr>
          <p:cNvPr id="1099" name="Google Shape;1099;p81"/>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3" name="Shape 1103"/>
        <p:cNvGrpSpPr/>
        <p:nvPr/>
      </p:nvGrpSpPr>
      <p:grpSpPr>
        <a:xfrm>
          <a:off x="0" y="0"/>
          <a:ext cx="0" cy="0"/>
          <a:chOff x="0" y="0"/>
          <a:chExt cx="0" cy="0"/>
        </a:xfrm>
      </p:grpSpPr>
      <p:sp>
        <p:nvSpPr>
          <p:cNvPr id="1104" name="Google Shape;1104;p82"/>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Data Aggregator - Options</a:t>
            </a:r>
            <a:endParaRPr/>
          </a:p>
        </p:txBody>
      </p:sp>
      <p:sp>
        <p:nvSpPr>
          <p:cNvPr id="1105" name="Google Shape;1105;p82"/>
          <p:cNvSpPr txBox="1"/>
          <p:nvPr>
            <p:ph idx="1" type="body"/>
          </p:nvPr>
        </p:nvSpPr>
        <p:spPr>
          <a:xfrm>
            <a:off x="381001" y="1283365"/>
            <a:ext cx="8341656" cy="3433013"/>
          </a:xfrm>
          <a:prstGeom prst="rect">
            <a:avLst/>
          </a:prstGeom>
          <a:no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1" marL="1588" rtl="0" algn="l">
              <a:lnSpc>
                <a:spcPct val="100000"/>
              </a:lnSpc>
              <a:spcBef>
                <a:spcPts val="0"/>
              </a:spcBef>
              <a:spcAft>
                <a:spcPts val="0"/>
              </a:spcAft>
              <a:buSzPts val="1200"/>
              <a:buNone/>
            </a:pPr>
            <a:r>
              <a:rPr lang="en-US" sz="1200"/>
              <a:t>To make the case for integration, candidate should talk about revenue and cost synergies</a:t>
            </a:r>
            <a:endParaRPr/>
          </a:p>
          <a:p>
            <a:pPr indent="0" lvl="1" marL="1588" rtl="0" algn="l">
              <a:lnSpc>
                <a:spcPct val="100000"/>
              </a:lnSpc>
              <a:spcBef>
                <a:spcPts val="300"/>
              </a:spcBef>
              <a:spcAft>
                <a:spcPts val="0"/>
              </a:spcAft>
              <a:buSzPts val="1200"/>
              <a:buNone/>
            </a:pPr>
            <a:r>
              <a:rPr b="1" lang="en-US" sz="1200"/>
              <a:t>Revenue Synergies</a:t>
            </a:r>
            <a:endParaRPr/>
          </a:p>
          <a:p>
            <a:pPr indent="-274313" lvl="1" marL="274313" rtl="0" algn="l">
              <a:lnSpc>
                <a:spcPct val="100000"/>
              </a:lnSpc>
              <a:spcBef>
                <a:spcPts val="300"/>
              </a:spcBef>
              <a:spcAft>
                <a:spcPts val="0"/>
              </a:spcAft>
              <a:buSzPts val="1200"/>
              <a:buChar char="•"/>
            </a:pPr>
            <a:r>
              <a:rPr lang="en-US" sz="1200"/>
              <a:t>Ask candidate how the client could find revenue synergies</a:t>
            </a:r>
            <a:endParaRPr/>
          </a:p>
          <a:p>
            <a:pPr indent="-274313" lvl="2" marL="548626" rtl="0" algn="l">
              <a:lnSpc>
                <a:spcPct val="100000"/>
              </a:lnSpc>
              <a:spcBef>
                <a:spcPts val="300"/>
              </a:spcBef>
              <a:spcAft>
                <a:spcPts val="0"/>
              </a:spcAft>
              <a:buSzPts val="1200"/>
              <a:buChar char="-"/>
            </a:pPr>
            <a:r>
              <a:rPr lang="en-US" sz="1200"/>
              <a:t>Cross selling credit check data to S/W insurance customers</a:t>
            </a:r>
            <a:endParaRPr/>
          </a:p>
          <a:p>
            <a:pPr indent="-274313" lvl="2" marL="548626" rtl="0" algn="l">
              <a:lnSpc>
                <a:spcPct val="100000"/>
              </a:lnSpc>
              <a:spcBef>
                <a:spcPts val="300"/>
              </a:spcBef>
              <a:spcAft>
                <a:spcPts val="0"/>
              </a:spcAft>
              <a:buSzPts val="1200"/>
              <a:buChar char="-"/>
            </a:pPr>
            <a:r>
              <a:rPr lang="en-US" sz="1200"/>
              <a:t>Cross selling insurance S/W to existing credit check customers in the insurance industry</a:t>
            </a:r>
            <a:endParaRPr/>
          </a:p>
          <a:p>
            <a:pPr indent="-274313" lvl="1" marL="274313" rtl="0" algn="l">
              <a:lnSpc>
                <a:spcPct val="100000"/>
              </a:lnSpc>
              <a:spcBef>
                <a:spcPts val="300"/>
              </a:spcBef>
              <a:spcAft>
                <a:spcPts val="0"/>
              </a:spcAft>
              <a:buSzPts val="1200"/>
              <a:buChar char="•"/>
            </a:pPr>
            <a:r>
              <a:rPr lang="en-US" sz="1200"/>
              <a:t>Evaluate feasibility of these options - ask following questions</a:t>
            </a:r>
            <a:endParaRPr/>
          </a:p>
          <a:p>
            <a:pPr indent="-274313" lvl="2" marL="548626" rtl="0" algn="l">
              <a:lnSpc>
                <a:spcPct val="100000"/>
              </a:lnSpc>
              <a:spcBef>
                <a:spcPts val="300"/>
              </a:spcBef>
              <a:spcAft>
                <a:spcPts val="0"/>
              </a:spcAft>
              <a:buSzPts val="1200"/>
              <a:buChar char="-"/>
            </a:pPr>
            <a:r>
              <a:rPr lang="en-US" sz="1200"/>
              <a:t>Who in the organization would purchase these services? IT group for S/W and Risk group for data so customers are different</a:t>
            </a:r>
            <a:endParaRPr/>
          </a:p>
          <a:p>
            <a:pPr indent="-274313" lvl="2" marL="548626" rtl="0" algn="l">
              <a:lnSpc>
                <a:spcPct val="100000"/>
              </a:lnSpc>
              <a:spcBef>
                <a:spcPts val="300"/>
              </a:spcBef>
              <a:spcAft>
                <a:spcPts val="0"/>
              </a:spcAft>
              <a:buSzPts val="1200"/>
              <a:buChar char="-"/>
            </a:pPr>
            <a:r>
              <a:rPr lang="en-US" sz="1200"/>
              <a:t>How often are vendors changed? IT - very rarely given the implementation costs; Credit data –more frequently, but all vendors provide very similar services so no incentive to switch</a:t>
            </a:r>
            <a:endParaRPr/>
          </a:p>
          <a:p>
            <a:pPr indent="-274313" lvl="1" marL="274313" rtl="0" algn="l">
              <a:lnSpc>
                <a:spcPct val="100000"/>
              </a:lnSpc>
              <a:spcBef>
                <a:spcPts val="300"/>
              </a:spcBef>
              <a:spcAft>
                <a:spcPts val="0"/>
              </a:spcAft>
              <a:buSzPts val="1200"/>
              <a:buChar char="•"/>
            </a:pPr>
            <a:r>
              <a:rPr lang="en-US" sz="1200"/>
              <a:t>Conclusion – No real revenue synergies</a:t>
            </a:r>
            <a:endParaRPr/>
          </a:p>
          <a:p>
            <a:pPr indent="0" lvl="1" marL="1588" rtl="0" algn="l">
              <a:lnSpc>
                <a:spcPct val="100000"/>
              </a:lnSpc>
              <a:spcBef>
                <a:spcPts val="300"/>
              </a:spcBef>
              <a:spcAft>
                <a:spcPts val="0"/>
              </a:spcAft>
              <a:buSzPts val="1200"/>
              <a:buNone/>
            </a:pPr>
            <a:r>
              <a:rPr b="1" lang="en-US" sz="1200"/>
              <a:t>Cost Synergies</a:t>
            </a:r>
            <a:endParaRPr/>
          </a:p>
          <a:p>
            <a:pPr indent="-274313" lvl="1" marL="274313" rtl="0" algn="l">
              <a:lnSpc>
                <a:spcPct val="100000"/>
              </a:lnSpc>
              <a:spcBef>
                <a:spcPts val="300"/>
              </a:spcBef>
              <a:spcAft>
                <a:spcPts val="0"/>
              </a:spcAft>
              <a:buSzPts val="1200"/>
              <a:buChar char="•"/>
            </a:pPr>
            <a:r>
              <a:rPr lang="en-US" sz="1200"/>
              <a:t>Using Ex. 1 ask candidate where they see cost synergies? Est. these numbers</a:t>
            </a:r>
            <a:endParaRPr/>
          </a:p>
          <a:p>
            <a:pPr indent="-274313" lvl="1" marL="274313" rtl="0" algn="l">
              <a:lnSpc>
                <a:spcPct val="100000"/>
              </a:lnSpc>
              <a:spcBef>
                <a:spcPts val="300"/>
              </a:spcBef>
              <a:spcAft>
                <a:spcPts val="0"/>
              </a:spcAft>
              <a:buSzPts val="1200"/>
              <a:buChar char="•"/>
            </a:pPr>
            <a:r>
              <a:rPr lang="en-US" sz="1200"/>
              <a:t>SG&amp;A for S/W BU may see a ~10% cut</a:t>
            </a:r>
            <a:endParaRPr/>
          </a:p>
          <a:p>
            <a:pPr indent="-274313" lvl="1" marL="274313" rtl="0" algn="l">
              <a:lnSpc>
                <a:spcPct val="100000"/>
              </a:lnSpc>
              <a:spcBef>
                <a:spcPts val="300"/>
              </a:spcBef>
              <a:spcAft>
                <a:spcPts val="0"/>
              </a:spcAft>
              <a:buSzPts val="1200"/>
              <a:buChar char="•"/>
            </a:pPr>
            <a:r>
              <a:rPr lang="en-US" sz="1200"/>
              <a:t>Conclusion – No real cost synergies</a:t>
            </a:r>
            <a:endParaRPr/>
          </a:p>
          <a:p>
            <a:pPr indent="-198113" lvl="2" marL="548626" rtl="0" algn="l">
              <a:lnSpc>
                <a:spcPct val="100000"/>
              </a:lnSpc>
              <a:spcBef>
                <a:spcPts val="300"/>
              </a:spcBef>
              <a:spcAft>
                <a:spcPts val="0"/>
              </a:spcAft>
              <a:buSzPts val="1200"/>
              <a:buNone/>
            </a:pPr>
            <a:r>
              <a:t/>
            </a:r>
            <a:endParaRPr sz="1200"/>
          </a:p>
          <a:p>
            <a:pPr indent="0" lvl="0" marL="0" rtl="0" algn="l">
              <a:lnSpc>
                <a:spcPct val="100000"/>
              </a:lnSpc>
              <a:spcBef>
                <a:spcPts val="300"/>
              </a:spcBef>
              <a:spcAft>
                <a:spcPts val="0"/>
              </a:spcAft>
              <a:buSzPts val="1400"/>
              <a:buFont typeface="Calibri"/>
              <a:buNone/>
            </a:pPr>
            <a:r>
              <a:t/>
            </a:r>
            <a:endParaRPr/>
          </a:p>
        </p:txBody>
      </p:sp>
      <p:sp>
        <p:nvSpPr>
          <p:cNvPr id="1106" name="Google Shape;1106;p82"/>
          <p:cNvSpPr txBox="1"/>
          <p:nvPr>
            <p:ph idx="2" type="body"/>
          </p:nvPr>
        </p:nvSpPr>
        <p:spPr>
          <a:xfrm>
            <a:off x="503321" y="1034940"/>
            <a:ext cx="8126332" cy="277497"/>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Option 2 - Integrate</a:t>
            </a:r>
            <a:endParaRPr/>
          </a:p>
        </p:txBody>
      </p:sp>
      <p:sp>
        <p:nvSpPr>
          <p:cNvPr id="1107" name="Google Shape;1107;p82"/>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1" name="Shape 1111"/>
        <p:cNvGrpSpPr/>
        <p:nvPr/>
      </p:nvGrpSpPr>
      <p:grpSpPr>
        <a:xfrm>
          <a:off x="0" y="0"/>
          <a:ext cx="0" cy="0"/>
          <a:chOff x="0" y="0"/>
          <a:chExt cx="0" cy="0"/>
        </a:xfrm>
      </p:grpSpPr>
      <p:sp>
        <p:nvSpPr>
          <p:cNvPr id="1112" name="Google Shape;1112;p83"/>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Data Aggregator</a:t>
            </a:r>
            <a:endParaRPr/>
          </a:p>
        </p:txBody>
      </p:sp>
      <p:sp>
        <p:nvSpPr>
          <p:cNvPr id="1113" name="Google Shape;1113;p83"/>
          <p:cNvSpPr txBox="1"/>
          <p:nvPr>
            <p:ph idx="1" type="body"/>
          </p:nvPr>
        </p:nvSpPr>
        <p:spPr>
          <a:xfrm>
            <a:off x="381001" y="1283365"/>
            <a:ext cx="8341656" cy="4154909"/>
          </a:xfrm>
          <a:prstGeom prst="rect">
            <a:avLst/>
          </a:prstGeom>
          <a:no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1" marL="1588" rtl="0" algn="l">
              <a:lnSpc>
                <a:spcPct val="100000"/>
              </a:lnSpc>
              <a:spcBef>
                <a:spcPts val="0"/>
              </a:spcBef>
              <a:spcAft>
                <a:spcPts val="0"/>
              </a:spcAft>
              <a:buSzPts val="1200"/>
              <a:buNone/>
            </a:pPr>
            <a:r>
              <a:rPr lang="en-US" sz="1200"/>
              <a:t>There is no clear “answer” to this case – Candidate should recognize that “Option 2 – Integrate” generates no incremental value and should choose either Option 1 or Option 3 as the recommendation and highlight the rationale / risks</a:t>
            </a:r>
            <a:endParaRPr/>
          </a:p>
          <a:p>
            <a:pPr indent="0" lvl="1" marL="1588" rtl="0" algn="l">
              <a:lnSpc>
                <a:spcPct val="100000"/>
              </a:lnSpc>
              <a:spcBef>
                <a:spcPts val="300"/>
              </a:spcBef>
              <a:spcAft>
                <a:spcPts val="0"/>
              </a:spcAft>
              <a:buSzPts val="1200"/>
              <a:buNone/>
            </a:pPr>
            <a:r>
              <a:rPr b="1" i="1" lang="en-US" sz="1200"/>
              <a:t>Option 1 – Do Nothing / Keep As-Is</a:t>
            </a:r>
            <a:endParaRPr/>
          </a:p>
          <a:p>
            <a:pPr indent="0" lvl="1" marL="1588" rtl="0" algn="l">
              <a:lnSpc>
                <a:spcPct val="100000"/>
              </a:lnSpc>
              <a:spcBef>
                <a:spcPts val="300"/>
              </a:spcBef>
              <a:spcAft>
                <a:spcPts val="0"/>
              </a:spcAft>
              <a:buSzPts val="1200"/>
              <a:buNone/>
            </a:pPr>
            <a:r>
              <a:rPr lang="en-US" sz="1200"/>
              <a:t>Rationale:</a:t>
            </a:r>
            <a:endParaRPr/>
          </a:p>
          <a:p>
            <a:pPr indent="-274313" lvl="1" marL="274313" rtl="0" algn="l">
              <a:lnSpc>
                <a:spcPct val="100000"/>
              </a:lnSpc>
              <a:spcBef>
                <a:spcPts val="300"/>
              </a:spcBef>
              <a:spcAft>
                <a:spcPts val="0"/>
              </a:spcAft>
              <a:buSzPts val="1200"/>
              <a:buChar char="•"/>
            </a:pPr>
            <a:r>
              <a:rPr lang="en-US" sz="1200"/>
              <a:t>No synergies by integrating, plus client will face potential integration costs</a:t>
            </a:r>
            <a:endParaRPr/>
          </a:p>
          <a:p>
            <a:pPr indent="-274313" lvl="1" marL="274313" rtl="0" algn="l">
              <a:lnSpc>
                <a:spcPct val="100000"/>
              </a:lnSpc>
              <a:spcBef>
                <a:spcPts val="300"/>
              </a:spcBef>
              <a:spcAft>
                <a:spcPts val="0"/>
              </a:spcAft>
              <a:buSzPts val="1200"/>
              <a:buChar char="•"/>
            </a:pPr>
            <a:r>
              <a:rPr lang="en-US" sz="1200"/>
              <a:t>Divesting does not make sense given the current market valuations – The S/W BU will generate enough Net Income to cover the gains of divesting in 2 – 3 years</a:t>
            </a:r>
            <a:endParaRPr/>
          </a:p>
          <a:p>
            <a:pPr indent="-274313" lvl="1" marL="274313" rtl="0" algn="l">
              <a:lnSpc>
                <a:spcPct val="100000"/>
              </a:lnSpc>
              <a:spcBef>
                <a:spcPts val="300"/>
              </a:spcBef>
              <a:spcAft>
                <a:spcPts val="0"/>
              </a:spcAft>
              <a:buSzPts val="1200"/>
              <a:buChar char="•"/>
            </a:pPr>
            <a:r>
              <a:rPr lang="en-US" sz="1200"/>
              <a:t>Keep business as is and potentially divest in the future when multiples are higher</a:t>
            </a:r>
            <a:endParaRPr/>
          </a:p>
          <a:p>
            <a:pPr indent="0" lvl="1" marL="1588" rtl="0" algn="l">
              <a:lnSpc>
                <a:spcPct val="100000"/>
              </a:lnSpc>
              <a:spcBef>
                <a:spcPts val="300"/>
              </a:spcBef>
              <a:spcAft>
                <a:spcPts val="0"/>
              </a:spcAft>
              <a:buSzPts val="1200"/>
              <a:buNone/>
            </a:pPr>
            <a:r>
              <a:rPr lang="en-US" sz="1200"/>
              <a:t>Risks:</a:t>
            </a:r>
            <a:endParaRPr/>
          </a:p>
          <a:p>
            <a:pPr indent="-274313" lvl="1" marL="274313" rtl="0" algn="l">
              <a:lnSpc>
                <a:spcPct val="100000"/>
              </a:lnSpc>
              <a:spcBef>
                <a:spcPts val="300"/>
              </a:spcBef>
              <a:spcAft>
                <a:spcPts val="0"/>
              </a:spcAft>
              <a:buSzPts val="1200"/>
              <a:buChar char="•"/>
            </a:pPr>
            <a:r>
              <a:rPr lang="en-US" sz="1200"/>
              <a:t>S/W BU does not align with core competencies of the client</a:t>
            </a:r>
            <a:endParaRPr/>
          </a:p>
          <a:p>
            <a:pPr indent="-274313" lvl="1" marL="274313" rtl="0" algn="l">
              <a:lnSpc>
                <a:spcPct val="100000"/>
              </a:lnSpc>
              <a:spcBef>
                <a:spcPts val="300"/>
              </a:spcBef>
              <a:spcAft>
                <a:spcPts val="0"/>
              </a:spcAft>
              <a:buSzPts val="1200"/>
              <a:buChar char="•"/>
            </a:pPr>
            <a:r>
              <a:rPr lang="en-US" sz="1200"/>
              <a:t>Management may face a huge burden trying to manage this BU due to lack of experience</a:t>
            </a:r>
            <a:endParaRPr/>
          </a:p>
          <a:p>
            <a:pPr indent="0" lvl="1" marL="1588" rtl="0" algn="l">
              <a:lnSpc>
                <a:spcPct val="100000"/>
              </a:lnSpc>
              <a:spcBef>
                <a:spcPts val="300"/>
              </a:spcBef>
              <a:spcAft>
                <a:spcPts val="0"/>
              </a:spcAft>
              <a:buSzPts val="1200"/>
              <a:buNone/>
            </a:pPr>
            <a:r>
              <a:t/>
            </a:r>
            <a:endParaRPr sz="1200"/>
          </a:p>
          <a:p>
            <a:pPr indent="0" lvl="1" marL="1588" rtl="0" algn="l">
              <a:lnSpc>
                <a:spcPct val="100000"/>
              </a:lnSpc>
              <a:spcBef>
                <a:spcPts val="300"/>
              </a:spcBef>
              <a:spcAft>
                <a:spcPts val="0"/>
              </a:spcAft>
              <a:buSzPts val="1200"/>
              <a:buNone/>
            </a:pPr>
            <a:r>
              <a:rPr b="1" i="1" lang="en-US" sz="1200"/>
              <a:t>Option 2 – Integrate</a:t>
            </a:r>
            <a:endParaRPr/>
          </a:p>
          <a:p>
            <a:pPr indent="0" lvl="1" marL="1588" rtl="0" algn="l">
              <a:lnSpc>
                <a:spcPct val="100000"/>
              </a:lnSpc>
              <a:spcBef>
                <a:spcPts val="300"/>
              </a:spcBef>
              <a:spcAft>
                <a:spcPts val="0"/>
              </a:spcAft>
              <a:buSzPts val="1200"/>
              <a:buNone/>
            </a:pPr>
            <a:r>
              <a:rPr lang="en-US" sz="1200"/>
              <a:t>Risks: No synergy gains from this strategy and high potential costs of integration</a:t>
            </a:r>
            <a:endParaRPr/>
          </a:p>
          <a:p>
            <a:pPr indent="0" lvl="1" marL="1588" rtl="0" algn="l">
              <a:lnSpc>
                <a:spcPct val="100000"/>
              </a:lnSpc>
              <a:spcBef>
                <a:spcPts val="300"/>
              </a:spcBef>
              <a:spcAft>
                <a:spcPts val="0"/>
              </a:spcAft>
              <a:buSzPts val="1200"/>
              <a:buNone/>
            </a:pPr>
            <a:r>
              <a:t/>
            </a:r>
            <a:endParaRPr sz="1200"/>
          </a:p>
          <a:p>
            <a:pPr indent="0" lvl="1" marL="1588" rtl="0" algn="l">
              <a:lnSpc>
                <a:spcPct val="100000"/>
              </a:lnSpc>
              <a:spcBef>
                <a:spcPts val="300"/>
              </a:spcBef>
              <a:spcAft>
                <a:spcPts val="0"/>
              </a:spcAft>
              <a:buSzPts val="1200"/>
              <a:buNone/>
            </a:pPr>
            <a:r>
              <a:rPr b="1" i="1" lang="en-US" sz="1200"/>
              <a:t>Option 3 – Divest</a:t>
            </a:r>
            <a:endParaRPr/>
          </a:p>
          <a:p>
            <a:pPr indent="0" lvl="1" marL="1588" rtl="0" algn="l">
              <a:lnSpc>
                <a:spcPct val="100000"/>
              </a:lnSpc>
              <a:spcBef>
                <a:spcPts val="300"/>
              </a:spcBef>
              <a:spcAft>
                <a:spcPts val="0"/>
              </a:spcAft>
              <a:buSzPts val="1200"/>
              <a:buNone/>
            </a:pPr>
            <a:r>
              <a:rPr lang="en-US" sz="1200"/>
              <a:t>Rationale: BU does not align with the client’s competencies and management does not have experience in this space</a:t>
            </a:r>
            <a:endParaRPr/>
          </a:p>
          <a:p>
            <a:pPr indent="0" lvl="1" marL="1588" rtl="0" algn="l">
              <a:lnSpc>
                <a:spcPct val="100000"/>
              </a:lnSpc>
              <a:spcBef>
                <a:spcPts val="300"/>
              </a:spcBef>
              <a:spcAft>
                <a:spcPts val="0"/>
              </a:spcAft>
              <a:buSzPts val="1200"/>
              <a:buNone/>
            </a:pPr>
            <a:r>
              <a:rPr lang="en-US" sz="1200"/>
              <a:t>Risks: Multiples are low &amp; this may not be the best time to sell</a:t>
            </a:r>
            <a:endParaRPr/>
          </a:p>
          <a:p>
            <a:pPr indent="0" lvl="0" marL="0" rtl="0" algn="l">
              <a:lnSpc>
                <a:spcPct val="100000"/>
              </a:lnSpc>
              <a:spcBef>
                <a:spcPts val="300"/>
              </a:spcBef>
              <a:spcAft>
                <a:spcPts val="0"/>
              </a:spcAft>
              <a:buSzPts val="1400"/>
              <a:buFont typeface="Calibri"/>
              <a:buNone/>
            </a:pPr>
            <a:r>
              <a:t/>
            </a:r>
            <a:endParaRPr/>
          </a:p>
        </p:txBody>
      </p:sp>
      <p:sp>
        <p:nvSpPr>
          <p:cNvPr id="1114" name="Google Shape;1114;p83"/>
          <p:cNvSpPr txBox="1"/>
          <p:nvPr>
            <p:ph idx="2" type="body"/>
          </p:nvPr>
        </p:nvSpPr>
        <p:spPr>
          <a:xfrm>
            <a:off x="503321" y="1034940"/>
            <a:ext cx="8126332" cy="277497"/>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Recommendation – Option 1 or Option 3</a:t>
            </a:r>
            <a:endParaRPr/>
          </a:p>
        </p:txBody>
      </p:sp>
      <p:sp>
        <p:nvSpPr>
          <p:cNvPr id="1115" name="Google Shape;1115;p83"/>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9" name="Shape 1119"/>
        <p:cNvGrpSpPr/>
        <p:nvPr/>
      </p:nvGrpSpPr>
      <p:grpSpPr>
        <a:xfrm>
          <a:off x="0" y="0"/>
          <a:ext cx="0" cy="0"/>
          <a:chOff x="0" y="0"/>
          <a:chExt cx="0" cy="0"/>
        </a:xfrm>
      </p:grpSpPr>
      <p:sp>
        <p:nvSpPr>
          <p:cNvPr id="1120" name="Google Shape;1120;p84"/>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Data Aggregator - Exhibit 1: Financials</a:t>
            </a:r>
            <a:endParaRPr/>
          </a:p>
        </p:txBody>
      </p:sp>
      <p:graphicFrame>
        <p:nvGraphicFramePr>
          <p:cNvPr id="1121" name="Google Shape;1121;p84"/>
          <p:cNvGraphicFramePr/>
          <p:nvPr/>
        </p:nvGraphicFramePr>
        <p:xfrm>
          <a:off x="1725365" y="1433838"/>
          <a:ext cx="3000000" cy="3000000"/>
        </p:xfrm>
        <a:graphic>
          <a:graphicData uri="http://schemas.openxmlformats.org/drawingml/2006/table">
            <a:tbl>
              <a:tblPr>
                <a:noFill/>
                <a:tableStyleId>{C1FB10B7-FF90-4F46-8F30-8EB883CFDCC7}</a:tableStyleId>
              </a:tblPr>
              <a:tblGrid>
                <a:gridCol w="2080725"/>
                <a:gridCol w="1638025"/>
                <a:gridCol w="2102850"/>
              </a:tblGrid>
              <a:tr h="440400">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 </a:t>
                      </a:r>
                      <a:endParaRPr sz="1400" u="none" cap="none" strike="noStrike"/>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62051"/>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i="1" lang="en-US" sz="1800" u="none" cap="none" strike="noStrike">
                          <a:solidFill>
                            <a:schemeClr val="lt1"/>
                          </a:solidFill>
                          <a:latin typeface="Calibri"/>
                          <a:ea typeface="Calibri"/>
                          <a:cs typeface="Calibri"/>
                          <a:sym typeface="Calibri"/>
                        </a:rPr>
                        <a:t>Client</a:t>
                      </a:r>
                      <a:endParaRPr sz="1400" u="none" cap="none" strike="noStrike"/>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62051"/>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i="1" lang="en-US" sz="1800" u="none" cap="none" strike="noStrike">
                          <a:solidFill>
                            <a:schemeClr val="lt1"/>
                          </a:solidFill>
                          <a:latin typeface="Calibri"/>
                          <a:ea typeface="Calibri"/>
                          <a:cs typeface="Calibri"/>
                          <a:sym typeface="Calibri"/>
                        </a:rPr>
                        <a:t>S/W Business Unit</a:t>
                      </a:r>
                      <a:endParaRPr sz="1400" u="none" cap="none" strike="noStrike"/>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62051"/>
                    </a:solidFill>
                  </a:tcPr>
                </a:tc>
              </a:tr>
              <a:tr h="440400">
                <a:tc>
                  <a:txBody>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Calibri"/>
                          <a:ea typeface="Calibri"/>
                          <a:cs typeface="Calibri"/>
                          <a:sym typeface="Calibri"/>
                        </a:rPr>
                        <a:t>Revenue</a:t>
                      </a:r>
                      <a:endParaRPr sz="1400" u="none" cap="none" strike="noStrike"/>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Calibri"/>
                          <a:ea typeface="Calibri"/>
                          <a:cs typeface="Calibri"/>
                          <a:sym typeface="Calibri"/>
                        </a:rPr>
                        <a:t>$3,100 </a:t>
                      </a:r>
                      <a:endParaRPr sz="1400" u="none" cap="none" strike="noStrike"/>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Calibri"/>
                          <a:ea typeface="Calibri"/>
                          <a:cs typeface="Calibri"/>
                          <a:sym typeface="Calibri"/>
                        </a:rPr>
                        <a:t>$250 </a:t>
                      </a:r>
                      <a:endParaRPr sz="1400" u="none" cap="none" strike="noStrike"/>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40400">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COGS</a:t>
                      </a:r>
                      <a:endParaRPr sz="1400" u="none" cap="none" strike="noStrike"/>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$930 </a:t>
                      </a:r>
                      <a:endParaRPr sz="1400" u="none" cap="none" strike="noStrike"/>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$38 </a:t>
                      </a:r>
                      <a:endParaRPr sz="1400" u="none" cap="none" strike="noStrike"/>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40400">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SG&amp;A</a:t>
                      </a:r>
                      <a:endParaRPr sz="1400" u="none" cap="none" strike="noStrike"/>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$465 </a:t>
                      </a:r>
                      <a:endParaRPr sz="1400" u="none" cap="none" strike="noStrike"/>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$63 </a:t>
                      </a:r>
                      <a:endParaRPr sz="1400" u="none" cap="none" strike="noStrike"/>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40400">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Sales &amp; Mktg</a:t>
                      </a:r>
                      <a:endParaRPr sz="1400" u="none" cap="none" strike="noStrike"/>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$372 </a:t>
                      </a:r>
                      <a:endParaRPr sz="1400" u="none" cap="none" strike="noStrike"/>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$30 </a:t>
                      </a:r>
                      <a:endParaRPr sz="1400" u="none" cap="none" strike="noStrike"/>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40400">
                <a:tc>
                  <a:txBody>
                    <a:bodyPr/>
                    <a:lstStyle/>
                    <a:p>
                      <a:pPr indent="0" lvl="0" marL="0" marR="0" rtl="0" algn="l">
                        <a:lnSpc>
                          <a:spcPct val="100000"/>
                        </a:lnSpc>
                        <a:spcBef>
                          <a:spcPts val="0"/>
                        </a:spcBef>
                        <a:spcAft>
                          <a:spcPts val="0"/>
                        </a:spcAft>
                        <a:buClr>
                          <a:srgbClr val="000000"/>
                        </a:buClr>
                        <a:buSzPts val="1800"/>
                        <a:buFont typeface="Arial"/>
                        <a:buNone/>
                      </a:pPr>
                      <a:r>
                        <a:rPr b="1" i="1" lang="en-US" sz="1800" u="none" cap="none" strike="noStrike">
                          <a:solidFill>
                            <a:srgbClr val="000000"/>
                          </a:solidFill>
                          <a:latin typeface="Calibri"/>
                          <a:ea typeface="Calibri"/>
                          <a:cs typeface="Calibri"/>
                          <a:sym typeface="Calibri"/>
                        </a:rPr>
                        <a:t>Operating Income</a:t>
                      </a:r>
                      <a:endParaRPr sz="1400" u="none" cap="none" strike="noStrike"/>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b="1" i="1" lang="en-US" sz="1800" u="none" cap="none" strike="noStrike">
                          <a:solidFill>
                            <a:srgbClr val="000000"/>
                          </a:solidFill>
                          <a:latin typeface="Calibri"/>
                          <a:ea typeface="Calibri"/>
                          <a:cs typeface="Calibri"/>
                          <a:sym typeface="Calibri"/>
                        </a:rPr>
                        <a:t>$1,333 </a:t>
                      </a:r>
                      <a:endParaRPr sz="1400" u="none" cap="none" strike="noStrike"/>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b="1" i="1" lang="en-US" sz="1800" u="none" cap="none" strike="noStrike">
                          <a:solidFill>
                            <a:srgbClr val="000000"/>
                          </a:solidFill>
                          <a:latin typeface="Calibri"/>
                          <a:ea typeface="Calibri"/>
                          <a:cs typeface="Calibri"/>
                          <a:sym typeface="Calibri"/>
                        </a:rPr>
                        <a:t>$120 </a:t>
                      </a:r>
                      <a:endParaRPr sz="1400" u="none" cap="none" strike="noStrike"/>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40400">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Taxes</a:t>
                      </a:r>
                      <a:endParaRPr sz="1400" u="none" cap="none" strike="noStrike"/>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$400 </a:t>
                      </a:r>
                      <a:endParaRPr sz="1400" u="none" cap="none" strike="noStrike"/>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$24 </a:t>
                      </a:r>
                      <a:endParaRPr sz="1400" u="none" cap="none" strike="noStrike"/>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40400">
                <a:tc>
                  <a:txBody>
                    <a:bodyPr/>
                    <a:lstStyle/>
                    <a:p>
                      <a:pPr indent="0" lvl="0" marL="0" marR="0" rtl="0" algn="l">
                        <a:lnSpc>
                          <a:spcPct val="100000"/>
                        </a:lnSpc>
                        <a:spcBef>
                          <a:spcPts val="0"/>
                        </a:spcBef>
                        <a:spcAft>
                          <a:spcPts val="0"/>
                        </a:spcAft>
                        <a:buClr>
                          <a:srgbClr val="000000"/>
                        </a:buClr>
                        <a:buSzPts val="1800"/>
                        <a:buFont typeface="Arial"/>
                        <a:buNone/>
                      </a:pPr>
                      <a:r>
                        <a:rPr b="1" i="1" lang="en-US" sz="1800" u="none" cap="none" strike="noStrike">
                          <a:solidFill>
                            <a:srgbClr val="000000"/>
                          </a:solidFill>
                          <a:latin typeface="Calibri"/>
                          <a:ea typeface="Calibri"/>
                          <a:cs typeface="Calibri"/>
                          <a:sym typeface="Calibri"/>
                        </a:rPr>
                        <a:t>Net Income</a:t>
                      </a:r>
                      <a:endParaRPr sz="1400" u="none" cap="none" strike="noStrike"/>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b="1" i="1" lang="en-US" sz="1800" u="none" cap="none" strike="noStrike">
                          <a:solidFill>
                            <a:srgbClr val="000000"/>
                          </a:solidFill>
                          <a:latin typeface="Calibri"/>
                          <a:ea typeface="Calibri"/>
                          <a:cs typeface="Calibri"/>
                          <a:sym typeface="Calibri"/>
                        </a:rPr>
                        <a:t>$933 </a:t>
                      </a:r>
                      <a:endParaRPr sz="1400" u="none" cap="none" strike="noStrike"/>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b="1" i="1" lang="en-US" sz="1800" u="none" cap="none" strike="noStrike">
                          <a:solidFill>
                            <a:srgbClr val="000000"/>
                          </a:solidFill>
                          <a:latin typeface="Calibri"/>
                          <a:ea typeface="Calibri"/>
                          <a:cs typeface="Calibri"/>
                          <a:sym typeface="Calibri"/>
                        </a:rPr>
                        <a:t>$96 </a:t>
                      </a:r>
                      <a:endParaRPr sz="1400" u="none" cap="none" strike="noStrike"/>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1122" name="Google Shape;1122;p84"/>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6" name="Shape 1126"/>
        <p:cNvGrpSpPr/>
        <p:nvPr/>
      </p:nvGrpSpPr>
      <p:grpSpPr>
        <a:xfrm>
          <a:off x="0" y="0"/>
          <a:ext cx="0" cy="0"/>
          <a:chOff x="0" y="0"/>
          <a:chExt cx="0" cy="0"/>
        </a:xfrm>
      </p:grpSpPr>
      <p:sp>
        <p:nvSpPr>
          <p:cNvPr id="1127" name="Google Shape;1127;p85"/>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Data Aggregator - Exhibit 2: Valuation</a:t>
            </a:r>
            <a:endParaRPr/>
          </a:p>
        </p:txBody>
      </p:sp>
      <p:graphicFrame>
        <p:nvGraphicFramePr>
          <p:cNvPr id="1128" name="Google Shape;1128;p85"/>
          <p:cNvGraphicFramePr/>
          <p:nvPr/>
        </p:nvGraphicFramePr>
        <p:xfrm>
          <a:off x="2008471" y="1436169"/>
          <a:ext cx="3000000" cy="3000000"/>
        </p:xfrm>
        <a:graphic>
          <a:graphicData uri="http://schemas.openxmlformats.org/drawingml/2006/table">
            <a:tbl>
              <a:tblPr>
                <a:noFill/>
                <a:tableStyleId>{C1FB10B7-FF90-4F46-8F30-8EB883CFDCC7}</a:tableStyleId>
              </a:tblPr>
              <a:tblGrid>
                <a:gridCol w="2576350"/>
                <a:gridCol w="2679025"/>
              </a:tblGrid>
              <a:tr h="463875">
                <a:tc>
                  <a:txBody>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Calibri"/>
                          <a:ea typeface="Calibri"/>
                          <a:cs typeface="Calibri"/>
                          <a:sym typeface="Calibri"/>
                        </a:rPr>
                        <a:t>Competitor</a:t>
                      </a:r>
                      <a:endParaRPr sz="1400" u="none" cap="none" strike="noStrike"/>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6205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Calibri"/>
                          <a:ea typeface="Calibri"/>
                          <a:cs typeface="Calibri"/>
                          <a:sym typeface="Calibri"/>
                        </a:rPr>
                        <a:t>Multiple</a:t>
                      </a:r>
                      <a:endParaRPr sz="1400" u="none" cap="none" strike="noStrike"/>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62051"/>
                    </a:solidFill>
                  </a:tcPr>
                </a:tc>
              </a:tr>
              <a:tr h="463875">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Company A</a:t>
                      </a:r>
                      <a:endParaRPr sz="1400" u="none" cap="none" strike="noStrike"/>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3.1x Net Income</a:t>
                      </a:r>
                      <a:endParaRPr sz="1400" u="none" cap="none" strike="noStrike"/>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63875">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Company B</a:t>
                      </a:r>
                      <a:endParaRPr sz="1400" u="none" cap="none" strike="noStrike"/>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1.2x Revenue</a:t>
                      </a:r>
                      <a:endParaRPr sz="1400" u="none" cap="none" strike="noStrike"/>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63875">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Company C</a:t>
                      </a:r>
                      <a:endParaRPr sz="1400" u="none" cap="none" strike="noStrike"/>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2.4x EBIT</a:t>
                      </a:r>
                      <a:endParaRPr sz="1400" u="none" cap="none" strike="noStrike"/>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1129" name="Google Shape;1129;p85"/>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3" name="Shape 1133"/>
        <p:cNvGrpSpPr/>
        <p:nvPr/>
      </p:nvGrpSpPr>
      <p:grpSpPr>
        <a:xfrm>
          <a:off x="0" y="0"/>
          <a:ext cx="0" cy="0"/>
          <a:chOff x="0" y="0"/>
          <a:chExt cx="0" cy="0"/>
        </a:xfrm>
      </p:grpSpPr>
      <p:sp>
        <p:nvSpPr>
          <p:cNvPr id="1134" name="Google Shape;1134;p86"/>
          <p:cNvSpPr txBox="1"/>
          <p:nvPr>
            <p:ph idx="1" type="body"/>
          </p:nvPr>
        </p:nvSpPr>
        <p:spPr>
          <a:xfrm>
            <a:off x="381001" y="1283366"/>
            <a:ext cx="8341656" cy="2182282"/>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Font typeface="Calibri"/>
              <a:buNone/>
            </a:pPr>
            <a:r>
              <a:rPr lang="en-US"/>
              <a:t>Our client is a large, multinational consumer products company with business in over 200 countries. Today we are going to focus on its US business.</a:t>
            </a:r>
            <a:endParaRPr/>
          </a:p>
          <a:p>
            <a:pPr indent="0" lvl="0" marL="0" rtl="0" algn="l">
              <a:lnSpc>
                <a:spcPct val="100000"/>
              </a:lnSpc>
              <a:spcBef>
                <a:spcPts val="300"/>
              </a:spcBef>
              <a:spcAft>
                <a:spcPts val="0"/>
              </a:spcAft>
              <a:buSzPts val="1400"/>
              <a:buFont typeface="Calibri"/>
              <a:buNone/>
            </a:pPr>
            <a:r>
              <a:rPr lang="en-US"/>
              <a:t>Our client has been following US demographic trends and has found that low income households have been growing two times as quickly as other consumer segments. Low income is defined as families with income at the poverty level or below</a:t>
            </a:r>
            <a:endParaRPr/>
          </a:p>
          <a:p>
            <a:pPr indent="0" lvl="0" marL="0" rtl="0" algn="l">
              <a:lnSpc>
                <a:spcPct val="100000"/>
              </a:lnSpc>
              <a:spcBef>
                <a:spcPts val="300"/>
              </a:spcBef>
              <a:spcAft>
                <a:spcPts val="0"/>
              </a:spcAft>
              <a:buSzPts val="1400"/>
              <a:buFont typeface="Calibri"/>
              <a:buNone/>
            </a:pPr>
            <a:r>
              <a:rPr lang="en-US"/>
              <a:t>Our client has always had a premium product strategy. It sells its products in grocery stores, convenience stores, mass retailers, etc. But its products are always priced at the high-end of their respective categories. It has never targeted the low income segment before and doesn’t have a low income strategy, but given the growth of this segment, our client is considering entering the low income segment. </a:t>
            </a:r>
            <a:endParaRPr/>
          </a:p>
        </p:txBody>
      </p:sp>
      <p:sp>
        <p:nvSpPr>
          <p:cNvPr id="1135" name="Google Shape;1135;p86"/>
          <p:cNvSpPr txBox="1"/>
          <p:nvPr>
            <p:ph idx="2" type="body"/>
          </p:nvPr>
        </p:nvSpPr>
        <p:spPr>
          <a:xfrm>
            <a:off x="368302" y="3910260"/>
            <a:ext cx="4107445" cy="2367609"/>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Font typeface="Calibri"/>
              <a:buNone/>
            </a:pPr>
            <a:r>
              <a:rPr lang="en-US"/>
              <a:t>Our Client has 3 questions for you</a:t>
            </a:r>
            <a:endParaRPr/>
          </a:p>
          <a:p>
            <a:pPr indent="0" lvl="0" marL="0" rtl="0" algn="l">
              <a:lnSpc>
                <a:spcPct val="100000"/>
              </a:lnSpc>
              <a:spcBef>
                <a:spcPts val="300"/>
              </a:spcBef>
              <a:spcAft>
                <a:spcPts val="0"/>
              </a:spcAft>
              <a:buSzPts val="1400"/>
              <a:buFont typeface="Calibri"/>
              <a:buNone/>
            </a:pPr>
            <a:r>
              <a:t/>
            </a:r>
            <a:endParaRPr/>
          </a:p>
          <a:p>
            <a:pPr indent="-68587" lvl="0" marL="68587" rtl="0" algn="l">
              <a:lnSpc>
                <a:spcPct val="100000"/>
              </a:lnSpc>
              <a:spcBef>
                <a:spcPts val="300"/>
              </a:spcBef>
              <a:spcAft>
                <a:spcPts val="0"/>
              </a:spcAft>
              <a:buSzPts val="1400"/>
              <a:buFont typeface="Calibri"/>
              <a:buAutoNum type="arabicPeriod"/>
            </a:pPr>
            <a:r>
              <a:rPr lang="en-US"/>
              <a:t>Should it have a low income strategy?</a:t>
            </a:r>
            <a:endParaRPr/>
          </a:p>
          <a:p>
            <a:pPr indent="-68587" lvl="0" marL="68587" rtl="0" algn="l">
              <a:lnSpc>
                <a:spcPct val="100000"/>
              </a:lnSpc>
              <a:spcBef>
                <a:spcPts val="300"/>
              </a:spcBef>
              <a:spcAft>
                <a:spcPts val="0"/>
              </a:spcAft>
              <a:buSzPts val="1400"/>
              <a:buFont typeface="Calibri"/>
              <a:buAutoNum type="arabicPeriod"/>
            </a:pPr>
            <a:r>
              <a:rPr lang="en-US"/>
              <a:t>If it should have a low income strategy, what are some tactics it should deploy?</a:t>
            </a:r>
            <a:endParaRPr/>
          </a:p>
          <a:p>
            <a:pPr indent="-68587" lvl="0" marL="68587" rtl="0" algn="l">
              <a:lnSpc>
                <a:spcPct val="100000"/>
              </a:lnSpc>
              <a:spcBef>
                <a:spcPts val="300"/>
              </a:spcBef>
              <a:spcAft>
                <a:spcPts val="0"/>
              </a:spcAft>
              <a:buSzPts val="1400"/>
              <a:buFont typeface="Calibri"/>
              <a:buAutoNum type="arabicPeriod"/>
            </a:pPr>
            <a:r>
              <a:rPr lang="en-US"/>
              <a:t>What are some of the risks that the client may face?</a:t>
            </a:r>
            <a:endParaRPr/>
          </a:p>
        </p:txBody>
      </p:sp>
      <p:sp>
        <p:nvSpPr>
          <p:cNvPr id="1136" name="Google Shape;1136;p86"/>
          <p:cNvSpPr txBox="1"/>
          <p:nvPr>
            <p:ph idx="3" type="body"/>
          </p:nvPr>
        </p:nvSpPr>
        <p:spPr>
          <a:xfrm>
            <a:off x="4596063" y="3910260"/>
            <a:ext cx="4110955" cy="2367608"/>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285750" lvl="0" marL="285750" rtl="0" algn="l">
              <a:lnSpc>
                <a:spcPct val="100000"/>
              </a:lnSpc>
              <a:spcBef>
                <a:spcPts val="0"/>
              </a:spcBef>
              <a:spcAft>
                <a:spcPts val="0"/>
              </a:spcAft>
              <a:buSzPts val="1400"/>
              <a:buFont typeface="Calibri"/>
              <a:buChar char="-"/>
            </a:pPr>
            <a:r>
              <a:rPr lang="en-US"/>
              <a:t>- Low income consumers purchase largely in smaller, local shops</a:t>
            </a:r>
            <a:endParaRPr/>
          </a:p>
          <a:p>
            <a:pPr indent="-285750" lvl="0" marL="285750" rtl="0" algn="l">
              <a:lnSpc>
                <a:spcPct val="100000"/>
              </a:lnSpc>
              <a:spcBef>
                <a:spcPts val="300"/>
              </a:spcBef>
              <a:spcAft>
                <a:spcPts val="0"/>
              </a:spcAft>
              <a:buSzPts val="1400"/>
              <a:buFont typeface="Calibri"/>
              <a:buChar char="-"/>
            </a:pPr>
            <a:r>
              <a:rPr lang="en-US"/>
              <a:t>Low income consumers can’t afford salons, but  will indulge on shampoos</a:t>
            </a:r>
            <a:endParaRPr/>
          </a:p>
          <a:p>
            <a:pPr indent="-285750" lvl="0" marL="285750" rtl="0" algn="l">
              <a:lnSpc>
                <a:spcPct val="100000"/>
              </a:lnSpc>
              <a:spcBef>
                <a:spcPts val="300"/>
              </a:spcBef>
              <a:spcAft>
                <a:spcPts val="0"/>
              </a:spcAft>
              <a:buSzPts val="1400"/>
              <a:buFont typeface="Calibri"/>
              <a:buChar char="-"/>
            </a:pPr>
            <a:r>
              <a:rPr lang="en-US"/>
              <a:t>Low income consumers are willing to spend more on baby food to protect their children</a:t>
            </a:r>
            <a:endParaRPr/>
          </a:p>
          <a:p>
            <a:pPr indent="-285750" lvl="0" marL="285750" rtl="0" algn="l">
              <a:lnSpc>
                <a:spcPct val="100000"/>
              </a:lnSpc>
              <a:spcBef>
                <a:spcPts val="300"/>
              </a:spcBef>
              <a:spcAft>
                <a:spcPts val="0"/>
              </a:spcAft>
              <a:buSzPts val="1400"/>
              <a:buFont typeface="Calibri"/>
              <a:buChar char="-"/>
            </a:pPr>
            <a:r>
              <a:rPr lang="en-US"/>
              <a:t>There are valid generics that compete with our client’s cold medicine</a:t>
            </a:r>
            <a:endParaRPr/>
          </a:p>
        </p:txBody>
      </p:sp>
      <p:sp>
        <p:nvSpPr>
          <p:cNvPr id="1137" name="Google Shape;1137;p86"/>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Consumer Products Strategy</a:t>
            </a:r>
            <a:endParaRPr/>
          </a:p>
        </p:txBody>
      </p:sp>
      <p:sp>
        <p:nvSpPr>
          <p:cNvPr id="1138" name="Google Shape;1138;p86"/>
          <p:cNvSpPr txBox="1"/>
          <p:nvPr>
            <p:ph idx="4" type="body"/>
          </p:nvPr>
        </p:nvSpPr>
        <p:spPr>
          <a:xfrm>
            <a:off x="465670" y="996952"/>
            <a:ext cx="8209098"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Case Prompt</a:t>
            </a:r>
            <a:endParaRPr/>
          </a:p>
        </p:txBody>
      </p:sp>
      <p:sp>
        <p:nvSpPr>
          <p:cNvPr id="1139" name="Google Shape;1139;p86"/>
          <p:cNvSpPr txBox="1"/>
          <p:nvPr>
            <p:ph idx="5" type="body"/>
          </p:nvPr>
        </p:nvSpPr>
        <p:spPr>
          <a:xfrm>
            <a:off x="465670" y="3621892"/>
            <a:ext cx="4010077"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Questions for Candidate</a:t>
            </a:r>
            <a:endParaRPr/>
          </a:p>
        </p:txBody>
      </p:sp>
      <p:sp>
        <p:nvSpPr>
          <p:cNvPr id="1140" name="Google Shape;1140;p86"/>
          <p:cNvSpPr txBox="1"/>
          <p:nvPr>
            <p:ph idx="6" type="body"/>
          </p:nvPr>
        </p:nvSpPr>
        <p:spPr>
          <a:xfrm>
            <a:off x="4664691" y="3621892"/>
            <a:ext cx="4010077"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Information to Provide Upon Request</a:t>
            </a:r>
            <a:endParaRPr/>
          </a:p>
        </p:txBody>
      </p:sp>
      <p:sp>
        <p:nvSpPr>
          <p:cNvPr id="1141" name="Google Shape;1141;p86"/>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5" name="Shape 1145"/>
        <p:cNvGrpSpPr/>
        <p:nvPr/>
      </p:nvGrpSpPr>
      <p:grpSpPr>
        <a:xfrm>
          <a:off x="0" y="0"/>
          <a:ext cx="0" cy="0"/>
          <a:chOff x="0" y="0"/>
          <a:chExt cx="0" cy="0"/>
        </a:xfrm>
      </p:grpSpPr>
      <p:sp>
        <p:nvSpPr>
          <p:cNvPr id="1146" name="Google Shape;1146;p87"/>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Consumer Products Strategy</a:t>
            </a:r>
            <a:endParaRPr/>
          </a:p>
        </p:txBody>
      </p:sp>
      <p:sp>
        <p:nvSpPr>
          <p:cNvPr id="1147" name="Google Shape;1147;p87"/>
          <p:cNvSpPr txBox="1"/>
          <p:nvPr>
            <p:ph idx="1" type="body"/>
          </p:nvPr>
        </p:nvSpPr>
        <p:spPr>
          <a:xfrm>
            <a:off x="381001" y="1283365"/>
            <a:ext cx="8341656" cy="4985087"/>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Font typeface="Calibri"/>
              <a:buNone/>
            </a:pPr>
            <a:r>
              <a:rPr lang="en-US"/>
              <a:t>Use these questions to guide the case if the candidate is struggling to lead. A strong candidate will take initiative to lead the case</a:t>
            </a:r>
            <a:endParaRPr/>
          </a:p>
          <a:p>
            <a:pPr indent="0" lvl="0" marL="0" rtl="0" algn="l">
              <a:lnSpc>
                <a:spcPct val="100000"/>
              </a:lnSpc>
              <a:spcBef>
                <a:spcPts val="300"/>
              </a:spcBef>
              <a:spcAft>
                <a:spcPts val="0"/>
              </a:spcAft>
              <a:buSzPts val="1400"/>
              <a:buFont typeface="Calibri"/>
              <a:buNone/>
            </a:pPr>
            <a:r>
              <a:t/>
            </a:r>
            <a:endParaRPr/>
          </a:p>
          <a:p>
            <a:pPr indent="0" lvl="0" marL="0" rtl="0" algn="l">
              <a:lnSpc>
                <a:spcPct val="100000"/>
              </a:lnSpc>
              <a:spcBef>
                <a:spcPts val="300"/>
              </a:spcBef>
              <a:spcAft>
                <a:spcPts val="0"/>
              </a:spcAft>
              <a:buSzPts val="1400"/>
              <a:buFont typeface="Calibri"/>
              <a:buNone/>
            </a:pPr>
            <a:r>
              <a:t/>
            </a:r>
            <a:endParaRPr/>
          </a:p>
          <a:p>
            <a:pPr indent="0" lvl="0" marL="0" rtl="0" algn="l">
              <a:lnSpc>
                <a:spcPct val="100000"/>
              </a:lnSpc>
              <a:spcBef>
                <a:spcPts val="300"/>
              </a:spcBef>
              <a:spcAft>
                <a:spcPts val="0"/>
              </a:spcAft>
              <a:buSzPts val="1400"/>
              <a:buFont typeface="Calibri"/>
              <a:buNone/>
            </a:pPr>
            <a:r>
              <a:rPr lang="en-US"/>
              <a:t>What would you like to know to help the client answer its questions?</a:t>
            </a:r>
            <a:endParaRPr/>
          </a:p>
          <a:p>
            <a:pPr indent="0" lvl="0" marL="0" rtl="0" algn="l">
              <a:lnSpc>
                <a:spcPct val="100000"/>
              </a:lnSpc>
              <a:spcBef>
                <a:spcPts val="300"/>
              </a:spcBef>
              <a:spcAft>
                <a:spcPts val="0"/>
              </a:spcAft>
              <a:buSzPts val="1400"/>
              <a:buFont typeface="Calibri"/>
              <a:buNone/>
            </a:pPr>
            <a:r>
              <a:t/>
            </a:r>
            <a:endParaRPr/>
          </a:p>
          <a:p>
            <a:pPr indent="0" lvl="0" marL="0" rtl="0" algn="l">
              <a:lnSpc>
                <a:spcPct val="100000"/>
              </a:lnSpc>
              <a:spcBef>
                <a:spcPts val="300"/>
              </a:spcBef>
              <a:spcAft>
                <a:spcPts val="0"/>
              </a:spcAft>
              <a:buSzPts val="1400"/>
              <a:buFont typeface="Calibri"/>
              <a:buNone/>
            </a:pPr>
            <a:r>
              <a:rPr lang="en-US"/>
              <a:t>[When the candidate asks about products </a:t>
            </a:r>
            <a:r>
              <a:rPr b="1" lang="en-US"/>
              <a:t>share Exhibit 1</a:t>
            </a:r>
            <a:r>
              <a:rPr lang="en-US"/>
              <a:t>] The client has shared some data for its key products, what do you make of this information?</a:t>
            </a:r>
            <a:endParaRPr/>
          </a:p>
          <a:p>
            <a:pPr indent="0" lvl="0" marL="0" rtl="0" algn="l">
              <a:lnSpc>
                <a:spcPct val="100000"/>
              </a:lnSpc>
              <a:spcBef>
                <a:spcPts val="300"/>
              </a:spcBef>
              <a:spcAft>
                <a:spcPts val="0"/>
              </a:spcAft>
              <a:buSzPts val="1400"/>
              <a:buFont typeface="Calibri"/>
              <a:buNone/>
            </a:pPr>
            <a:r>
              <a:t/>
            </a:r>
            <a:endParaRPr/>
          </a:p>
          <a:p>
            <a:pPr indent="0" lvl="0" marL="0" rtl="0" algn="l">
              <a:lnSpc>
                <a:spcPct val="100000"/>
              </a:lnSpc>
              <a:spcBef>
                <a:spcPts val="300"/>
              </a:spcBef>
              <a:spcAft>
                <a:spcPts val="0"/>
              </a:spcAft>
              <a:buSzPts val="1400"/>
              <a:buFont typeface="Calibri"/>
              <a:buNone/>
            </a:pPr>
            <a:r>
              <a:rPr lang="en-US"/>
              <a:t>What else would you like to know about diapers and cold medicine to assess the opportunity</a:t>
            </a:r>
            <a:endParaRPr/>
          </a:p>
          <a:p>
            <a:pPr indent="0" lvl="0" marL="0" rtl="0" algn="l">
              <a:lnSpc>
                <a:spcPct val="100000"/>
              </a:lnSpc>
              <a:spcBef>
                <a:spcPts val="300"/>
              </a:spcBef>
              <a:spcAft>
                <a:spcPts val="0"/>
              </a:spcAft>
              <a:buSzPts val="1400"/>
              <a:buFont typeface="Calibri"/>
              <a:buNone/>
            </a:pPr>
            <a:r>
              <a:t/>
            </a:r>
            <a:endParaRPr/>
          </a:p>
          <a:p>
            <a:pPr indent="0" lvl="0" marL="0" rtl="0" algn="l">
              <a:lnSpc>
                <a:spcPct val="100000"/>
              </a:lnSpc>
              <a:spcBef>
                <a:spcPts val="300"/>
              </a:spcBef>
              <a:spcAft>
                <a:spcPts val="0"/>
              </a:spcAft>
              <a:buSzPts val="1400"/>
              <a:buFont typeface="Calibri"/>
              <a:buNone/>
            </a:pPr>
            <a:r>
              <a:rPr lang="en-US"/>
              <a:t>Ok. The client is not interested in cold medicine, but is has done customer research that suggests low income consumers are interested in buying diapers [</a:t>
            </a:r>
            <a:r>
              <a:rPr b="1" lang="en-US"/>
              <a:t>share Exhibit 2</a:t>
            </a:r>
            <a:r>
              <a:rPr lang="en-US"/>
              <a:t>]. What do you see that could help us figure out why low income consumers aren’t buying our client’s diapers?</a:t>
            </a:r>
            <a:endParaRPr/>
          </a:p>
          <a:p>
            <a:pPr indent="0" lvl="0" marL="0" rtl="0" algn="l">
              <a:lnSpc>
                <a:spcPct val="100000"/>
              </a:lnSpc>
              <a:spcBef>
                <a:spcPts val="300"/>
              </a:spcBef>
              <a:spcAft>
                <a:spcPts val="0"/>
              </a:spcAft>
              <a:buSzPts val="1400"/>
              <a:buFont typeface="Calibri"/>
              <a:buNone/>
            </a:pPr>
            <a:r>
              <a:t/>
            </a:r>
            <a:endParaRPr/>
          </a:p>
          <a:p>
            <a:pPr indent="0" lvl="0" marL="0" rtl="0" algn="l">
              <a:lnSpc>
                <a:spcPct val="100000"/>
              </a:lnSpc>
              <a:spcBef>
                <a:spcPts val="300"/>
              </a:spcBef>
              <a:spcAft>
                <a:spcPts val="0"/>
              </a:spcAft>
              <a:buSzPts val="1400"/>
              <a:buFont typeface="Calibri"/>
              <a:buNone/>
            </a:pPr>
            <a:r>
              <a:rPr lang="en-US"/>
              <a:t>What else should our client think about as it develops a low income strategy? What are the risks?</a:t>
            </a:r>
            <a:endParaRPr/>
          </a:p>
          <a:p>
            <a:pPr indent="0" lvl="0" marL="0" rtl="0" algn="l">
              <a:lnSpc>
                <a:spcPct val="100000"/>
              </a:lnSpc>
              <a:spcBef>
                <a:spcPts val="300"/>
              </a:spcBef>
              <a:spcAft>
                <a:spcPts val="0"/>
              </a:spcAft>
              <a:buSzPts val="1400"/>
              <a:buFont typeface="Calibri"/>
              <a:buNone/>
            </a:pPr>
            <a:r>
              <a:t/>
            </a:r>
            <a:endParaRPr/>
          </a:p>
        </p:txBody>
      </p:sp>
      <p:sp>
        <p:nvSpPr>
          <p:cNvPr id="1148" name="Google Shape;1148;p87"/>
          <p:cNvSpPr txBox="1"/>
          <p:nvPr>
            <p:ph idx="2" type="body"/>
          </p:nvPr>
        </p:nvSpPr>
        <p:spPr>
          <a:xfrm>
            <a:off x="503321" y="1022905"/>
            <a:ext cx="8126332"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Questions to for the Candidate</a:t>
            </a:r>
            <a:endParaRPr/>
          </a:p>
        </p:txBody>
      </p:sp>
      <p:sp>
        <p:nvSpPr>
          <p:cNvPr id="1149" name="Google Shape;1149;p87"/>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3" name="Shape 1153"/>
        <p:cNvGrpSpPr/>
        <p:nvPr/>
      </p:nvGrpSpPr>
      <p:grpSpPr>
        <a:xfrm>
          <a:off x="0" y="0"/>
          <a:ext cx="0" cy="0"/>
          <a:chOff x="0" y="0"/>
          <a:chExt cx="0" cy="0"/>
        </a:xfrm>
      </p:grpSpPr>
      <p:sp>
        <p:nvSpPr>
          <p:cNvPr id="1154" name="Google Shape;1154;p88"/>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Consumer Products Strategy</a:t>
            </a:r>
            <a:endParaRPr/>
          </a:p>
        </p:txBody>
      </p:sp>
      <p:sp>
        <p:nvSpPr>
          <p:cNvPr id="1155" name="Google Shape;1155;p88"/>
          <p:cNvSpPr txBox="1"/>
          <p:nvPr>
            <p:ph idx="1" type="body"/>
          </p:nvPr>
        </p:nvSpPr>
        <p:spPr>
          <a:xfrm>
            <a:off x="381001" y="1283365"/>
            <a:ext cx="8341656" cy="2209300"/>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Font typeface="Calibri"/>
              <a:buNone/>
            </a:pPr>
            <a:r>
              <a:rPr lang="en-US"/>
              <a:t>The client should pursue a low income strategy, focusing on diapers, which could generate an additional $25M in revenue.</a:t>
            </a:r>
            <a:endParaRPr/>
          </a:p>
          <a:p>
            <a:pPr indent="0" lvl="0" marL="0" rtl="0" algn="l">
              <a:lnSpc>
                <a:spcPct val="100000"/>
              </a:lnSpc>
              <a:spcBef>
                <a:spcPts val="300"/>
              </a:spcBef>
              <a:spcAft>
                <a:spcPts val="0"/>
              </a:spcAft>
              <a:buSzPts val="1400"/>
              <a:buFont typeface="Calibri"/>
              <a:buNone/>
            </a:pPr>
            <a:r>
              <a:t/>
            </a:r>
            <a:endParaRPr/>
          </a:p>
          <a:p>
            <a:pPr indent="0" lvl="0" marL="0" rtl="0" algn="l">
              <a:lnSpc>
                <a:spcPct val="100000"/>
              </a:lnSpc>
              <a:spcBef>
                <a:spcPts val="300"/>
              </a:spcBef>
              <a:spcAft>
                <a:spcPts val="0"/>
              </a:spcAft>
              <a:buSzPts val="1400"/>
              <a:buFont typeface="Calibri"/>
              <a:buNone/>
            </a:pPr>
            <a:r>
              <a:rPr lang="en-US"/>
              <a:t>To pursue low income consumers, our client should reduce its package size. Today, our client’s package size is significantly larger than its competitors. Our client could keep the price/diaper the same, but if it dropped the package size from 40 diapers to 20 diapers, it would cut the absolute price of the box to $10, even lower than its competitors</a:t>
            </a:r>
            <a:endParaRPr/>
          </a:p>
          <a:p>
            <a:pPr indent="0" lvl="0" marL="0" rtl="0" algn="l">
              <a:lnSpc>
                <a:spcPct val="100000"/>
              </a:lnSpc>
              <a:spcBef>
                <a:spcPts val="300"/>
              </a:spcBef>
              <a:spcAft>
                <a:spcPts val="0"/>
              </a:spcAft>
              <a:buSzPts val="1400"/>
              <a:buFont typeface="Calibri"/>
              <a:buNone/>
            </a:pPr>
            <a:r>
              <a:t/>
            </a:r>
            <a:endParaRPr/>
          </a:p>
          <a:p>
            <a:pPr indent="0" lvl="0" marL="0" rtl="0" algn="l">
              <a:lnSpc>
                <a:spcPct val="100000"/>
              </a:lnSpc>
              <a:spcBef>
                <a:spcPts val="300"/>
              </a:spcBef>
              <a:spcAft>
                <a:spcPts val="0"/>
              </a:spcAft>
              <a:buSzPts val="1400"/>
              <a:buFont typeface="Calibri"/>
              <a:buNone/>
            </a:pPr>
            <a:r>
              <a:t/>
            </a:r>
            <a:endParaRPr/>
          </a:p>
        </p:txBody>
      </p:sp>
      <p:sp>
        <p:nvSpPr>
          <p:cNvPr id="1156" name="Google Shape;1156;p88"/>
          <p:cNvSpPr txBox="1"/>
          <p:nvPr>
            <p:ph idx="2" type="body"/>
          </p:nvPr>
        </p:nvSpPr>
        <p:spPr>
          <a:xfrm>
            <a:off x="381001" y="3965567"/>
            <a:ext cx="8341656" cy="2236883"/>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Font typeface="Calibri"/>
              <a:buNone/>
            </a:pPr>
            <a:r>
              <a:rPr lang="en-US"/>
              <a:t>There will be some risks involved with adopting a low income strategy, including cannibalizing business from existing products and brand risk</a:t>
            </a:r>
            <a:endParaRPr/>
          </a:p>
          <a:p>
            <a:pPr indent="0" lvl="0" marL="0" rtl="0" algn="l">
              <a:lnSpc>
                <a:spcPct val="100000"/>
              </a:lnSpc>
              <a:spcBef>
                <a:spcPts val="300"/>
              </a:spcBef>
              <a:spcAft>
                <a:spcPts val="0"/>
              </a:spcAft>
              <a:buSzPts val="1400"/>
              <a:buFont typeface="Calibri"/>
              <a:buNone/>
            </a:pPr>
            <a:r>
              <a:t/>
            </a:r>
            <a:endParaRPr/>
          </a:p>
          <a:p>
            <a:pPr indent="0" lvl="0" marL="0" rtl="0" algn="l">
              <a:lnSpc>
                <a:spcPct val="100000"/>
              </a:lnSpc>
              <a:spcBef>
                <a:spcPts val="300"/>
              </a:spcBef>
              <a:spcAft>
                <a:spcPts val="0"/>
              </a:spcAft>
              <a:buSzPts val="1400"/>
              <a:buFont typeface="Calibri"/>
              <a:buNone/>
            </a:pPr>
            <a:r>
              <a:rPr lang="en-US"/>
              <a:t>Maintaining the same price per diaper will enable the brand to sustain its value with minimal impacts to brand image (cannibalization of higher end customers)</a:t>
            </a:r>
            <a:endParaRPr/>
          </a:p>
        </p:txBody>
      </p:sp>
      <p:sp>
        <p:nvSpPr>
          <p:cNvPr id="1157" name="Google Shape;1157;p88"/>
          <p:cNvSpPr txBox="1"/>
          <p:nvPr>
            <p:ph idx="3" type="body"/>
          </p:nvPr>
        </p:nvSpPr>
        <p:spPr>
          <a:xfrm>
            <a:off x="503321" y="1022905"/>
            <a:ext cx="8126332"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Recommendation</a:t>
            </a:r>
            <a:endParaRPr/>
          </a:p>
        </p:txBody>
      </p:sp>
      <p:sp>
        <p:nvSpPr>
          <p:cNvPr id="1158" name="Google Shape;1158;p88"/>
          <p:cNvSpPr txBox="1"/>
          <p:nvPr>
            <p:ph idx="4" type="body"/>
          </p:nvPr>
        </p:nvSpPr>
        <p:spPr>
          <a:xfrm>
            <a:off x="515348" y="3688067"/>
            <a:ext cx="8126332"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Risks</a:t>
            </a:r>
            <a:endParaRPr/>
          </a:p>
        </p:txBody>
      </p:sp>
      <p:sp>
        <p:nvSpPr>
          <p:cNvPr id="1159" name="Google Shape;1159;p88"/>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3" name="Shape 1163"/>
        <p:cNvGrpSpPr/>
        <p:nvPr/>
      </p:nvGrpSpPr>
      <p:grpSpPr>
        <a:xfrm>
          <a:off x="0" y="0"/>
          <a:ext cx="0" cy="0"/>
          <a:chOff x="0" y="0"/>
          <a:chExt cx="0" cy="0"/>
        </a:xfrm>
      </p:grpSpPr>
      <p:sp>
        <p:nvSpPr>
          <p:cNvPr id="1164" name="Google Shape;1164;p89"/>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Consumer Products Strategy</a:t>
            </a:r>
            <a:endParaRPr/>
          </a:p>
        </p:txBody>
      </p:sp>
      <p:sp>
        <p:nvSpPr>
          <p:cNvPr id="1165" name="Google Shape;1165;p89"/>
          <p:cNvSpPr txBox="1"/>
          <p:nvPr>
            <p:ph idx="1" type="body"/>
          </p:nvPr>
        </p:nvSpPr>
        <p:spPr>
          <a:xfrm>
            <a:off x="381001" y="1283365"/>
            <a:ext cx="8341656" cy="4985087"/>
          </a:xfrm>
          <a:prstGeom prst="rect">
            <a:avLst/>
          </a:prstGeom>
          <a:solidFill>
            <a:schemeClr val="lt1"/>
          </a:solid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Font typeface="Calibri"/>
              <a:buNone/>
            </a:pPr>
            <a:r>
              <a:rPr lang="en-US"/>
              <a:t>Calculate the overall share and share of low income consumers by product/category</a:t>
            </a:r>
            <a:endParaRPr/>
          </a:p>
          <a:p>
            <a:pPr indent="0" lvl="0" marL="0" rtl="0" algn="l">
              <a:lnSpc>
                <a:spcPct val="100000"/>
              </a:lnSpc>
              <a:spcBef>
                <a:spcPts val="300"/>
              </a:spcBef>
              <a:spcAft>
                <a:spcPts val="0"/>
              </a:spcAft>
              <a:buSzPts val="1400"/>
              <a:buFont typeface="Calibri"/>
              <a:buNone/>
            </a:pPr>
            <a:r>
              <a:t/>
            </a:r>
            <a:endParaRPr/>
          </a:p>
          <a:p>
            <a:pPr indent="0" lvl="0" marL="0" rtl="0" algn="l">
              <a:lnSpc>
                <a:spcPct val="100000"/>
              </a:lnSpc>
              <a:spcBef>
                <a:spcPts val="300"/>
              </a:spcBef>
              <a:spcAft>
                <a:spcPts val="0"/>
              </a:spcAft>
              <a:buSzPts val="1400"/>
              <a:buFont typeface="Calibri"/>
              <a:buNone/>
            </a:pPr>
            <a:r>
              <a:t/>
            </a:r>
            <a:endParaRPr/>
          </a:p>
          <a:p>
            <a:pPr indent="0" lvl="0" marL="0" rtl="0" algn="l">
              <a:lnSpc>
                <a:spcPct val="100000"/>
              </a:lnSpc>
              <a:spcBef>
                <a:spcPts val="300"/>
              </a:spcBef>
              <a:spcAft>
                <a:spcPts val="0"/>
              </a:spcAft>
              <a:buSzPts val="1400"/>
              <a:buFont typeface="Calibri"/>
              <a:buNone/>
            </a:pPr>
            <a:r>
              <a:t/>
            </a:r>
            <a:endParaRPr/>
          </a:p>
          <a:p>
            <a:pPr indent="0" lvl="0" marL="0" rtl="0" algn="l">
              <a:lnSpc>
                <a:spcPct val="100000"/>
              </a:lnSpc>
              <a:spcBef>
                <a:spcPts val="300"/>
              </a:spcBef>
              <a:spcAft>
                <a:spcPts val="0"/>
              </a:spcAft>
              <a:buSzPts val="1400"/>
              <a:buFont typeface="Calibri"/>
              <a:buNone/>
            </a:pPr>
            <a:r>
              <a:t/>
            </a:r>
            <a:endParaRPr/>
          </a:p>
          <a:p>
            <a:pPr indent="0" lvl="0" marL="0" rtl="0" algn="l">
              <a:lnSpc>
                <a:spcPct val="100000"/>
              </a:lnSpc>
              <a:spcBef>
                <a:spcPts val="300"/>
              </a:spcBef>
              <a:spcAft>
                <a:spcPts val="0"/>
              </a:spcAft>
              <a:buSzPts val="1400"/>
              <a:buFont typeface="Calibri"/>
              <a:buNone/>
            </a:pPr>
            <a:r>
              <a:t/>
            </a:r>
            <a:endParaRPr/>
          </a:p>
          <a:p>
            <a:pPr indent="0" lvl="0" marL="0" rtl="0" algn="l">
              <a:lnSpc>
                <a:spcPct val="100000"/>
              </a:lnSpc>
              <a:spcBef>
                <a:spcPts val="300"/>
              </a:spcBef>
              <a:spcAft>
                <a:spcPts val="0"/>
              </a:spcAft>
              <a:buSzPts val="1400"/>
              <a:buFont typeface="Calibri"/>
              <a:buNone/>
            </a:pPr>
            <a:r>
              <a:t/>
            </a:r>
            <a:endParaRPr/>
          </a:p>
          <a:p>
            <a:pPr indent="0" lvl="0" marL="0" rtl="0" algn="l">
              <a:lnSpc>
                <a:spcPct val="100000"/>
              </a:lnSpc>
              <a:spcBef>
                <a:spcPts val="300"/>
              </a:spcBef>
              <a:spcAft>
                <a:spcPts val="0"/>
              </a:spcAft>
              <a:buSzPts val="1400"/>
              <a:buFont typeface="Calibri"/>
              <a:buNone/>
            </a:pPr>
            <a:r>
              <a:t/>
            </a:r>
            <a:endParaRPr/>
          </a:p>
          <a:p>
            <a:pPr indent="0" lvl="0" marL="0" rtl="0" algn="l">
              <a:lnSpc>
                <a:spcPct val="100000"/>
              </a:lnSpc>
              <a:spcBef>
                <a:spcPts val="300"/>
              </a:spcBef>
              <a:spcAft>
                <a:spcPts val="0"/>
              </a:spcAft>
              <a:buSzPts val="1400"/>
              <a:buFont typeface="Calibri"/>
              <a:buNone/>
            </a:pPr>
            <a:r>
              <a:t/>
            </a:r>
            <a:endParaRPr/>
          </a:p>
          <a:p>
            <a:pPr indent="0" lvl="0" marL="0" rtl="0" algn="l">
              <a:lnSpc>
                <a:spcPct val="100000"/>
              </a:lnSpc>
              <a:spcBef>
                <a:spcPts val="300"/>
              </a:spcBef>
              <a:spcAft>
                <a:spcPts val="0"/>
              </a:spcAft>
              <a:buSzPts val="1400"/>
              <a:buFont typeface="Calibri"/>
              <a:buNone/>
            </a:pPr>
            <a:r>
              <a:t/>
            </a:r>
            <a:endParaRPr/>
          </a:p>
          <a:p>
            <a:pPr indent="0" lvl="0" marL="0" rtl="0" algn="l">
              <a:lnSpc>
                <a:spcPct val="100000"/>
              </a:lnSpc>
              <a:spcBef>
                <a:spcPts val="300"/>
              </a:spcBef>
              <a:spcAft>
                <a:spcPts val="0"/>
              </a:spcAft>
              <a:buSzPts val="1400"/>
              <a:buFont typeface="Calibri"/>
              <a:buNone/>
            </a:pPr>
            <a:r>
              <a:t/>
            </a:r>
            <a:endParaRPr/>
          </a:p>
          <a:p>
            <a:pPr indent="0" lvl="0" marL="0" rtl="0" algn="l">
              <a:lnSpc>
                <a:spcPct val="100000"/>
              </a:lnSpc>
              <a:spcBef>
                <a:spcPts val="300"/>
              </a:spcBef>
              <a:spcAft>
                <a:spcPts val="0"/>
              </a:spcAft>
              <a:buSzPts val="1400"/>
              <a:buFont typeface="Calibri"/>
              <a:buNone/>
            </a:pPr>
            <a:r>
              <a:rPr lang="en-US"/>
              <a:t>Calculate incremental revenue for cold medicine and diapers</a:t>
            </a:r>
            <a:endParaRPr/>
          </a:p>
          <a:p>
            <a:pPr indent="0" lvl="0" marL="0" rtl="0" algn="l">
              <a:lnSpc>
                <a:spcPct val="100000"/>
              </a:lnSpc>
              <a:spcBef>
                <a:spcPts val="300"/>
              </a:spcBef>
              <a:spcAft>
                <a:spcPts val="0"/>
              </a:spcAft>
              <a:buSzPts val="1400"/>
              <a:buFont typeface="Calibri"/>
              <a:buNone/>
            </a:pPr>
            <a:r>
              <a:rPr lang="en-US"/>
              <a:t>- Cold medicine =    (20% - 10%) * $75M = $7.5M</a:t>
            </a:r>
            <a:endParaRPr/>
          </a:p>
          <a:p>
            <a:pPr indent="0" lvl="0" marL="0" rtl="0" algn="l">
              <a:lnSpc>
                <a:spcPct val="100000"/>
              </a:lnSpc>
              <a:spcBef>
                <a:spcPts val="300"/>
              </a:spcBef>
              <a:spcAft>
                <a:spcPts val="0"/>
              </a:spcAft>
              <a:buSzPts val="1400"/>
              <a:buFont typeface="Calibri"/>
              <a:buNone/>
            </a:pPr>
            <a:r>
              <a:rPr lang="en-US"/>
              <a:t>- Diapers             =    (50% - 25%) * $100M = $25M</a:t>
            </a:r>
            <a:endParaRPr/>
          </a:p>
          <a:p>
            <a:pPr indent="0" lvl="0" marL="0" rtl="0" algn="l">
              <a:lnSpc>
                <a:spcPct val="100000"/>
              </a:lnSpc>
              <a:spcBef>
                <a:spcPts val="300"/>
              </a:spcBef>
              <a:spcAft>
                <a:spcPts val="0"/>
              </a:spcAft>
              <a:buSzPts val="1400"/>
              <a:buFont typeface="Calibri"/>
              <a:buNone/>
            </a:pPr>
            <a:r>
              <a:t/>
            </a:r>
            <a:endParaRPr/>
          </a:p>
          <a:p>
            <a:pPr indent="0" lvl="0" marL="0" rtl="0" algn="l">
              <a:lnSpc>
                <a:spcPct val="100000"/>
              </a:lnSpc>
              <a:spcBef>
                <a:spcPts val="300"/>
              </a:spcBef>
              <a:spcAft>
                <a:spcPts val="0"/>
              </a:spcAft>
              <a:buSzPts val="1400"/>
              <a:buFont typeface="Calibri"/>
              <a:buNone/>
            </a:pPr>
            <a:r>
              <a:rPr lang="en-US"/>
              <a:t>Total Incremental Revenue = $7.5M + $25M = 32.5M</a:t>
            </a:r>
            <a:endParaRPr/>
          </a:p>
          <a:p>
            <a:pPr indent="0" lvl="0" marL="0" rtl="0" algn="l">
              <a:lnSpc>
                <a:spcPct val="100000"/>
              </a:lnSpc>
              <a:spcBef>
                <a:spcPts val="300"/>
              </a:spcBef>
              <a:spcAft>
                <a:spcPts val="0"/>
              </a:spcAft>
              <a:buSzPts val="1400"/>
              <a:buFont typeface="Calibri"/>
              <a:buNone/>
            </a:pPr>
            <a:r>
              <a:t/>
            </a:r>
            <a:endParaRPr/>
          </a:p>
          <a:p>
            <a:pPr indent="0" lvl="0" marL="0" rtl="0" algn="l">
              <a:lnSpc>
                <a:spcPct val="100000"/>
              </a:lnSpc>
              <a:spcBef>
                <a:spcPts val="300"/>
              </a:spcBef>
              <a:spcAft>
                <a:spcPts val="0"/>
              </a:spcAft>
              <a:buSzPts val="1400"/>
              <a:buFont typeface="Calibri"/>
              <a:buNone/>
            </a:pPr>
            <a:r>
              <a:t/>
            </a:r>
            <a:endParaRPr/>
          </a:p>
        </p:txBody>
      </p:sp>
      <p:sp>
        <p:nvSpPr>
          <p:cNvPr id="1166" name="Google Shape;1166;p89"/>
          <p:cNvSpPr txBox="1"/>
          <p:nvPr>
            <p:ph idx="2" type="body"/>
          </p:nvPr>
        </p:nvSpPr>
        <p:spPr>
          <a:xfrm>
            <a:off x="503321" y="1022905"/>
            <a:ext cx="8126332" cy="27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Font typeface="Calibri"/>
              <a:buNone/>
            </a:pPr>
            <a:r>
              <a:rPr lang="en-US"/>
              <a:t>Quantitative Analysis and Solution</a:t>
            </a:r>
            <a:endParaRPr/>
          </a:p>
        </p:txBody>
      </p:sp>
      <p:pic>
        <p:nvPicPr>
          <p:cNvPr id="1167" name="Google Shape;1167;p89"/>
          <p:cNvPicPr preferRelativeResize="0"/>
          <p:nvPr/>
        </p:nvPicPr>
        <p:blipFill rotWithShape="1">
          <a:blip r:embed="rId3">
            <a:alphaModFix/>
          </a:blip>
          <a:srcRect b="0" l="0" r="0" t="0"/>
          <a:stretch/>
        </p:blipFill>
        <p:spPr>
          <a:xfrm>
            <a:off x="831480" y="1756488"/>
            <a:ext cx="6690456" cy="2001319"/>
          </a:xfrm>
          <a:prstGeom prst="rect">
            <a:avLst/>
          </a:prstGeom>
          <a:noFill/>
          <a:ln>
            <a:noFill/>
          </a:ln>
        </p:spPr>
      </p:pic>
      <p:sp>
        <p:nvSpPr>
          <p:cNvPr id="1168" name="Google Shape;1168;p89"/>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2" name="Shape 1172"/>
        <p:cNvGrpSpPr/>
        <p:nvPr/>
      </p:nvGrpSpPr>
      <p:grpSpPr>
        <a:xfrm>
          <a:off x="0" y="0"/>
          <a:ext cx="0" cy="0"/>
          <a:chOff x="0" y="0"/>
          <a:chExt cx="0" cy="0"/>
        </a:xfrm>
      </p:grpSpPr>
      <p:sp>
        <p:nvSpPr>
          <p:cNvPr id="1173" name="Google Shape;1173;p90"/>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Consumer Products Strategy  -  Exhibit 1</a:t>
            </a:r>
            <a:endParaRPr/>
          </a:p>
        </p:txBody>
      </p:sp>
      <p:graphicFrame>
        <p:nvGraphicFramePr>
          <p:cNvPr id="1174" name="Google Shape;1174;p90"/>
          <p:cNvGraphicFramePr/>
          <p:nvPr/>
        </p:nvGraphicFramePr>
        <p:xfrm>
          <a:off x="388306" y="1584890"/>
          <a:ext cx="3000000" cy="3000000"/>
        </p:xfrm>
        <a:graphic>
          <a:graphicData uri="http://schemas.openxmlformats.org/drawingml/2006/table">
            <a:tbl>
              <a:tblPr firstRow="1">
                <a:noFill/>
                <a:tableStyleId>{C1FB10B7-FF90-4F46-8F30-8EB883CFDCC7}</a:tableStyleId>
              </a:tblPr>
              <a:tblGrid>
                <a:gridCol w="1657300"/>
                <a:gridCol w="1657300"/>
                <a:gridCol w="1657300"/>
                <a:gridCol w="1657300"/>
                <a:gridCol w="1657300"/>
              </a:tblGrid>
              <a:tr h="793750">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chemeClr val="lt1"/>
                          </a:solidFill>
                        </a:rPr>
                        <a:t>Product /Category</a:t>
                      </a:r>
                      <a:endParaRPr sz="1400" u="none" cap="none" strike="noStrike"/>
                    </a:p>
                  </a:txBody>
                  <a:tcPr marT="45725" marB="45725" marR="91450" marL="91450">
                    <a:solidFill>
                      <a:schemeClr val="dk2"/>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chemeClr val="lt1"/>
                          </a:solidFill>
                        </a:rPr>
                        <a:t>Total Category Sales </a:t>
                      </a:r>
                      <a:endParaRPr sz="1400" u="none" cap="none" strike="noStrike"/>
                    </a:p>
                    <a:p>
                      <a:pPr indent="0" lvl="0" marL="0" marR="0" rtl="0" algn="ctr">
                        <a:lnSpc>
                          <a:spcPct val="100000"/>
                        </a:lnSpc>
                        <a:spcBef>
                          <a:spcPts val="0"/>
                        </a:spcBef>
                        <a:spcAft>
                          <a:spcPts val="0"/>
                        </a:spcAft>
                        <a:buClr>
                          <a:srgbClr val="000000"/>
                        </a:buClr>
                        <a:buSzPts val="1400"/>
                        <a:buFont typeface="Arial"/>
                        <a:buNone/>
                      </a:pPr>
                      <a:r>
                        <a:t/>
                      </a:r>
                      <a:endParaRPr sz="1400" u="none" cap="none" strike="noStrike">
                        <a:solidFill>
                          <a:schemeClr val="lt1"/>
                        </a:solidFill>
                      </a:endParaRPr>
                    </a:p>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chemeClr val="lt1"/>
                          </a:solidFill>
                        </a:rPr>
                        <a:t>(US$M)</a:t>
                      </a:r>
                      <a:endParaRPr sz="1400" u="none" cap="none" strike="noStrike"/>
                    </a:p>
                  </a:txBody>
                  <a:tcPr marT="45725" marB="45725" marR="91450" marL="91450">
                    <a:solidFill>
                      <a:schemeClr val="dk2"/>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chemeClr val="lt1"/>
                          </a:solidFill>
                        </a:rPr>
                        <a:t>Client Category Sales </a:t>
                      </a:r>
                      <a:endParaRPr sz="1400" u="none" cap="none" strike="noStrike"/>
                    </a:p>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chemeClr val="lt1"/>
                          </a:solidFill>
                        </a:rPr>
                        <a:t>(US$M)</a:t>
                      </a:r>
                      <a:endParaRPr sz="1400" u="none" cap="none" strike="noStrike"/>
                    </a:p>
                  </a:txBody>
                  <a:tcPr marT="45725" marB="45725" marR="91450" marL="91450">
                    <a:solidFill>
                      <a:schemeClr val="dk2"/>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chemeClr val="lt1"/>
                          </a:solidFill>
                        </a:rPr>
                        <a:t>Total LI Consumer Spend on Category (US$M)</a:t>
                      </a:r>
                      <a:endParaRPr sz="1400" u="none" cap="none" strike="noStrike"/>
                    </a:p>
                  </a:txBody>
                  <a:tcPr marT="45725" marB="45725" marR="91450" marL="91450">
                    <a:solidFill>
                      <a:schemeClr val="dk2"/>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chemeClr val="lt1"/>
                          </a:solidFill>
                        </a:rPr>
                        <a:t>LI Consumer Spend on Client </a:t>
                      </a:r>
                      <a:endParaRPr sz="1400" u="none" cap="none" strike="noStrike"/>
                    </a:p>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chemeClr val="lt1"/>
                          </a:solidFill>
                        </a:rPr>
                        <a:t>(US$M)</a:t>
                      </a:r>
                      <a:endParaRPr sz="1400" u="none" cap="none" strike="noStrike"/>
                    </a:p>
                  </a:txBody>
                  <a:tcPr marT="45725" marB="45725" marR="91450" marL="91450">
                    <a:solidFill>
                      <a:schemeClr val="dk2"/>
                    </a:solidFill>
                  </a:tcPr>
                </a:tc>
              </a:tr>
              <a:tr h="793750">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t>Shampoo</a:t>
                      </a:r>
                      <a:endParaRPr sz="1400" u="none" cap="none" strike="noStrike"/>
                    </a:p>
                  </a:txBody>
                  <a:tcPr marT="45725" marB="45725" marR="91450" marL="91450">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400</a:t>
                      </a:r>
                      <a:endParaRPr sz="1400" u="none" cap="none" strike="noStrike"/>
                    </a:p>
                  </a:txBody>
                  <a:tcPr marT="45725" marB="45725" marR="91450" marL="91450">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100</a:t>
                      </a:r>
                      <a:endParaRPr sz="1400" u="none" cap="none" strike="noStrike"/>
                    </a:p>
                  </a:txBody>
                  <a:tcPr marT="45725" marB="45725" marR="91450" marL="91450">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90</a:t>
                      </a:r>
                      <a:endParaRPr sz="1400" u="none" cap="none" strike="noStrike"/>
                    </a:p>
                  </a:txBody>
                  <a:tcPr marT="45725" marB="45725" marR="91450" marL="91450">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30</a:t>
                      </a:r>
                      <a:endParaRPr sz="1400" u="none" cap="none" strike="noStrike"/>
                    </a:p>
                  </a:txBody>
                  <a:tcPr marT="45725" marB="45725" marR="91450" marL="91450">
                    <a:lnB cap="flat" cmpd="sng" w="12700">
                      <a:solidFill>
                        <a:schemeClr val="dk1"/>
                      </a:solidFill>
                      <a:prstDash val="solid"/>
                      <a:round/>
                      <a:headEnd len="sm" w="sm" type="none"/>
                      <a:tailEnd len="sm" w="sm" type="none"/>
                    </a:lnB>
                  </a:tcPr>
                </a:tc>
              </a:tr>
              <a:tr h="793750">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t>Cold Medicine</a:t>
                      </a:r>
                      <a:endParaRPr sz="1400" u="none" cap="none" strike="noStrike"/>
                    </a:p>
                  </a:txBody>
                  <a:tcPr marT="45725" marB="45725" marR="91450" marL="91450">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250</a:t>
                      </a:r>
                      <a:endParaRPr sz="1400" u="none" cap="none" strike="noStrike"/>
                    </a:p>
                  </a:txBody>
                  <a:tcPr marT="45725" marB="45725" marR="91450" marL="91450">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50</a:t>
                      </a:r>
                      <a:endParaRPr sz="1400" u="none" cap="none" strike="noStrike"/>
                    </a:p>
                  </a:txBody>
                  <a:tcPr marT="45725" marB="45725" marR="91450" marL="91450">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75</a:t>
                      </a:r>
                      <a:endParaRPr sz="1400" u="none" cap="none" strike="noStrike"/>
                    </a:p>
                  </a:txBody>
                  <a:tcPr marT="45725" marB="45725" marR="91450" marL="91450">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7.5</a:t>
                      </a:r>
                      <a:endParaRPr sz="1400" u="none" cap="none" strike="noStrike"/>
                    </a:p>
                  </a:txBody>
                  <a:tcPr marT="45725" marB="45725" marR="91450" marL="91450">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93750">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t>Diapers</a:t>
                      </a:r>
                      <a:endParaRPr sz="1400" u="none" cap="none" strike="noStrike"/>
                    </a:p>
                  </a:txBody>
                  <a:tcPr marT="45725" marB="45725" marR="91450" marL="91450">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300</a:t>
                      </a:r>
                      <a:endParaRPr sz="1400" u="none" cap="none" strike="noStrike"/>
                    </a:p>
                  </a:txBody>
                  <a:tcPr marT="45725" marB="45725" marR="91450" marL="91450">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150</a:t>
                      </a:r>
                      <a:endParaRPr sz="1400" u="none" cap="none" strike="noStrike"/>
                    </a:p>
                  </a:txBody>
                  <a:tcPr marT="45725" marB="45725" marR="91450" marL="91450">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100</a:t>
                      </a:r>
                      <a:endParaRPr sz="1400" u="none" cap="none" strike="noStrike"/>
                    </a:p>
                  </a:txBody>
                  <a:tcPr marT="45725" marB="45725" marR="91450" marL="91450">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25</a:t>
                      </a:r>
                      <a:endParaRPr sz="1400" u="none" cap="none" strike="noStrike"/>
                    </a:p>
                  </a:txBody>
                  <a:tcPr marT="45725" marB="45725" marR="91450" marL="91450">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93750">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t>Baby Food</a:t>
                      </a:r>
                      <a:endParaRPr sz="1400" u="none" cap="none" strike="noStrike"/>
                    </a:p>
                  </a:txBody>
                  <a:tcPr marT="45725" marB="45725" marR="91450" marL="91450">
                    <a:lnT cap="flat" cmpd="sng" w="12700">
                      <a:solidFill>
                        <a:schemeClr val="dk1"/>
                      </a:solidFill>
                      <a:prstDash val="solid"/>
                      <a:round/>
                      <a:headEnd len="sm" w="sm" type="none"/>
                      <a:tailEnd len="sm" w="sm" type="none"/>
                    </a:lnT>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300</a:t>
                      </a:r>
                      <a:endParaRPr sz="1400" u="none" cap="none" strike="noStrike"/>
                    </a:p>
                  </a:txBody>
                  <a:tcPr marT="45725" marB="45725" marR="91450" marL="91450">
                    <a:lnT cap="flat" cmpd="sng" w="12700">
                      <a:solidFill>
                        <a:schemeClr val="dk1"/>
                      </a:solidFill>
                      <a:prstDash val="solid"/>
                      <a:round/>
                      <a:headEnd len="sm" w="sm" type="none"/>
                      <a:tailEnd len="sm" w="sm" type="none"/>
                    </a:lnT>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100</a:t>
                      </a:r>
                      <a:endParaRPr sz="1400" u="none" cap="none" strike="noStrike"/>
                    </a:p>
                  </a:txBody>
                  <a:tcPr marT="45725" marB="45725" marR="91450" marL="91450">
                    <a:lnT cap="flat" cmpd="sng" w="12700">
                      <a:solidFill>
                        <a:schemeClr val="dk1"/>
                      </a:solidFill>
                      <a:prstDash val="solid"/>
                      <a:round/>
                      <a:headEnd len="sm" w="sm" type="none"/>
                      <a:tailEnd len="sm" w="sm" type="none"/>
                    </a:lnT>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100</a:t>
                      </a:r>
                      <a:endParaRPr sz="1400" u="none" cap="none" strike="noStrike"/>
                    </a:p>
                  </a:txBody>
                  <a:tcPr marT="45725" marB="45725" marR="91450" marL="91450">
                    <a:lnT cap="flat" cmpd="sng" w="12700">
                      <a:solidFill>
                        <a:schemeClr val="dk1"/>
                      </a:solidFill>
                      <a:prstDash val="solid"/>
                      <a:round/>
                      <a:headEnd len="sm" w="sm" type="none"/>
                      <a:tailEnd len="sm" w="sm" type="none"/>
                    </a:lnT>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30</a:t>
                      </a:r>
                      <a:endParaRPr sz="1400" u="none" cap="none" strike="noStrike"/>
                    </a:p>
                  </a:txBody>
                  <a:tcPr marT="45725" marB="45725" marR="91450" marL="91450">
                    <a:lnT cap="flat" cmpd="sng" w="12700">
                      <a:solidFill>
                        <a:schemeClr val="dk1"/>
                      </a:solidFill>
                      <a:prstDash val="solid"/>
                      <a:round/>
                      <a:headEnd len="sm" w="sm" type="none"/>
                      <a:tailEnd len="sm" w="sm" type="none"/>
                    </a:lnT>
                  </a:tcPr>
                </a:tc>
              </a:tr>
            </a:tbl>
          </a:graphicData>
        </a:graphic>
      </p:graphicFrame>
      <p:sp>
        <p:nvSpPr>
          <p:cNvPr id="1175" name="Google Shape;1175;p90"/>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9" name="Shape 1179"/>
        <p:cNvGrpSpPr/>
        <p:nvPr/>
      </p:nvGrpSpPr>
      <p:grpSpPr>
        <a:xfrm>
          <a:off x="0" y="0"/>
          <a:ext cx="0" cy="0"/>
          <a:chOff x="0" y="0"/>
          <a:chExt cx="0" cy="0"/>
        </a:xfrm>
      </p:grpSpPr>
      <p:sp>
        <p:nvSpPr>
          <p:cNvPr id="1180" name="Google Shape;1180;p91"/>
          <p:cNvSpPr txBox="1"/>
          <p:nvPr>
            <p:ph type="title"/>
          </p:nvPr>
        </p:nvSpPr>
        <p:spPr>
          <a:xfrm>
            <a:off x="597568" y="194287"/>
            <a:ext cx="8077200" cy="3725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D8D8D8"/>
              </a:buClr>
              <a:buSzPts val="2800"/>
              <a:buFont typeface="Calibri"/>
              <a:buNone/>
            </a:pPr>
            <a:r>
              <a:rPr lang="en-US"/>
              <a:t>Consumer Products Strategy  -  Exhibit 2</a:t>
            </a:r>
            <a:endParaRPr/>
          </a:p>
        </p:txBody>
      </p:sp>
      <p:graphicFrame>
        <p:nvGraphicFramePr>
          <p:cNvPr id="1181" name="Google Shape;1181;p91"/>
          <p:cNvGraphicFramePr/>
          <p:nvPr/>
        </p:nvGraphicFramePr>
        <p:xfrm>
          <a:off x="388306" y="1584890"/>
          <a:ext cx="3000000" cy="3000000"/>
        </p:xfrm>
        <a:graphic>
          <a:graphicData uri="http://schemas.openxmlformats.org/drawingml/2006/table">
            <a:tbl>
              <a:tblPr firstRow="1">
                <a:noFill/>
                <a:tableStyleId>{C1FB10B7-FF90-4F46-8F30-8EB883CFDCC7}</a:tableStyleId>
              </a:tblPr>
              <a:tblGrid>
                <a:gridCol w="1657300"/>
                <a:gridCol w="1657300"/>
                <a:gridCol w="1657300"/>
                <a:gridCol w="1657300"/>
                <a:gridCol w="1657300"/>
              </a:tblGrid>
              <a:tr h="793750">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chemeClr val="lt1"/>
                          </a:solidFill>
                        </a:rPr>
                        <a:t>Product /Category</a:t>
                      </a:r>
                      <a:endParaRPr sz="1400" u="none" cap="none" strike="noStrike"/>
                    </a:p>
                  </a:txBody>
                  <a:tcPr marT="45725" marB="45725" marR="91450" marL="91450">
                    <a:solidFill>
                      <a:schemeClr val="dk2"/>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chemeClr val="lt1"/>
                          </a:solidFill>
                        </a:rPr>
                        <a:t>Client Package Size</a:t>
                      </a:r>
                      <a:endParaRPr sz="1400" u="none" cap="none" strike="noStrike"/>
                    </a:p>
                  </a:txBody>
                  <a:tcPr marT="45725" marB="45725" marR="91450" marL="91450">
                    <a:solidFill>
                      <a:schemeClr val="dk2"/>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chemeClr val="lt1"/>
                          </a:solidFill>
                        </a:rPr>
                        <a:t>Average Package Size of Competitors</a:t>
                      </a:r>
                      <a:endParaRPr sz="1400" u="none" cap="none" strike="noStrike"/>
                    </a:p>
                  </a:txBody>
                  <a:tcPr marT="45725" marB="45725" marR="91450" marL="91450">
                    <a:solidFill>
                      <a:schemeClr val="dk2"/>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chemeClr val="lt1"/>
                          </a:solidFill>
                        </a:rPr>
                        <a:t>Client Price</a:t>
                      </a:r>
                      <a:endParaRPr sz="1400" u="none" cap="none" strike="noStrike"/>
                    </a:p>
                  </a:txBody>
                  <a:tcPr marT="45725" marB="45725" marR="91450" marL="91450">
                    <a:solidFill>
                      <a:schemeClr val="dk2"/>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chemeClr val="lt1"/>
                          </a:solidFill>
                        </a:rPr>
                        <a:t>Average Price of top 5 Competitors</a:t>
                      </a:r>
                      <a:endParaRPr sz="1400" u="none" cap="none" strike="noStrike"/>
                    </a:p>
                  </a:txBody>
                  <a:tcPr marT="45725" marB="45725" marR="91450" marL="91450">
                    <a:solidFill>
                      <a:schemeClr val="dk2"/>
                    </a:solidFill>
                  </a:tcPr>
                </a:tc>
              </a:tr>
              <a:tr h="793750">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t>Shampoo</a:t>
                      </a:r>
                      <a:endParaRPr sz="1400" u="none" cap="none" strike="noStrike"/>
                    </a:p>
                  </a:txBody>
                  <a:tcPr marT="45725" marB="45725" marR="91450" marL="91450">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10 oz bottle</a:t>
                      </a:r>
                      <a:endParaRPr sz="1400" u="none" cap="none" strike="noStrike"/>
                    </a:p>
                  </a:txBody>
                  <a:tcPr marT="45725" marB="45725" marR="91450" marL="91450">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12 oz bottle</a:t>
                      </a:r>
                      <a:endParaRPr sz="1400" u="none" cap="none" strike="noStrike"/>
                    </a:p>
                  </a:txBody>
                  <a:tcPr marT="45725" marB="45725" marR="91450" marL="91450">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$4</a:t>
                      </a:r>
                      <a:endParaRPr sz="1400" u="none" cap="none" strike="noStrike"/>
                    </a:p>
                  </a:txBody>
                  <a:tcPr marT="45725" marB="45725" marR="91450" marL="91450">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$3</a:t>
                      </a:r>
                      <a:endParaRPr sz="1400" u="none" cap="none" strike="noStrike"/>
                    </a:p>
                  </a:txBody>
                  <a:tcPr marT="45725" marB="45725" marR="91450" marL="91450">
                    <a:lnB cap="flat" cmpd="sng" w="12700">
                      <a:solidFill>
                        <a:schemeClr val="dk1"/>
                      </a:solidFill>
                      <a:prstDash val="solid"/>
                      <a:round/>
                      <a:headEnd len="sm" w="sm" type="none"/>
                      <a:tailEnd len="sm" w="sm" type="none"/>
                    </a:lnB>
                  </a:tcPr>
                </a:tc>
              </a:tr>
              <a:tr h="793750">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t>Cold Medicine</a:t>
                      </a:r>
                      <a:endParaRPr sz="1400" u="none" cap="none" strike="noStrike"/>
                    </a:p>
                  </a:txBody>
                  <a:tcPr marT="45725" marB="45725" marR="91450" marL="91450">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6 oz bottle</a:t>
                      </a:r>
                      <a:endParaRPr sz="1400" u="none" cap="none" strike="noStrike"/>
                    </a:p>
                  </a:txBody>
                  <a:tcPr marT="45725" marB="45725" marR="91450" marL="91450">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6.5 oz bottle</a:t>
                      </a:r>
                      <a:endParaRPr sz="1400" u="none" cap="none" strike="noStrike"/>
                    </a:p>
                  </a:txBody>
                  <a:tcPr marT="45725" marB="45725" marR="91450" marL="91450">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$6</a:t>
                      </a:r>
                      <a:endParaRPr sz="1400" u="none" cap="none" strike="noStrike"/>
                    </a:p>
                  </a:txBody>
                  <a:tcPr marT="45725" marB="45725" marR="91450" marL="91450">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$3</a:t>
                      </a:r>
                      <a:endParaRPr sz="1400" u="none" cap="none" strike="noStrike"/>
                    </a:p>
                  </a:txBody>
                  <a:tcPr marT="45725" marB="45725" marR="91450" marL="91450">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93750">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t>Diapers</a:t>
                      </a:r>
                      <a:endParaRPr sz="1400" u="none" cap="none" strike="noStrike"/>
                    </a:p>
                  </a:txBody>
                  <a:tcPr marT="45725" marB="45725" marR="91450" marL="91450">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40-pack</a:t>
                      </a:r>
                      <a:endParaRPr sz="1400" u="none" cap="none" strike="noStrike"/>
                    </a:p>
                  </a:txBody>
                  <a:tcPr marT="45725" marB="45725" marR="91450" marL="91450">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32-pack</a:t>
                      </a:r>
                      <a:endParaRPr sz="1400" u="none" cap="none" strike="noStrike"/>
                    </a:p>
                  </a:txBody>
                  <a:tcPr marT="45725" marB="45725" marR="91450" marL="91450">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$20</a:t>
                      </a:r>
                      <a:endParaRPr sz="1400" u="none" cap="none" strike="noStrike"/>
                    </a:p>
                  </a:txBody>
                  <a:tcPr marT="45725" marB="45725" marR="91450" marL="91450">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$16</a:t>
                      </a:r>
                      <a:endParaRPr sz="1400" u="none" cap="none" strike="noStrike"/>
                    </a:p>
                  </a:txBody>
                  <a:tcPr marT="45725" marB="45725" marR="91450" marL="91450">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93750">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t>Baby Food</a:t>
                      </a:r>
                      <a:endParaRPr sz="1400" u="none" cap="none" strike="noStrike"/>
                    </a:p>
                  </a:txBody>
                  <a:tcPr marT="45725" marB="45725" marR="91450" marL="91450">
                    <a:lnT cap="flat" cmpd="sng" w="12700">
                      <a:solidFill>
                        <a:schemeClr val="dk1"/>
                      </a:solidFill>
                      <a:prstDash val="solid"/>
                      <a:round/>
                      <a:headEnd len="sm" w="sm" type="none"/>
                      <a:tailEnd len="sm" w="sm" type="none"/>
                    </a:lnT>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6 oz jar</a:t>
                      </a:r>
                      <a:endParaRPr sz="1400" u="none" cap="none" strike="noStrike"/>
                    </a:p>
                  </a:txBody>
                  <a:tcPr marT="45725" marB="45725" marR="91450" marL="91450">
                    <a:lnT cap="flat" cmpd="sng" w="12700">
                      <a:solidFill>
                        <a:schemeClr val="dk1"/>
                      </a:solidFill>
                      <a:prstDash val="solid"/>
                      <a:round/>
                      <a:headEnd len="sm" w="sm" type="none"/>
                      <a:tailEnd len="sm" w="sm" type="none"/>
                    </a:lnT>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6 oz jar</a:t>
                      </a:r>
                      <a:endParaRPr sz="1400" u="none" cap="none" strike="noStrike"/>
                    </a:p>
                  </a:txBody>
                  <a:tcPr marT="45725" marB="45725" marR="91450" marL="91450">
                    <a:lnT cap="flat" cmpd="sng" w="12700">
                      <a:solidFill>
                        <a:schemeClr val="dk1"/>
                      </a:solidFill>
                      <a:prstDash val="solid"/>
                      <a:round/>
                      <a:headEnd len="sm" w="sm" type="none"/>
                      <a:tailEnd len="sm" w="sm" type="none"/>
                    </a:lnT>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$2</a:t>
                      </a:r>
                      <a:endParaRPr sz="1400" u="none" cap="none" strike="noStrike"/>
                    </a:p>
                  </a:txBody>
                  <a:tcPr marT="45725" marB="45725" marR="91450" marL="91450">
                    <a:lnT cap="flat" cmpd="sng" w="12700">
                      <a:solidFill>
                        <a:schemeClr val="dk1"/>
                      </a:solidFill>
                      <a:prstDash val="solid"/>
                      <a:round/>
                      <a:headEnd len="sm" w="sm" type="none"/>
                      <a:tailEnd len="sm" w="sm" type="none"/>
                    </a:lnT>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$1.50</a:t>
                      </a:r>
                      <a:endParaRPr sz="1400" u="none" cap="none" strike="noStrike"/>
                    </a:p>
                  </a:txBody>
                  <a:tcPr marT="45725" marB="45725" marR="91450" marL="91450">
                    <a:lnT cap="flat" cmpd="sng" w="12700">
                      <a:solidFill>
                        <a:schemeClr val="dk1"/>
                      </a:solidFill>
                      <a:prstDash val="solid"/>
                      <a:round/>
                      <a:headEnd len="sm" w="sm" type="none"/>
                      <a:tailEnd len="sm" w="sm" type="none"/>
                    </a:lnT>
                  </a:tcPr>
                </a:tc>
              </a:tr>
            </a:tbl>
          </a:graphicData>
        </a:graphic>
      </p:graphicFrame>
      <p:sp>
        <p:nvSpPr>
          <p:cNvPr id="1182" name="Google Shape;1182;p91"/>
          <p:cNvSpPr txBox="1"/>
          <p:nvPr/>
        </p:nvSpPr>
        <p:spPr>
          <a:xfrm>
            <a:off x="8820725" y="6456216"/>
            <a:ext cx="26785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Georgia"/>
                <a:ea typeface="Georgia"/>
                <a:cs typeface="Georgia"/>
                <a:sym typeface="Georgia"/>
              </a:rPr>
              <a:t>‹#›</a:t>
            </a:fld>
            <a:endParaRPr b="0" i="0" sz="1200" u="none" cap="none" strike="noStrike">
              <a:solidFill>
                <a:schemeClr val="dk1"/>
              </a:solidFill>
              <a:latin typeface="Georgia"/>
              <a:ea typeface="Georgia"/>
              <a:cs typeface="Georgia"/>
              <a:sym typeface="Georgia"/>
            </a:endParaRPr>
          </a:p>
        </p:txBody>
      </p:sp>
    </p:spTree>
  </p:cSld>
  <p:clrMapOvr>
    <a:masterClrMapping/>
  </p:clrMapOvr>
</p:sld>
</file>

<file path=ppt/theme/theme1.xml><?xml version="1.0" encoding="utf-8"?>
<a:theme xmlns:a="http://schemas.openxmlformats.org/drawingml/2006/main" xmlns:r="http://schemas.openxmlformats.org/officeDocument/2006/relationships" name="PwC">
  <a:themeElements>
    <a:clrScheme name="Custom 4">
      <a:dk1>
        <a:srgbClr val="1E2B6C"/>
      </a:dk1>
      <a:lt1>
        <a:srgbClr val="FFFFFF"/>
      </a:lt1>
      <a:dk2>
        <a:srgbClr val="050A3B"/>
      </a:dk2>
      <a:lt2>
        <a:srgbClr val="FFD103"/>
      </a:lt2>
      <a:accent1>
        <a:srgbClr val="BFBFBF"/>
      </a:accent1>
      <a:accent2>
        <a:srgbClr val="FFD103"/>
      </a:accent2>
      <a:accent3>
        <a:srgbClr val="1E2B6C"/>
      </a:accent3>
      <a:accent4>
        <a:srgbClr val="4B90FF"/>
      </a:accent4>
      <a:accent5>
        <a:srgbClr val="3F3F3F"/>
      </a:accent5>
      <a:accent6>
        <a:srgbClr val="7F7F7F"/>
      </a:accent6>
      <a:hlink>
        <a:srgbClr val="0000FF"/>
      </a:hlink>
      <a:folHlink>
        <a:srgbClr val="00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2017-08-02T16:17:21Z</dcterms:created>
  <dc:creator>Christopher Atkins</dc:creator>
</cp:coreProperties>
</file>