
<file path=[Content_Types].xml><?xml version="1.0" encoding="utf-8"?>
<Types xmlns="http://schemas.openxmlformats.org/package/2006/content-types"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809B1B7-BA62-46CC-86CE-A83B1E0C9AFD}">
  <a:tblStyle styleId="{D809B1B7-BA62-46CC-86CE-A83B1E0C9AF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14283297fcd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14283297fcd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14283297fcd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14283297fcd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Consumer/Retail; Energy; Transportation; Manifacturing/Agriculture; Financial Services, Information Technology; Media &amp; Entertainment; Healthcare &amp; Life Science; Telcommunications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14283297fcd_2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14283297fcd_2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Consumer/Retail; Energy; Transportation; Manifacturing/Agriculture; Financial Services, Information Technology; Media &amp; Entertainment; Healthcare &amp; Life Science; Telcommunications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14283297fcd_2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14283297fcd_2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Consumer/Retail; Energy; Transportation; Manifacturing/Agriculture; Financial Services, Information Technology; Media &amp; Entertainment; Healthcare &amp; Life Science; Telcommunications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14283297fcd_2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14283297fcd_2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Consumer/Retail; Energy; Transportation; Manifacturing/Agriculture; Financial Services, Information Technology; Media &amp; Entertainment; Healthcare &amp; Life Science; Telcommunications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docs.google.com/spreadsheets/u/0/d/1SAkgL6QKXUoHKQ4gyucZaYDTFaE3AILs373jAbrIcuI/edit" TargetMode="External"/><Relationship Id="rId4" Type="http://schemas.openxmlformats.org/officeDocument/2006/relationships/hyperlink" Target="https://drive.google.com/file/d/1KUK6Q1MSNxOfGsSto2vQaViJTuxHa2v0/view?usp=sharing" TargetMode="External"/><Relationship Id="rId9" Type="http://schemas.openxmlformats.org/officeDocument/2006/relationships/hyperlink" Target="https://drive.google.com/file/d/1CW1fUXy173eRK09b63_4XK0KyCLJnpDc/view?usp=sharing" TargetMode="External"/><Relationship Id="rId5" Type="http://schemas.openxmlformats.org/officeDocument/2006/relationships/hyperlink" Target="https://drive.google.com/file/d/1XOkTVVsvsskukOyRGiSfuBNwuz7L0zd5/view?usp=sharing" TargetMode="External"/><Relationship Id="rId6" Type="http://schemas.openxmlformats.org/officeDocument/2006/relationships/hyperlink" Target="https://drive.google.com/file/d/1g7ItkmUiPANiDFdO3rah1ktkSah8WsFi/view?usp=sharing" TargetMode="External"/><Relationship Id="rId7" Type="http://schemas.openxmlformats.org/officeDocument/2006/relationships/hyperlink" Target="https://drive.google.com/file/d/1Vtx2jJoqG7uRGuPcN7Vod4yvxtoZmGT5/view?usp=sharing" TargetMode="External"/><Relationship Id="rId8" Type="http://schemas.openxmlformats.org/officeDocument/2006/relationships/hyperlink" Target="https://drive.google.com/file/d/1TB3EnXS0YEynLvVpaHrVx6Z9S-Wsl0zS/view?usp=sharing" TargetMode="External"/></Relationships>
</file>

<file path=ppt/slides/_rels/slide2.xml.rels><?xml version="1.0" encoding="UTF-8" standalone="yes"?><Relationships xmlns="http://schemas.openxmlformats.org/package/2006/relationships"><Relationship Id="rId20" Type="http://schemas.openxmlformats.org/officeDocument/2006/relationships/hyperlink" Target="https://drive.google.com/file/d/1iAfJJe5a3EmUNuSteM5yINqVCSxChOn5/view?usp=sharing" TargetMode="External"/><Relationship Id="rId22" Type="http://schemas.openxmlformats.org/officeDocument/2006/relationships/hyperlink" Target="https://drive.google.com/file/d/1gWpYkalAjiFa2bW9_w0M2F2eh3aF_vzt/view?usp=sharing" TargetMode="External"/><Relationship Id="rId21" Type="http://schemas.openxmlformats.org/officeDocument/2006/relationships/hyperlink" Target="https://drive.google.com/file/d/15gu4xwBobKWq5B1rbf2wVetiHwVFOEFN/view?usp=sharing" TargetMode="External"/><Relationship Id="rId24" Type="http://schemas.openxmlformats.org/officeDocument/2006/relationships/hyperlink" Target="https://drive.google.com/file/d/1yN3IBjLwW4B3GlHX3rPGY6pcyZK7R87n/view?usp=sharing" TargetMode="External"/><Relationship Id="rId23" Type="http://schemas.openxmlformats.org/officeDocument/2006/relationships/hyperlink" Target="https://drive.google.com/file/d/1hVT05PR1uWKk2TcI19MP70APGHmkhuSh/view?usp=sharing" TargetMode="External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drive.google.com/file/d/15bo03IDl402s_vLBxZP-vRpJbPfWUBmU/view?usp=sharing" TargetMode="External"/><Relationship Id="rId4" Type="http://schemas.openxmlformats.org/officeDocument/2006/relationships/hyperlink" Target="https://drive.google.com/file/d/1glDGG7qQCy0Hpnp4kgAbLvrCCU_JCEni/view?usp=sharing" TargetMode="External"/><Relationship Id="rId9" Type="http://schemas.openxmlformats.org/officeDocument/2006/relationships/hyperlink" Target="https://drive.google.com/file/d/1i3y82jCbVkTFsDb0WLjbh12bHtbfaew8/view?usp=sharing" TargetMode="External"/><Relationship Id="rId26" Type="http://schemas.openxmlformats.org/officeDocument/2006/relationships/hyperlink" Target="https://drive.google.com/file/d/1yN3IBjLwW4B3GlHX3rPGY6pcyZK7R87n/view?usp=sharing" TargetMode="External"/><Relationship Id="rId25" Type="http://schemas.openxmlformats.org/officeDocument/2006/relationships/hyperlink" Target="https://drive.google.com/file/d/1Xl4M2cVpUVsxNv80NuY0NvQK30lXrnYg/view?usp=sharing" TargetMode="External"/><Relationship Id="rId28" Type="http://schemas.openxmlformats.org/officeDocument/2006/relationships/hyperlink" Target="https://drive.google.com/file/d/1yN3IBjLwW4B3GlHX3rPGY6pcyZK7R87n/view?usp=sharing" TargetMode="External"/><Relationship Id="rId27" Type="http://schemas.openxmlformats.org/officeDocument/2006/relationships/hyperlink" Target="https://drive.google.com/file/d/1YKpbd9n0eSBtHVdmqZE-McAoZen5mJXG/view?usp=sharing" TargetMode="External"/><Relationship Id="rId5" Type="http://schemas.openxmlformats.org/officeDocument/2006/relationships/hyperlink" Target="https://drive.google.com/file/d/1Fa_eww6MvAdOZq1RLyNDjJOvIROif7yG/view?usp=sharing" TargetMode="External"/><Relationship Id="rId6" Type="http://schemas.openxmlformats.org/officeDocument/2006/relationships/hyperlink" Target="https://drive.google.com/file/d/1XYutK1FmzWB77FlJwBcjR3MvsDOtSHyR/view?usp=sharing" TargetMode="External"/><Relationship Id="rId29" Type="http://schemas.openxmlformats.org/officeDocument/2006/relationships/hyperlink" Target="https://drive.google.com/file/d/1Qixb5Q60oweZemQWlCB5UwIsMcr8I1-v/view?usp=sharing" TargetMode="External"/><Relationship Id="rId7" Type="http://schemas.openxmlformats.org/officeDocument/2006/relationships/hyperlink" Target="https://drive.google.com/file/d/1Yy_ak5qkfLpm2N8Q-eLOX3c42h8HuJRV/view?usp=sharing" TargetMode="External"/><Relationship Id="rId8" Type="http://schemas.openxmlformats.org/officeDocument/2006/relationships/hyperlink" Target="https://drive.google.com/file/d/1XYutK1FmzWB77FlJwBcjR3MvsDOtSHyR/view?usp=sharing" TargetMode="External"/><Relationship Id="rId30" Type="http://schemas.openxmlformats.org/officeDocument/2006/relationships/hyperlink" Target="https://drive.google.com/file/d/1nn7YKdTFMB3IWyE2aI_ZVe20Xbu3yo_5/view?usp=sharing" TargetMode="External"/><Relationship Id="rId11" Type="http://schemas.openxmlformats.org/officeDocument/2006/relationships/hyperlink" Target="https://drive.google.com/file/d/1Yn9153DKBlTWgAeHvewv6e_WQa01uYTV/view?usp=sharing" TargetMode="External"/><Relationship Id="rId10" Type="http://schemas.openxmlformats.org/officeDocument/2006/relationships/hyperlink" Target="https://drive.google.com/file/d/1XYutK1FmzWB77FlJwBcjR3MvsDOtSHyR/view?usp=sharing" TargetMode="External"/><Relationship Id="rId13" Type="http://schemas.openxmlformats.org/officeDocument/2006/relationships/hyperlink" Target="https://drive.google.com/file/d/1JKPj8TxKo5fF5KIB_AQeaTztu4Zi4wMx/view?usp=sharing" TargetMode="External"/><Relationship Id="rId12" Type="http://schemas.openxmlformats.org/officeDocument/2006/relationships/hyperlink" Target="https://drive.google.com/file/d/1u3IoLDONdB_Dm_Hc7P_mjXd0rhVqMDyQ/view?usp=sharing" TargetMode="External"/><Relationship Id="rId15" Type="http://schemas.openxmlformats.org/officeDocument/2006/relationships/hyperlink" Target="https://drive.google.com/file/d/1GE4rxtma4Dhaz62qCipigAjXFDrNmv92/view?usp=sharing" TargetMode="External"/><Relationship Id="rId14" Type="http://schemas.openxmlformats.org/officeDocument/2006/relationships/hyperlink" Target="https://drive.google.com/file/d/1u3IoLDONdB_Dm_Hc7P_mjXd0rhVqMDyQ/view?usp=sharing" TargetMode="External"/><Relationship Id="rId17" Type="http://schemas.openxmlformats.org/officeDocument/2006/relationships/hyperlink" Target="https://drive.google.com/file/d/1C72zp1XmK5tMJEsRdbdFOJZMoNUYKCg5/view?usp=sharing" TargetMode="External"/><Relationship Id="rId16" Type="http://schemas.openxmlformats.org/officeDocument/2006/relationships/hyperlink" Target="https://drive.google.com/file/d/1iAfJJe5a3EmUNuSteM5yINqVCSxChOn5/view?usp=sharing" TargetMode="External"/><Relationship Id="rId19" Type="http://schemas.openxmlformats.org/officeDocument/2006/relationships/hyperlink" Target="https://drive.google.com/file/d/1rif5ELJK8PS8Bh4lEwe1GFthzhpn-g3V/view?usp=sharing" TargetMode="External"/><Relationship Id="rId18" Type="http://schemas.openxmlformats.org/officeDocument/2006/relationships/hyperlink" Target="https://drive.google.com/file/d/1iAfJJe5a3EmUNuSteM5yINqVCSxChOn5/view?usp=sharing" TargetMode="External"/></Relationships>
</file>

<file path=ppt/slides/_rels/slide3.xml.rels><?xml version="1.0" encoding="UTF-8" standalone="yes"?><Relationships xmlns="http://schemas.openxmlformats.org/package/2006/relationships"><Relationship Id="rId20" Type="http://schemas.openxmlformats.org/officeDocument/2006/relationships/hyperlink" Target="https://drive.google.com/file/d/1HAUeE4n7zAY8gHgCCtNjpyuma2vIqUzx/view?usp=sharing" TargetMode="External"/><Relationship Id="rId22" Type="http://schemas.openxmlformats.org/officeDocument/2006/relationships/hyperlink" Target="https://drive.google.com/file/d/1XoIa5-9gpm7JNy0qLwjiqUD5ci3uijOp/view?usp=sharing" TargetMode="External"/><Relationship Id="rId21" Type="http://schemas.openxmlformats.org/officeDocument/2006/relationships/hyperlink" Target="https://drive.google.com/file/d/10dzOR9VnINFLgLn5uLvG1ZVgI5vly_Vj/view?usp=sharing" TargetMode="External"/><Relationship Id="rId24" Type="http://schemas.openxmlformats.org/officeDocument/2006/relationships/hyperlink" Target="https://drive.google.com/file/d/1YvthdLDZaH3DCWp3qRNBwsLlqmwkaGlG/view?usp=sharing" TargetMode="External"/><Relationship Id="rId23" Type="http://schemas.openxmlformats.org/officeDocument/2006/relationships/hyperlink" Target="https://drive.google.com/file/d/17cgCim8VJ-xDzOxO2EeLynPXbp1G7LOe/view?usp=sharing" TargetMode="External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drive.google.com/file/d/10Qgbuqirep5m7ik-jrpRpt_goFICVN0y/view?usp=sharing" TargetMode="External"/><Relationship Id="rId4" Type="http://schemas.openxmlformats.org/officeDocument/2006/relationships/hyperlink" Target="https://drive.google.com/file/d/1krMiJkYK5IJq_p-4HL2FyAzzRqFcpBu6/view?usp=sharing" TargetMode="External"/><Relationship Id="rId9" Type="http://schemas.openxmlformats.org/officeDocument/2006/relationships/hyperlink" Target="https://drive.google.com/file/d/1StbJUONXLZ04zpbz02McNDnuyUoK2c1f/view?usp=sharing" TargetMode="External"/><Relationship Id="rId26" Type="http://schemas.openxmlformats.org/officeDocument/2006/relationships/hyperlink" Target="https://drive.google.com/file/d/1gwtKdobw_ncxx0yjstsI6vbdZvfP1ADl/view?usp=sharing" TargetMode="External"/><Relationship Id="rId25" Type="http://schemas.openxmlformats.org/officeDocument/2006/relationships/hyperlink" Target="https://drive.google.com/file/d/1gwtKdobw_ncxx0yjstsI6vbdZvfP1ADl/view?usp=sharing" TargetMode="External"/><Relationship Id="rId28" Type="http://schemas.openxmlformats.org/officeDocument/2006/relationships/hyperlink" Target="https://drive.google.com/file/d/1GbTuBOeOrsVOmVbihybnQTqs8PKFflaH/view?usp=sharing" TargetMode="External"/><Relationship Id="rId27" Type="http://schemas.openxmlformats.org/officeDocument/2006/relationships/hyperlink" Target="https://drive.google.com/file/d/1ydtY9xkVKbC48KMVDtJKrTdY6wFlx_La/view?usp=sharing" TargetMode="External"/><Relationship Id="rId5" Type="http://schemas.openxmlformats.org/officeDocument/2006/relationships/hyperlink" Target="https://drive.google.com/file/d/1sxVy66hzG8AQP47-cDhpdKky8w-5s6He/view?usp=sharing" TargetMode="External"/><Relationship Id="rId6" Type="http://schemas.openxmlformats.org/officeDocument/2006/relationships/hyperlink" Target="https://drive.google.com/file/d/1krMiJkYK5IJq_p-4HL2FyAzzRqFcpBu6/view?usp=sharing" TargetMode="External"/><Relationship Id="rId29" Type="http://schemas.openxmlformats.org/officeDocument/2006/relationships/hyperlink" Target="https://drive.google.com/file/d/1FLH2g2IA0YX1wqQnnsVZ2IaLK-x0jSMh/view?usp=sharing" TargetMode="External"/><Relationship Id="rId7" Type="http://schemas.openxmlformats.org/officeDocument/2006/relationships/hyperlink" Target="https://drive.google.com/file/d/1jE-6tZT5deb1XB_rz7viqupnsbOglBYl/view?usp=sharing" TargetMode="External"/><Relationship Id="rId8" Type="http://schemas.openxmlformats.org/officeDocument/2006/relationships/hyperlink" Target="https://drive.google.com/file/d/1riEWcIk3osVm_52DqJ3rEYHie5ffkKHB/view?usp=sharing" TargetMode="External"/><Relationship Id="rId31" Type="http://schemas.openxmlformats.org/officeDocument/2006/relationships/hyperlink" Target="https://drive.google.com/file/d/1hGCNhl_tdyvq5EXk_WElZkkO3tgM80hs/view?usp=sharing" TargetMode="External"/><Relationship Id="rId30" Type="http://schemas.openxmlformats.org/officeDocument/2006/relationships/hyperlink" Target="https://drive.google.com/file/d/1oUEe3YBU8BQInpqkahQ3Nw2Sg_lbTgO8/view?usp=sharing" TargetMode="External"/><Relationship Id="rId11" Type="http://schemas.openxmlformats.org/officeDocument/2006/relationships/hyperlink" Target="https://drive.google.com/file/d/1knvYxkZo8NKf77QJw7uliGVHO1xA6P2z/view?usp=sharing" TargetMode="External"/><Relationship Id="rId10" Type="http://schemas.openxmlformats.org/officeDocument/2006/relationships/hyperlink" Target="https://drive.google.com/file/d/1riEWcIk3osVm_52DqJ3rEYHie5ffkKHB/view?usp=sharing" TargetMode="External"/><Relationship Id="rId13" Type="http://schemas.openxmlformats.org/officeDocument/2006/relationships/hyperlink" Target="https://drive.google.com/file/d/17Iq5fa3ZdACJ2L9_5KmtTBhMyOuhzZa8/view?usp=sharing" TargetMode="External"/><Relationship Id="rId12" Type="http://schemas.openxmlformats.org/officeDocument/2006/relationships/hyperlink" Target="https://drive.google.com/file/d/1riEWcIk3osVm_52DqJ3rEYHie5ffkKHB/view?usp=sharing" TargetMode="External"/><Relationship Id="rId15" Type="http://schemas.openxmlformats.org/officeDocument/2006/relationships/hyperlink" Target="https://drive.google.com/file/d/14iQYfy2MjrBhMBUmBfrsgKld90apnl8Z/view?usp=sharing" TargetMode="External"/><Relationship Id="rId14" Type="http://schemas.openxmlformats.org/officeDocument/2006/relationships/hyperlink" Target="https://drive.google.com/file/d/1riEWcIk3osVm_52DqJ3rEYHie5ffkKHB/view?usp=sharing" TargetMode="External"/><Relationship Id="rId17" Type="http://schemas.openxmlformats.org/officeDocument/2006/relationships/hyperlink" Target="https://drive.google.com/file/d/1rucmhQBOAaR9y52X21pnD3s9HJjEbfSt/view?usp=sharing" TargetMode="External"/><Relationship Id="rId16" Type="http://schemas.openxmlformats.org/officeDocument/2006/relationships/hyperlink" Target="https://drive.google.com/file/d/1o5RCH6g3geOGwd53VlPfLUvKoLOcw7q4/view?usp=sharing" TargetMode="External"/><Relationship Id="rId19" Type="http://schemas.openxmlformats.org/officeDocument/2006/relationships/hyperlink" Target="https://drive.google.com/file/d/12MKj_ElPMBDCyX0exErYu4K36BQutX5a/view?usp=sharing" TargetMode="External"/><Relationship Id="rId18" Type="http://schemas.openxmlformats.org/officeDocument/2006/relationships/hyperlink" Target="https://drive.google.com/file/d/1s9Bk6lRmUhLi3-OEOqhS5ETccziuceB1/view?usp=sharing" TargetMode="External"/></Relationships>
</file>

<file path=ppt/slides/_rels/slide4.xml.rels><?xml version="1.0" encoding="UTF-8" standalone="yes"?><Relationships xmlns="http://schemas.openxmlformats.org/package/2006/relationships"><Relationship Id="rId20" Type="http://schemas.openxmlformats.org/officeDocument/2006/relationships/hyperlink" Target="https://drive.google.com/file/d/1p6dTPpYtyc0N0eMOjwkF9Q0KahFIpeMH/view?usp=sharing" TargetMode="External"/><Relationship Id="rId22" Type="http://schemas.openxmlformats.org/officeDocument/2006/relationships/hyperlink" Target="https://drive.google.com/file/d/1p6dTPpYtyc0N0eMOjwkF9Q0KahFIpeMH/view?usp=sharing" TargetMode="External"/><Relationship Id="rId21" Type="http://schemas.openxmlformats.org/officeDocument/2006/relationships/hyperlink" Target="https://drive.google.com/file/d/1r3CV-7U9WqR_L5y-1L7Lfes7h8HK7_HC/view?usp=sharing" TargetMode="External"/><Relationship Id="rId24" Type="http://schemas.openxmlformats.org/officeDocument/2006/relationships/hyperlink" Target="https://drive.google.com/file/d/1p6dTPpYtyc0N0eMOjwkF9Q0KahFIpeMH/view?usp=sharing" TargetMode="External"/><Relationship Id="rId23" Type="http://schemas.openxmlformats.org/officeDocument/2006/relationships/hyperlink" Target="https://drive.google.com/file/d/1wxu7xsYCOnYq5n-4dWUkKrYYDrTuydHe/view?usp=sharing" TargetMode="External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drive.google.com/file/d/1Qfa-JVTR-UMbHhYqgvhPnpWnf5IR3iKS/view?usp=sharing" TargetMode="External"/><Relationship Id="rId4" Type="http://schemas.openxmlformats.org/officeDocument/2006/relationships/hyperlink" Target="https://drive.google.com/file/d/1hGCNhl_tdyvq5EXk_WElZkkO3tgM80hs/view?usp=sharing" TargetMode="External"/><Relationship Id="rId9" Type="http://schemas.openxmlformats.org/officeDocument/2006/relationships/hyperlink" Target="https://drive.google.com/file/d/1t1Cg5fF7qVlp5xxrPG5jgtNejRds0bzz/view?usp=sharing" TargetMode="External"/><Relationship Id="rId26" Type="http://schemas.openxmlformats.org/officeDocument/2006/relationships/hyperlink" Target="https://drive.google.com/file/d/1IFtWOBesyNScMoBBipkHiNZ1l7fQMsBM/view?usp=sharing" TargetMode="External"/><Relationship Id="rId25" Type="http://schemas.openxmlformats.org/officeDocument/2006/relationships/hyperlink" Target="https://drive.google.com/file/d/15uGSk7SZ_HITQnAQ1aetrA2yiIvEkV-u/view?usp=sharing" TargetMode="External"/><Relationship Id="rId28" Type="http://schemas.openxmlformats.org/officeDocument/2006/relationships/hyperlink" Target="https://drive.google.com/file/d/1IFtWOBesyNScMoBBipkHiNZ1l7fQMsBM/view?usp=sharing" TargetMode="External"/><Relationship Id="rId27" Type="http://schemas.openxmlformats.org/officeDocument/2006/relationships/hyperlink" Target="https://drive.google.com/file/d/1o98cZ9-oWxrr0PaKQConIGTbsfMFv8y5/view?usp=sharing" TargetMode="External"/><Relationship Id="rId5" Type="http://schemas.openxmlformats.org/officeDocument/2006/relationships/hyperlink" Target="https://drive.google.com/file/d/1PW-sEUGG6CH53OJ7EYJrvha7FA5hu6oF/view?usp=sharing" TargetMode="External"/><Relationship Id="rId6" Type="http://schemas.openxmlformats.org/officeDocument/2006/relationships/hyperlink" Target="https://drive.google.com/file/d/1hGCNhl_tdyvq5EXk_WElZkkO3tgM80hs/view?usp=sharing" TargetMode="External"/><Relationship Id="rId29" Type="http://schemas.openxmlformats.org/officeDocument/2006/relationships/hyperlink" Target="https://drive.google.com/file/d/1g9QVrkqeWF-bithY8APtZMU0AQHSIPAw/view?usp=sharing" TargetMode="External"/><Relationship Id="rId7" Type="http://schemas.openxmlformats.org/officeDocument/2006/relationships/hyperlink" Target="https://drive.google.com/file/d/14fASWOgskItFVJ_WRdOzC8eAE7U8XyB1/view?usp=sharing" TargetMode="External"/><Relationship Id="rId8" Type="http://schemas.openxmlformats.org/officeDocument/2006/relationships/hyperlink" Target="https://drive.google.com/file/d/1hGCNhl_tdyvq5EXk_WElZkkO3tgM80hs/view?usp=sharing" TargetMode="External"/><Relationship Id="rId30" Type="http://schemas.openxmlformats.org/officeDocument/2006/relationships/hyperlink" Target="https://drive.google.com/file/d/1IFtWOBesyNScMoBBipkHiNZ1l7fQMsBM/view?usp=sharing" TargetMode="External"/><Relationship Id="rId11" Type="http://schemas.openxmlformats.org/officeDocument/2006/relationships/hyperlink" Target="https://drive.google.com/file/d/1-PeWSeDMDgtOVCMKMuafppT8T17ENT3C/view?usp=sharing" TargetMode="External"/><Relationship Id="rId10" Type="http://schemas.openxmlformats.org/officeDocument/2006/relationships/hyperlink" Target="https://drive.google.com/file/d/1hGCNhl_tdyvq5EXk_WElZkkO3tgM80hs/view?usp=sharing" TargetMode="External"/><Relationship Id="rId13" Type="http://schemas.openxmlformats.org/officeDocument/2006/relationships/hyperlink" Target="https://drive.google.com/file/d/1FGp8MUVdy5tybE-XUgXN9UHTLH_51cdP/view?usp=sharing" TargetMode="External"/><Relationship Id="rId12" Type="http://schemas.openxmlformats.org/officeDocument/2006/relationships/hyperlink" Target="https://drive.google.com/file/d/1hGCNhl_tdyvq5EXk_WElZkkO3tgM80hs/view?usp=sharing" TargetMode="External"/><Relationship Id="rId15" Type="http://schemas.openxmlformats.org/officeDocument/2006/relationships/hyperlink" Target="https://drive.google.com/file/d/1B6IRIhOehs5v6V1i1O1fR-xD3ocZKafk/view?usp=sharing" TargetMode="External"/><Relationship Id="rId14" Type="http://schemas.openxmlformats.org/officeDocument/2006/relationships/hyperlink" Target="https://drive.google.com/file/d/1KxKC4B7XIeL4N2s-mk0PnaKe6ycaKk4W/view?usp=sharing" TargetMode="External"/><Relationship Id="rId17" Type="http://schemas.openxmlformats.org/officeDocument/2006/relationships/hyperlink" Target="https://drive.google.com/file/d/1Gy5SPcXD6JP6_4yIEX8Dxy_VhoKTeNVU/view?usp=sharing" TargetMode="External"/><Relationship Id="rId16" Type="http://schemas.openxmlformats.org/officeDocument/2006/relationships/hyperlink" Target="https://drive.google.com/file/d/1mAuu3J7nYH0enW9cOX7czm0CJPwEeJnG/view?usp=sharing" TargetMode="External"/><Relationship Id="rId19" Type="http://schemas.openxmlformats.org/officeDocument/2006/relationships/hyperlink" Target="https://drive.google.com/file/d/1IXIOpNbAF2811Fn0vbuOQgRTIefVIi2N/view?usp=sharing" TargetMode="External"/><Relationship Id="rId18" Type="http://schemas.openxmlformats.org/officeDocument/2006/relationships/hyperlink" Target="https://drive.google.com/file/d/1p6dTPpYtyc0N0eMOjwkF9Q0KahFIpeMH/view?usp=sharing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drive.google.com/file/d/1FGp8MUVdy5tybE-XUgXN9UHTLH_51cdP/view?usp=sharing" TargetMode="External"/><Relationship Id="rId4" Type="http://schemas.openxmlformats.org/officeDocument/2006/relationships/hyperlink" Target="https://drive.google.com/file/d/1B73fZaiY366gRTDp0UUzNFdhWQpR1e4x/view?usp=sharing" TargetMode="External"/><Relationship Id="rId9" Type="http://schemas.openxmlformats.org/officeDocument/2006/relationships/hyperlink" Target="https://drive.google.com/file/d/1LrLzFXPKfJVgu1Zx4lC91j0BbP9lxW76/view?usp=sharing" TargetMode="External"/><Relationship Id="rId5" Type="http://schemas.openxmlformats.org/officeDocument/2006/relationships/hyperlink" Target="https://drive.google.com/file/d/1Fxom2b2nXcOH6hhJferXeSNaPv_mPM6A/view?usp=sharing" TargetMode="External"/><Relationship Id="rId6" Type="http://schemas.openxmlformats.org/officeDocument/2006/relationships/hyperlink" Target="https://drive.google.com/file/d/1B73fZaiY366gRTDp0UUzNFdhWQpR1e4x/view?usp=sharing" TargetMode="External"/><Relationship Id="rId7" Type="http://schemas.openxmlformats.org/officeDocument/2006/relationships/hyperlink" Target="https://drive.google.com/file/d/1-f5jxQb0E83N9_YZ_4BN9I4yKW0sP_q0/view?usp=sharing" TargetMode="External"/><Relationship Id="rId8" Type="http://schemas.openxmlformats.org/officeDocument/2006/relationships/hyperlink" Target="https://drive.google.com/file/d/1B73fZaiY366gRTDp0UUzNFdhWQpR1e4x/view?usp=sharing" TargetMode="External"/><Relationship Id="rId11" Type="http://schemas.openxmlformats.org/officeDocument/2006/relationships/hyperlink" Target="https://drive.google.com/file/d/1PW-sEUGG6CH53OJ7EYJrvha7FA5hu6oF/view?usp=sharing" TargetMode="External"/><Relationship Id="rId10" Type="http://schemas.openxmlformats.org/officeDocument/2006/relationships/hyperlink" Target="https://drive.google.com/file/d/1B73fZaiY366gRTDp0UUzNFdhWQpR1e4x/view?usp=sharing" TargetMode="External"/><Relationship Id="rId13" Type="http://schemas.openxmlformats.org/officeDocument/2006/relationships/hyperlink" Target="https://drive.google.com/file/d/1CdYDQuYjfUTCcvdOPsfnMJ7PLLiXiGKz/view?usp=sharing" TargetMode="External"/><Relationship Id="rId12" Type="http://schemas.openxmlformats.org/officeDocument/2006/relationships/hyperlink" Target="https://drive.google.com/file/d/1B73fZaiY366gRTDp0UUzNFdhWQpR1e4x/view?usp=sharing" TargetMode="External"/><Relationship Id="rId15" Type="http://schemas.openxmlformats.org/officeDocument/2006/relationships/hyperlink" Target="https://drive.google.com/file/d/1Nph7guIAx-Exw6hj0Tg7xAVjlibJ0tAw/view?usp=sharing" TargetMode="External"/><Relationship Id="rId14" Type="http://schemas.openxmlformats.org/officeDocument/2006/relationships/hyperlink" Target="https://drive.google.com/file/d/1B73fZaiY366gRTDp0UUzNFdhWQpR1e4x/view?usp=sharing" TargetMode="External"/><Relationship Id="rId16" Type="http://schemas.openxmlformats.org/officeDocument/2006/relationships/hyperlink" Target="https://drive.google.com/file/d/1B73fZaiY366gRTDp0UUzNFdhWQpR1e4x/view?usp=sharing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274C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/>
          <p:nvPr/>
        </p:nvSpPr>
        <p:spPr>
          <a:xfrm>
            <a:off x="73600" y="78200"/>
            <a:ext cx="9003300" cy="4987200"/>
          </a:xfrm>
          <a:prstGeom prst="rect">
            <a:avLst/>
          </a:prstGeom>
          <a:solidFill>
            <a:srgbClr val="FFCB0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3"/>
          <p:cNvSpPr/>
          <p:nvPr/>
        </p:nvSpPr>
        <p:spPr>
          <a:xfrm>
            <a:off x="108550" y="172500"/>
            <a:ext cx="8833200" cy="4798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 u="sng">
                <a:solidFill>
                  <a:schemeClr val="hlink"/>
                </a:solidFill>
                <a:hlinkClick r:id="rId3"/>
              </a:rPr>
              <a:t>TOP CASEBOOKS &amp; CASE RECOMMENDATIONS</a:t>
            </a:r>
            <a:endParaRPr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Updated Spring 2022</a:t>
            </a:r>
            <a:endParaRPr sz="16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graphicFrame>
        <p:nvGraphicFramePr>
          <p:cNvPr id="56" name="Google Shape;56;p13"/>
          <p:cNvGraphicFramePr/>
          <p:nvPr/>
        </p:nvGraphicFramePr>
        <p:xfrm>
          <a:off x="3699925" y="2483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{D809B1B7-BA62-46CC-86CE-A83B1E0C9AFD}</a:tableStyleId>
              </a:tblPr>
              <a:tblGrid>
                <a:gridCol w="1650425"/>
              </a:tblGrid>
              <a:tr h="312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rgbClr val="00274C"/>
                          </a:solidFill>
                        </a:rPr>
                        <a:t>Most Helpful </a:t>
                      </a:r>
                      <a:r>
                        <a:rPr b="1" lang="en" sz="900">
                          <a:solidFill>
                            <a:srgbClr val="00274C"/>
                          </a:solidFill>
                        </a:rPr>
                        <a:t>Case Books</a:t>
                      </a:r>
                      <a:endParaRPr b="1" sz="900">
                        <a:solidFill>
                          <a:srgbClr val="00274C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78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 u="sng">
                          <a:solidFill>
                            <a:schemeClr val="hlink"/>
                          </a:solidFill>
                          <a:hlinkClick r:id="rId4"/>
                        </a:rPr>
                        <a:t>Darden 2019</a:t>
                      </a:r>
                      <a:endParaRPr b="1" sz="900">
                        <a:solidFill>
                          <a:srgbClr val="00274C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78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 u="sng">
                          <a:solidFill>
                            <a:schemeClr val="hlink"/>
                          </a:solidFill>
                          <a:hlinkClick r:id="rId5"/>
                        </a:rPr>
                        <a:t>Fuqua 2019</a:t>
                      </a:r>
                      <a:endParaRPr b="1" sz="900">
                        <a:solidFill>
                          <a:srgbClr val="00274C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78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 u="sng">
                          <a:solidFill>
                            <a:schemeClr val="hlink"/>
                          </a:solidFill>
                          <a:hlinkClick r:id="rId6"/>
                        </a:rPr>
                        <a:t>Kellogg 2020</a:t>
                      </a:r>
                      <a:endParaRPr b="1" sz="900">
                        <a:solidFill>
                          <a:srgbClr val="00274C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78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 u="sng">
                          <a:solidFill>
                            <a:schemeClr val="hlink"/>
                          </a:solidFill>
                          <a:hlinkClick r:id="rId7"/>
                        </a:rPr>
                        <a:t>Ross 2015</a:t>
                      </a:r>
                      <a:endParaRPr b="1" sz="900">
                        <a:solidFill>
                          <a:srgbClr val="00274C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78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 u="sng">
                          <a:solidFill>
                            <a:schemeClr val="hlink"/>
                          </a:solidFill>
                          <a:hlinkClick r:id="rId8"/>
                        </a:rPr>
                        <a:t>Ross 2019</a:t>
                      </a:r>
                      <a:endParaRPr b="1" sz="900">
                        <a:solidFill>
                          <a:srgbClr val="00274C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78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 u="sng">
                          <a:solidFill>
                            <a:schemeClr val="hlink"/>
                          </a:solidFill>
                          <a:hlinkClick r:id="rId9"/>
                        </a:rPr>
                        <a:t>Ross 2021</a:t>
                      </a:r>
                      <a:endParaRPr b="1" sz="900">
                        <a:solidFill>
                          <a:srgbClr val="00274C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57" name="Google Shape;57;p13"/>
          <p:cNvSpPr/>
          <p:nvPr/>
        </p:nvSpPr>
        <p:spPr>
          <a:xfrm>
            <a:off x="7121675" y="735400"/>
            <a:ext cx="1248300" cy="793200"/>
          </a:xfrm>
          <a:prstGeom prst="wedgeEllipseCallout">
            <a:avLst>
              <a:gd fmla="val -20833" name="adj1"/>
              <a:gd fmla="val 62500" name="adj2"/>
            </a:avLst>
          </a:prstGeom>
          <a:solidFill>
            <a:schemeClr val="lt2"/>
          </a:solidFill>
          <a:ln cap="flat" cmpd="sng" w="9525">
            <a:solidFill>
              <a:srgbClr val="0027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00274C"/>
                </a:solidFill>
              </a:rPr>
              <a:t>Click this link to access the Google Sheets Version</a:t>
            </a:r>
            <a:endParaRPr sz="800">
              <a:solidFill>
                <a:srgbClr val="00274C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274C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/>
          <p:nvPr/>
        </p:nvSpPr>
        <p:spPr>
          <a:xfrm>
            <a:off x="73600" y="78200"/>
            <a:ext cx="9003300" cy="4987200"/>
          </a:xfrm>
          <a:prstGeom prst="rect">
            <a:avLst/>
          </a:prstGeom>
          <a:solidFill>
            <a:srgbClr val="FFCB0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14"/>
          <p:cNvSpPr/>
          <p:nvPr/>
        </p:nvSpPr>
        <p:spPr>
          <a:xfrm>
            <a:off x="155400" y="172500"/>
            <a:ext cx="8833200" cy="4798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64" name="Google Shape;64;p14"/>
          <p:cNvGraphicFramePr/>
          <p:nvPr/>
        </p:nvGraphicFramePr>
        <p:xfrm>
          <a:off x="255300" y="20385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{D809B1B7-BA62-46CC-86CE-A83B1E0C9AFD}</a:tableStyleId>
              </a:tblPr>
              <a:tblGrid>
                <a:gridCol w="1836450"/>
                <a:gridCol w="992025"/>
                <a:gridCol w="1421275"/>
                <a:gridCol w="1387100"/>
                <a:gridCol w="1431300"/>
                <a:gridCol w="504450"/>
                <a:gridCol w="541325"/>
                <a:gridCol w="541325"/>
              </a:tblGrid>
              <a:tr h="463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lt1"/>
                          </a:solidFill>
                        </a:rPr>
                        <a:t>Case Title</a:t>
                      </a:r>
                      <a:endParaRPr b="1" sz="9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274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lt1"/>
                          </a:solidFill>
                        </a:rPr>
                        <a:t>Case Book</a:t>
                      </a:r>
                      <a:endParaRPr b="1" sz="9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274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lt1"/>
                          </a:solidFill>
                        </a:rPr>
                        <a:t>Industry</a:t>
                      </a:r>
                      <a:endParaRPr b="1" sz="9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274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lt1"/>
                          </a:solidFill>
                        </a:rPr>
                        <a:t>Type</a:t>
                      </a:r>
                      <a:endParaRPr b="1" sz="9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274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lt1"/>
                          </a:solidFill>
                        </a:rPr>
                        <a:t>Style</a:t>
                      </a:r>
                      <a:endParaRPr b="1" sz="9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274C"/>
                    </a:solidFill>
                  </a:tcPr>
                </a:tc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lt1"/>
                          </a:solidFill>
                        </a:rPr>
                        <a:t>Difficulty (1-3)</a:t>
                      </a:r>
                      <a:endParaRPr b="1" sz="900">
                        <a:solidFill>
                          <a:schemeClr val="lt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lt1"/>
                          </a:solidFill>
                        </a:rPr>
                        <a:t>Quant/Qual/Overall</a:t>
                      </a:r>
                      <a:endParaRPr b="1" sz="9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274C"/>
                    </a:solidFill>
                  </a:tcPr>
                </a:tc>
                <a:tc hMerge="1"/>
                <a:tc hMerge="1"/>
              </a:tr>
              <a:tr h="313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 u="sng">
                          <a:solidFill>
                            <a:srgbClr val="00274C"/>
                          </a:solidFill>
                          <a:hlinkClick r:id="rId3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New Rubber Plant Investment</a:t>
                      </a:r>
                      <a:endParaRPr b="1" sz="800">
                        <a:solidFill>
                          <a:srgbClr val="00274C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rgbClr val="00274C"/>
                          </a:solidFill>
                          <a:hlinkClick r:id="rId4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Darden 2012</a:t>
                      </a:r>
                      <a:endParaRPr sz="800">
                        <a:solidFill>
                          <a:srgbClr val="00274C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274C"/>
                          </a:solidFill>
                        </a:rPr>
                        <a:t>Manufacturing</a:t>
                      </a:r>
                      <a:endParaRPr sz="800">
                        <a:solidFill>
                          <a:srgbClr val="00274C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274C"/>
                          </a:solidFill>
                        </a:rPr>
                        <a:t>Investment Opp</a:t>
                      </a:r>
                      <a:endParaRPr sz="800">
                        <a:solidFill>
                          <a:srgbClr val="00274C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274C"/>
                          </a:solidFill>
                        </a:rPr>
                        <a:t>Interviewee Led</a:t>
                      </a:r>
                      <a:endParaRPr sz="800">
                        <a:solidFill>
                          <a:srgbClr val="00274C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274C"/>
                          </a:solidFill>
                        </a:rPr>
                        <a:t>3</a:t>
                      </a:r>
                      <a:endParaRPr sz="800">
                        <a:solidFill>
                          <a:srgbClr val="00274C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274C"/>
                          </a:solidFill>
                        </a:rPr>
                        <a:t>2</a:t>
                      </a:r>
                      <a:endParaRPr sz="800">
                        <a:solidFill>
                          <a:srgbClr val="00274C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274C"/>
                          </a:solidFill>
                        </a:rPr>
                        <a:t>3</a:t>
                      </a:r>
                      <a:endParaRPr sz="800">
                        <a:solidFill>
                          <a:srgbClr val="00274C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9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 u="sng">
                          <a:solidFill>
                            <a:srgbClr val="00274C"/>
                          </a:solidFill>
                          <a:hlinkClick r:id="rId5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Car Radios</a:t>
                      </a:r>
                      <a:endParaRPr b="1" sz="800">
                        <a:solidFill>
                          <a:srgbClr val="00274C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rgbClr val="00274C"/>
                          </a:solidFill>
                          <a:hlinkClick r:id="rId6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Darden 2014</a:t>
                      </a:r>
                      <a:endParaRPr sz="800">
                        <a:solidFill>
                          <a:srgbClr val="00274C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274C"/>
                          </a:solidFill>
                        </a:rPr>
                        <a:t>Transportation</a:t>
                      </a:r>
                      <a:endParaRPr sz="800">
                        <a:solidFill>
                          <a:srgbClr val="00274C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274C"/>
                          </a:solidFill>
                        </a:rPr>
                        <a:t>Marketing/P&amp;L</a:t>
                      </a:r>
                      <a:endParaRPr sz="800">
                        <a:solidFill>
                          <a:srgbClr val="00274C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800">
                          <a:solidFill>
                            <a:srgbClr val="00274C"/>
                          </a:solidFill>
                        </a:rPr>
                        <a:t>Interviewee Led</a:t>
                      </a:r>
                      <a:endParaRPr sz="800">
                        <a:solidFill>
                          <a:srgbClr val="00274C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274C"/>
                          </a:solidFill>
                        </a:rPr>
                        <a:t>2</a:t>
                      </a:r>
                      <a:endParaRPr sz="800">
                        <a:solidFill>
                          <a:srgbClr val="00274C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274C"/>
                          </a:solidFill>
                        </a:rPr>
                        <a:t>2</a:t>
                      </a:r>
                      <a:endParaRPr sz="800">
                        <a:solidFill>
                          <a:srgbClr val="00274C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274C"/>
                          </a:solidFill>
                        </a:rPr>
                        <a:t>2</a:t>
                      </a:r>
                      <a:endParaRPr sz="800">
                        <a:solidFill>
                          <a:srgbClr val="00274C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9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 u="sng">
                          <a:solidFill>
                            <a:srgbClr val="00274C"/>
                          </a:solidFill>
                          <a:hlinkClick r:id="rId7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Frozen Slush Drinks</a:t>
                      </a:r>
                      <a:endParaRPr b="1" sz="800">
                        <a:solidFill>
                          <a:srgbClr val="00274C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rgbClr val="00274C"/>
                          </a:solidFill>
                          <a:hlinkClick r:id="rId8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Darden 2014</a:t>
                      </a:r>
                      <a:endParaRPr sz="800">
                        <a:solidFill>
                          <a:srgbClr val="00274C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274C"/>
                          </a:solidFill>
                        </a:rPr>
                        <a:t>Consumer/Retail</a:t>
                      </a:r>
                      <a:endParaRPr sz="800">
                        <a:solidFill>
                          <a:srgbClr val="00274C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274C"/>
                          </a:solidFill>
                        </a:rPr>
                        <a:t>Building Brand</a:t>
                      </a:r>
                      <a:endParaRPr sz="800">
                        <a:solidFill>
                          <a:srgbClr val="00274C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274C"/>
                          </a:solidFill>
                        </a:rPr>
                        <a:t>Interviewer Led</a:t>
                      </a:r>
                      <a:endParaRPr sz="800">
                        <a:solidFill>
                          <a:srgbClr val="00274C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274C"/>
                          </a:solidFill>
                        </a:rPr>
                        <a:t>2</a:t>
                      </a:r>
                      <a:endParaRPr sz="800">
                        <a:solidFill>
                          <a:srgbClr val="00274C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274C"/>
                          </a:solidFill>
                        </a:rPr>
                        <a:t>2</a:t>
                      </a:r>
                      <a:endParaRPr sz="800">
                        <a:solidFill>
                          <a:srgbClr val="00274C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274C"/>
                          </a:solidFill>
                        </a:rPr>
                        <a:t>2</a:t>
                      </a:r>
                      <a:endParaRPr sz="800">
                        <a:solidFill>
                          <a:srgbClr val="00274C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9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 u="sng">
                          <a:solidFill>
                            <a:srgbClr val="00274C"/>
                          </a:solidFill>
                          <a:hlinkClick r:id="rId9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Semi Truck Wing Spoiler</a:t>
                      </a:r>
                      <a:endParaRPr b="1" sz="800">
                        <a:solidFill>
                          <a:srgbClr val="00274C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rgbClr val="00274C"/>
                          </a:solidFill>
                          <a:hlinkClick r:id="rId10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Darden 2014</a:t>
                      </a:r>
                      <a:endParaRPr sz="800">
                        <a:solidFill>
                          <a:srgbClr val="00274C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274C"/>
                          </a:solidFill>
                        </a:rPr>
                        <a:t>Transportation</a:t>
                      </a:r>
                      <a:endParaRPr sz="800">
                        <a:solidFill>
                          <a:srgbClr val="00274C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274C"/>
                          </a:solidFill>
                        </a:rPr>
                        <a:t>Product Launch</a:t>
                      </a:r>
                      <a:endParaRPr sz="800">
                        <a:solidFill>
                          <a:srgbClr val="00274C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274C"/>
                          </a:solidFill>
                        </a:rPr>
                        <a:t>Interviewer Led</a:t>
                      </a:r>
                      <a:endParaRPr sz="800">
                        <a:solidFill>
                          <a:srgbClr val="00274C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274C"/>
                          </a:solidFill>
                        </a:rPr>
                        <a:t>3</a:t>
                      </a:r>
                      <a:endParaRPr sz="800">
                        <a:solidFill>
                          <a:srgbClr val="00274C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274C"/>
                          </a:solidFill>
                        </a:rPr>
                        <a:t>2</a:t>
                      </a:r>
                      <a:endParaRPr sz="800">
                        <a:solidFill>
                          <a:srgbClr val="00274C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274C"/>
                          </a:solidFill>
                        </a:rPr>
                        <a:t>2</a:t>
                      </a:r>
                      <a:endParaRPr sz="800">
                        <a:solidFill>
                          <a:srgbClr val="00274C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9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 u="sng">
                          <a:solidFill>
                            <a:srgbClr val="00274C"/>
                          </a:solidFill>
                          <a:hlinkClick r:id="rId11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Canyon Capital</a:t>
                      </a:r>
                      <a:endParaRPr b="1" sz="800">
                        <a:solidFill>
                          <a:srgbClr val="00274C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rgbClr val="00274C"/>
                          </a:solidFill>
                          <a:hlinkClick r:id="rId12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Darden 2018</a:t>
                      </a:r>
                      <a:endParaRPr sz="800">
                        <a:solidFill>
                          <a:srgbClr val="00274C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274C"/>
                          </a:solidFill>
                        </a:rPr>
                        <a:t>Financial/PE</a:t>
                      </a:r>
                      <a:endParaRPr sz="800">
                        <a:solidFill>
                          <a:srgbClr val="00274C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274C"/>
                          </a:solidFill>
                        </a:rPr>
                        <a:t>P&amp;L</a:t>
                      </a:r>
                      <a:endParaRPr sz="800">
                        <a:solidFill>
                          <a:srgbClr val="00274C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274C"/>
                          </a:solidFill>
                        </a:rPr>
                        <a:t>Interviewee Led</a:t>
                      </a:r>
                      <a:endParaRPr sz="800">
                        <a:solidFill>
                          <a:srgbClr val="00274C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274C"/>
                          </a:solidFill>
                        </a:rPr>
                        <a:t>3</a:t>
                      </a:r>
                      <a:endParaRPr sz="800">
                        <a:solidFill>
                          <a:srgbClr val="00274C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274C"/>
                          </a:solidFill>
                        </a:rPr>
                        <a:t>2</a:t>
                      </a:r>
                      <a:endParaRPr sz="800">
                        <a:solidFill>
                          <a:srgbClr val="00274C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274C"/>
                          </a:solidFill>
                        </a:rPr>
                        <a:t>3</a:t>
                      </a:r>
                      <a:endParaRPr sz="800">
                        <a:solidFill>
                          <a:srgbClr val="00274C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9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 u="sng">
                          <a:solidFill>
                            <a:srgbClr val="00274C"/>
                          </a:solidFill>
                          <a:hlinkClick r:id="rId13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Copier Co.</a:t>
                      </a:r>
                      <a:endParaRPr b="1" sz="800">
                        <a:solidFill>
                          <a:srgbClr val="00274C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rgbClr val="00274C"/>
                          </a:solidFill>
                          <a:hlinkClick r:id="rId14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Darden 2018</a:t>
                      </a:r>
                      <a:endParaRPr sz="800">
                        <a:solidFill>
                          <a:srgbClr val="00274C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274C"/>
                          </a:solidFill>
                        </a:rPr>
                        <a:t>Information Technology</a:t>
                      </a:r>
                      <a:endParaRPr sz="800">
                        <a:solidFill>
                          <a:srgbClr val="00274C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274C"/>
                          </a:solidFill>
                        </a:rPr>
                        <a:t>P&amp;L</a:t>
                      </a:r>
                      <a:endParaRPr sz="800">
                        <a:solidFill>
                          <a:srgbClr val="00274C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274C"/>
                          </a:solidFill>
                        </a:rPr>
                        <a:t>Interviewee Led</a:t>
                      </a:r>
                      <a:endParaRPr sz="800">
                        <a:solidFill>
                          <a:srgbClr val="00274C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274C"/>
                          </a:solidFill>
                        </a:rPr>
                        <a:t>3</a:t>
                      </a:r>
                      <a:endParaRPr sz="800">
                        <a:solidFill>
                          <a:srgbClr val="00274C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274C"/>
                          </a:solidFill>
                        </a:rPr>
                        <a:t>1</a:t>
                      </a:r>
                      <a:endParaRPr sz="800">
                        <a:solidFill>
                          <a:srgbClr val="00274C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274C"/>
                          </a:solidFill>
                        </a:rPr>
                        <a:t>2</a:t>
                      </a:r>
                      <a:endParaRPr sz="800">
                        <a:solidFill>
                          <a:srgbClr val="00274C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9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 u="sng">
                          <a:solidFill>
                            <a:srgbClr val="00274C"/>
                          </a:solidFill>
                          <a:hlinkClick r:id="rId15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Pharma Co. </a:t>
                      </a:r>
                      <a:endParaRPr b="1" sz="800">
                        <a:solidFill>
                          <a:srgbClr val="00274C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rgbClr val="00274C"/>
                          </a:solidFill>
                          <a:hlinkClick r:id="rId16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Darden 2019</a:t>
                      </a:r>
                      <a:endParaRPr sz="800">
                        <a:solidFill>
                          <a:srgbClr val="00274C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274C"/>
                          </a:solidFill>
                        </a:rPr>
                        <a:t>Healthcare &amp; Life Science</a:t>
                      </a:r>
                      <a:endParaRPr sz="800">
                        <a:solidFill>
                          <a:srgbClr val="00274C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274C"/>
                          </a:solidFill>
                        </a:rPr>
                        <a:t>M&amp;A</a:t>
                      </a:r>
                      <a:endParaRPr sz="800">
                        <a:solidFill>
                          <a:srgbClr val="00274C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274C"/>
                          </a:solidFill>
                        </a:rPr>
                        <a:t>Interviewer Led</a:t>
                      </a:r>
                      <a:endParaRPr sz="800">
                        <a:solidFill>
                          <a:srgbClr val="00274C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274C"/>
                          </a:solidFill>
                        </a:rPr>
                        <a:t>2</a:t>
                      </a:r>
                      <a:endParaRPr sz="800">
                        <a:solidFill>
                          <a:srgbClr val="00274C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274C"/>
                          </a:solidFill>
                        </a:rPr>
                        <a:t>2</a:t>
                      </a:r>
                      <a:endParaRPr sz="800">
                        <a:solidFill>
                          <a:srgbClr val="00274C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274C"/>
                          </a:solidFill>
                        </a:rPr>
                        <a:t>2</a:t>
                      </a:r>
                      <a:endParaRPr sz="800">
                        <a:solidFill>
                          <a:srgbClr val="00274C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9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 u="sng">
                          <a:solidFill>
                            <a:srgbClr val="00274C"/>
                          </a:solidFill>
                          <a:hlinkClick r:id="rId17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Seven Flags</a:t>
                      </a:r>
                      <a:endParaRPr b="1" sz="800">
                        <a:solidFill>
                          <a:srgbClr val="00274C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rgbClr val="00274C"/>
                          </a:solidFill>
                          <a:hlinkClick r:id="rId18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Darden 2019</a:t>
                      </a:r>
                      <a:endParaRPr sz="800">
                        <a:solidFill>
                          <a:srgbClr val="00274C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274C"/>
                          </a:solidFill>
                        </a:rPr>
                        <a:t>Hospitality</a:t>
                      </a:r>
                      <a:endParaRPr sz="800">
                        <a:solidFill>
                          <a:srgbClr val="00274C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274C"/>
                          </a:solidFill>
                        </a:rPr>
                        <a:t>Pricing</a:t>
                      </a:r>
                      <a:endParaRPr sz="800">
                        <a:solidFill>
                          <a:srgbClr val="00274C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274C"/>
                          </a:solidFill>
                        </a:rPr>
                        <a:t>Interviewer</a:t>
                      </a:r>
                      <a:r>
                        <a:rPr lang="en" sz="800">
                          <a:solidFill>
                            <a:srgbClr val="00274C"/>
                          </a:solidFill>
                        </a:rPr>
                        <a:t> Led</a:t>
                      </a:r>
                      <a:endParaRPr sz="800">
                        <a:solidFill>
                          <a:srgbClr val="00274C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274C"/>
                          </a:solidFill>
                        </a:rPr>
                        <a:t>2</a:t>
                      </a:r>
                      <a:endParaRPr sz="800">
                        <a:solidFill>
                          <a:srgbClr val="00274C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274C"/>
                          </a:solidFill>
                        </a:rPr>
                        <a:t>1</a:t>
                      </a:r>
                      <a:endParaRPr sz="800">
                        <a:solidFill>
                          <a:srgbClr val="00274C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274C"/>
                          </a:solidFill>
                        </a:rPr>
                        <a:t>1</a:t>
                      </a:r>
                      <a:endParaRPr sz="800">
                        <a:solidFill>
                          <a:srgbClr val="00274C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9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 u="sng">
                          <a:solidFill>
                            <a:srgbClr val="00274C"/>
                          </a:solidFill>
                          <a:hlinkClick r:id="rId19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Gamebox</a:t>
                      </a:r>
                      <a:endParaRPr b="1" sz="800">
                        <a:solidFill>
                          <a:srgbClr val="00274C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rgbClr val="00274C"/>
                          </a:solidFill>
                          <a:hlinkClick r:id="rId20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Darden 2019</a:t>
                      </a:r>
                      <a:endParaRPr sz="800">
                        <a:solidFill>
                          <a:srgbClr val="00274C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274C"/>
                          </a:solidFill>
                        </a:rPr>
                        <a:t>Entertainment/Gaming</a:t>
                      </a:r>
                      <a:endParaRPr sz="800">
                        <a:solidFill>
                          <a:srgbClr val="00274C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274C"/>
                          </a:solidFill>
                        </a:rPr>
                        <a:t>Product Launch</a:t>
                      </a:r>
                      <a:endParaRPr sz="800">
                        <a:solidFill>
                          <a:srgbClr val="00274C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274C"/>
                          </a:solidFill>
                        </a:rPr>
                        <a:t>Interviewer</a:t>
                      </a:r>
                      <a:r>
                        <a:rPr lang="en" sz="800">
                          <a:solidFill>
                            <a:srgbClr val="00274C"/>
                          </a:solidFill>
                        </a:rPr>
                        <a:t> Led</a:t>
                      </a:r>
                      <a:endParaRPr sz="800">
                        <a:solidFill>
                          <a:srgbClr val="00274C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274C"/>
                          </a:solidFill>
                        </a:rPr>
                        <a:t>2</a:t>
                      </a:r>
                      <a:endParaRPr sz="800">
                        <a:solidFill>
                          <a:srgbClr val="00274C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274C"/>
                          </a:solidFill>
                        </a:rPr>
                        <a:t>1</a:t>
                      </a:r>
                      <a:endParaRPr sz="800">
                        <a:solidFill>
                          <a:srgbClr val="00274C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274C"/>
                          </a:solidFill>
                        </a:rPr>
                        <a:t>1</a:t>
                      </a:r>
                      <a:endParaRPr sz="800">
                        <a:solidFill>
                          <a:srgbClr val="00274C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9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 u="sng">
                          <a:solidFill>
                            <a:srgbClr val="00274C"/>
                          </a:solidFill>
                          <a:hlinkClick r:id="rId21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Coyotes</a:t>
                      </a:r>
                      <a:endParaRPr b="1" sz="800">
                        <a:solidFill>
                          <a:srgbClr val="00274C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rgbClr val="00274C"/>
                          </a:solidFill>
                          <a:hlinkClick r:id="rId22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Fuqua 2014</a:t>
                      </a:r>
                      <a:endParaRPr sz="800">
                        <a:solidFill>
                          <a:srgbClr val="00274C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274C"/>
                          </a:solidFill>
                        </a:rPr>
                        <a:t>Eco-tourism</a:t>
                      </a:r>
                      <a:endParaRPr sz="800">
                        <a:solidFill>
                          <a:srgbClr val="00274C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274C"/>
                          </a:solidFill>
                        </a:rPr>
                        <a:t>Population decline</a:t>
                      </a:r>
                      <a:endParaRPr sz="800">
                        <a:solidFill>
                          <a:srgbClr val="00274C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274C"/>
                          </a:solidFill>
                        </a:rPr>
                        <a:t>Interviewer Led</a:t>
                      </a:r>
                      <a:endParaRPr sz="800">
                        <a:solidFill>
                          <a:srgbClr val="00274C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274C"/>
                          </a:solidFill>
                        </a:rPr>
                        <a:t>2</a:t>
                      </a:r>
                      <a:endParaRPr sz="800">
                        <a:solidFill>
                          <a:srgbClr val="00274C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274C"/>
                          </a:solidFill>
                        </a:rPr>
                        <a:t>2</a:t>
                      </a:r>
                      <a:endParaRPr sz="800">
                        <a:solidFill>
                          <a:srgbClr val="00274C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274C"/>
                          </a:solidFill>
                        </a:rPr>
                        <a:t>2</a:t>
                      </a:r>
                      <a:endParaRPr sz="800">
                        <a:solidFill>
                          <a:srgbClr val="00274C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9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 u="sng">
                          <a:solidFill>
                            <a:srgbClr val="00274C"/>
                          </a:solidFill>
                          <a:hlinkClick r:id="rId23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Blockbuster Biosimilars</a:t>
                      </a:r>
                      <a:endParaRPr b="1" sz="800">
                        <a:solidFill>
                          <a:srgbClr val="00274C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rgbClr val="00274C"/>
                          </a:solidFill>
                          <a:hlinkClick r:id="rId24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Fuqua 2019</a:t>
                      </a:r>
                      <a:endParaRPr sz="800">
                        <a:solidFill>
                          <a:srgbClr val="00274C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274C"/>
                          </a:solidFill>
                        </a:rPr>
                        <a:t>Healthcare</a:t>
                      </a:r>
                      <a:endParaRPr sz="800">
                        <a:solidFill>
                          <a:srgbClr val="00274C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274C"/>
                          </a:solidFill>
                        </a:rPr>
                        <a:t>Growth Strategy</a:t>
                      </a:r>
                      <a:endParaRPr sz="800">
                        <a:solidFill>
                          <a:srgbClr val="00274C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274C"/>
                          </a:solidFill>
                        </a:rPr>
                        <a:t>Interviewee Led</a:t>
                      </a:r>
                      <a:endParaRPr sz="800">
                        <a:solidFill>
                          <a:srgbClr val="00274C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274C"/>
                          </a:solidFill>
                        </a:rPr>
                        <a:t>2</a:t>
                      </a:r>
                      <a:endParaRPr sz="800">
                        <a:solidFill>
                          <a:srgbClr val="00274C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274C"/>
                          </a:solidFill>
                        </a:rPr>
                        <a:t>3</a:t>
                      </a:r>
                      <a:endParaRPr sz="800">
                        <a:solidFill>
                          <a:srgbClr val="00274C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274C"/>
                          </a:solidFill>
                        </a:rPr>
                        <a:t>2</a:t>
                      </a:r>
                      <a:endParaRPr sz="800">
                        <a:solidFill>
                          <a:srgbClr val="00274C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9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 u="sng">
                          <a:solidFill>
                            <a:srgbClr val="00274C"/>
                          </a:solidFill>
                          <a:hlinkClick r:id="rId25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High Strung</a:t>
                      </a:r>
                      <a:endParaRPr b="1" sz="800">
                        <a:solidFill>
                          <a:srgbClr val="00274C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rgbClr val="00274C"/>
                          </a:solidFill>
                          <a:hlinkClick r:id="rId26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Fuqua 2019</a:t>
                      </a:r>
                      <a:endParaRPr sz="800">
                        <a:solidFill>
                          <a:srgbClr val="00274C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274C"/>
                          </a:solidFill>
                        </a:rPr>
                        <a:t>Entertainment</a:t>
                      </a:r>
                      <a:endParaRPr sz="800">
                        <a:solidFill>
                          <a:srgbClr val="00274C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274C"/>
                          </a:solidFill>
                        </a:rPr>
                        <a:t>Profitability</a:t>
                      </a:r>
                      <a:endParaRPr sz="800">
                        <a:solidFill>
                          <a:srgbClr val="00274C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274C"/>
                          </a:solidFill>
                        </a:rPr>
                        <a:t>Interviewee Led</a:t>
                      </a:r>
                      <a:endParaRPr sz="800">
                        <a:solidFill>
                          <a:srgbClr val="00274C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274C"/>
                          </a:solidFill>
                        </a:rPr>
                        <a:t>2</a:t>
                      </a:r>
                      <a:endParaRPr sz="800">
                        <a:solidFill>
                          <a:srgbClr val="00274C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274C"/>
                          </a:solidFill>
                        </a:rPr>
                        <a:t>3</a:t>
                      </a:r>
                      <a:endParaRPr sz="800">
                        <a:solidFill>
                          <a:srgbClr val="00274C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274C"/>
                          </a:solidFill>
                        </a:rPr>
                        <a:t>2</a:t>
                      </a:r>
                      <a:endParaRPr sz="800">
                        <a:solidFill>
                          <a:srgbClr val="00274C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9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 u="sng">
                          <a:solidFill>
                            <a:srgbClr val="00274C"/>
                          </a:solidFill>
                          <a:hlinkClick r:id="rId27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Queen Bae</a:t>
                      </a:r>
                      <a:endParaRPr b="1" sz="800">
                        <a:solidFill>
                          <a:srgbClr val="00274C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rgbClr val="00274C"/>
                          </a:solidFill>
                          <a:hlinkClick r:id="rId28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Fuqua 2019</a:t>
                      </a:r>
                      <a:endParaRPr sz="800">
                        <a:solidFill>
                          <a:srgbClr val="00274C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274C"/>
                          </a:solidFill>
                        </a:rPr>
                        <a:t>Consumer/Retail</a:t>
                      </a:r>
                      <a:endParaRPr sz="800">
                        <a:solidFill>
                          <a:srgbClr val="00274C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274C"/>
                          </a:solidFill>
                        </a:rPr>
                        <a:t>Growth Strategy</a:t>
                      </a:r>
                      <a:endParaRPr sz="800">
                        <a:solidFill>
                          <a:srgbClr val="00274C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274C"/>
                          </a:solidFill>
                        </a:rPr>
                        <a:t>Interviewee Led</a:t>
                      </a:r>
                      <a:endParaRPr sz="800">
                        <a:solidFill>
                          <a:srgbClr val="00274C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274C"/>
                          </a:solidFill>
                        </a:rPr>
                        <a:t>2</a:t>
                      </a:r>
                      <a:endParaRPr sz="800">
                        <a:solidFill>
                          <a:srgbClr val="00274C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274C"/>
                          </a:solidFill>
                        </a:rPr>
                        <a:t>2</a:t>
                      </a:r>
                      <a:endParaRPr sz="800">
                        <a:solidFill>
                          <a:srgbClr val="00274C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274C"/>
                          </a:solidFill>
                        </a:rPr>
                        <a:t>2</a:t>
                      </a:r>
                      <a:endParaRPr sz="800">
                        <a:solidFill>
                          <a:srgbClr val="00274C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9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 u="sng">
                          <a:solidFill>
                            <a:srgbClr val="00274C"/>
                          </a:solidFill>
                          <a:hlinkClick r:id="rId29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Maine Apples</a:t>
                      </a:r>
                      <a:endParaRPr b="1" sz="800">
                        <a:solidFill>
                          <a:srgbClr val="00274C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rgbClr val="00274C"/>
                          </a:solidFill>
                          <a:hlinkClick r:id="rId30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Kellogg 2011</a:t>
                      </a:r>
                      <a:endParaRPr sz="800">
                        <a:solidFill>
                          <a:srgbClr val="00274C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274C"/>
                          </a:solidFill>
                        </a:rPr>
                        <a:t>CPG</a:t>
                      </a:r>
                      <a:endParaRPr sz="800">
                        <a:solidFill>
                          <a:srgbClr val="00274C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274C"/>
                          </a:solidFill>
                        </a:rPr>
                        <a:t>Mkt Size/Pricing</a:t>
                      </a:r>
                      <a:endParaRPr sz="800">
                        <a:solidFill>
                          <a:srgbClr val="00274C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274C"/>
                          </a:solidFill>
                        </a:rPr>
                        <a:t>Interviewer Led</a:t>
                      </a:r>
                      <a:endParaRPr sz="800">
                        <a:solidFill>
                          <a:srgbClr val="00274C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274C"/>
                          </a:solidFill>
                        </a:rPr>
                        <a:t>2</a:t>
                      </a:r>
                      <a:endParaRPr sz="800">
                        <a:solidFill>
                          <a:srgbClr val="00274C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274C"/>
                          </a:solidFill>
                        </a:rPr>
                        <a:t>2</a:t>
                      </a:r>
                      <a:endParaRPr sz="800">
                        <a:solidFill>
                          <a:srgbClr val="00274C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274C"/>
                          </a:solidFill>
                        </a:rPr>
                        <a:t>2</a:t>
                      </a:r>
                      <a:endParaRPr sz="800">
                        <a:solidFill>
                          <a:srgbClr val="00274C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274C"/>
        </a:solid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/>
          <p:nvPr/>
        </p:nvSpPr>
        <p:spPr>
          <a:xfrm>
            <a:off x="73600" y="78200"/>
            <a:ext cx="9003300" cy="4987200"/>
          </a:xfrm>
          <a:prstGeom prst="rect">
            <a:avLst/>
          </a:prstGeom>
          <a:solidFill>
            <a:srgbClr val="FFCB0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15"/>
          <p:cNvSpPr/>
          <p:nvPr/>
        </p:nvSpPr>
        <p:spPr>
          <a:xfrm>
            <a:off x="155400" y="172500"/>
            <a:ext cx="8833200" cy="4798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71" name="Google Shape;71;p15"/>
          <p:cNvGraphicFramePr/>
          <p:nvPr/>
        </p:nvGraphicFramePr>
        <p:xfrm>
          <a:off x="255300" y="20385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{D809B1B7-BA62-46CC-86CE-A83B1E0C9AFD}</a:tableStyleId>
              </a:tblPr>
              <a:tblGrid>
                <a:gridCol w="1836450"/>
                <a:gridCol w="992025"/>
                <a:gridCol w="1421275"/>
                <a:gridCol w="1387100"/>
                <a:gridCol w="1431300"/>
                <a:gridCol w="504450"/>
                <a:gridCol w="541325"/>
                <a:gridCol w="541325"/>
              </a:tblGrid>
              <a:tr h="463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lt1"/>
                          </a:solidFill>
                        </a:rPr>
                        <a:t>Case Title</a:t>
                      </a:r>
                      <a:endParaRPr b="1" sz="9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274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lt1"/>
                          </a:solidFill>
                        </a:rPr>
                        <a:t>Case Book</a:t>
                      </a:r>
                      <a:endParaRPr b="1" sz="9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274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lt1"/>
                          </a:solidFill>
                        </a:rPr>
                        <a:t>Industry</a:t>
                      </a:r>
                      <a:endParaRPr b="1" sz="9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274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lt1"/>
                          </a:solidFill>
                        </a:rPr>
                        <a:t>Type</a:t>
                      </a:r>
                      <a:endParaRPr b="1" sz="9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274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lt1"/>
                          </a:solidFill>
                        </a:rPr>
                        <a:t>Style</a:t>
                      </a:r>
                      <a:endParaRPr b="1" sz="9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274C"/>
                    </a:solidFill>
                  </a:tcPr>
                </a:tc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lt1"/>
                          </a:solidFill>
                        </a:rPr>
                        <a:t>Difficulty (1-3)</a:t>
                      </a:r>
                      <a:endParaRPr b="1" sz="900">
                        <a:solidFill>
                          <a:schemeClr val="lt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lt1"/>
                          </a:solidFill>
                        </a:rPr>
                        <a:t>Quant/Qual/Overall</a:t>
                      </a:r>
                      <a:endParaRPr b="1" sz="9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274C"/>
                    </a:solidFill>
                  </a:tcPr>
                </a:tc>
                <a:tc hMerge="1"/>
                <a:tc hMerge="1"/>
              </a:tr>
              <a:tr h="313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 u="sng">
                          <a:solidFill>
                            <a:srgbClr val="00274C"/>
                          </a:solidFill>
                          <a:hlinkClick r:id="rId3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Health Coaches</a:t>
                      </a:r>
                      <a:endParaRPr b="1" sz="800">
                        <a:solidFill>
                          <a:srgbClr val="00274C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rgbClr val="00274C"/>
                          </a:solidFill>
                          <a:hlinkClick r:id="rId4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Kellogg 2012</a:t>
                      </a:r>
                      <a:endParaRPr sz="800">
                        <a:solidFill>
                          <a:srgbClr val="00274C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274C"/>
                          </a:solidFill>
                        </a:rPr>
                        <a:t>Healthcare</a:t>
                      </a:r>
                      <a:endParaRPr sz="800">
                        <a:solidFill>
                          <a:srgbClr val="00274C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274C"/>
                          </a:solidFill>
                        </a:rPr>
                        <a:t>Customer Strategy</a:t>
                      </a:r>
                      <a:endParaRPr sz="800">
                        <a:solidFill>
                          <a:srgbClr val="00274C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274C"/>
                          </a:solidFill>
                        </a:rPr>
                        <a:t>Interviewee Led</a:t>
                      </a:r>
                      <a:endParaRPr sz="800">
                        <a:solidFill>
                          <a:srgbClr val="00274C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274C"/>
                          </a:solidFill>
                        </a:rPr>
                        <a:t>3</a:t>
                      </a:r>
                      <a:endParaRPr sz="800">
                        <a:solidFill>
                          <a:srgbClr val="00274C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274C"/>
                          </a:solidFill>
                        </a:rPr>
                        <a:t>2</a:t>
                      </a:r>
                      <a:endParaRPr sz="800">
                        <a:solidFill>
                          <a:srgbClr val="00274C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274C"/>
                          </a:solidFill>
                        </a:rPr>
                        <a:t>2</a:t>
                      </a:r>
                      <a:endParaRPr sz="800">
                        <a:solidFill>
                          <a:srgbClr val="00274C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9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 u="sng">
                          <a:solidFill>
                            <a:srgbClr val="00274C"/>
                          </a:solidFill>
                          <a:hlinkClick r:id="rId5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Vindaloo Corp</a:t>
                      </a:r>
                      <a:endParaRPr b="1" sz="800">
                        <a:solidFill>
                          <a:srgbClr val="00274C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rgbClr val="00274C"/>
                          </a:solidFill>
                          <a:hlinkClick r:id="rId6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Kellogg 2012</a:t>
                      </a:r>
                      <a:endParaRPr sz="800">
                        <a:solidFill>
                          <a:srgbClr val="00274C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274C"/>
                          </a:solidFill>
                        </a:rPr>
                        <a:t>CPG/Retail</a:t>
                      </a:r>
                      <a:endParaRPr sz="800">
                        <a:solidFill>
                          <a:srgbClr val="00274C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274C"/>
                          </a:solidFill>
                        </a:rPr>
                        <a:t>New Product (NPV)</a:t>
                      </a:r>
                      <a:endParaRPr sz="800">
                        <a:solidFill>
                          <a:srgbClr val="00274C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800">
                          <a:solidFill>
                            <a:srgbClr val="00274C"/>
                          </a:solidFill>
                        </a:rPr>
                        <a:t>Interviewee Led</a:t>
                      </a:r>
                      <a:endParaRPr sz="800">
                        <a:solidFill>
                          <a:srgbClr val="00274C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274C"/>
                          </a:solidFill>
                        </a:rPr>
                        <a:t>3</a:t>
                      </a:r>
                      <a:endParaRPr sz="800">
                        <a:solidFill>
                          <a:srgbClr val="00274C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274C"/>
                          </a:solidFill>
                        </a:rPr>
                        <a:t>1</a:t>
                      </a:r>
                      <a:endParaRPr sz="800">
                        <a:solidFill>
                          <a:srgbClr val="00274C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274C"/>
                          </a:solidFill>
                        </a:rPr>
                        <a:t>2</a:t>
                      </a:r>
                      <a:endParaRPr sz="800">
                        <a:solidFill>
                          <a:srgbClr val="00274C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9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 u="sng">
                          <a:solidFill>
                            <a:srgbClr val="00274C"/>
                          </a:solidFill>
                          <a:hlinkClick r:id="rId7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Chic Cosmetology</a:t>
                      </a:r>
                      <a:endParaRPr b="1" sz="800">
                        <a:solidFill>
                          <a:srgbClr val="00274C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rgbClr val="00274C"/>
                          </a:solidFill>
                          <a:hlinkClick r:id="rId8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Kellogg 2020</a:t>
                      </a:r>
                      <a:endParaRPr sz="800">
                        <a:solidFill>
                          <a:srgbClr val="00274C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274C"/>
                          </a:solidFill>
                        </a:rPr>
                        <a:t>Hospitality</a:t>
                      </a:r>
                      <a:endParaRPr sz="800">
                        <a:solidFill>
                          <a:srgbClr val="00274C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274C"/>
                          </a:solidFill>
                        </a:rPr>
                        <a:t>Market Entry</a:t>
                      </a:r>
                      <a:endParaRPr sz="800">
                        <a:solidFill>
                          <a:srgbClr val="00274C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274C"/>
                          </a:solidFill>
                        </a:rPr>
                        <a:t>Interviewer Led</a:t>
                      </a:r>
                      <a:endParaRPr sz="800">
                        <a:solidFill>
                          <a:srgbClr val="00274C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274C"/>
                          </a:solidFill>
                        </a:rPr>
                        <a:t>2</a:t>
                      </a:r>
                      <a:endParaRPr sz="800">
                        <a:solidFill>
                          <a:srgbClr val="00274C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274C"/>
                          </a:solidFill>
                        </a:rPr>
                        <a:t>1</a:t>
                      </a:r>
                      <a:endParaRPr sz="800">
                        <a:solidFill>
                          <a:srgbClr val="00274C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274C"/>
                          </a:solidFill>
                        </a:rPr>
                        <a:t>1</a:t>
                      </a:r>
                      <a:endParaRPr sz="800">
                        <a:solidFill>
                          <a:srgbClr val="00274C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9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 u="sng">
                          <a:solidFill>
                            <a:srgbClr val="00274C"/>
                          </a:solidFill>
                          <a:hlinkClick r:id="rId9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Kellogg in India</a:t>
                      </a:r>
                      <a:endParaRPr b="1" sz="800">
                        <a:solidFill>
                          <a:srgbClr val="00274C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rgbClr val="00274C"/>
                          </a:solidFill>
                          <a:hlinkClick r:id="rId10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Kellogg 2020</a:t>
                      </a:r>
                      <a:endParaRPr sz="800">
                        <a:solidFill>
                          <a:srgbClr val="00274C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274C"/>
                          </a:solidFill>
                        </a:rPr>
                        <a:t>Government/Public Sector</a:t>
                      </a:r>
                      <a:endParaRPr sz="800">
                        <a:solidFill>
                          <a:srgbClr val="00274C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274C"/>
                          </a:solidFill>
                        </a:rPr>
                        <a:t>New Product/Mkt Size</a:t>
                      </a:r>
                      <a:endParaRPr sz="800">
                        <a:solidFill>
                          <a:srgbClr val="00274C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274C"/>
                          </a:solidFill>
                        </a:rPr>
                        <a:t>Interviewee Led</a:t>
                      </a:r>
                      <a:endParaRPr sz="800">
                        <a:solidFill>
                          <a:srgbClr val="00274C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274C"/>
                          </a:solidFill>
                        </a:rPr>
                        <a:t>2</a:t>
                      </a:r>
                      <a:endParaRPr sz="800">
                        <a:solidFill>
                          <a:srgbClr val="00274C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274C"/>
                          </a:solidFill>
                        </a:rPr>
                        <a:t>2</a:t>
                      </a:r>
                      <a:endParaRPr sz="800">
                        <a:solidFill>
                          <a:srgbClr val="00274C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274C"/>
                          </a:solidFill>
                        </a:rPr>
                        <a:t>2</a:t>
                      </a:r>
                      <a:endParaRPr sz="800">
                        <a:solidFill>
                          <a:srgbClr val="00274C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9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 u="sng">
                          <a:solidFill>
                            <a:srgbClr val="00274C"/>
                          </a:solidFill>
                          <a:hlinkClick r:id="rId11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Wildcat WIngs</a:t>
                      </a:r>
                      <a:endParaRPr b="1" sz="800">
                        <a:solidFill>
                          <a:srgbClr val="00274C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rgbClr val="00274C"/>
                          </a:solidFill>
                          <a:hlinkClick r:id="rId12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Kellogg 2020</a:t>
                      </a:r>
                      <a:endParaRPr sz="800">
                        <a:solidFill>
                          <a:srgbClr val="00274C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274C"/>
                          </a:solidFill>
                        </a:rPr>
                        <a:t>Transportation/Logistics</a:t>
                      </a:r>
                      <a:endParaRPr sz="800">
                        <a:solidFill>
                          <a:srgbClr val="00274C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274C"/>
                          </a:solidFill>
                        </a:rPr>
                        <a:t>Operations</a:t>
                      </a:r>
                      <a:endParaRPr sz="800">
                        <a:solidFill>
                          <a:srgbClr val="00274C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274C"/>
                          </a:solidFill>
                        </a:rPr>
                        <a:t>Interviewee Led</a:t>
                      </a:r>
                      <a:endParaRPr sz="800">
                        <a:solidFill>
                          <a:srgbClr val="00274C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274C"/>
                          </a:solidFill>
                        </a:rPr>
                        <a:t>2</a:t>
                      </a:r>
                      <a:endParaRPr sz="800">
                        <a:solidFill>
                          <a:srgbClr val="00274C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274C"/>
                          </a:solidFill>
                        </a:rPr>
                        <a:t>3</a:t>
                      </a:r>
                      <a:endParaRPr sz="800">
                        <a:solidFill>
                          <a:srgbClr val="00274C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274C"/>
                          </a:solidFill>
                        </a:rPr>
                        <a:t>2</a:t>
                      </a:r>
                      <a:endParaRPr sz="800">
                        <a:solidFill>
                          <a:srgbClr val="00274C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9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 u="sng">
                          <a:solidFill>
                            <a:srgbClr val="00274C"/>
                          </a:solidFill>
                          <a:hlinkClick r:id="rId13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Busch’s Barbershop</a:t>
                      </a:r>
                      <a:endParaRPr b="1" sz="800">
                        <a:solidFill>
                          <a:srgbClr val="00274C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rgbClr val="00274C"/>
                          </a:solidFill>
                          <a:hlinkClick r:id="rId14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Kellogg 2020</a:t>
                      </a:r>
                      <a:endParaRPr sz="800">
                        <a:solidFill>
                          <a:srgbClr val="00274C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274C"/>
                          </a:solidFill>
                        </a:rPr>
                        <a:t>Hospitality</a:t>
                      </a:r>
                      <a:endParaRPr sz="800">
                        <a:solidFill>
                          <a:srgbClr val="00274C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274C"/>
                          </a:solidFill>
                        </a:rPr>
                        <a:t>Market Entry</a:t>
                      </a:r>
                      <a:endParaRPr sz="800">
                        <a:solidFill>
                          <a:srgbClr val="00274C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274C"/>
                          </a:solidFill>
                        </a:rPr>
                        <a:t>Interviewer Led</a:t>
                      </a:r>
                      <a:endParaRPr sz="800">
                        <a:solidFill>
                          <a:srgbClr val="00274C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274C"/>
                          </a:solidFill>
                        </a:rPr>
                        <a:t>2</a:t>
                      </a:r>
                      <a:endParaRPr sz="800">
                        <a:solidFill>
                          <a:srgbClr val="00274C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274C"/>
                          </a:solidFill>
                        </a:rPr>
                        <a:t>1</a:t>
                      </a:r>
                      <a:endParaRPr sz="800">
                        <a:solidFill>
                          <a:srgbClr val="00274C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274C"/>
                          </a:solidFill>
                        </a:rPr>
                        <a:t>1</a:t>
                      </a:r>
                      <a:endParaRPr sz="800">
                        <a:solidFill>
                          <a:srgbClr val="00274C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9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 u="sng">
                          <a:solidFill>
                            <a:srgbClr val="00274C"/>
                          </a:solidFill>
                          <a:hlinkClick r:id="rId15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Museum of Fine Arts</a:t>
                      </a:r>
                      <a:endParaRPr b="1" sz="800">
                        <a:solidFill>
                          <a:srgbClr val="00274C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rgbClr val="00274C"/>
                          </a:solidFill>
                          <a:hlinkClick r:id="rId16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Tuck 2018</a:t>
                      </a:r>
                      <a:endParaRPr sz="800">
                        <a:solidFill>
                          <a:srgbClr val="00274C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274C"/>
                          </a:solidFill>
                        </a:rPr>
                        <a:t>Entertainment/Non-Profit</a:t>
                      </a:r>
                      <a:endParaRPr sz="800">
                        <a:solidFill>
                          <a:srgbClr val="00274C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274C"/>
                          </a:solidFill>
                        </a:rPr>
                        <a:t>Revenue</a:t>
                      </a:r>
                      <a:endParaRPr sz="800">
                        <a:solidFill>
                          <a:srgbClr val="00274C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274C"/>
                          </a:solidFill>
                        </a:rPr>
                        <a:t>Interviewer Led</a:t>
                      </a:r>
                      <a:endParaRPr sz="800">
                        <a:solidFill>
                          <a:srgbClr val="00274C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274C"/>
                          </a:solidFill>
                        </a:rPr>
                        <a:t>3</a:t>
                      </a:r>
                      <a:endParaRPr sz="800">
                        <a:solidFill>
                          <a:srgbClr val="00274C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274C"/>
                          </a:solidFill>
                        </a:rPr>
                        <a:t>1</a:t>
                      </a:r>
                      <a:endParaRPr sz="800">
                        <a:solidFill>
                          <a:srgbClr val="00274C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274C"/>
                          </a:solidFill>
                        </a:rPr>
                        <a:t>2</a:t>
                      </a:r>
                      <a:endParaRPr sz="800">
                        <a:solidFill>
                          <a:srgbClr val="00274C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9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 u="sng">
                          <a:solidFill>
                            <a:srgbClr val="00274C"/>
                          </a:solidFill>
                          <a:hlinkClick r:id="rId17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ABC Conglomerate</a:t>
                      </a:r>
                      <a:endParaRPr b="1" sz="800">
                        <a:solidFill>
                          <a:srgbClr val="00274C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rgbClr val="00274C"/>
                          </a:solidFill>
                          <a:hlinkClick r:id="rId18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Wharton 2005</a:t>
                      </a:r>
                      <a:endParaRPr sz="800">
                        <a:solidFill>
                          <a:srgbClr val="00274C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274C"/>
                          </a:solidFill>
                        </a:rPr>
                        <a:t>NA</a:t>
                      </a:r>
                      <a:endParaRPr sz="800">
                        <a:solidFill>
                          <a:srgbClr val="00274C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274C"/>
                          </a:solidFill>
                        </a:rPr>
                        <a:t>Profitability</a:t>
                      </a:r>
                      <a:endParaRPr sz="800">
                        <a:solidFill>
                          <a:srgbClr val="00274C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274C"/>
                          </a:solidFill>
                        </a:rPr>
                        <a:t>Interviewee Led</a:t>
                      </a:r>
                      <a:endParaRPr sz="800">
                        <a:solidFill>
                          <a:srgbClr val="00274C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274C"/>
                          </a:solidFill>
                        </a:rPr>
                        <a:t>1</a:t>
                      </a:r>
                      <a:endParaRPr sz="800">
                        <a:solidFill>
                          <a:srgbClr val="00274C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274C"/>
                          </a:solidFill>
                        </a:rPr>
                        <a:t>3</a:t>
                      </a:r>
                      <a:endParaRPr sz="800">
                        <a:solidFill>
                          <a:srgbClr val="00274C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274C"/>
                          </a:solidFill>
                        </a:rPr>
                        <a:t>2</a:t>
                      </a:r>
                      <a:endParaRPr sz="800">
                        <a:solidFill>
                          <a:srgbClr val="00274C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9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 u="sng">
                          <a:solidFill>
                            <a:srgbClr val="00274C"/>
                          </a:solidFill>
                          <a:hlinkClick r:id="rId19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De Beers Retail Venture</a:t>
                      </a:r>
                      <a:endParaRPr b="1" sz="800">
                        <a:solidFill>
                          <a:srgbClr val="00274C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rgbClr val="00274C"/>
                          </a:solidFill>
                          <a:hlinkClick r:id="rId20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Wharton 2008</a:t>
                      </a:r>
                      <a:endParaRPr sz="800">
                        <a:solidFill>
                          <a:srgbClr val="00274C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274C"/>
                          </a:solidFill>
                        </a:rPr>
                        <a:t>Mining/Manufacturing</a:t>
                      </a:r>
                      <a:endParaRPr sz="800">
                        <a:solidFill>
                          <a:srgbClr val="00274C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274C"/>
                          </a:solidFill>
                        </a:rPr>
                        <a:t>Market Entry</a:t>
                      </a:r>
                      <a:endParaRPr sz="800">
                        <a:solidFill>
                          <a:srgbClr val="00274C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274C"/>
                          </a:solidFill>
                        </a:rPr>
                        <a:t>Interviewer Led</a:t>
                      </a:r>
                      <a:endParaRPr sz="800">
                        <a:solidFill>
                          <a:srgbClr val="00274C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274C"/>
                          </a:solidFill>
                        </a:rPr>
                        <a:t>2</a:t>
                      </a:r>
                      <a:endParaRPr sz="800">
                        <a:solidFill>
                          <a:srgbClr val="00274C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274C"/>
                          </a:solidFill>
                        </a:rPr>
                        <a:t>2</a:t>
                      </a:r>
                      <a:endParaRPr sz="800">
                        <a:solidFill>
                          <a:srgbClr val="00274C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274C"/>
                          </a:solidFill>
                        </a:rPr>
                        <a:t>2</a:t>
                      </a:r>
                      <a:endParaRPr sz="800">
                        <a:solidFill>
                          <a:srgbClr val="00274C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9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 u="sng">
                          <a:solidFill>
                            <a:srgbClr val="00274C"/>
                          </a:solidFill>
                          <a:hlinkClick r:id="rId21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Whiskey Brand Turnaround</a:t>
                      </a:r>
                      <a:endParaRPr b="1" sz="800">
                        <a:solidFill>
                          <a:srgbClr val="00274C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rgbClr val="00274C"/>
                          </a:solidFill>
                          <a:hlinkClick r:id="rId22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Wharton 2010</a:t>
                      </a:r>
                      <a:endParaRPr sz="800">
                        <a:solidFill>
                          <a:srgbClr val="00274C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274C"/>
                          </a:solidFill>
                        </a:rPr>
                        <a:t>CPG/Retail</a:t>
                      </a:r>
                      <a:endParaRPr sz="800">
                        <a:solidFill>
                          <a:srgbClr val="00274C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274C"/>
                          </a:solidFill>
                        </a:rPr>
                        <a:t>Brand Decline</a:t>
                      </a:r>
                      <a:endParaRPr sz="800">
                        <a:solidFill>
                          <a:srgbClr val="00274C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274C"/>
                          </a:solidFill>
                        </a:rPr>
                        <a:t>Interviewer</a:t>
                      </a:r>
                      <a:r>
                        <a:rPr lang="en" sz="800">
                          <a:solidFill>
                            <a:srgbClr val="00274C"/>
                          </a:solidFill>
                        </a:rPr>
                        <a:t> Led</a:t>
                      </a:r>
                      <a:endParaRPr sz="800">
                        <a:solidFill>
                          <a:srgbClr val="00274C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274C"/>
                          </a:solidFill>
                        </a:rPr>
                        <a:t>2</a:t>
                      </a:r>
                      <a:endParaRPr sz="800">
                        <a:solidFill>
                          <a:srgbClr val="00274C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274C"/>
                          </a:solidFill>
                        </a:rPr>
                        <a:t>2</a:t>
                      </a:r>
                      <a:endParaRPr sz="800">
                        <a:solidFill>
                          <a:srgbClr val="00274C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274C"/>
                          </a:solidFill>
                        </a:rPr>
                        <a:t>2</a:t>
                      </a:r>
                      <a:endParaRPr sz="800">
                        <a:solidFill>
                          <a:srgbClr val="00274C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9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 u="sng">
                          <a:solidFill>
                            <a:srgbClr val="00274C"/>
                          </a:solidFill>
                          <a:hlinkClick r:id="rId23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Phighting Phillies</a:t>
                      </a:r>
                      <a:endParaRPr b="1" sz="800">
                        <a:solidFill>
                          <a:srgbClr val="00274C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rgbClr val="00274C"/>
                          </a:solidFill>
                          <a:hlinkClick r:id="rId24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Wharton 2017</a:t>
                      </a:r>
                      <a:endParaRPr sz="800">
                        <a:solidFill>
                          <a:srgbClr val="00274C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274C"/>
                          </a:solidFill>
                        </a:rPr>
                        <a:t>PE</a:t>
                      </a:r>
                      <a:endParaRPr sz="800">
                        <a:solidFill>
                          <a:srgbClr val="00274C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274C"/>
                          </a:solidFill>
                        </a:rPr>
                        <a:t>M&amp;A Due Diligence</a:t>
                      </a:r>
                      <a:endParaRPr sz="800">
                        <a:solidFill>
                          <a:srgbClr val="00274C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274C"/>
                          </a:solidFill>
                        </a:rPr>
                        <a:t>Interviewee Led</a:t>
                      </a:r>
                      <a:endParaRPr sz="800">
                        <a:solidFill>
                          <a:srgbClr val="00274C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274C"/>
                          </a:solidFill>
                        </a:rPr>
                        <a:t>3</a:t>
                      </a:r>
                      <a:endParaRPr sz="800">
                        <a:solidFill>
                          <a:srgbClr val="00274C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274C"/>
                          </a:solidFill>
                        </a:rPr>
                        <a:t>2</a:t>
                      </a:r>
                      <a:endParaRPr sz="800">
                        <a:solidFill>
                          <a:srgbClr val="00274C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274C"/>
                          </a:solidFill>
                        </a:rPr>
                        <a:t>3</a:t>
                      </a:r>
                      <a:endParaRPr sz="800">
                        <a:solidFill>
                          <a:srgbClr val="00274C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9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 u="sng">
                          <a:solidFill>
                            <a:srgbClr val="00274C"/>
                          </a:solidFill>
                          <a:hlinkClick r:id="rId25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C</a:t>
                      </a:r>
                      <a:r>
                        <a:rPr b="1" lang="en" sz="800" u="sng">
                          <a:solidFill>
                            <a:srgbClr val="00274C"/>
                          </a:solidFill>
                          <a:hlinkClick r:id="rId26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oming to America - Bolly Flix</a:t>
                      </a:r>
                      <a:endParaRPr b="1" sz="800">
                        <a:solidFill>
                          <a:srgbClr val="00274C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rgbClr val="00274C"/>
                          </a:solidFill>
                          <a:hlinkClick r:id="rId27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Ross 2011</a:t>
                      </a:r>
                      <a:endParaRPr b="1" sz="800">
                        <a:solidFill>
                          <a:srgbClr val="00274C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274C"/>
                          </a:solidFill>
                        </a:rPr>
                        <a:t>Media</a:t>
                      </a:r>
                      <a:endParaRPr sz="800">
                        <a:solidFill>
                          <a:srgbClr val="00274C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274C"/>
                          </a:solidFill>
                        </a:rPr>
                        <a:t>Market Entry/Mkt Size</a:t>
                      </a:r>
                      <a:endParaRPr sz="800">
                        <a:solidFill>
                          <a:srgbClr val="00274C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274C"/>
                          </a:solidFill>
                        </a:rPr>
                        <a:t>Interviewee Led</a:t>
                      </a:r>
                      <a:endParaRPr sz="800">
                        <a:solidFill>
                          <a:srgbClr val="00274C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274C"/>
                          </a:solidFill>
                        </a:rPr>
                        <a:t>3</a:t>
                      </a:r>
                      <a:endParaRPr sz="800">
                        <a:solidFill>
                          <a:srgbClr val="00274C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274C"/>
                          </a:solidFill>
                        </a:rPr>
                        <a:t>2</a:t>
                      </a:r>
                      <a:endParaRPr sz="800">
                        <a:solidFill>
                          <a:srgbClr val="00274C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274C"/>
                          </a:solidFill>
                        </a:rPr>
                        <a:t>3</a:t>
                      </a:r>
                      <a:endParaRPr sz="800">
                        <a:solidFill>
                          <a:srgbClr val="00274C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9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 u="sng">
                          <a:solidFill>
                            <a:srgbClr val="00274C"/>
                          </a:solidFill>
                          <a:hlinkClick r:id="rId28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Credit Card Processor</a:t>
                      </a:r>
                      <a:endParaRPr b="1" sz="800">
                        <a:solidFill>
                          <a:srgbClr val="00274C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rgbClr val="00274C"/>
                          </a:solidFill>
                          <a:hlinkClick r:id="rId29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Ross 2012</a:t>
                      </a:r>
                      <a:endParaRPr b="1" sz="800">
                        <a:solidFill>
                          <a:srgbClr val="00274C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274C"/>
                          </a:solidFill>
                        </a:rPr>
                        <a:t>Financial Services</a:t>
                      </a:r>
                      <a:endParaRPr sz="800">
                        <a:solidFill>
                          <a:srgbClr val="00274C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274C"/>
                          </a:solidFill>
                        </a:rPr>
                        <a:t>Profitability/Graph Heavy</a:t>
                      </a:r>
                      <a:endParaRPr sz="800">
                        <a:solidFill>
                          <a:srgbClr val="00274C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274C"/>
                          </a:solidFill>
                        </a:rPr>
                        <a:t>Interviewer Led</a:t>
                      </a:r>
                      <a:endParaRPr sz="800">
                        <a:solidFill>
                          <a:srgbClr val="00274C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274C"/>
                          </a:solidFill>
                        </a:rPr>
                        <a:t>2</a:t>
                      </a:r>
                      <a:endParaRPr sz="800">
                        <a:solidFill>
                          <a:srgbClr val="00274C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274C"/>
                          </a:solidFill>
                        </a:rPr>
                        <a:t>2</a:t>
                      </a:r>
                      <a:endParaRPr sz="800">
                        <a:solidFill>
                          <a:srgbClr val="00274C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274C"/>
                          </a:solidFill>
                        </a:rPr>
                        <a:t>2</a:t>
                      </a:r>
                      <a:endParaRPr sz="800">
                        <a:solidFill>
                          <a:srgbClr val="00274C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9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 u="sng">
                          <a:solidFill>
                            <a:srgbClr val="00274C"/>
                          </a:solidFill>
                          <a:hlinkClick r:id="rId30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Sheep Auction</a:t>
                      </a:r>
                      <a:endParaRPr b="1" sz="800">
                        <a:solidFill>
                          <a:srgbClr val="00274C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rgbClr val="00274C"/>
                          </a:solidFill>
                          <a:hlinkClick r:id="rId31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Ross 2015</a:t>
                      </a:r>
                      <a:endParaRPr sz="800">
                        <a:solidFill>
                          <a:srgbClr val="00274C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274C"/>
                          </a:solidFill>
                        </a:rPr>
                        <a:t>Software</a:t>
                      </a:r>
                      <a:endParaRPr sz="800">
                        <a:solidFill>
                          <a:srgbClr val="00274C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274C"/>
                          </a:solidFill>
                        </a:rPr>
                        <a:t>Investment/Mkt Size</a:t>
                      </a:r>
                      <a:endParaRPr sz="800">
                        <a:solidFill>
                          <a:srgbClr val="00274C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274C"/>
                          </a:solidFill>
                        </a:rPr>
                        <a:t>Interviewer Led</a:t>
                      </a:r>
                      <a:endParaRPr sz="800">
                        <a:solidFill>
                          <a:srgbClr val="00274C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274C"/>
                          </a:solidFill>
                        </a:rPr>
                        <a:t>2</a:t>
                      </a:r>
                      <a:endParaRPr sz="800">
                        <a:solidFill>
                          <a:srgbClr val="00274C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274C"/>
                          </a:solidFill>
                        </a:rPr>
                        <a:t>1</a:t>
                      </a:r>
                      <a:endParaRPr sz="800">
                        <a:solidFill>
                          <a:srgbClr val="00274C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274C"/>
                          </a:solidFill>
                        </a:rPr>
                        <a:t>1</a:t>
                      </a:r>
                      <a:endParaRPr sz="800">
                        <a:solidFill>
                          <a:srgbClr val="00274C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274C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/>
          <p:nvPr/>
        </p:nvSpPr>
        <p:spPr>
          <a:xfrm>
            <a:off x="73600" y="78200"/>
            <a:ext cx="9003300" cy="4987200"/>
          </a:xfrm>
          <a:prstGeom prst="rect">
            <a:avLst/>
          </a:prstGeom>
          <a:solidFill>
            <a:srgbClr val="FFCB0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16"/>
          <p:cNvSpPr/>
          <p:nvPr/>
        </p:nvSpPr>
        <p:spPr>
          <a:xfrm>
            <a:off x="155400" y="172500"/>
            <a:ext cx="8833200" cy="4798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78" name="Google Shape;78;p16"/>
          <p:cNvGraphicFramePr/>
          <p:nvPr/>
        </p:nvGraphicFramePr>
        <p:xfrm>
          <a:off x="255300" y="20385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{D809B1B7-BA62-46CC-86CE-A83B1E0C9AFD}</a:tableStyleId>
              </a:tblPr>
              <a:tblGrid>
                <a:gridCol w="1836450"/>
                <a:gridCol w="992025"/>
                <a:gridCol w="1421275"/>
                <a:gridCol w="1387100"/>
                <a:gridCol w="1431300"/>
                <a:gridCol w="504450"/>
                <a:gridCol w="541325"/>
                <a:gridCol w="541325"/>
              </a:tblGrid>
              <a:tr h="463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lt1"/>
                          </a:solidFill>
                        </a:rPr>
                        <a:t>Case Title</a:t>
                      </a:r>
                      <a:endParaRPr b="1" sz="9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274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lt1"/>
                          </a:solidFill>
                        </a:rPr>
                        <a:t>Case Book</a:t>
                      </a:r>
                      <a:endParaRPr b="1" sz="9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274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lt1"/>
                          </a:solidFill>
                        </a:rPr>
                        <a:t>Industry</a:t>
                      </a:r>
                      <a:endParaRPr b="1" sz="9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274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lt1"/>
                          </a:solidFill>
                        </a:rPr>
                        <a:t>Type</a:t>
                      </a:r>
                      <a:endParaRPr b="1" sz="9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274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lt1"/>
                          </a:solidFill>
                        </a:rPr>
                        <a:t>Style</a:t>
                      </a:r>
                      <a:endParaRPr b="1" sz="9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274C"/>
                    </a:solidFill>
                  </a:tcPr>
                </a:tc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lt1"/>
                          </a:solidFill>
                        </a:rPr>
                        <a:t>Difficulty (1-3)</a:t>
                      </a:r>
                      <a:endParaRPr b="1" sz="900">
                        <a:solidFill>
                          <a:schemeClr val="lt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lt1"/>
                          </a:solidFill>
                        </a:rPr>
                        <a:t>Quant/Qual/Overall</a:t>
                      </a:r>
                      <a:endParaRPr b="1" sz="9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274C"/>
                    </a:solidFill>
                  </a:tcPr>
                </a:tc>
                <a:tc hMerge="1"/>
                <a:tc hMerge="1"/>
              </a:tr>
              <a:tr h="309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 u="sng">
                          <a:solidFill>
                            <a:srgbClr val="00274C"/>
                          </a:solidFill>
                          <a:hlinkClick r:id="rId3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Burger Chain Private Equity</a:t>
                      </a:r>
                      <a:endParaRPr b="1" sz="800">
                        <a:solidFill>
                          <a:srgbClr val="00274C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rgbClr val="00274C"/>
                          </a:solidFill>
                          <a:hlinkClick r:id="rId4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Ross 2015</a:t>
                      </a:r>
                      <a:endParaRPr b="1" sz="800">
                        <a:solidFill>
                          <a:srgbClr val="00274C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274C"/>
                          </a:solidFill>
                        </a:rPr>
                        <a:t>PE, </a:t>
                      </a:r>
                      <a:r>
                        <a:rPr lang="en" sz="800">
                          <a:solidFill>
                            <a:srgbClr val="00274C"/>
                          </a:solidFill>
                        </a:rPr>
                        <a:t>Hospitality</a:t>
                      </a:r>
                      <a:endParaRPr sz="800">
                        <a:solidFill>
                          <a:srgbClr val="00274C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274C"/>
                          </a:solidFill>
                        </a:rPr>
                        <a:t>M&amp;A</a:t>
                      </a:r>
                      <a:endParaRPr sz="800">
                        <a:solidFill>
                          <a:srgbClr val="00274C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800">
                          <a:solidFill>
                            <a:srgbClr val="00274C"/>
                          </a:solidFill>
                        </a:rPr>
                        <a:t>Interviewee Led</a:t>
                      </a:r>
                      <a:endParaRPr sz="800">
                        <a:solidFill>
                          <a:srgbClr val="00274C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274C"/>
                          </a:solidFill>
                        </a:rPr>
                        <a:t>2</a:t>
                      </a:r>
                      <a:endParaRPr sz="800">
                        <a:solidFill>
                          <a:srgbClr val="00274C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274C"/>
                          </a:solidFill>
                        </a:rPr>
                        <a:t>2</a:t>
                      </a:r>
                      <a:endParaRPr sz="800">
                        <a:solidFill>
                          <a:srgbClr val="00274C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274C"/>
                          </a:solidFill>
                        </a:rPr>
                        <a:t>2</a:t>
                      </a:r>
                      <a:endParaRPr sz="800">
                        <a:solidFill>
                          <a:srgbClr val="00274C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9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 u="sng">
                          <a:solidFill>
                            <a:srgbClr val="00274C"/>
                          </a:solidFill>
                          <a:hlinkClick r:id="rId5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Fertilizer Innovation</a:t>
                      </a:r>
                      <a:endParaRPr b="1" sz="800">
                        <a:solidFill>
                          <a:srgbClr val="00274C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rgbClr val="00274C"/>
                          </a:solidFill>
                          <a:hlinkClick r:id="rId6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Ross 2015</a:t>
                      </a:r>
                      <a:endParaRPr b="1" sz="800">
                        <a:solidFill>
                          <a:srgbClr val="00274C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274C"/>
                          </a:solidFill>
                        </a:rPr>
                        <a:t>Industrial Goods</a:t>
                      </a:r>
                      <a:endParaRPr sz="800">
                        <a:solidFill>
                          <a:srgbClr val="00274C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274C"/>
                          </a:solidFill>
                        </a:rPr>
                        <a:t>Pricing</a:t>
                      </a:r>
                      <a:endParaRPr sz="800">
                        <a:solidFill>
                          <a:srgbClr val="00274C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274C"/>
                          </a:solidFill>
                        </a:rPr>
                        <a:t>Interviewee Led</a:t>
                      </a:r>
                      <a:endParaRPr sz="800">
                        <a:solidFill>
                          <a:srgbClr val="00274C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274C"/>
                          </a:solidFill>
                        </a:rPr>
                        <a:t>2</a:t>
                      </a:r>
                      <a:endParaRPr sz="800">
                        <a:solidFill>
                          <a:srgbClr val="00274C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274C"/>
                          </a:solidFill>
                        </a:rPr>
                        <a:t>2</a:t>
                      </a:r>
                      <a:endParaRPr sz="800">
                        <a:solidFill>
                          <a:srgbClr val="00274C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274C"/>
                          </a:solidFill>
                        </a:rPr>
                        <a:t>2</a:t>
                      </a:r>
                      <a:endParaRPr sz="800">
                        <a:solidFill>
                          <a:srgbClr val="00274C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9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 u="sng">
                          <a:solidFill>
                            <a:srgbClr val="00274C"/>
                          </a:solidFill>
                          <a:hlinkClick r:id="rId7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German Luxury Car Maker</a:t>
                      </a:r>
                      <a:endParaRPr b="1" sz="800">
                        <a:solidFill>
                          <a:srgbClr val="00274C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rgbClr val="00274C"/>
                          </a:solidFill>
                          <a:hlinkClick r:id="rId8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Ross 2015</a:t>
                      </a:r>
                      <a:endParaRPr b="1" sz="800">
                        <a:solidFill>
                          <a:srgbClr val="00274C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274C"/>
                          </a:solidFill>
                        </a:rPr>
                        <a:t>Auto/Mobility</a:t>
                      </a:r>
                      <a:endParaRPr sz="800">
                        <a:solidFill>
                          <a:srgbClr val="00274C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274C"/>
                          </a:solidFill>
                        </a:rPr>
                        <a:t>Market Entry</a:t>
                      </a:r>
                      <a:endParaRPr sz="800">
                        <a:solidFill>
                          <a:srgbClr val="00274C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274C"/>
                          </a:solidFill>
                        </a:rPr>
                        <a:t>Interviewee Led</a:t>
                      </a:r>
                      <a:endParaRPr sz="800">
                        <a:solidFill>
                          <a:srgbClr val="00274C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274C"/>
                          </a:solidFill>
                        </a:rPr>
                        <a:t>2</a:t>
                      </a:r>
                      <a:endParaRPr sz="800">
                        <a:solidFill>
                          <a:srgbClr val="00274C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274C"/>
                          </a:solidFill>
                        </a:rPr>
                        <a:t>2</a:t>
                      </a:r>
                      <a:endParaRPr sz="800">
                        <a:solidFill>
                          <a:srgbClr val="00274C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274C"/>
                          </a:solidFill>
                        </a:rPr>
                        <a:t>2</a:t>
                      </a:r>
                      <a:endParaRPr sz="800">
                        <a:solidFill>
                          <a:srgbClr val="00274C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9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 u="sng">
                          <a:solidFill>
                            <a:srgbClr val="00274C"/>
                          </a:solidFill>
                          <a:hlinkClick r:id="rId9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Chef’s Best</a:t>
                      </a:r>
                      <a:endParaRPr b="1" sz="800">
                        <a:solidFill>
                          <a:srgbClr val="00274C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rgbClr val="00274C"/>
                          </a:solidFill>
                          <a:hlinkClick r:id="rId10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Ross 2015</a:t>
                      </a:r>
                      <a:endParaRPr b="1" sz="800">
                        <a:solidFill>
                          <a:srgbClr val="00274C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274C"/>
                          </a:solidFill>
                        </a:rPr>
                        <a:t>CPG</a:t>
                      </a:r>
                      <a:endParaRPr sz="800">
                        <a:solidFill>
                          <a:srgbClr val="00274C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274C"/>
                          </a:solidFill>
                        </a:rPr>
                        <a:t>Market Growth</a:t>
                      </a:r>
                      <a:endParaRPr sz="800">
                        <a:solidFill>
                          <a:srgbClr val="00274C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274C"/>
                          </a:solidFill>
                        </a:rPr>
                        <a:t>Interviewer Led</a:t>
                      </a:r>
                      <a:endParaRPr sz="800">
                        <a:solidFill>
                          <a:srgbClr val="00274C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274C"/>
                          </a:solidFill>
                        </a:rPr>
                        <a:t>1</a:t>
                      </a:r>
                      <a:endParaRPr sz="800">
                        <a:solidFill>
                          <a:srgbClr val="00274C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274C"/>
                          </a:solidFill>
                        </a:rPr>
                        <a:t>2</a:t>
                      </a:r>
                      <a:endParaRPr sz="800">
                        <a:solidFill>
                          <a:srgbClr val="00274C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274C"/>
                          </a:solidFill>
                        </a:rPr>
                        <a:t>2</a:t>
                      </a:r>
                      <a:endParaRPr sz="800">
                        <a:solidFill>
                          <a:srgbClr val="00274C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9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 u="sng">
                          <a:solidFill>
                            <a:srgbClr val="00274C"/>
                          </a:solidFill>
                          <a:hlinkClick r:id="rId11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Marie’s Cafe</a:t>
                      </a:r>
                      <a:endParaRPr b="1" sz="800">
                        <a:solidFill>
                          <a:srgbClr val="00274C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rgbClr val="00274C"/>
                          </a:solidFill>
                          <a:hlinkClick r:id="rId12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Ross 2015</a:t>
                      </a:r>
                      <a:endParaRPr b="1" sz="800">
                        <a:solidFill>
                          <a:srgbClr val="00274C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274C"/>
                          </a:solidFill>
                        </a:rPr>
                        <a:t>Food &amp; Bev</a:t>
                      </a:r>
                      <a:endParaRPr sz="800">
                        <a:solidFill>
                          <a:srgbClr val="00274C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274C"/>
                          </a:solidFill>
                        </a:rPr>
                        <a:t>Profitability</a:t>
                      </a:r>
                      <a:endParaRPr sz="800">
                        <a:solidFill>
                          <a:srgbClr val="00274C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274C"/>
                          </a:solidFill>
                        </a:rPr>
                        <a:t>Interviewer Led</a:t>
                      </a:r>
                      <a:endParaRPr sz="800">
                        <a:solidFill>
                          <a:srgbClr val="00274C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274C"/>
                          </a:solidFill>
                        </a:rPr>
                        <a:t>2</a:t>
                      </a:r>
                      <a:endParaRPr sz="800">
                        <a:solidFill>
                          <a:srgbClr val="00274C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274C"/>
                          </a:solidFill>
                        </a:rPr>
                        <a:t>3</a:t>
                      </a:r>
                      <a:endParaRPr sz="800">
                        <a:solidFill>
                          <a:srgbClr val="00274C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274C"/>
                          </a:solidFill>
                        </a:rPr>
                        <a:t>3</a:t>
                      </a:r>
                      <a:endParaRPr sz="800">
                        <a:solidFill>
                          <a:srgbClr val="00274C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9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 u="sng">
                          <a:solidFill>
                            <a:srgbClr val="00274C"/>
                          </a:solidFill>
                          <a:hlinkClick r:id="rId13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Midwest Hospital</a:t>
                      </a:r>
                      <a:endParaRPr b="1" sz="800">
                        <a:solidFill>
                          <a:srgbClr val="00274C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rgbClr val="00274C"/>
                          </a:solidFill>
                          <a:hlinkClick r:id="rId14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Ross 2016</a:t>
                      </a:r>
                      <a:endParaRPr sz="800">
                        <a:solidFill>
                          <a:srgbClr val="00274C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274C"/>
                          </a:solidFill>
                        </a:rPr>
                        <a:t>Healthcare</a:t>
                      </a:r>
                      <a:endParaRPr sz="800">
                        <a:solidFill>
                          <a:srgbClr val="00274C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274C"/>
                          </a:solidFill>
                        </a:rPr>
                        <a:t>Profitability</a:t>
                      </a:r>
                      <a:endParaRPr sz="800">
                        <a:solidFill>
                          <a:srgbClr val="00274C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274C"/>
                          </a:solidFill>
                        </a:rPr>
                        <a:t>Interviewer Led</a:t>
                      </a:r>
                      <a:endParaRPr sz="800">
                        <a:solidFill>
                          <a:srgbClr val="00274C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274C"/>
                          </a:solidFill>
                        </a:rPr>
                        <a:t>2</a:t>
                      </a:r>
                      <a:endParaRPr sz="800">
                        <a:solidFill>
                          <a:srgbClr val="00274C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274C"/>
                          </a:solidFill>
                        </a:rPr>
                        <a:t>3</a:t>
                      </a:r>
                      <a:endParaRPr sz="800">
                        <a:solidFill>
                          <a:srgbClr val="00274C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274C"/>
                          </a:solidFill>
                        </a:rPr>
                        <a:t>3</a:t>
                      </a:r>
                      <a:endParaRPr sz="800">
                        <a:solidFill>
                          <a:srgbClr val="00274C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9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 u="sng">
                          <a:solidFill>
                            <a:srgbClr val="00274C"/>
                          </a:solidFill>
                          <a:hlinkClick r:id="rId15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Setflix or Chill</a:t>
                      </a:r>
                      <a:endParaRPr b="1" sz="800">
                        <a:solidFill>
                          <a:srgbClr val="00274C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rgbClr val="00274C"/>
                          </a:solidFill>
                          <a:hlinkClick r:id="rId16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Ross 2018</a:t>
                      </a:r>
                      <a:endParaRPr sz="800">
                        <a:solidFill>
                          <a:srgbClr val="00274C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274C"/>
                          </a:solidFill>
                        </a:rPr>
                        <a:t>Entertainment/Media</a:t>
                      </a:r>
                      <a:endParaRPr sz="800">
                        <a:solidFill>
                          <a:srgbClr val="00274C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274C"/>
                          </a:solidFill>
                        </a:rPr>
                        <a:t>Market Entry</a:t>
                      </a:r>
                      <a:endParaRPr sz="800">
                        <a:solidFill>
                          <a:srgbClr val="00274C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274C"/>
                          </a:solidFill>
                        </a:rPr>
                        <a:t>Interviewer Led</a:t>
                      </a:r>
                      <a:endParaRPr sz="800">
                        <a:solidFill>
                          <a:srgbClr val="00274C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274C"/>
                          </a:solidFill>
                        </a:rPr>
                        <a:t>2</a:t>
                      </a:r>
                      <a:endParaRPr sz="800">
                        <a:solidFill>
                          <a:srgbClr val="00274C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274C"/>
                          </a:solidFill>
                        </a:rPr>
                        <a:t>1</a:t>
                      </a:r>
                      <a:endParaRPr sz="800">
                        <a:solidFill>
                          <a:srgbClr val="00274C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274C"/>
                          </a:solidFill>
                        </a:rPr>
                        <a:t>1</a:t>
                      </a:r>
                      <a:endParaRPr sz="800">
                        <a:solidFill>
                          <a:srgbClr val="00274C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9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 u="sng">
                          <a:solidFill>
                            <a:srgbClr val="00274C"/>
                          </a:solidFill>
                          <a:hlinkClick r:id="rId17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American Bank</a:t>
                      </a:r>
                      <a:endParaRPr b="1" sz="800">
                        <a:solidFill>
                          <a:srgbClr val="00274C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rgbClr val="00274C"/>
                          </a:solidFill>
                          <a:hlinkClick r:id="rId18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Ross 2019</a:t>
                      </a:r>
                      <a:endParaRPr sz="800">
                        <a:solidFill>
                          <a:srgbClr val="00274C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274C"/>
                          </a:solidFill>
                        </a:rPr>
                        <a:t>Financial Services</a:t>
                      </a:r>
                      <a:endParaRPr sz="800">
                        <a:solidFill>
                          <a:srgbClr val="00274C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274C"/>
                          </a:solidFill>
                        </a:rPr>
                        <a:t>Profitability</a:t>
                      </a:r>
                      <a:endParaRPr sz="800">
                        <a:solidFill>
                          <a:srgbClr val="00274C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274C"/>
                          </a:solidFill>
                        </a:rPr>
                        <a:t>Interviewee Led</a:t>
                      </a:r>
                      <a:endParaRPr sz="800">
                        <a:solidFill>
                          <a:srgbClr val="00274C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274C"/>
                          </a:solidFill>
                        </a:rPr>
                        <a:t>2</a:t>
                      </a:r>
                      <a:endParaRPr sz="800">
                        <a:solidFill>
                          <a:srgbClr val="00274C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274C"/>
                          </a:solidFill>
                        </a:rPr>
                        <a:t>2</a:t>
                      </a:r>
                      <a:endParaRPr sz="800">
                        <a:solidFill>
                          <a:srgbClr val="00274C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274C"/>
                          </a:solidFill>
                        </a:rPr>
                        <a:t>2</a:t>
                      </a:r>
                      <a:endParaRPr sz="800">
                        <a:solidFill>
                          <a:srgbClr val="00274C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9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 u="sng">
                          <a:solidFill>
                            <a:srgbClr val="00274C"/>
                          </a:solidFill>
                          <a:hlinkClick r:id="rId19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Bailey Brothers Bancorp</a:t>
                      </a:r>
                      <a:endParaRPr b="1" sz="800">
                        <a:solidFill>
                          <a:srgbClr val="00274C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rgbClr val="00274C"/>
                          </a:solidFill>
                          <a:hlinkClick r:id="rId20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Ross 2019</a:t>
                      </a:r>
                      <a:endParaRPr sz="800">
                        <a:solidFill>
                          <a:srgbClr val="00274C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274C"/>
                          </a:solidFill>
                        </a:rPr>
                        <a:t>Financial Services</a:t>
                      </a:r>
                      <a:endParaRPr sz="800">
                        <a:solidFill>
                          <a:srgbClr val="00274C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274C"/>
                          </a:solidFill>
                        </a:rPr>
                        <a:t>Profitability </a:t>
                      </a:r>
                      <a:r>
                        <a:rPr lang="en" sz="800">
                          <a:solidFill>
                            <a:srgbClr val="00274C"/>
                          </a:solidFill>
                        </a:rPr>
                        <a:t>Improvement</a:t>
                      </a:r>
                      <a:endParaRPr sz="800">
                        <a:solidFill>
                          <a:srgbClr val="00274C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274C"/>
                          </a:solidFill>
                        </a:rPr>
                        <a:t>Interviewee Led</a:t>
                      </a:r>
                      <a:endParaRPr sz="800">
                        <a:solidFill>
                          <a:srgbClr val="00274C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274C"/>
                          </a:solidFill>
                        </a:rPr>
                        <a:t>2</a:t>
                      </a:r>
                      <a:endParaRPr sz="800">
                        <a:solidFill>
                          <a:srgbClr val="00274C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274C"/>
                          </a:solidFill>
                        </a:rPr>
                        <a:t>2</a:t>
                      </a:r>
                      <a:endParaRPr sz="800">
                        <a:solidFill>
                          <a:srgbClr val="00274C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274C"/>
                          </a:solidFill>
                        </a:rPr>
                        <a:t>2</a:t>
                      </a:r>
                      <a:endParaRPr sz="800">
                        <a:solidFill>
                          <a:srgbClr val="00274C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9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 u="sng">
                          <a:solidFill>
                            <a:srgbClr val="00274C"/>
                          </a:solidFill>
                          <a:hlinkClick r:id="rId21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Ferris Wheel</a:t>
                      </a:r>
                      <a:endParaRPr b="1" sz="800">
                        <a:solidFill>
                          <a:srgbClr val="00274C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rgbClr val="00274C"/>
                          </a:solidFill>
                          <a:hlinkClick r:id="rId22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Ross 2019</a:t>
                      </a:r>
                      <a:endParaRPr sz="800">
                        <a:solidFill>
                          <a:srgbClr val="00274C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274C"/>
                          </a:solidFill>
                        </a:rPr>
                        <a:t>Entertainment</a:t>
                      </a:r>
                      <a:endParaRPr sz="800">
                        <a:solidFill>
                          <a:srgbClr val="00274C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274C"/>
                          </a:solidFill>
                        </a:rPr>
                        <a:t>New Investment</a:t>
                      </a:r>
                      <a:endParaRPr sz="800">
                        <a:solidFill>
                          <a:srgbClr val="00274C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274C"/>
                          </a:solidFill>
                        </a:rPr>
                        <a:t>Interviewee Led</a:t>
                      </a:r>
                      <a:endParaRPr sz="800">
                        <a:solidFill>
                          <a:srgbClr val="00274C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274C"/>
                          </a:solidFill>
                        </a:rPr>
                        <a:t>2</a:t>
                      </a:r>
                      <a:endParaRPr sz="800">
                        <a:solidFill>
                          <a:srgbClr val="00274C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274C"/>
                          </a:solidFill>
                        </a:rPr>
                        <a:t>1</a:t>
                      </a:r>
                      <a:endParaRPr sz="800">
                        <a:solidFill>
                          <a:srgbClr val="00274C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274C"/>
                          </a:solidFill>
                        </a:rPr>
                        <a:t>1</a:t>
                      </a:r>
                      <a:endParaRPr sz="800">
                        <a:solidFill>
                          <a:srgbClr val="00274C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9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 u="sng">
                          <a:solidFill>
                            <a:srgbClr val="00274C"/>
                          </a:solidFill>
                          <a:hlinkClick r:id="rId23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Wolverine Dairy</a:t>
                      </a:r>
                      <a:endParaRPr b="1" sz="800">
                        <a:solidFill>
                          <a:srgbClr val="00274C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rgbClr val="00274C"/>
                          </a:solidFill>
                          <a:hlinkClick r:id="rId24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Ross 2019</a:t>
                      </a:r>
                      <a:endParaRPr sz="800">
                        <a:solidFill>
                          <a:srgbClr val="00274C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274C"/>
                          </a:solidFill>
                        </a:rPr>
                        <a:t>Food &amp; Bev</a:t>
                      </a:r>
                      <a:endParaRPr sz="800">
                        <a:solidFill>
                          <a:srgbClr val="00274C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274C"/>
                          </a:solidFill>
                        </a:rPr>
                        <a:t>Growth Strategy</a:t>
                      </a:r>
                      <a:endParaRPr sz="800">
                        <a:solidFill>
                          <a:srgbClr val="00274C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274C"/>
                          </a:solidFill>
                        </a:rPr>
                        <a:t>Interviewer Led</a:t>
                      </a:r>
                      <a:endParaRPr sz="800">
                        <a:solidFill>
                          <a:srgbClr val="00274C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274C"/>
                          </a:solidFill>
                        </a:rPr>
                        <a:t>2</a:t>
                      </a:r>
                      <a:endParaRPr sz="800">
                        <a:solidFill>
                          <a:srgbClr val="00274C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274C"/>
                          </a:solidFill>
                        </a:rPr>
                        <a:t>2</a:t>
                      </a:r>
                      <a:endParaRPr sz="800">
                        <a:solidFill>
                          <a:srgbClr val="00274C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274C"/>
                          </a:solidFill>
                        </a:rPr>
                        <a:t>3</a:t>
                      </a:r>
                      <a:endParaRPr sz="800">
                        <a:solidFill>
                          <a:srgbClr val="00274C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9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 u="sng">
                          <a:solidFill>
                            <a:srgbClr val="00274C"/>
                          </a:solidFill>
                          <a:hlinkClick r:id="rId25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Revenue Streaming </a:t>
                      </a:r>
                      <a:endParaRPr b="1" sz="800">
                        <a:solidFill>
                          <a:srgbClr val="00274C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rgbClr val="00274C"/>
                          </a:solidFill>
                          <a:hlinkClick r:id="rId26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Ross 2020</a:t>
                      </a:r>
                      <a:endParaRPr sz="800">
                        <a:solidFill>
                          <a:srgbClr val="00274C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274C"/>
                          </a:solidFill>
                        </a:rPr>
                        <a:t>Media</a:t>
                      </a:r>
                      <a:endParaRPr sz="800">
                        <a:solidFill>
                          <a:srgbClr val="00274C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274C"/>
                          </a:solidFill>
                        </a:rPr>
                        <a:t>M&amp;A</a:t>
                      </a:r>
                      <a:endParaRPr sz="800">
                        <a:solidFill>
                          <a:srgbClr val="00274C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274C"/>
                          </a:solidFill>
                        </a:rPr>
                        <a:t>Interviewer Led</a:t>
                      </a:r>
                      <a:endParaRPr sz="800">
                        <a:solidFill>
                          <a:srgbClr val="00274C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274C"/>
                          </a:solidFill>
                        </a:rPr>
                        <a:t>2</a:t>
                      </a:r>
                      <a:endParaRPr sz="800">
                        <a:solidFill>
                          <a:srgbClr val="00274C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274C"/>
                          </a:solidFill>
                        </a:rPr>
                        <a:t>1</a:t>
                      </a:r>
                      <a:endParaRPr sz="800">
                        <a:solidFill>
                          <a:srgbClr val="00274C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274C"/>
                          </a:solidFill>
                        </a:rPr>
                        <a:t>2</a:t>
                      </a:r>
                      <a:endParaRPr sz="800">
                        <a:solidFill>
                          <a:srgbClr val="00274C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9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 u="sng">
                          <a:solidFill>
                            <a:srgbClr val="00274C"/>
                          </a:solidFill>
                          <a:hlinkClick r:id="rId27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Quark Energy</a:t>
                      </a:r>
                      <a:endParaRPr b="1" sz="800">
                        <a:solidFill>
                          <a:srgbClr val="00274C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rgbClr val="00274C"/>
                          </a:solidFill>
                          <a:hlinkClick r:id="rId28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Ross 2020</a:t>
                      </a:r>
                      <a:endParaRPr sz="800">
                        <a:solidFill>
                          <a:srgbClr val="00274C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274C"/>
                          </a:solidFill>
                        </a:rPr>
                        <a:t>Oil &amp; Gas</a:t>
                      </a:r>
                      <a:endParaRPr sz="800">
                        <a:solidFill>
                          <a:srgbClr val="00274C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274C"/>
                          </a:solidFill>
                        </a:rPr>
                        <a:t>Strategy</a:t>
                      </a:r>
                      <a:endParaRPr sz="800">
                        <a:solidFill>
                          <a:srgbClr val="00274C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274C"/>
                          </a:solidFill>
                        </a:rPr>
                        <a:t>Interviewee Led</a:t>
                      </a:r>
                      <a:endParaRPr sz="800">
                        <a:solidFill>
                          <a:srgbClr val="00274C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274C"/>
                          </a:solidFill>
                        </a:rPr>
                        <a:t>3</a:t>
                      </a:r>
                      <a:endParaRPr sz="800">
                        <a:solidFill>
                          <a:srgbClr val="00274C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274C"/>
                          </a:solidFill>
                        </a:rPr>
                        <a:t>2</a:t>
                      </a:r>
                      <a:endParaRPr sz="800">
                        <a:solidFill>
                          <a:srgbClr val="00274C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274C"/>
                          </a:solidFill>
                        </a:rPr>
                        <a:t>3</a:t>
                      </a:r>
                      <a:endParaRPr sz="800">
                        <a:solidFill>
                          <a:srgbClr val="00274C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9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 u="sng">
                          <a:solidFill>
                            <a:srgbClr val="00274C"/>
                          </a:solidFill>
                          <a:hlinkClick r:id="rId29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Chase-ing Equity</a:t>
                      </a:r>
                      <a:endParaRPr b="1" sz="800">
                        <a:solidFill>
                          <a:srgbClr val="00274C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rgbClr val="00274C"/>
                          </a:solidFill>
                          <a:hlinkClick r:id="rId30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Ross 2020</a:t>
                      </a:r>
                      <a:endParaRPr sz="800">
                        <a:solidFill>
                          <a:srgbClr val="00274C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274C"/>
                          </a:solidFill>
                        </a:rPr>
                        <a:t>Financial</a:t>
                      </a:r>
                      <a:r>
                        <a:rPr lang="en" sz="800">
                          <a:solidFill>
                            <a:srgbClr val="00274C"/>
                          </a:solidFill>
                        </a:rPr>
                        <a:t> Services</a:t>
                      </a:r>
                      <a:endParaRPr sz="800">
                        <a:solidFill>
                          <a:srgbClr val="00274C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274C"/>
                          </a:solidFill>
                        </a:rPr>
                        <a:t>Market Entry/Size/NPV</a:t>
                      </a:r>
                      <a:endParaRPr sz="800">
                        <a:solidFill>
                          <a:srgbClr val="00274C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274C"/>
                          </a:solidFill>
                        </a:rPr>
                        <a:t>Interviewer</a:t>
                      </a:r>
                      <a:r>
                        <a:rPr lang="en" sz="800">
                          <a:solidFill>
                            <a:srgbClr val="00274C"/>
                          </a:solidFill>
                        </a:rPr>
                        <a:t> Led</a:t>
                      </a:r>
                      <a:endParaRPr sz="800">
                        <a:solidFill>
                          <a:srgbClr val="00274C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274C"/>
                          </a:solidFill>
                        </a:rPr>
                        <a:t>2</a:t>
                      </a:r>
                      <a:endParaRPr sz="800">
                        <a:solidFill>
                          <a:srgbClr val="00274C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274C"/>
                          </a:solidFill>
                        </a:rPr>
                        <a:t>3</a:t>
                      </a:r>
                      <a:endParaRPr sz="800">
                        <a:solidFill>
                          <a:srgbClr val="00274C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274C"/>
                          </a:solidFill>
                        </a:rPr>
                        <a:t>2</a:t>
                      </a:r>
                      <a:endParaRPr sz="800">
                        <a:solidFill>
                          <a:srgbClr val="00274C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274C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7"/>
          <p:cNvSpPr/>
          <p:nvPr/>
        </p:nvSpPr>
        <p:spPr>
          <a:xfrm>
            <a:off x="73600" y="78200"/>
            <a:ext cx="9003300" cy="4987200"/>
          </a:xfrm>
          <a:prstGeom prst="rect">
            <a:avLst/>
          </a:prstGeom>
          <a:solidFill>
            <a:srgbClr val="FFCB0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17"/>
          <p:cNvSpPr/>
          <p:nvPr/>
        </p:nvSpPr>
        <p:spPr>
          <a:xfrm>
            <a:off x="155400" y="172500"/>
            <a:ext cx="8833200" cy="4798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85" name="Google Shape;85;p17"/>
          <p:cNvGraphicFramePr/>
          <p:nvPr/>
        </p:nvGraphicFramePr>
        <p:xfrm>
          <a:off x="255300" y="20385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{D809B1B7-BA62-46CC-86CE-A83B1E0C9AFD}</a:tableStyleId>
              </a:tblPr>
              <a:tblGrid>
                <a:gridCol w="1836450"/>
                <a:gridCol w="992025"/>
                <a:gridCol w="1421275"/>
                <a:gridCol w="1387100"/>
                <a:gridCol w="1431300"/>
                <a:gridCol w="504450"/>
                <a:gridCol w="541325"/>
                <a:gridCol w="541325"/>
              </a:tblGrid>
              <a:tr h="463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lt1"/>
                          </a:solidFill>
                        </a:rPr>
                        <a:t>Case Title</a:t>
                      </a:r>
                      <a:endParaRPr b="1" sz="9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274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lt1"/>
                          </a:solidFill>
                        </a:rPr>
                        <a:t>Case Book</a:t>
                      </a:r>
                      <a:endParaRPr b="1" sz="9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274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lt1"/>
                          </a:solidFill>
                        </a:rPr>
                        <a:t>Industry</a:t>
                      </a:r>
                      <a:endParaRPr b="1" sz="9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274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lt1"/>
                          </a:solidFill>
                        </a:rPr>
                        <a:t>Type</a:t>
                      </a:r>
                      <a:endParaRPr b="1" sz="9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274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lt1"/>
                          </a:solidFill>
                        </a:rPr>
                        <a:t>Style</a:t>
                      </a:r>
                      <a:endParaRPr b="1" sz="9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274C"/>
                    </a:solidFill>
                  </a:tcPr>
                </a:tc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lt1"/>
                          </a:solidFill>
                        </a:rPr>
                        <a:t>Difficulty (1-3)</a:t>
                      </a:r>
                      <a:endParaRPr b="1" sz="900">
                        <a:solidFill>
                          <a:schemeClr val="lt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lt1"/>
                          </a:solidFill>
                        </a:rPr>
                        <a:t>Quant/Qual/Overall</a:t>
                      </a:r>
                      <a:endParaRPr b="1" sz="9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274C"/>
                    </a:solidFill>
                  </a:tcPr>
                </a:tc>
                <a:tc hMerge="1"/>
                <a:tc hMerge="1"/>
              </a:tr>
              <a:tr h="309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 u="sng">
                          <a:solidFill>
                            <a:srgbClr val="00274C"/>
                          </a:solidFill>
                          <a:hlinkClick r:id="rId3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Midwest Hospital</a:t>
                      </a:r>
                      <a:endParaRPr b="1" sz="800">
                        <a:solidFill>
                          <a:srgbClr val="00274C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rgbClr val="00274C"/>
                          </a:solidFill>
                          <a:hlinkClick r:id="rId4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Ross 2021</a:t>
                      </a:r>
                      <a:endParaRPr sz="800">
                        <a:solidFill>
                          <a:srgbClr val="00274C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274C"/>
                          </a:solidFill>
                        </a:rPr>
                        <a:t>Healthcare</a:t>
                      </a:r>
                      <a:endParaRPr sz="800">
                        <a:solidFill>
                          <a:srgbClr val="00274C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274C"/>
                          </a:solidFill>
                        </a:rPr>
                        <a:t>Profitability</a:t>
                      </a:r>
                      <a:endParaRPr sz="800">
                        <a:solidFill>
                          <a:srgbClr val="00274C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800">
                          <a:solidFill>
                            <a:srgbClr val="00274C"/>
                          </a:solidFill>
                        </a:rPr>
                        <a:t>Interviewer Led</a:t>
                      </a:r>
                      <a:endParaRPr sz="800">
                        <a:solidFill>
                          <a:srgbClr val="00274C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274C"/>
                          </a:solidFill>
                        </a:rPr>
                        <a:t>2</a:t>
                      </a:r>
                      <a:endParaRPr sz="800">
                        <a:solidFill>
                          <a:srgbClr val="00274C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274C"/>
                          </a:solidFill>
                        </a:rPr>
                        <a:t>3</a:t>
                      </a:r>
                      <a:endParaRPr sz="800">
                        <a:solidFill>
                          <a:srgbClr val="00274C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274C"/>
                          </a:solidFill>
                        </a:rPr>
                        <a:t>3</a:t>
                      </a:r>
                      <a:endParaRPr sz="800">
                        <a:solidFill>
                          <a:srgbClr val="00274C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9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 u="sng">
                          <a:solidFill>
                            <a:srgbClr val="00274C"/>
                          </a:solidFill>
                          <a:hlinkClick r:id="rId5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Attack Helicopter</a:t>
                      </a:r>
                      <a:endParaRPr b="1" sz="800">
                        <a:solidFill>
                          <a:srgbClr val="00274C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rgbClr val="00274C"/>
                          </a:solidFill>
                          <a:hlinkClick r:id="rId6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Ross 2021</a:t>
                      </a:r>
                      <a:endParaRPr>
                        <a:solidFill>
                          <a:srgbClr val="00274C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274C"/>
                          </a:solidFill>
                        </a:rPr>
                        <a:t>Defense</a:t>
                      </a:r>
                      <a:endParaRPr sz="800">
                        <a:solidFill>
                          <a:srgbClr val="00274C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274C"/>
                          </a:solidFill>
                        </a:rPr>
                        <a:t>Market Entry</a:t>
                      </a:r>
                      <a:endParaRPr sz="800">
                        <a:solidFill>
                          <a:srgbClr val="00274C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274C"/>
                          </a:solidFill>
                        </a:rPr>
                        <a:t>Interviewee Led</a:t>
                      </a:r>
                      <a:endParaRPr sz="800">
                        <a:solidFill>
                          <a:srgbClr val="00274C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274C"/>
                          </a:solidFill>
                        </a:rPr>
                        <a:t>3</a:t>
                      </a:r>
                      <a:endParaRPr sz="800">
                        <a:solidFill>
                          <a:srgbClr val="00274C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274C"/>
                          </a:solidFill>
                        </a:rPr>
                        <a:t>2</a:t>
                      </a:r>
                      <a:endParaRPr sz="800">
                        <a:solidFill>
                          <a:srgbClr val="00274C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274C"/>
                          </a:solidFill>
                        </a:rPr>
                        <a:t>3</a:t>
                      </a:r>
                      <a:endParaRPr sz="800">
                        <a:solidFill>
                          <a:srgbClr val="00274C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9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 u="sng">
                          <a:solidFill>
                            <a:srgbClr val="00274C"/>
                          </a:solidFill>
                          <a:hlinkClick r:id="rId7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House of Pizza</a:t>
                      </a:r>
                      <a:endParaRPr b="1" sz="800">
                        <a:solidFill>
                          <a:srgbClr val="00274C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rgbClr val="00274C"/>
                          </a:solidFill>
                          <a:hlinkClick r:id="rId8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Ross 2021</a:t>
                      </a:r>
                      <a:endParaRPr>
                        <a:solidFill>
                          <a:srgbClr val="00274C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274C"/>
                          </a:solidFill>
                        </a:rPr>
                        <a:t>Food &amp; Bev</a:t>
                      </a:r>
                      <a:endParaRPr sz="800">
                        <a:solidFill>
                          <a:srgbClr val="00274C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274C"/>
                          </a:solidFill>
                        </a:rPr>
                        <a:t>Market Entry</a:t>
                      </a:r>
                      <a:endParaRPr sz="800">
                        <a:solidFill>
                          <a:srgbClr val="00274C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274C"/>
                          </a:solidFill>
                        </a:rPr>
                        <a:t>Interviewee Led</a:t>
                      </a:r>
                      <a:endParaRPr sz="800">
                        <a:solidFill>
                          <a:srgbClr val="00274C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274C"/>
                          </a:solidFill>
                        </a:rPr>
                        <a:t>2</a:t>
                      </a:r>
                      <a:endParaRPr sz="800">
                        <a:solidFill>
                          <a:srgbClr val="00274C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274C"/>
                          </a:solidFill>
                        </a:rPr>
                        <a:t>2</a:t>
                      </a:r>
                      <a:endParaRPr sz="800">
                        <a:solidFill>
                          <a:srgbClr val="00274C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274C"/>
                          </a:solidFill>
                        </a:rPr>
                        <a:t>2</a:t>
                      </a:r>
                      <a:endParaRPr sz="800">
                        <a:solidFill>
                          <a:srgbClr val="00274C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9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 u="sng">
                          <a:solidFill>
                            <a:srgbClr val="00274C"/>
                          </a:solidFill>
                          <a:hlinkClick r:id="rId9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Hospital Mega Merger</a:t>
                      </a:r>
                      <a:endParaRPr b="1" sz="800">
                        <a:solidFill>
                          <a:srgbClr val="00274C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rgbClr val="00274C"/>
                          </a:solidFill>
                          <a:hlinkClick r:id="rId10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Ross 2021</a:t>
                      </a:r>
                      <a:endParaRPr>
                        <a:solidFill>
                          <a:srgbClr val="00274C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274C"/>
                          </a:solidFill>
                        </a:rPr>
                        <a:t>Healthcare</a:t>
                      </a:r>
                      <a:endParaRPr sz="800">
                        <a:solidFill>
                          <a:srgbClr val="00274C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274C"/>
                          </a:solidFill>
                        </a:rPr>
                        <a:t>M&amp;A</a:t>
                      </a:r>
                      <a:endParaRPr sz="800">
                        <a:solidFill>
                          <a:srgbClr val="00274C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274C"/>
                          </a:solidFill>
                        </a:rPr>
                        <a:t>Interviewee Led</a:t>
                      </a:r>
                      <a:endParaRPr sz="800">
                        <a:solidFill>
                          <a:srgbClr val="00274C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274C"/>
                          </a:solidFill>
                        </a:rPr>
                        <a:t>1</a:t>
                      </a:r>
                      <a:endParaRPr sz="800">
                        <a:solidFill>
                          <a:srgbClr val="00274C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274C"/>
                          </a:solidFill>
                        </a:rPr>
                        <a:t>1</a:t>
                      </a:r>
                      <a:endParaRPr sz="800">
                        <a:solidFill>
                          <a:srgbClr val="00274C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274C"/>
                          </a:solidFill>
                        </a:rPr>
                        <a:t>1</a:t>
                      </a:r>
                      <a:endParaRPr sz="800">
                        <a:solidFill>
                          <a:srgbClr val="00274C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9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 u="sng">
                          <a:solidFill>
                            <a:srgbClr val="00274C"/>
                          </a:solidFill>
                          <a:hlinkClick r:id="rId11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Fertilizer Innovation</a:t>
                      </a:r>
                      <a:endParaRPr b="1" sz="800">
                        <a:solidFill>
                          <a:srgbClr val="00274C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rgbClr val="00274C"/>
                          </a:solidFill>
                          <a:hlinkClick r:id="rId12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Ross 2021</a:t>
                      </a:r>
                      <a:endParaRPr>
                        <a:solidFill>
                          <a:srgbClr val="00274C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274C"/>
                          </a:solidFill>
                        </a:rPr>
                        <a:t>Industrial Goods</a:t>
                      </a:r>
                      <a:endParaRPr sz="800">
                        <a:solidFill>
                          <a:srgbClr val="00274C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274C"/>
                          </a:solidFill>
                        </a:rPr>
                        <a:t>Pricing</a:t>
                      </a:r>
                      <a:endParaRPr sz="800">
                        <a:solidFill>
                          <a:srgbClr val="00274C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274C"/>
                          </a:solidFill>
                        </a:rPr>
                        <a:t>Interviewee Led</a:t>
                      </a:r>
                      <a:endParaRPr sz="800">
                        <a:solidFill>
                          <a:srgbClr val="00274C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274C"/>
                          </a:solidFill>
                        </a:rPr>
                        <a:t>2</a:t>
                      </a:r>
                      <a:endParaRPr sz="800">
                        <a:solidFill>
                          <a:srgbClr val="00274C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274C"/>
                          </a:solidFill>
                        </a:rPr>
                        <a:t>2</a:t>
                      </a:r>
                      <a:endParaRPr sz="800">
                        <a:solidFill>
                          <a:srgbClr val="00274C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274C"/>
                          </a:solidFill>
                        </a:rPr>
                        <a:t>2</a:t>
                      </a:r>
                      <a:endParaRPr sz="800">
                        <a:solidFill>
                          <a:srgbClr val="00274C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9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 u="sng">
                          <a:solidFill>
                            <a:srgbClr val="00274C"/>
                          </a:solidFill>
                          <a:hlinkClick r:id="rId13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Little Bud</a:t>
                      </a:r>
                      <a:endParaRPr b="1" sz="800">
                        <a:solidFill>
                          <a:srgbClr val="00274C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rgbClr val="00274C"/>
                          </a:solidFill>
                          <a:hlinkClick r:id="rId14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Ross 2021</a:t>
                      </a:r>
                      <a:endParaRPr>
                        <a:solidFill>
                          <a:srgbClr val="00274C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274C"/>
                          </a:solidFill>
                        </a:rPr>
                        <a:t>CPG</a:t>
                      </a:r>
                      <a:endParaRPr sz="800">
                        <a:solidFill>
                          <a:srgbClr val="00274C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274C"/>
                          </a:solidFill>
                        </a:rPr>
                        <a:t>Growth Strategy</a:t>
                      </a:r>
                      <a:endParaRPr sz="800">
                        <a:solidFill>
                          <a:srgbClr val="00274C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274C"/>
                          </a:solidFill>
                        </a:rPr>
                        <a:t>Interviewee Led</a:t>
                      </a:r>
                      <a:endParaRPr sz="800">
                        <a:solidFill>
                          <a:srgbClr val="00274C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274C"/>
                          </a:solidFill>
                        </a:rPr>
                        <a:t>2</a:t>
                      </a:r>
                      <a:endParaRPr sz="800">
                        <a:solidFill>
                          <a:srgbClr val="00274C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274C"/>
                          </a:solidFill>
                        </a:rPr>
                        <a:t>2</a:t>
                      </a:r>
                      <a:endParaRPr sz="800">
                        <a:solidFill>
                          <a:srgbClr val="00274C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274C"/>
                          </a:solidFill>
                        </a:rPr>
                        <a:t>2</a:t>
                      </a:r>
                      <a:endParaRPr sz="800">
                        <a:solidFill>
                          <a:srgbClr val="00274C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9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 u="sng">
                          <a:solidFill>
                            <a:srgbClr val="00274C"/>
                          </a:solidFill>
                          <a:hlinkClick r:id="rId15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Apogee Bank</a:t>
                      </a:r>
                      <a:endParaRPr b="1" sz="800">
                        <a:solidFill>
                          <a:srgbClr val="00274C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rgbClr val="00274C"/>
                          </a:solidFill>
                          <a:hlinkClick r:id="rId16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Ross 2021</a:t>
                      </a:r>
                      <a:endParaRPr>
                        <a:solidFill>
                          <a:srgbClr val="00274C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274C"/>
                          </a:solidFill>
                        </a:rPr>
                        <a:t>Financial Services</a:t>
                      </a:r>
                      <a:endParaRPr sz="800">
                        <a:solidFill>
                          <a:srgbClr val="00274C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274C"/>
                          </a:solidFill>
                        </a:rPr>
                        <a:t>Growth Strategy</a:t>
                      </a:r>
                      <a:endParaRPr sz="800">
                        <a:solidFill>
                          <a:srgbClr val="00274C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274C"/>
                          </a:solidFill>
                        </a:rPr>
                        <a:t>Interviewee Led</a:t>
                      </a:r>
                      <a:endParaRPr sz="800">
                        <a:solidFill>
                          <a:srgbClr val="00274C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274C"/>
                          </a:solidFill>
                        </a:rPr>
                        <a:t>2</a:t>
                      </a:r>
                      <a:endParaRPr sz="800">
                        <a:solidFill>
                          <a:srgbClr val="00274C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274C"/>
                          </a:solidFill>
                        </a:rPr>
                        <a:t>2</a:t>
                      </a:r>
                      <a:endParaRPr sz="800">
                        <a:solidFill>
                          <a:srgbClr val="00274C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274C"/>
                          </a:solidFill>
                        </a:rPr>
                        <a:t>2</a:t>
                      </a:r>
                      <a:endParaRPr sz="800">
                        <a:solidFill>
                          <a:srgbClr val="00274C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